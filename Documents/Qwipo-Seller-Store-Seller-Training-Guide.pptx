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742"/>
        </a:solidFill>
      </p:bgPr>
    </p:bg>
    <p:spTree>
      <p:nvGrpSpPr>
        <p:cNvPr id="1" name=""/>
        <p:cNvGrpSpPr/>
        <p:nvPr/>
      </p:nvGrpSpPr>
      <p:grpSpPr>
        <a:xfrm>
          <a:off x="0" y="0"/>
          <a:ext cx="0" cy="0"/>
          <a:chOff x="0" y="0"/>
          <a:chExt cx="0" cy="0"/>
        </a:xfrm>
      </p:grpSpPr>
      <p:sp>
        <p:nvSpPr>
          <p:cNvPr id="2" name="Shape 0"/>
          <p:cNvSpPr/>
          <p:nvPr/>
        </p:nvSpPr>
        <p:spPr>
          <a:xfrm>
            <a:off x="8534095" y="0"/>
            <a:ext cx="3657600" cy="6858000"/>
          </a:xfrm>
          <a:prstGeom prst="rect">
            <a:avLst/>
          </a:prstGeom>
          <a:solidFill>
            <a:srgbClr val="0A1B30"/>
          </a:solidFill>
          <a:ln w="12700">
            <a:solidFill>
              <a:srgbClr val="0A1B30"/>
            </a:solidFill>
            <a:prstDash val="solid"/>
          </a:ln>
        </p:spPr>
      </p:sp>
      <p:sp>
        <p:nvSpPr>
          <p:cNvPr id="3" name="Shape 1"/>
          <p:cNvSpPr/>
          <p:nvPr/>
        </p:nvSpPr>
        <p:spPr>
          <a:xfrm>
            <a:off x="11871655" y="0"/>
            <a:ext cx="320040" cy="6858000"/>
          </a:xfrm>
          <a:prstGeom prst="rect">
            <a:avLst/>
          </a:prstGeom>
          <a:solidFill>
            <a:srgbClr val="F26B38"/>
          </a:solidFill>
          <a:ln w="12700">
            <a:solidFill>
              <a:srgbClr val="F26B38"/>
            </a:solidFill>
            <a:prstDash val="solid"/>
          </a:ln>
        </p:spPr>
      </p:sp>
      <p:sp>
        <p:nvSpPr>
          <p:cNvPr id="4" name="Shape 2"/>
          <p:cNvSpPr/>
          <p:nvPr/>
        </p:nvSpPr>
        <p:spPr>
          <a:xfrm>
            <a:off x="548640" y="2194560"/>
            <a:ext cx="548640" cy="73152"/>
          </a:xfrm>
          <a:prstGeom prst="rect">
            <a:avLst/>
          </a:prstGeom>
          <a:solidFill>
            <a:srgbClr val="F26B38"/>
          </a:solidFill>
          <a:ln w="12700">
            <a:solidFill>
              <a:srgbClr val="F26B38"/>
            </a:solidFill>
            <a:prstDash val="solid"/>
          </a:ln>
        </p:spPr>
      </p:sp>
      <p:sp>
        <p:nvSpPr>
          <p:cNvPr id="5" name="Text 3"/>
          <p:cNvSpPr/>
          <p:nvPr/>
        </p:nvSpPr>
        <p:spPr>
          <a:xfrm>
            <a:off x="548640" y="2331720"/>
            <a:ext cx="7315200" cy="365760"/>
          </a:xfrm>
          <a:prstGeom prst="rect">
            <a:avLst/>
          </a:prstGeom>
          <a:noFill/>
          <a:ln/>
        </p:spPr>
        <p:txBody>
          <a:bodyPr wrap="square" rtlCol="0" anchor="ctr"/>
          <a:lstStyle/>
          <a:p>
            <a:pPr indent="0" marL="0">
              <a:buNone/>
            </a:pPr>
            <a:r>
              <a:rPr lang="en-US" sz="1300" b="1" spc="800" kern="0" dirty="0">
                <a:solidFill>
                  <a:srgbClr val="F26B38"/>
                </a:solidFill>
                <a:latin typeface="Calibri" pitchFamily="34" charset="0"/>
                <a:ea typeface="Calibri" pitchFamily="34" charset="-122"/>
                <a:cs typeface="Calibri" pitchFamily="34" charset="-120"/>
              </a:rPr>
              <a:t>INTERNAL TRAINING</a:t>
            </a:r>
            <a:endParaRPr lang="en-US" sz="1300" dirty="0"/>
          </a:p>
        </p:txBody>
      </p:sp>
      <p:sp>
        <p:nvSpPr>
          <p:cNvPr id="6" name="Text 4"/>
          <p:cNvSpPr/>
          <p:nvPr/>
        </p:nvSpPr>
        <p:spPr>
          <a:xfrm>
            <a:off x="548640" y="2788920"/>
            <a:ext cx="10058400" cy="91440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Qwipo Seller Store</a:t>
            </a:r>
            <a:endParaRPr lang="en-US" sz="4800" dirty="0"/>
          </a:p>
        </p:txBody>
      </p:sp>
      <p:sp>
        <p:nvSpPr>
          <p:cNvPr id="7" name="Text 5"/>
          <p:cNvSpPr/>
          <p:nvPr/>
        </p:nvSpPr>
        <p:spPr>
          <a:xfrm>
            <a:off x="548640" y="3703320"/>
            <a:ext cx="10058400" cy="822960"/>
          </a:xfrm>
          <a:prstGeom prst="rect">
            <a:avLst/>
          </a:prstGeom>
          <a:noFill/>
          <a:ln/>
        </p:spPr>
        <p:txBody>
          <a:bodyPr wrap="square" lIns="0" tIns="0" rIns="0" bIns="0" rtlCol="0" anchor="ctr"/>
          <a:lstStyle/>
          <a:p>
            <a:pPr indent="0" marL="0">
              <a:buNone/>
            </a:pPr>
            <a:r>
              <a:rPr lang="en-US" sz="3600" dirty="0">
                <a:solidFill>
                  <a:srgbClr val="5FCBBC"/>
                </a:solidFill>
                <a:latin typeface="Calibri" pitchFamily="34" charset="0"/>
                <a:ea typeface="Calibri" pitchFamily="34" charset="-122"/>
                <a:cs typeface="Calibri" pitchFamily="34" charset="-120"/>
              </a:rPr>
              <a:t>Seller User Guide</a:t>
            </a:r>
            <a:endParaRPr lang="en-US" sz="3600" dirty="0"/>
          </a:p>
        </p:txBody>
      </p:sp>
      <p:sp>
        <p:nvSpPr>
          <p:cNvPr id="8" name="Text 6"/>
          <p:cNvSpPr/>
          <p:nvPr/>
        </p:nvSpPr>
        <p:spPr>
          <a:xfrm>
            <a:off x="548640" y="4663440"/>
            <a:ext cx="7772400" cy="914400"/>
          </a:xfrm>
          <a:prstGeom prst="rect">
            <a:avLst/>
          </a:prstGeom>
          <a:noFill/>
          <a:ln/>
        </p:spPr>
        <p:txBody>
          <a:bodyPr wrap="square" lIns="0" tIns="0" rIns="0" bIns="0" rtlCol="0" anchor="ctr"/>
          <a:lstStyle/>
          <a:p>
            <a:pPr indent="0" marL="0">
              <a:buNone/>
            </a:pPr>
            <a:r>
              <a:rPr lang="en-US" sz="1600" dirty="0">
                <a:solidFill>
                  <a:srgbClr val="C9D6E5"/>
                </a:solidFill>
                <a:latin typeface="Calibri" pitchFamily="34" charset="0"/>
                <a:ea typeface="Calibri" pitchFamily="34" charset="-122"/>
                <a:cs typeface="Calibri" pitchFamily="34" charset="-120"/>
              </a:rPr>
              <a:t>A walkthrough for distributor onboarding teams — what every seller-portal screen does and why it exists.</a:t>
            </a:r>
            <a:endParaRPr lang="en-US" sz="1600" dirty="0"/>
          </a:p>
        </p:txBody>
      </p:sp>
      <p:sp>
        <p:nvSpPr>
          <p:cNvPr id="9" name="Text 7"/>
          <p:cNvSpPr/>
          <p:nvPr/>
        </p:nvSpPr>
        <p:spPr>
          <a:xfrm>
            <a:off x="548640" y="5669280"/>
            <a:ext cx="7315200" cy="365760"/>
          </a:xfrm>
          <a:prstGeom prst="rect">
            <a:avLst/>
          </a:prstGeom>
          <a:noFill/>
          <a:ln/>
        </p:spPr>
        <p:txBody>
          <a:bodyPr wrap="square" rtlCol="0" anchor="ctr"/>
          <a:lstStyle/>
          <a:p>
            <a:pPr indent="0" marL="0">
              <a:buNone/>
            </a:pPr>
            <a:r>
              <a:rPr lang="en-US" sz="1200" b="1" dirty="0">
                <a:solidFill>
                  <a:srgbClr val="8AA0BB"/>
                </a:solidFill>
                <a:latin typeface="Calibri" pitchFamily="34" charset="0"/>
                <a:ea typeface="Calibri" pitchFamily="34" charset="-122"/>
                <a:cs typeface="Calibri" pitchFamily="34" charset="-120"/>
              </a:rPr>
              <a:t>Phase 1 · Version 1.1 · 29 May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2742"/>
          </a:solidFill>
          <a:ln w="12700">
            <a:solidFill>
              <a:srgbClr val="0F2742"/>
            </a:solidFill>
            <a:prstDash val="solid"/>
          </a:ln>
        </p:spPr>
      </p:sp>
      <p:sp>
        <p:nvSpPr>
          <p:cNvPr id="3" name="Text 1"/>
          <p:cNvSpPr/>
          <p:nvPr/>
        </p:nvSpPr>
        <p:spPr>
          <a:xfrm>
            <a:off x="640080" y="320040"/>
            <a:ext cx="10058400" cy="320040"/>
          </a:xfrm>
          <a:prstGeom prst="rect">
            <a:avLst/>
          </a:prstGeom>
          <a:noFill/>
          <a:ln/>
        </p:spPr>
        <p:txBody>
          <a:bodyPr wrap="square" rtlCol="0" anchor="ctr"/>
          <a:lstStyle/>
          <a:p>
            <a:pPr indent="0" marL="0">
              <a:buNone/>
            </a:pPr>
            <a:r>
              <a:rPr lang="en-US" sz="1100" b="1" spc="400" kern="0" dirty="0">
                <a:solidFill>
                  <a:srgbClr val="F26B38"/>
                </a:solidFill>
                <a:latin typeface="Calibri" pitchFamily="34" charset="0"/>
                <a:ea typeface="Calibri" pitchFamily="34" charset="-122"/>
                <a:cs typeface="Calibri" pitchFamily="34" charset="-120"/>
              </a:rPr>
              <a:t>ABOUT THIS GUIDE</a:t>
            </a:r>
            <a:endParaRPr lang="en-US" sz="1100" dirty="0"/>
          </a:p>
        </p:txBody>
      </p:sp>
      <p:sp>
        <p:nvSpPr>
          <p:cNvPr id="4" name="Text 2"/>
          <p:cNvSpPr/>
          <p:nvPr/>
        </p:nvSpPr>
        <p:spPr>
          <a:xfrm>
            <a:off x="640080" y="594360"/>
            <a:ext cx="10789920" cy="777240"/>
          </a:xfrm>
          <a:prstGeom prst="rect">
            <a:avLst/>
          </a:prstGeom>
          <a:noFill/>
          <a:ln/>
        </p:spPr>
        <p:txBody>
          <a:bodyPr wrap="square" lIns="0" tIns="0" rIns="0" bIns="0" rtlCol="0" anchor="ctr"/>
          <a:lstStyle/>
          <a:p>
            <a:pPr indent="0" marL="0">
              <a:buNone/>
            </a:pPr>
            <a:r>
              <a:rPr lang="en-US" sz="3000" b="1" dirty="0">
                <a:solidFill>
                  <a:srgbClr val="0F2742"/>
                </a:solidFill>
                <a:latin typeface="Calibri" pitchFamily="34" charset="0"/>
                <a:ea typeface="Calibri" pitchFamily="34" charset="-122"/>
                <a:cs typeface="Calibri" pitchFamily="34" charset="-120"/>
              </a:rPr>
              <a:t>Who this is for, and why it matters</a:t>
            </a:r>
            <a:endParaRPr lang="en-US" sz="3000" dirty="0"/>
          </a:p>
        </p:txBody>
      </p:sp>
      <p:sp>
        <p:nvSpPr>
          <p:cNvPr id="5" name="Shape 3"/>
          <p:cNvSpPr/>
          <p:nvPr/>
        </p:nvSpPr>
        <p:spPr>
          <a:xfrm>
            <a:off x="548640" y="1554480"/>
            <a:ext cx="5486400" cy="219456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6000"/>
              </a:srgbClr>
            </a:outerShdw>
          </a:effectLst>
        </p:spPr>
      </p:sp>
      <p:sp>
        <p:nvSpPr>
          <p:cNvPr id="6" name="Shape 4"/>
          <p:cNvSpPr/>
          <p:nvPr/>
        </p:nvSpPr>
        <p:spPr>
          <a:xfrm>
            <a:off x="548640" y="1554480"/>
            <a:ext cx="73152" cy="2194560"/>
          </a:xfrm>
          <a:prstGeom prst="rect">
            <a:avLst/>
          </a:prstGeom>
          <a:solidFill>
            <a:srgbClr val="1C9B8E"/>
          </a:solidFill>
          <a:ln w="12700">
            <a:solidFill>
              <a:srgbClr val="1C9B8E"/>
            </a:solidFill>
            <a:prstDash val="solid"/>
          </a:ln>
        </p:spPr>
      </p:sp>
      <p:sp>
        <p:nvSpPr>
          <p:cNvPr id="7" name="Text 5"/>
          <p:cNvSpPr/>
          <p:nvPr/>
        </p:nvSpPr>
        <p:spPr>
          <a:xfrm>
            <a:off x="777240" y="1719072"/>
            <a:ext cx="5166360" cy="365760"/>
          </a:xfrm>
          <a:prstGeom prst="rect">
            <a:avLst/>
          </a:prstGeom>
          <a:noFill/>
          <a:ln/>
        </p:spPr>
        <p:txBody>
          <a:bodyPr wrap="square" lIns="0" tIns="0" rIns="0" bIns="0" rtlCol="0" anchor="ctr"/>
          <a:lstStyle/>
          <a:p>
            <a:pPr indent="0" marL="0">
              <a:buNone/>
            </a:pPr>
            <a:r>
              <a:rPr lang="en-US" sz="1500" b="1" dirty="0">
                <a:solidFill>
                  <a:srgbClr val="0F2742"/>
                </a:solidFill>
                <a:latin typeface="Calibri" pitchFamily="34" charset="0"/>
                <a:ea typeface="Calibri" pitchFamily="34" charset="-122"/>
                <a:cs typeface="Calibri" pitchFamily="34" charset="-120"/>
              </a:rPr>
              <a:t>Who this is for</a:t>
            </a:r>
            <a:endParaRPr lang="en-US" sz="1500" dirty="0"/>
          </a:p>
        </p:txBody>
      </p:sp>
      <p:sp>
        <p:nvSpPr>
          <p:cNvPr id="8" name="Text 6"/>
          <p:cNvSpPr/>
          <p:nvPr/>
        </p:nvSpPr>
        <p:spPr>
          <a:xfrm>
            <a:off x="777240" y="2148840"/>
            <a:ext cx="5120640" cy="1463040"/>
          </a:xfrm>
          <a:prstGeom prst="rect">
            <a:avLst/>
          </a:prstGeom>
          <a:noFill/>
          <a:ln/>
        </p:spPr>
        <p:txBody>
          <a:bodyPr wrap="square" rtlCol="0" anchor="t"/>
          <a:lstStyle/>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Onboarding teams setting up new distributors</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Customer success teams supporting sellers day-to-day</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Sales engineers walking sellers through the portal</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Sellers (Distributors) using the portal directly</a:t>
            </a:r>
            <a:endParaRPr lang="en-US" sz="1150" dirty="0"/>
          </a:p>
        </p:txBody>
      </p:sp>
      <p:sp>
        <p:nvSpPr>
          <p:cNvPr id="9" name="Shape 7"/>
          <p:cNvSpPr/>
          <p:nvPr/>
        </p:nvSpPr>
        <p:spPr>
          <a:xfrm>
            <a:off x="6263640" y="1554480"/>
            <a:ext cx="5394960" cy="219456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6000"/>
              </a:srgbClr>
            </a:outerShdw>
          </a:effectLst>
        </p:spPr>
      </p:sp>
      <p:sp>
        <p:nvSpPr>
          <p:cNvPr id="10" name="Shape 8"/>
          <p:cNvSpPr/>
          <p:nvPr/>
        </p:nvSpPr>
        <p:spPr>
          <a:xfrm>
            <a:off x="6263640" y="1554480"/>
            <a:ext cx="73152" cy="2194560"/>
          </a:xfrm>
          <a:prstGeom prst="rect">
            <a:avLst/>
          </a:prstGeom>
          <a:solidFill>
            <a:srgbClr val="F26B38"/>
          </a:solidFill>
          <a:ln w="12700">
            <a:solidFill>
              <a:srgbClr val="F26B38"/>
            </a:solidFill>
            <a:prstDash val="solid"/>
          </a:ln>
        </p:spPr>
      </p:sp>
      <p:sp>
        <p:nvSpPr>
          <p:cNvPr id="11" name="Text 9"/>
          <p:cNvSpPr/>
          <p:nvPr/>
        </p:nvSpPr>
        <p:spPr>
          <a:xfrm>
            <a:off x="6492240" y="1719072"/>
            <a:ext cx="5074920" cy="365760"/>
          </a:xfrm>
          <a:prstGeom prst="rect">
            <a:avLst/>
          </a:prstGeom>
          <a:noFill/>
          <a:ln/>
        </p:spPr>
        <p:txBody>
          <a:bodyPr wrap="square" lIns="0" tIns="0" rIns="0" bIns="0" rtlCol="0" anchor="ctr"/>
          <a:lstStyle/>
          <a:p>
            <a:pPr indent="0" marL="0">
              <a:buNone/>
            </a:pPr>
            <a:r>
              <a:rPr lang="en-US" sz="1500" b="1" dirty="0">
                <a:solidFill>
                  <a:srgbClr val="0F2742"/>
                </a:solidFill>
                <a:latin typeface="Calibri" pitchFamily="34" charset="0"/>
                <a:ea typeface="Calibri" pitchFamily="34" charset="-122"/>
                <a:cs typeface="Calibri" pitchFamily="34" charset="-120"/>
              </a:rPr>
              <a:t>What you will learn</a:t>
            </a:r>
            <a:endParaRPr lang="en-US" sz="1500" dirty="0"/>
          </a:p>
        </p:txBody>
      </p:sp>
      <p:sp>
        <p:nvSpPr>
          <p:cNvPr id="12" name="Text 10"/>
          <p:cNvSpPr/>
          <p:nvPr/>
        </p:nvSpPr>
        <p:spPr>
          <a:xfrm>
            <a:off x="6492240" y="2148840"/>
            <a:ext cx="5029200" cy="1463040"/>
          </a:xfrm>
          <a:prstGeom prst="rect">
            <a:avLst/>
          </a:prstGeom>
          <a:noFill/>
          <a:ln/>
        </p:spPr>
        <p:txBody>
          <a:bodyPr wrap="square" rtlCol="0" anchor="t"/>
          <a:lstStyle/>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The 5 modules in Phase 1 and what each one solves</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The non-obvious dependencies (Company → SKU, Address → Warehouse)</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How to upload a clean SKU catalogue without retries</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How to confirm and dispatch orders end-to-end</a:t>
            </a:r>
            <a:endParaRPr lang="en-US" sz="1150" dirty="0"/>
          </a:p>
        </p:txBody>
      </p:sp>
      <p:sp>
        <p:nvSpPr>
          <p:cNvPr id="13" name="Shape 11"/>
          <p:cNvSpPr/>
          <p:nvPr/>
        </p:nvSpPr>
        <p:spPr>
          <a:xfrm>
            <a:off x="548640" y="3931920"/>
            <a:ext cx="11109960" cy="2286000"/>
          </a:xfrm>
          <a:prstGeom prst="rect">
            <a:avLst/>
          </a:prstGeom>
          <a:solidFill>
            <a:srgbClr val="FFF6EC"/>
          </a:solidFill>
          <a:ln w="12700">
            <a:solidFill>
              <a:srgbClr val="F26B38"/>
            </a:solidFill>
            <a:prstDash val="solid"/>
          </a:ln>
        </p:spPr>
      </p:sp>
      <p:sp>
        <p:nvSpPr>
          <p:cNvPr id="14" name="Shape 12"/>
          <p:cNvSpPr/>
          <p:nvPr/>
        </p:nvSpPr>
        <p:spPr>
          <a:xfrm>
            <a:off x="548640" y="3931920"/>
            <a:ext cx="73152" cy="2286000"/>
          </a:xfrm>
          <a:prstGeom prst="rect">
            <a:avLst/>
          </a:prstGeom>
          <a:solidFill>
            <a:srgbClr val="F26B38"/>
          </a:solidFill>
          <a:ln w="12700">
            <a:solidFill>
              <a:srgbClr val="F26B38"/>
            </a:solidFill>
            <a:prstDash val="solid"/>
          </a:ln>
        </p:spPr>
      </p:sp>
      <p:sp>
        <p:nvSpPr>
          <p:cNvPr id="15" name="Text 13"/>
          <p:cNvSpPr/>
          <p:nvPr/>
        </p:nvSpPr>
        <p:spPr>
          <a:xfrm>
            <a:off x="777240" y="4041648"/>
            <a:ext cx="10789920" cy="292608"/>
          </a:xfrm>
          <a:prstGeom prst="rect">
            <a:avLst/>
          </a:prstGeom>
          <a:noFill/>
          <a:ln/>
        </p:spPr>
        <p:txBody>
          <a:bodyPr wrap="square" lIns="0" tIns="0" rIns="0" bIns="0" rtlCol="0" anchor="ctr"/>
          <a:lstStyle/>
          <a:p>
            <a:pPr indent="0" marL="0">
              <a:buNone/>
            </a:pPr>
            <a:r>
              <a:rPr lang="en-US" sz="1200" b="1" spc="100" kern="0" dirty="0">
                <a:solidFill>
                  <a:srgbClr val="C84A1F"/>
                </a:solidFill>
                <a:latin typeface="Calibri" pitchFamily="34" charset="0"/>
                <a:ea typeface="Calibri" pitchFamily="34" charset="-122"/>
                <a:cs typeface="Calibri" pitchFamily="34" charset="-120"/>
              </a:rPr>
              <a:t>Why we built this deck</a:t>
            </a:r>
            <a:endParaRPr lang="en-US" sz="1200" dirty="0"/>
          </a:p>
        </p:txBody>
      </p:sp>
      <p:sp>
        <p:nvSpPr>
          <p:cNvPr id="16" name="Text 14"/>
          <p:cNvSpPr/>
          <p:nvPr/>
        </p:nvSpPr>
        <p:spPr>
          <a:xfrm>
            <a:off x="777240" y="4343400"/>
            <a:ext cx="10789920" cy="1783080"/>
          </a:xfrm>
          <a:prstGeom prst="rect">
            <a:avLst/>
          </a:prstGeom>
          <a:noFill/>
          <a:ln/>
        </p:spPr>
        <p:txBody>
          <a:bodyPr wrap="square" lIns="0" tIns="0" rIns="0" bIns="0" rtlCol="0" anchor="ctr"/>
          <a:lstStyle/>
          <a:p>
            <a:pPr indent="0" marL="0">
              <a:spcAft>
                <a:spcPts val="300"/>
              </a:spcAft>
              <a:buNone/>
            </a:pPr>
            <a:r>
              <a:rPr lang="en-US" sz="1200" dirty="0">
                <a:solidFill>
                  <a:srgbClr val="1A2332"/>
                </a:solidFill>
                <a:latin typeface="Calibri" pitchFamily="34" charset="0"/>
                <a:ea typeface="Calibri" pitchFamily="34" charset="-122"/>
                <a:cs typeface="Calibri" pitchFamily="34" charset="-120"/>
              </a:rPr>
              <a:t>The portal looks simple, but every screen is wired into the ONDC marketplace, the buyer app, and the Super Admin setup behind the scenes. If a seller skips a step — e.g. enters the wrong manufacturer name or saves the wrong warehouse address — orders fail silently downstream. This guide focuses on the why behind every page so trainers can explain it to a first-time user.</a:t>
            </a:r>
            <a:endParaRPr lang="en-US" sz="1200" dirty="0"/>
          </a:p>
        </p:txBody>
      </p:sp>
      <p:sp>
        <p:nvSpPr>
          <p:cNvPr id="17" name="Shape 15"/>
          <p:cNvSpPr/>
          <p:nvPr/>
        </p:nvSpPr>
        <p:spPr>
          <a:xfrm>
            <a:off x="0" y="6565392"/>
            <a:ext cx="12191695" cy="292608"/>
          </a:xfrm>
          <a:prstGeom prst="rect">
            <a:avLst/>
          </a:prstGeom>
          <a:solidFill>
            <a:srgbClr val="0F2742"/>
          </a:solidFill>
          <a:ln w="12700">
            <a:solidFill>
              <a:srgbClr val="0F2742"/>
            </a:solidFill>
            <a:prstDash val="solid"/>
          </a:ln>
        </p:spPr>
      </p:sp>
      <p:sp>
        <p:nvSpPr>
          <p:cNvPr id="18" name="Text 16"/>
          <p:cNvSpPr/>
          <p:nvPr/>
        </p:nvSpPr>
        <p:spPr>
          <a:xfrm>
            <a:off x="457200" y="6583680"/>
            <a:ext cx="731520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Qwipo Seller Store · Seller Training Guide · v1.1 · Internal Use</a:t>
            </a:r>
            <a:endParaRPr lang="en-US" sz="900" dirty="0"/>
          </a:p>
        </p:txBody>
      </p:sp>
      <p:sp>
        <p:nvSpPr>
          <p:cNvPr id="19" name="Text 17"/>
          <p:cNvSpPr/>
          <p:nvPr/>
        </p:nvSpPr>
        <p:spPr>
          <a:xfrm>
            <a:off x="10820095" y="6583680"/>
            <a:ext cx="914400" cy="256032"/>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 / 33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2742"/>
          </a:solidFill>
          <a:ln w="12700">
            <a:solidFill>
              <a:srgbClr val="0F2742"/>
            </a:solidFill>
            <a:prstDash val="solid"/>
          </a:ln>
        </p:spPr>
      </p:sp>
      <p:sp>
        <p:nvSpPr>
          <p:cNvPr id="3" name="Text 1"/>
          <p:cNvSpPr/>
          <p:nvPr/>
        </p:nvSpPr>
        <p:spPr>
          <a:xfrm>
            <a:off x="640080" y="320040"/>
            <a:ext cx="10058400" cy="320040"/>
          </a:xfrm>
          <a:prstGeom prst="rect">
            <a:avLst/>
          </a:prstGeom>
          <a:noFill/>
          <a:ln/>
        </p:spPr>
        <p:txBody>
          <a:bodyPr wrap="square" rtlCol="0" anchor="ctr"/>
          <a:lstStyle/>
          <a:p>
            <a:pPr indent="0" marL="0">
              <a:buNone/>
            </a:pPr>
            <a:r>
              <a:rPr lang="en-US" sz="1100" b="1" spc="400" kern="0" dirty="0">
                <a:solidFill>
                  <a:srgbClr val="F26B38"/>
                </a:solidFill>
                <a:latin typeface="Calibri" pitchFamily="34" charset="0"/>
                <a:ea typeface="Calibri" pitchFamily="34" charset="-122"/>
                <a:cs typeface="Calibri" pitchFamily="34" charset="-120"/>
              </a:rPr>
              <a:t>THE BIG PICTURE</a:t>
            </a:r>
            <a:endParaRPr lang="en-US" sz="1100" dirty="0"/>
          </a:p>
        </p:txBody>
      </p:sp>
      <p:sp>
        <p:nvSpPr>
          <p:cNvPr id="4" name="Text 2"/>
          <p:cNvSpPr/>
          <p:nvPr/>
        </p:nvSpPr>
        <p:spPr>
          <a:xfrm>
            <a:off x="640080" y="594360"/>
            <a:ext cx="10789920" cy="777240"/>
          </a:xfrm>
          <a:prstGeom prst="rect">
            <a:avLst/>
          </a:prstGeom>
          <a:noFill/>
          <a:ln/>
        </p:spPr>
        <p:txBody>
          <a:bodyPr wrap="square" lIns="0" tIns="0" rIns="0" bIns="0" rtlCol="0" anchor="ctr"/>
          <a:lstStyle/>
          <a:p>
            <a:pPr indent="0" marL="0">
              <a:buNone/>
            </a:pPr>
            <a:r>
              <a:rPr lang="en-US" sz="3000" b="1" dirty="0">
                <a:solidFill>
                  <a:srgbClr val="0F2742"/>
                </a:solidFill>
                <a:latin typeface="Calibri" pitchFamily="34" charset="0"/>
                <a:ea typeface="Calibri" pitchFamily="34" charset="-122"/>
                <a:cs typeface="Calibri" pitchFamily="34" charset="-120"/>
              </a:rPr>
              <a:t>Where the Seller Portal sits in the Qwipo platform</a:t>
            </a:r>
            <a:endParaRPr lang="en-US" sz="3000" dirty="0"/>
          </a:p>
        </p:txBody>
      </p:sp>
      <p:sp>
        <p:nvSpPr>
          <p:cNvPr id="5" name="Shape 3"/>
          <p:cNvSpPr/>
          <p:nvPr/>
        </p:nvSpPr>
        <p:spPr>
          <a:xfrm>
            <a:off x="540868" y="1737360"/>
            <a:ext cx="3520440" cy="3291840"/>
          </a:xfrm>
          <a:prstGeom prst="rect">
            <a:avLst/>
          </a:prstGeom>
          <a:solidFill>
            <a:srgbClr val="FFFFFF"/>
          </a:solidFill>
          <a:ln w="9525">
            <a:solidFill>
              <a:srgbClr val="E2E8F0"/>
            </a:solidFill>
            <a:prstDash val="solid"/>
          </a:ln>
        </p:spPr>
      </p:sp>
      <p:sp>
        <p:nvSpPr>
          <p:cNvPr id="6" name="Shape 4"/>
          <p:cNvSpPr/>
          <p:nvPr/>
        </p:nvSpPr>
        <p:spPr>
          <a:xfrm>
            <a:off x="540868" y="1737360"/>
            <a:ext cx="3520440" cy="502920"/>
          </a:xfrm>
          <a:prstGeom prst="rect">
            <a:avLst/>
          </a:prstGeom>
          <a:solidFill>
            <a:srgbClr val="0F2742"/>
          </a:solidFill>
          <a:ln w="12700">
            <a:solidFill>
              <a:srgbClr val="0F2742"/>
            </a:solidFill>
            <a:prstDash val="solid"/>
          </a:ln>
        </p:spPr>
      </p:sp>
      <p:pic>
        <p:nvPicPr>
          <p:cNvPr id="7" name="Image 0" descr="preencoded.png">    </p:cNvPr>
          <p:cNvPicPr>
            <a:picLocks noChangeAspect="1"/>
          </p:cNvPicPr>
          <p:nvPr/>
        </p:nvPicPr>
        <p:blipFill>
          <a:blip r:embed="rId1"/>
          <a:stretch>
            <a:fillRect/>
          </a:stretch>
        </p:blipFill>
        <p:spPr>
          <a:xfrm>
            <a:off x="769468" y="1810512"/>
            <a:ext cx="365760" cy="365760"/>
          </a:xfrm>
          <a:prstGeom prst="rect">
            <a:avLst/>
          </a:prstGeom>
        </p:spPr>
      </p:pic>
      <p:sp>
        <p:nvSpPr>
          <p:cNvPr id="8" name="Text 5"/>
          <p:cNvSpPr/>
          <p:nvPr/>
        </p:nvSpPr>
        <p:spPr>
          <a:xfrm>
            <a:off x="1226668" y="1783080"/>
            <a:ext cx="274320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Super Admin Portal</a:t>
            </a:r>
            <a:endParaRPr lang="en-US" sz="1600" dirty="0"/>
          </a:p>
        </p:txBody>
      </p:sp>
      <p:sp>
        <p:nvSpPr>
          <p:cNvPr id="9" name="Text 6"/>
          <p:cNvSpPr/>
          <p:nvPr/>
        </p:nvSpPr>
        <p:spPr>
          <a:xfrm>
            <a:off x="815188" y="2468880"/>
            <a:ext cx="3017520" cy="2377440"/>
          </a:xfrm>
          <a:prstGeom prst="rect">
            <a:avLst/>
          </a:prstGeom>
          <a:noFill/>
          <a:ln/>
        </p:spPr>
        <p:txBody>
          <a:bodyPr wrap="square" rtlCol="0" anchor="t"/>
          <a:lstStyle/>
          <a:p>
            <a:pPr indent="0" marL="0">
              <a:spcAft>
                <a:spcPts val="300"/>
              </a:spcAft>
              <a:buNone/>
            </a:pPr>
            <a:r>
              <a:rPr lang="en-US" sz="1300" dirty="0">
                <a:solidFill>
                  <a:srgbClr val="1A2332"/>
                </a:solidFill>
                <a:latin typeface="Calibri" pitchFamily="34" charset="0"/>
                <a:ea typeface="Calibri" pitchFamily="34" charset="-122"/>
                <a:cs typeface="Calibri" pitchFamily="34" charset="-120"/>
              </a:rPr>
              <a:t>Sets up Companies, Brands, Sellers, and Serviceability. This is the 'foundation' — the seller cannot start without it.</a:t>
            </a:r>
            <a:endParaRPr lang="en-US" sz="1300" dirty="0"/>
          </a:p>
        </p:txBody>
      </p:sp>
      <p:pic>
        <p:nvPicPr>
          <p:cNvPr id="10" name="Image 1" descr="preencoded.png">    </p:cNvPr>
          <p:cNvPicPr>
            <a:picLocks noChangeAspect="1"/>
          </p:cNvPicPr>
          <p:nvPr/>
        </p:nvPicPr>
        <p:blipFill>
          <a:blip r:embed="rId2"/>
          <a:stretch>
            <a:fillRect/>
          </a:stretch>
        </p:blipFill>
        <p:spPr>
          <a:xfrm>
            <a:off x="4079596" y="3200400"/>
            <a:ext cx="237744" cy="237744"/>
          </a:xfrm>
          <a:prstGeom prst="rect">
            <a:avLst/>
          </a:prstGeom>
        </p:spPr>
      </p:pic>
      <p:sp>
        <p:nvSpPr>
          <p:cNvPr id="11" name="Shape 7"/>
          <p:cNvSpPr/>
          <p:nvPr/>
        </p:nvSpPr>
        <p:spPr>
          <a:xfrm>
            <a:off x="4335628" y="1737360"/>
            <a:ext cx="3520440" cy="3291840"/>
          </a:xfrm>
          <a:prstGeom prst="rect">
            <a:avLst/>
          </a:prstGeom>
          <a:solidFill>
            <a:srgbClr val="FFFFFF"/>
          </a:solidFill>
          <a:ln w="9525">
            <a:solidFill>
              <a:srgbClr val="E2E8F0"/>
            </a:solidFill>
            <a:prstDash val="solid"/>
          </a:ln>
        </p:spPr>
      </p:sp>
      <p:sp>
        <p:nvSpPr>
          <p:cNvPr id="12" name="Shape 8"/>
          <p:cNvSpPr/>
          <p:nvPr/>
        </p:nvSpPr>
        <p:spPr>
          <a:xfrm>
            <a:off x="4335628" y="1737360"/>
            <a:ext cx="3520440" cy="502920"/>
          </a:xfrm>
          <a:prstGeom prst="rect">
            <a:avLst/>
          </a:prstGeom>
          <a:solidFill>
            <a:srgbClr val="F26B38"/>
          </a:solidFill>
          <a:ln w="12700">
            <a:solidFill>
              <a:srgbClr val="F26B38"/>
            </a:solidFill>
            <a:prstDash val="solid"/>
          </a:ln>
        </p:spPr>
      </p:sp>
      <p:pic>
        <p:nvPicPr>
          <p:cNvPr id="13" name="Image 2" descr="preencoded.png">    </p:cNvPr>
          <p:cNvPicPr>
            <a:picLocks noChangeAspect="1"/>
          </p:cNvPicPr>
          <p:nvPr/>
        </p:nvPicPr>
        <p:blipFill>
          <a:blip r:embed="rId3"/>
          <a:stretch>
            <a:fillRect/>
          </a:stretch>
        </p:blipFill>
        <p:spPr>
          <a:xfrm>
            <a:off x="4564228" y="1810512"/>
            <a:ext cx="365760" cy="365760"/>
          </a:xfrm>
          <a:prstGeom prst="rect">
            <a:avLst/>
          </a:prstGeom>
        </p:spPr>
      </p:pic>
      <p:sp>
        <p:nvSpPr>
          <p:cNvPr id="14" name="Text 9"/>
          <p:cNvSpPr/>
          <p:nvPr/>
        </p:nvSpPr>
        <p:spPr>
          <a:xfrm>
            <a:off x="5021428" y="1783080"/>
            <a:ext cx="274320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Seller Portal</a:t>
            </a:r>
            <a:endParaRPr lang="en-US" sz="1600" dirty="0"/>
          </a:p>
        </p:txBody>
      </p:sp>
      <p:sp>
        <p:nvSpPr>
          <p:cNvPr id="15" name="Text 10"/>
          <p:cNvSpPr/>
          <p:nvPr/>
        </p:nvSpPr>
        <p:spPr>
          <a:xfrm>
            <a:off x="4609948" y="2468880"/>
            <a:ext cx="3017520" cy="2377440"/>
          </a:xfrm>
          <a:prstGeom prst="rect">
            <a:avLst/>
          </a:prstGeom>
          <a:noFill/>
          <a:ln/>
        </p:spPr>
        <p:txBody>
          <a:bodyPr wrap="square" rtlCol="0" anchor="t"/>
          <a:lstStyle/>
          <a:p>
            <a:pPr indent="0" marL="0">
              <a:spcAft>
                <a:spcPts val="300"/>
              </a:spcAft>
              <a:buNone/>
            </a:pPr>
            <a:r>
              <a:rPr lang="en-US" sz="1300" dirty="0">
                <a:solidFill>
                  <a:srgbClr val="1A2332"/>
                </a:solidFill>
                <a:latin typeface="Calibri" pitchFamily="34" charset="0"/>
                <a:ea typeface="Calibri" pitchFamily="34" charset="-122"/>
                <a:cs typeface="Calibri" pitchFamily="34" charset="-120"/>
              </a:rPr>
              <a:t>What this guide covers. Upload catalogue, manage orders, configure store, run schemes.</a:t>
            </a:r>
            <a:endParaRPr lang="en-US" sz="1300" dirty="0"/>
          </a:p>
        </p:txBody>
      </p:sp>
      <p:pic>
        <p:nvPicPr>
          <p:cNvPr id="16" name="Image 3" descr="preencoded.png">    </p:cNvPr>
          <p:cNvPicPr>
            <a:picLocks noChangeAspect="1"/>
          </p:cNvPicPr>
          <p:nvPr/>
        </p:nvPicPr>
        <p:blipFill>
          <a:blip r:embed="rId4"/>
          <a:stretch>
            <a:fillRect/>
          </a:stretch>
        </p:blipFill>
        <p:spPr>
          <a:xfrm>
            <a:off x="7874356" y="3200400"/>
            <a:ext cx="237744" cy="237744"/>
          </a:xfrm>
          <a:prstGeom prst="rect">
            <a:avLst/>
          </a:prstGeom>
        </p:spPr>
      </p:pic>
      <p:sp>
        <p:nvSpPr>
          <p:cNvPr id="17" name="Shape 11"/>
          <p:cNvSpPr/>
          <p:nvPr/>
        </p:nvSpPr>
        <p:spPr>
          <a:xfrm>
            <a:off x="8130388" y="1737360"/>
            <a:ext cx="3520440" cy="3291840"/>
          </a:xfrm>
          <a:prstGeom prst="rect">
            <a:avLst/>
          </a:prstGeom>
          <a:solidFill>
            <a:srgbClr val="FFFFFF"/>
          </a:solidFill>
          <a:ln w="9525">
            <a:solidFill>
              <a:srgbClr val="E2E8F0"/>
            </a:solidFill>
            <a:prstDash val="solid"/>
          </a:ln>
        </p:spPr>
      </p:sp>
      <p:sp>
        <p:nvSpPr>
          <p:cNvPr id="18" name="Shape 12"/>
          <p:cNvSpPr/>
          <p:nvPr/>
        </p:nvSpPr>
        <p:spPr>
          <a:xfrm>
            <a:off x="8130388" y="1737360"/>
            <a:ext cx="3520440" cy="502920"/>
          </a:xfrm>
          <a:prstGeom prst="rect">
            <a:avLst/>
          </a:prstGeom>
          <a:solidFill>
            <a:srgbClr val="1C9B8E"/>
          </a:solidFill>
          <a:ln w="12700">
            <a:solidFill>
              <a:srgbClr val="1C9B8E"/>
            </a:solidFill>
            <a:prstDash val="solid"/>
          </a:ln>
        </p:spPr>
      </p:sp>
      <p:pic>
        <p:nvPicPr>
          <p:cNvPr id="19" name="Image 4" descr="preencoded.png">    </p:cNvPr>
          <p:cNvPicPr>
            <a:picLocks noChangeAspect="1"/>
          </p:cNvPicPr>
          <p:nvPr/>
        </p:nvPicPr>
        <p:blipFill>
          <a:blip r:embed="rId5"/>
          <a:stretch>
            <a:fillRect/>
          </a:stretch>
        </p:blipFill>
        <p:spPr>
          <a:xfrm>
            <a:off x="8358988" y="1810512"/>
            <a:ext cx="365760" cy="365760"/>
          </a:xfrm>
          <a:prstGeom prst="rect">
            <a:avLst/>
          </a:prstGeom>
        </p:spPr>
      </p:pic>
      <p:sp>
        <p:nvSpPr>
          <p:cNvPr id="20" name="Text 13"/>
          <p:cNvSpPr/>
          <p:nvPr/>
        </p:nvSpPr>
        <p:spPr>
          <a:xfrm>
            <a:off x="8816188" y="1783080"/>
            <a:ext cx="274320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Buyer App / ONDC</a:t>
            </a:r>
            <a:endParaRPr lang="en-US" sz="1600" dirty="0"/>
          </a:p>
        </p:txBody>
      </p:sp>
      <p:sp>
        <p:nvSpPr>
          <p:cNvPr id="21" name="Text 14"/>
          <p:cNvSpPr/>
          <p:nvPr/>
        </p:nvSpPr>
        <p:spPr>
          <a:xfrm>
            <a:off x="8404708" y="2468880"/>
            <a:ext cx="3017520" cy="2377440"/>
          </a:xfrm>
          <a:prstGeom prst="rect">
            <a:avLst/>
          </a:prstGeom>
          <a:noFill/>
          <a:ln/>
        </p:spPr>
        <p:txBody>
          <a:bodyPr wrap="square" rtlCol="0" anchor="t"/>
          <a:lstStyle/>
          <a:p>
            <a:pPr indent="0" marL="0">
              <a:spcAft>
                <a:spcPts val="300"/>
              </a:spcAft>
              <a:buNone/>
            </a:pPr>
            <a:r>
              <a:rPr lang="en-US" sz="1300" dirty="0">
                <a:solidFill>
                  <a:srgbClr val="1A2332"/>
                </a:solidFill>
                <a:latin typeface="Calibri" pitchFamily="34" charset="0"/>
                <a:ea typeface="Calibri" pitchFamily="34" charset="-122"/>
                <a:cs typeface="Calibri" pitchFamily="34" charset="-120"/>
              </a:rPr>
              <a:t>Where retailers actually discover products. Driven by Company + Brand grouping, serviceability, and SKU images.</a:t>
            </a:r>
            <a:endParaRPr lang="en-US" sz="1300" dirty="0"/>
          </a:p>
        </p:txBody>
      </p:sp>
      <p:sp>
        <p:nvSpPr>
          <p:cNvPr id="22" name="Shape 15"/>
          <p:cNvSpPr/>
          <p:nvPr/>
        </p:nvSpPr>
        <p:spPr>
          <a:xfrm>
            <a:off x="548640" y="5349240"/>
            <a:ext cx="11109960" cy="1097280"/>
          </a:xfrm>
          <a:prstGeom prst="rect">
            <a:avLst/>
          </a:prstGeom>
          <a:solidFill>
            <a:srgbClr val="FFF6EC"/>
          </a:solidFill>
          <a:ln w="12700">
            <a:solidFill>
              <a:srgbClr val="F26B38"/>
            </a:solidFill>
            <a:prstDash val="solid"/>
          </a:ln>
        </p:spPr>
      </p:sp>
      <p:sp>
        <p:nvSpPr>
          <p:cNvPr id="23" name="Shape 16"/>
          <p:cNvSpPr/>
          <p:nvPr/>
        </p:nvSpPr>
        <p:spPr>
          <a:xfrm>
            <a:off x="548640" y="5349240"/>
            <a:ext cx="73152" cy="1097280"/>
          </a:xfrm>
          <a:prstGeom prst="rect">
            <a:avLst/>
          </a:prstGeom>
          <a:solidFill>
            <a:srgbClr val="F26B38"/>
          </a:solidFill>
          <a:ln w="12700">
            <a:solidFill>
              <a:srgbClr val="F26B38"/>
            </a:solidFill>
            <a:prstDash val="solid"/>
          </a:ln>
        </p:spPr>
      </p:sp>
      <p:sp>
        <p:nvSpPr>
          <p:cNvPr id="24" name="Text 17"/>
          <p:cNvSpPr/>
          <p:nvPr/>
        </p:nvSpPr>
        <p:spPr>
          <a:xfrm>
            <a:off x="777240" y="5458968"/>
            <a:ext cx="10789920" cy="292608"/>
          </a:xfrm>
          <a:prstGeom prst="rect">
            <a:avLst/>
          </a:prstGeom>
          <a:noFill/>
          <a:ln/>
        </p:spPr>
        <p:txBody>
          <a:bodyPr wrap="square" lIns="0" tIns="0" rIns="0" bIns="0" rtlCol="0" anchor="ctr"/>
          <a:lstStyle/>
          <a:p>
            <a:pPr indent="0" marL="0">
              <a:buNone/>
            </a:pPr>
            <a:r>
              <a:rPr lang="en-US" sz="1200" b="1" spc="100" kern="0" dirty="0">
                <a:solidFill>
                  <a:srgbClr val="C84A1F"/>
                </a:solidFill>
                <a:latin typeface="Calibri" pitchFamily="34" charset="0"/>
                <a:ea typeface="Calibri" pitchFamily="34" charset="-122"/>
                <a:cs typeface="Calibri" pitchFamily="34" charset="-120"/>
              </a:rPr>
              <a:t>Why this order matters</a:t>
            </a:r>
            <a:endParaRPr lang="en-US" sz="1200" dirty="0"/>
          </a:p>
        </p:txBody>
      </p:sp>
      <p:sp>
        <p:nvSpPr>
          <p:cNvPr id="25" name="Text 18"/>
          <p:cNvSpPr/>
          <p:nvPr/>
        </p:nvSpPr>
        <p:spPr>
          <a:xfrm>
            <a:off x="777240" y="5760720"/>
            <a:ext cx="10789920" cy="594360"/>
          </a:xfrm>
          <a:prstGeom prst="rect">
            <a:avLst/>
          </a:prstGeom>
          <a:noFill/>
          <a:ln/>
        </p:spPr>
        <p:txBody>
          <a:bodyPr wrap="square" lIns="0" tIns="0" rIns="0" bIns="0" rtlCol="0" anchor="ctr"/>
          <a:lstStyle/>
          <a:p>
            <a:pPr indent="0" marL="0">
              <a:spcAft>
                <a:spcPts val="300"/>
              </a:spcAft>
              <a:buNone/>
            </a:pPr>
            <a:r>
              <a:rPr lang="en-US" sz="1200" dirty="0">
                <a:solidFill>
                  <a:srgbClr val="1A2332"/>
                </a:solidFill>
                <a:latin typeface="Calibri" pitchFamily="34" charset="0"/>
                <a:ea typeface="Calibri" pitchFamily="34" charset="-122"/>
                <a:cs typeface="Calibri" pitchFamily="34" charset="-120"/>
              </a:rPr>
              <a:t>A seller logging in for the first time depends on the Super Admin having created the Company, mapped the Brands, and configured Serviceability. If any of those is missing, the SKU upload will fail or the order will never reach the seller — even though the portal looks fine.</a:t>
            </a:r>
            <a:endParaRPr lang="en-US" sz="1200" dirty="0"/>
          </a:p>
        </p:txBody>
      </p:sp>
      <p:sp>
        <p:nvSpPr>
          <p:cNvPr id="26" name="Shape 19"/>
          <p:cNvSpPr/>
          <p:nvPr/>
        </p:nvSpPr>
        <p:spPr>
          <a:xfrm>
            <a:off x="0" y="6565392"/>
            <a:ext cx="12191695" cy="292608"/>
          </a:xfrm>
          <a:prstGeom prst="rect">
            <a:avLst/>
          </a:prstGeom>
          <a:solidFill>
            <a:srgbClr val="0F2742"/>
          </a:solidFill>
          <a:ln w="12700">
            <a:solidFill>
              <a:srgbClr val="0F2742"/>
            </a:solidFill>
            <a:prstDash val="solid"/>
          </a:ln>
        </p:spPr>
      </p:sp>
      <p:sp>
        <p:nvSpPr>
          <p:cNvPr id="27" name="Text 20"/>
          <p:cNvSpPr/>
          <p:nvPr/>
        </p:nvSpPr>
        <p:spPr>
          <a:xfrm>
            <a:off x="457200" y="6583680"/>
            <a:ext cx="731520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Qwipo Seller Store · Seller Training Guide · v1.1 · Internal Use</a:t>
            </a:r>
            <a:endParaRPr lang="en-US" sz="900" dirty="0"/>
          </a:p>
        </p:txBody>
      </p:sp>
      <p:sp>
        <p:nvSpPr>
          <p:cNvPr id="28" name="Text 21"/>
          <p:cNvSpPr/>
          <p:nvPr/>
        </p:nvSpPr>
        <p:spPr>
          <a:xfrm>
            <a:off x="10820095" y="6583680"/>
            <a:ext cx="914400" cy="256032"/>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 / 33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2742"/>
          </a:solidFill>
          <a:ln w="12700">
            <a:solidFill>
              <a:srgbClr val="0F2742"/>
            </a:solidFill>
            <a:prstDash val="solid"/>
          </a:ln>
        </p:spPr>
      </p:sp>
      <p:sp>
        <p:nvSpPr>
          <p:cNvPr id="3" name="Text 1"/>
          <p:cNvSpPr/>
          <p:nvPr/>
        </p:nvSpPr>
        <p:spPr>
          <a:xfrm>
            <a:off x="640080" y="320040"/>
            <a:ext cx="10058400" cy="320040"/>
          </a:xfrm>
          <a:prstGeom prst="rect">
            <a:avLst/>
          </a:prstGeom>
          <a:noFill/>
          <a:ln/>
        </p:spPr>
        <p:txBody>
          <a:bodyPr wrap="square" rtlCol="0" anchor="ctr"/>
          <a:lstStyle/>
          <a:p>
            <a:pPr indent="0" marL="0">
              <a:buNone/>
            </a:pPr>
            <a:r>
              <a:rPr lang="en-US" sz="1100" b="1" spc="400" kern="0" dirty="0">
                <a:solidFill>
                  <a:srgbClr val="F26B38"/>
                </a:solidFill>
                <a:latin typeface="Calibri" pitchFamily="34" charset="0"/>
                <a:ea typeface="Calibri" pitchFamily="34" charset="-122"/>
                <a:cs typeface="Calibri" pitchFamily="34" charset="-120"/>
              </a:rPr>
              <a:t>PREREQUISITES</a:t>
            </a:r>
            <a:endParaRPr lang="en-US" sz="1100" dirty="0"/>
          </a:p>
        </p:txBody>
      </p:sp>
      <p:sp>
        <p:nvSpPr>
          <p:cNvPr id="4" name="Text 2"/>
          <p:cNvSpPr/>
          <p:nvPr/>
        </p:nvSpPr>
        <p:spPr>
          <a:xfrm>
            <a:off x="640080" y="594360"/>
            <a:ext cx="10789920" cy="777240"/>
          </a:xfrm>
          <a:prstGeom prst="rect">
            <a:avLst/>
          </a:prstGeom>
          <a:noFill/>
          <a:ln/>
        </p:spPr>
        <p:txBody>
          <a:bodyPr wrap="square" lIns="0" tIns="0" rIns="0" bIns="0" rtlCol="0" anchor="ctr"/>
          <a:lstStyle/>
          <a:p>
            <a:pPr indent="0" marL="0">
              <a:buNone/>
            </a:pPr>
            <a:r>
              <a:rPr lang="en-US" sz="3000" b="1" dirty="0">
                <a:solidFill>
                  <a:srgbClr val="0F2742"/>
                </a:solidFill>
                <a:latin typeface="Calibri" pitchFamily="34" charset="0"/>
                <a:ea typeface="Calibri" pitchFamily="34" charset="-122"/>
                <a:cs typeface="Calibri" pitchFamily="34" charset="-120"/>
              </a:rPr>
              <a:t>What must already exist before a seller logs in</a:t>
            </a:r>
            <a:endParaRPr lang="en-US" sz="3000" dirty="0"/>
          </a:p>
        </p:txBody>
      </p:sp>
      <p:sp>
        <p:nvSpPr>
          <p:cNvPr id="5" name="Shape 3"/>
          <p:cNvSpPr/>
          <p:nvPr/>
        </p:nvSpPr>
        <p:spPr>
          <a:xfrm>
            <a:off x="548640" y="1691640"/>
            <a:ext cx="11109960" cy="868680"/>
          </a:xfrm>
          <a:prstGeom prst="rect">
            <a:avLst/>
          </a:prstGeom>
          <a:solidFill>
            <a:srgbClr val="FFFFFF"/>
          </a:solidFill>
          <a:ln w="7620">
            <a:solidFill>
              <a:srgbClr val="E2E8F0"/>
            </a:solidFill>
            <a:prstDash val="solid"/>
          </a:ln>
        </p:spPr>
      </p:sp>
      <p:sp>
        <p:nvSpPr>
          <p:cNvPr id="6" name="Shape 4"/>
          <p:cNvSpPr/>
          <p:nvPr/>
        </p:nvSpPr>
        <p:spPr>
          <a:xfrm>
            <a:off x="731520" y="1874520"/>
            <a:ext cx="502920" cy="502920"/>
          </a:xfrm>
          <a:prstGeom prst="ellipse">
            <a:avLst/>
          </a:prstGeom>
          <a:solidFill>
            <a:srgbClr val="0F2742"/>
          </a:solidFill>
          <a:ln w="12700">
            <a:solidFill>
              <a:srgbClr val="0F2742"/>
            </a:solidFill>
            <a:prstDash val="solid"/>
          </a:ln>
        </p:spPr>
      </p:sp>
      <p:sp>
        <p:nvSpPr>
          <p:cNvPr id="7" name="Text 5"/>
          <p:cNvSpPr/>
          <p:nvPr/>
        </p:nvSpPr>
        <p:spPr>
          <a:xfrm>
            <a:off x="731520" y="18745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417320" y="1764792"/>
            <a:ext cx="3657600" cy="365760"/>
          </a:xfrm>
          <a:prstGeom prst="rect">
            <a:avLst/>
          </a:prstGeom>
          <a:noFill/>
          <a:ln/>
        </p:spPr>
        <p:txBody>
          <a:bodyPr wrap="square" lIns="0" tIns="0" rIns="0" bIns="0" rtlCol="0" anchor="ctr"/>
          <a:lstStyle/>
          <a:p>
            <a:pPr indent="0" marL="0">
              <a:buNone/>
            </a:pPr>
            <a:r>
              <a:rPr lang="en-US" sz="1500" b="1" dirty="0">
                <a:solidFill>
                  <a:srgbClr val="0F2742"/>
                </a:solidFill>
                <a:latin typeface="Calibri" pitchFamily="34" charset="0"/>
                <a:ea typeface="Calibri" pitchFamily="34" charset="-122"/>
                <a:cs typeface="Calibri" pitchFamily="34" charset="-120"/>
              </a:rPr>
              <a:t>Company created</a:t>
            </a:r>
            <a:endParaRPr lang="en-US" sz="1500" dirty="0"/>
          </a:p>
        </p:txBody>
      </p:sp>
      <p:sp>
        <p:nvSpPr>
          <p:cNvPr id="9" name="Text 7"/>
          <p:cNvSpPr/>
          <p:nvPr/>
        </p:nvSpPr>
        <p:spPr>
          <a:xfrm>
            <a:off x="1417320" y="2103120"/>
            <a:ext cx="10058400" cy="411480"/>
          </a:xfrm>
          <a:prstGeom prst="rect">
            <a:avLst/>
          </a:prstGeom>
          <a:noFill/>
          <a:ln/>
        </p:spPr>
        <p:txBody>
          <a:bodyPr wrap="square" lIns="0" tIns="0" rIns="0" bIns="0" rtlCol="0" anchor="t"/>
          <a:lstStyle/>
          <a:p>
            <a:pPr indent="0" marL="0">
              <a:buNone/>
            </a:pPr>
            <a:r>
              <a:rPr lang="en-US" sz="1200" dirty="0">
                <a:solidFill>
                  <a:srgbClr val="1A2332"/>
                </a:solidFill>
                <a:latin typeface="Calibri" pitchFamily="34" charset="0"/>
                <a:ea typeface="Calibri" pitchFamily="34" charset="-122"/>
                <a:cs typeface="Calibri" pitchFamily="34" charset="-120"/>
              </a:rPr>
              <a:t>Manufacturer entity (e.g., GRB Dairy Foods). Every SKU references a Company. Name must be exact.</a:t>
            </a:r>
            <a:endParaRPr lang="en-US" sz="1200" dirty="0"/>
          </a:p>
        </p:txBody>
      </p:sp>
      <p:sp>
        <p:nvSpPr>
          <p:cNvPr id="10" name="Shape 8"/>
          <p:cNvSpPr/>
          <p:nvPr/>
        </p:nvSpPr>
        <p:spPr>
          <a:xfrm>
            <a:off x="548640" y="2670048"/>
            <a:ext cx="11109960" cy="868680"/>
          </a:xfrm>
          <a:prstGeom prst="rect">
            <a:avLst/>
          </a:prstGeom>
          <a:solidFill>
            <a:srgbClr val="FFFFFF"/>
          </a:solidFill>
          <a:ln w="7620">
            <a:solidFill>
              <a:srgbClr val="E2E8F0"/>
            </a:solidFill>
            <a:prstDash val="solid"/>
          </a:ln>
        </p:spPr>
      </p:sp>
      <p:sp>
        <p:nvSpPr>
          <p:cNvPr id="11" name="Shape 9"/>
          <p:cNvSpPr/>
          <p:nvPr/>
        </p:nvSpPr>
        <p:spPr>
          <a:xfrm>
            <a:off x="731520" y="2852928"/>
            <a:ext cx="502920" cy="502920"/>
          </a:xfrm>
          <a:prstGeom prst="ellipse">
            <a:avLst/>
          </a:prstGeom>
          <a:solidFill>
            <a:srgbClr val="0F2742"/>
          </a:solidFill>
          <a:ln w="12700">
            <a:solidFill>
              <a:srgbClr val="0F2742"/>
            </a:solidFill>
            <a:prstDash val="solid"/>
          </a:ln>
        </p:spPr>
      </p:sp>
      <p:sp>
        <p:nvSpPr>
          <p:cNvPr id="12" name="Text 10"/>
          <p:cNvSpPr/>
          <p:nvPr/>
        </p:nvSpPr>
        <p:spPr>
          <a:xfrm>
            <a:off x="731520" y="285292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417320" y="2743200"/>
            <a:ext cx="3657600" cy="365760"/>
          </a:xfrm>
          <a:prstGeom prst="rect">
            <a:avLst/>
          </a:prstGeom>
          <a:noFill/>
          <a:ln/>
        </p:spPr>
        <p:txBody>
          <a:bodyPr wrap="square" lIns="0" tIns="0" rIns="0" bIns="0" rtlCol="0" anchor="ctr"/>
          <a:lstStyle/>
          <a:p>
            <a:pPr indent="0" marL="0">
              <a:buNone/>
            </a:pPr>
            <a:r>
              <a:rPr lang="en-US" sz="1500" b="1" dirty="0">
                <a:solidFill>
                  <a:srgbClr val="0F2742"/>
                </a:solidFill>
                <a:latin typeface="Calibri" pitchFamily="34" charset="0"/>
                <a:ea typeface="Calibri" pitchFamily="34" charset="-122"/>
                <a:cs typeface="Calibri" pitchFamily="34" charset="-120"/>
              </a:rPr>
              <a:t>Brands added under Company</a:t>
            </a:r>
            <a:endParaRPr lang="en-US" sz="1500" dirty="0"/>
          </a:p>
        </p:txBody>
      </p:sp>
      <p:sp>
        <p:nvSpPr>
          <p:cNvPr id="14" name="Text 12"/>
          <p:cNvSpPr/>
          <p:nvPr/>
        </p:nvSpPr>
        <p:spPr>
          <a:xfrm>
            <a:off x="1417320" y="3081528"/>
            <a:ext cx="10058400" cy="411480"/>
          </a:xfrm>
          <a:prstGeom prst="rect">
            <a:avLst/>
          </a:prstGeom>
          <a:noFill/>
          <a:ln/>
        </p:spPr>
        <p:txBody>
          <a:bodyPr wrap="square" lIns="0" tIns="0" rIns="0" bIns="0" rtlCol="0" anchor="t"/>
          <a:lstStyle/>
          <a:p>
            <a:pPr indent="0" marL="0">
              <a:buNone/>
            </a:pPr>
            <a:r>
              <a:rPr lang="en-US" sz="1200" dirty="0">
                <a:solidFill>
                  <a:srgbClr val="1A2332"/>
                </a:solidFill>
                <a:latin typeface="Calibri" pitchFamily="34" charset="0"/>
                <a:ea typeface="Calibri" pitchFamily="34" charset="-122"/>
                <a:cs typeface="Calibri" pitchFamily="34" charset="-120"/>
              </a:rPr>
              <a:t>E.g., GRB, Cycle, Om Shanthi. Brands cannot be removed once created.</a:t>
            </a:r>
            <a:endParaRPr lang="en-US" sz="1200" dirty="0"/>
          </a:p>
        </p:txBody>
      </p:sp>
      <p:sp>
        <p:nvSpPr>
          <p:cNvPr id="15" name="Shape 13"/>
          <p:cNvSpPr/>
          <p:nvPr/>
        </p:nvSpPr>
        <p:spPr>
          <a:xfrm>
            <a:off x="548640" y="3648456"/>
            <a:ext cx="11109960" cy="868680"/>
          </a:xfrm>
          <a:prstGeom prst="rect">
            <a:avLst/>
          </a:prstGeom>
          <a:solidFill>
            <a:srgbClr val="FFFFFF"/>
          </a:solidFill>
          <a:ln w="7620">
            <a:solidFill>
              <a:srgbClr val="E2E8F0"/>
            </a:solidFill>
            <a:prstDash val="solid"/>
          </a:ln>
        </p:spPr>
      </p:sp>
      <p:sp>
        <p:nvSpPr>
          <p:cNvPr id="16" name="Shape 14"/>
          <p:cNvSpPr/>
          <p:nvPr/>
        </p:nvSpPr>
        <p:spPr>
          <a:xfrm>
            <a:off x="731520" y="3831336"/>
            <a:ext cx="502920" cy="502920"/>
          </a:xfrm>
          <a:prstGeom prst="ellipse">
            <a:avLst/>
          </a:prstGeom>
          <a:solidFill>
            <a:srgbClr val="0F2742"/>
          </a:solidFill>
          <a:ln w="12700">
            <a:solidFill>
              <a:srgbClr val="0F2742"/>
            </a:solidFill>
            <a:prstDash val="solid"/>
          </a:ln>
        </p:spPr>
      </p:sp>
      <p:sp>
        <p:nvSpPr>
          <p:cNvPr id="17" name="Text 15"/>
          <p:cNvSpPr/>
          <p:nvPr/>
        </p:nvSpPr>
        <p:spPr>
          <a:xfrm>
            <a:off x="731520" y="383133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p:nvPr/>
        </p:nvSpPr>
        <p:spPr>
          <a:xfrm>
            <a:off x="1417320" y="3721608"/>
            <a:ext cx="3657600" cy="365760"/>
          </a:xfrm>
          <a:prstGeom prst="rect">
            <a:avLst/>
          </a:prstGeom>
          <a:noFill/>
          <a:ln/>
        </p:spPr>
        <p:txBody>
          <a:bodyPr wrap="square" lIns="0" tIns="0" rIns="0" bIns="0" rtlCol="0" anchor="ctr"/>
          <a:lstStyle/>
          <a:p>
            <a:pPr indent="0" marL="0">
              <a:buNone/>
            </a:pPr>
            <a:r>
              <a:rPr lang="en-US" sz="1500" b="1" dirty="0">
                <a:solidFill>
                  <a:srgbClr val="0F2742"/>
                </a:solidFill>
                <a:latin typeface="Calibri" pitchFamily="34" charset="0"/>
                <a:ea typeface="Calibri" pitchFamily="34" charset="-122"/>
                <a:cs typeface="Calibri" pitchFamily="34" charset="-120"/>
              </a:rPr>
              <a:t>Seller profile created</a:t>
            </a:r>
            <a:endParaRPr lang="en-US" sz="1500" dirty="0"/>
          </a:p>
        </p:txBody>
      </p:sp>
      <p:sp>
        <p:nvSpPr>
          <p:cNvPr id="19" name="Text 17"/>
          <p:cNvSpPr/>
          <p:nvPr/>
        </p:nvSpPr>
        <p:spPr>
          <a:xfrm>
            <a:off x="1417320" y="4059936"/>
            <a:ext cx="10058400" cy="411480"/>
          </a:xfrm>
          <a:prstGeom prst="rect">
            <a:avLst/>
          </a:prstGeom>
          <a:noFill/>
          <a:ln/>
        </p:spPr>
        <p:txBody>
          <a:bodyPr wrap="square" lIns="0" tIns="0" rIns="0" bIns="0" rtlCol="0" anchor="t"/>
          <a:lstStyle/>
          <a:p>
            <a:pPr indent="0" marL="0">
              <a:buNone/>
            </a:pPr>
            <a:r>
              <a:rPr lang="en-US" sz="1200" dirty="0">
                <a:solidFill>
                  <a:srgbClr val="1A2332"/>
                </a:solidFill>
                <a:latin typeface="Calibri" pitchFamily="34" charset="0"/>
                <a:ea typeface="Calibri" pitchFamily="34" charset="-122"/>
                <a:cs typeface="Calibri" pitchFamily="34" charset="-120"/>
              </a:rPr>
              <a:t>Business name, mobile, address with Lat/Long. Lat/Long becomes the warehouse.</a:t>
            </a:r>
            <a:endParaRPr lang="en-US" sz="1200" dirty="0"/>
          </a:p>
        </p:txBody>
      </p:sp>
      <p:sp>
        <p:nvSpPr>
          <p:cNvPr id="20" name="Shape 18"/>
          <p:cNvSpPr/>
          <p:nvPr/>
        </p:nvSpPr>
        <p:spPr>
          <a:xfrm>
            <a:off x="548640" y="4626864"/>
            <a:ext cx="11109960" cy="868680"/>
          </a:xfrm>
          <a:prstGeom prst="rect">
            <a:avLst/>
          </a:prstGeom>
          <a:solidFill>
            <a:srgbClr val="FFFFFF"/>
          </a:solidFill>
          <a:ln w="7620">
            <a:solidFill>
              <a:srgbClr val="E2E8F0"/>
            </a:solidFill>
            <a:prstDash val="solid"/>
          </a:ln>
        </p:spPr>
      </p:sp>
      <p:sp>
        <p:nvSpPr>
          <p:cNvPr id="21" name="Shape 19"/>
          <p:cNvSpPr/>
          <p:nvPr/>
        </p:nvSpPr>
        <p:spPr>
          <a:xfrm>
            <a:off x="731520" y="4809744"/>
            <a:ext cx="502920" cy="502920"/>
          </a:xfrm>
          <a:prstGeom prst="ellipse">
            <a:avLst/>
          </a:prstGeom>
          <a:solidFill>
            <a:srgbClr val="0F2742"/>
          </a:solidFill>
          <a:ln w="12700">
            <a:solidFill>
              <a:srgbClr val="0F2742"/>
            </a:solidFill>
            <a:prstDash val="solid"/>
          </a:ln>
        </p:spPr>
      </p:sp>
      <p:sp>
        <p:nvSpPr>
          <p:cNvPr id="22" name="Text 20"/>
          <p:cNvSpPr/>
          <p:nvPr/>
        </p:nvSpPr>
        <p:spPr>
          <a:xfrm>
            <a:off x="731520" y="480974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3" name="Text 21"/>
          <p:cNvSpPr/>
          <p:nvPr/>
        </p:nvSpPr>
        <p:spPr>
          <a:xfrm>
            <a:off x="1417320" y="4700016"/>
            <a:ext cx="3657600" cy="365760"/>
          </a:xfrm>
          <a:prstGeom prst="rect">
            <a:avLst/>
          </a:prstGeom>
          <a:noFill/>
          <a:ln/>
        </p:spPr>
        <p:txBody>
          <a:bodyPr wrap="square" lIns="0" tIns="0" rIns="0" bIns="0" rtlCol="0" anchor="ctr"/>
          <a:lstStyle/>
          <a:p>
            <a:pPr indent="0" marL="0">
              <a:buNone/>
            </a:pPr>
            <a:r>
              <a:rPr lang="en-US" sz="1500" b="1" dirty="0">
                <a:solidFill>
                  <a:srgbClr val="0F2742"/>
                </a:solidFill>
                <a:latin typeface="Calibri" pitchFamily="34" charset="0"/>
                <a:ea typeface="Calibri" pitchFamily="34" charset="-122"/>
                <a:cs typeface="Calibri" pitchFamily="34" charset="-120"/>
              </a:rPr>
              <a:t>Company &amp; Brand mapping</a:t>
            </a:r>
            <a:endParaRPr lang="en-US" sz="1500" dirty="0"/>
          </a:p>
        </p:txBody>
      </p:sp>
      <p:sp>
        <p:nvSpPr>
          <p:cNvPr id="24" name="Text 22"/>
          <p:cNvSpPr/>
          <p:nvPr/>
        </p:nvSpPr>
        <p:spPr>
          <a:xfrm>
            <a:off x="1417320" y="5038344"/>
            <a:ext cx="10058400" cy="411480"/>
          </a:xfrm>
          <a:prstGeom prst="rect">
            <a:avLst/>
          </a:prstGeom>
          <a:noFill/>
          <a:ln/>
        </p:spPr>
        <p:txBody>
          <a:bodyPr wrap="square" lIns="0" tIns="0" rIns="0" bIns="0" rtlCol="0" anchor="t"/>
          <a:lstStyle/>
          <a:p>
            <a:pPr indent="0" marL="0">
              <a:buNone/>
            </a:pPr>
            <a:r>
              <a:rPr lang="en-US" sz="1200" dirty="0">
                <a:solidFill>
                  <a:srgbClr val="1A2332"/>
                </a:solidFill>
                <a:latin typeface="Calibri" pitchFamily="34" charset="0"/>
                <a:ea typeface="Calibri" pitchFamily="34" charset="-122"/>
                <a:cs typeface="Calibri" pitchFamily="34" charset="-120"/>
              </a:rPr>
              <a:t>Only mapped brands appear in the seller's catalogue.</a:t>
            </a:r>
            <a:endParaRPr lang="en-US" sz="1200" dirty="0"/>
          </a:p>
        </p:txBody>
      </p:sp>
      <p:sp>
        <p:nvSpPr>
          <p:cNvPr id="25" name="Shape 23"/>
          <p:cNvSpPr/>
          <p:nvPr/>
        </p:nvSpPr>
        <p:spPr>
          <a:xfrm>
            <a:off x="548640" y="5605272"/>
            <a:ext cx="11109960" cy="868680"/>
          </a:xfrm>
          <a:prstGeom prst="rect">
            <a:avLst/>
          </a:prstGeom>
          <a:solidFill>
            <a:srgbClr val="FFFFFF"/>
          </a:solidFill>
          <a:ln w="7620">
            <a:solidFill>
              <a:srgbClr val="E2E8F0"/>
            </a:solidFill>
            <a:prstDash val="solid"/>
          </a:ln>
        </p:spPr>
      </p:sp>
      <p:sp>
        <p:nvSpPr>
          <p:cNvPr id="26" name="Shape 24"/>
          <p:cNvSpPr/>
          <p:nvPr/>
        </p:nvSpPr>
        <p:spPr>
          <a:xfrm>
            <a:off x="731520" y="5788152"/>
            <a:ext cx="502920" cy="502920"/>
          </a:xfrm>
          <a:prstGeom prst="ellipse">
            <a:avLst/>
          </a:prstGeom>
          <a:solidFill>
            <a:srgbClr val="0F2742"/>
          </a:solidFill>
          <a:ln w="12700">
            <a:solidFill>
              <a:srgbClr val="0F2742"/>
            </a:solidFill>
            <a:prstDash val="solid"/>
          </a:ln>
        </p:spPr>
      </p:sp>
      <p:sp>
        <p:nvSpPr>
          <p:cNvPr id="27" name="Text 25"/>
          <p:cNvSpPr/>
          <p:nvPr/>
        </p:nvSpPr>
        <p:spPr>
          <a:xfrm>
            <a:off x="731520" y="57881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8" name="Text 26"/>
          <p:cNvSpPr/>
          <p:nvPr/>
        </p:nvSpPr>
        <p:spPr>
          <a:xfrm>
            <a:off x="1417320" y="5678424"/>
            <a:ext cx="3657600" cy="365760"/>
          </a:xfrm>
          <a:prstGeom prst="rect">
            <a:avLst/>
          </a:prstGeom>
          <a:noFill/>
          <a:ln/>
        </p:spPr>
        <p:txBody>
          <a:bodyPr wrap="square" lIns="0" tIns="0" rIns="0" bIns="0" rtlCol="0" anchor="ctr"/>
          <a:lstStyle/>
          <a:p>
            <a:pPr indent="0" marL="0">
              <a:buNone/>
            </a:pPr>
            <a:r>
              <a:rPr lang="en-US" sz="1500" b="1" dirty="0">
                <a:solidFill>
                  <a:srgbClr val="0F2742"/>
                </a:solidFill>
                <a:latin typeface="Calibri" pitchFamily="34" charset="0"/>
                <a:ea typeface="Calibri" pitchFamily="34" charset="-122"/>
                <a:cs typeface="Calibri" pitchFamily="34" charset="-120"/>
              </a:rPr>
              <a:t>Serviceability configured</a:t>
            </a:r>
            <a:endParaRPr lang="en-US" sz="1500" dirty="0"/>
          </a:p>
        </p:txBody>
      </p:sp>
      <p:sp>
        <p:nvSpPr>
          <p:cNvPr id="29" name="Text 27"/>
          <p:cNvSpPr/>
          <p:nvPr/>
        </p:nvSpPr>
        <p:spPr>
          <a:xfrm>
            <a:off x="1417320" y="6016752"/>
            <a:ext cx="10058400" cy="411480"/>
          </a:xfrm>
          <a:prstGeom prst="rect">
            <a:avLst/>
          </a:prstGeom>
          <a:noFill/>
          <a:ln/>
        </p:spPr>
        <p:txBody>
          <a:bodyPr wrap="square" lIns="0" tIns="0" rIns="0" bIns="0" rtlCol="0" anchor="t"/>
          <a:lstStyle/>
          <a:p>
            <a:pPr indent="0" marL="0">
              <a:buNone/>
            </a:pPr>
            <a:r>
              <a:rPr lang="en-US" sz="1200" dirty="0">
                <a:solidFill>
                  <a:srgbClr val="1A2332"/>
                </a:solidFill>
                <a:latin typeface="Calibri" pitchFamily="34" charset="0"/>
                <a:ea typeface="Calibri" pitchFamily="34" charset="-122"/>
                <a:cs typeface="Calibri" pitchFamily="34" charset="-120"/>
              </a:rPr>
              <a:t>Beat + delivery day per company. Without this, orders cannot route to the seller.</a:t>
            </a:r>
            <a:endParaRPr lang="en-US" sz="1200" dirty="0"/>
          </a:p>
        </p:txBody>
      </p:sp>
      <p:sp>
        <p:nvSpPr>
          <p:cNvPr id="30" name="Shape 28"/>
          <p:cNvSpPr/>
          <p:nvPr/>
        </p:nvSpPr>
        <p:spPr>
          <a:xfrm>
            <a:off x="0" y="6565392"/>
            <a:ext cx="12191695" cy="292608"/>
          </a:xfrm>
          <a:prstGeom prst="rect">
            <a:avLst/>
          </a:prstGeom>
          <a:solidFill>
            <a:srgbClr val="0F2742"/>
          </a:solidFill>
          <a:ln w="12700">
            <a:solidFill>
              <a:srgbClr val="0F2742"/>
            </a:solidFill>
            <a:prstDash val="solid"/>
          </a:ln>
        </p:spPr>
      </p:sp>
      <p:sp>
        <p:nvSpPr>
          <p:cNvPr id="31" name="Text 29"/>
          <p:cNvSpPr/>
          <p:nvPr/>
        </p:nvSpPr>
        <p:spPr>
          <a:xfrm>
            <a:off x="457200" y="6583680"/>
            <a:ext cx="731520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Qwipo Seller Store · Seller Training Guide · v1.1 · Internal Use</a:t>
            </a:r>
            <a:endParaRPr lang="en-US" sz="900" dirty="0"/>
          </a:p>
        </p:txBody>
      </p:sp>
      <p:sp>
        <p:nvSpPr>
          <p:cNvPr id="32" name="Text 30"/>
          <p:cNvSpPr/>
          <p:nvPr/>
        </p:nvSpPr>
        <p:spPr>
          <a:xfrm>
            <a:off x="10820095" y="6583680"/>
            <a:ext cx="914400" cy="256032"/>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 / 33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2742"/>
          </a:solidFill>
          <a:ln w="12700">
            <a:solidFill>
              <a:srgbClr val="0F2742"/>
            </a:solidFill>
            <a:prstDash val="solid"/>
          </a:ln>
        </p:spPr>
      </p:sp>
      <p:sp>
        <p:nvSpPr>
          <p:cNvPr id="3" name="Text 1"/>
          <p:cNvSpPr/>
          <p:nvPr/>
        </p:nvSpPr>
        <p:spPr>
          <a:xfrm>
            <a:off x="640080" y="320040"/>
            <a:ext cx="10058400" cy="320040"/>
          </a:xfrm>
          <a:prstGeom prst="rect">
            <a:avLst/>
          </a:prstGeom>
          <a:noFill/>
          <a:ln/>
        </p:spPr>
        <p:txBody>
          <a:bodyPr wrap="square" rtlCol="0" anchor="ctr"/>
          <a:lstStyle/>
          <a:p>
            <a:pPr indent="0" marL="0">
              <a:buNone/>
            </a:pPr>
            <a:r>
              <a:rPr lang="en-US" sz="1100" b="1" spc="400" kern="0" dirty="0">
                <a:solidFill>
                  <a:srgbClr val="F26B38"/>
                </a:solidFill>
                <a:latin typeface="Calibri" pitchFamily="34" charset="0"/>
                <a:ea typeface="Calibri" pitchFamily="34" charset="-122"/>
                <a:cs typeface="Calibri" pitchFamily="34" charset="-120"/>
              </a:rPr>
              <a:t>MODULES IN PHASE 1</a:t>
            </a:r>
            <a:endParaRPr lang="en-US" sz="1100" dirty="0"/>
          </a:p>
        </p:txBody>
      </p:sp>
      <p:sp>
        <p:nvSpPr>
          <p:cNvPr id="4" name="Text 2"/>
          <p:cNvSpPr/>
          <p:nvPr/>
        </p:nvSpPr>
        <p:spPr>
          <a:xfrm>
            <a:off x="640080" y="594360"/>
            <a:ext cx="10789920" cy="777240"/>
          </a:xfrm>
          <a:prstGeom prst="rect">
            <a:avLst/>
          </a:prstGeom>
          <a:noFill/>
          <a:ln/>
        </p:spPr>
        <p:txBody>
          <a:bodyPr wrap="square" lIns="0" tIns="0" rIns="0" bIns="0" rtlCol="0" anchor="ctr"/>
          <a:lstStyle/>
          <a:p>
            <a:pPr indent="0" marL="0">
              <a:buNone/>
            </a:pPr>
            <a:r>
              <a:rPr lang="en-US" sz="3000" b="1" dirty="0">
                <a:solidFill>
                  <a:srgbClr val="0F2742"/>
                </a:solidFill>
                <a:latin typeface="Calibri" pitchFamily="34" charset="0"/>
                <a:ea typeface="Calibri" pitchFamily="34" charset="-122"/>
                <a:cs typeface="Calibri" pitchFamily="34" charset="-120"/>
              </a:rPr>
              <a:t>What you'll find in the left sidebar</a:t>
            </a:r>
            <a:endParaRPr lang="en-US" sz="3000" dirty="0"/>
          </a:p>
        </p:txBody>
      </p:sp>
      <p:sp>
        <p:nvSpPr>
          <p:cNvPr id="5" name="Shape 3"/>
          <p:cNvSpPr/>
          <p:nvPr/>
        </p:nvSpPr>
        <p:spPr>
          <a:xfrm>
            <a:off x="357988" y="1828800"/>
            <a:ext cx="2148840" cy="228600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6" name="Shape 4"/>
          <p:cNvSpPr/>
          <p:nvPr/>
        </p:nvSpPr>
        <p:spPr>
          <a:xfrm>
            <a:off x="357988" y="1828800"/>
            <a:ext cx="2148840" cy="73152"/>
          </a:xfrm>
          <a:prstGeom prst="rect">
            <a:avLst/>
          </a:prstGeom>
          <a:solidFill>
            <a:srgbClr val="F26B38"/>
          </a:solidFill>
          <a:ln w="12700">
            <a:solidFill>
              <a:srgbClr val="F26B38"/>
            </a:solidFill>
            <a:prstDash val="solid"/>
          </a:ln>
        </p:spPr>
      </p:sp>
      <p:sp>
        <p:nvSpPr>
          <p:cNvPr id="7" name="Shape 5"/>
          <p:cNvSpPr/>
          <p:nvPr/>
        </p:nvSpPr>
        <p:spPr>
          <a:xfrm>
            <a:off x="1043788" y="2148840"/>
            <a:ext cx="777240" cy="777240"/>
          </a:xfrm>
          <a:prstGeom prst="ellipse">
            <a:avLst/>
          </a:prstGeom>
          <a:solidFill>
            <a:srgbClr val="FFF6EC"/>
          </a:solidFill>
          <a:ln w="12700">
            <a:solidFill>
              <a:srgbClr val="FFF6EC"/>
            </a:solidFill>
            <a:prstDash val="solid"/>
          </a:ln>
        </p:spPr>
      </p:sp>
      <p:pic>
        <p:nvPicPr>
          <p:cNvPr id="8" name="Image 0" descr="preencoded.png">    </p:cNvPr>
          <p:cNvPicPr>
            <a:picLocks noChangeAspect="1"/>
          </p:cNvPicPr>
          <p:nvPr/>
        </p:nvPicPr>
        <p:blipFill>
          <a:blip r:embed="rId1"/>
          <a:stretch>
            <a:fillRect/>
          </a:stretch>
        </p:blipFill>
        <p:spPr>
          <a:xfrm>
            <a:off x="1203808" y="2286000"/>
            <a:ext cx="502920" cy="502920"/>
          </a:xfrm>
          <a:prstGeom prst="rect">
            <a:avLst/>
          </a:prstGeom>
        </p:spPr>
      </p:pic>
      <p:sp>
        <p:nvSpPr>
          <p:cNvPr id="9" name="Text 6"/>
          <p:cNvSpPr/>
          <p:nvPr/>
        </p:nvSpPr>
        <p:spPr>
          <a:xfrm>
            <a:off x="357988" y="3017520"/>
            <a:ext cx="2148840" cy="365760"/>
          </a:xfrm>
          <a:prstGeom prst="rect">
            <a:avLst/>
          </a:prstGeom>
          <a:noFill/>
          <a:ln/>
        </p:spPr>
        <p:txBody>
          <a:bodyPr wrap="square" lIns="0" tIns="0" rIns="0" bIns="0" rtlCol="0" anchor="ctr"/>
          <a:lstStyle/>
          <a:p>
            <a:pPr algn="ctr" indent="0" marL="0">
              <a:buNone/>
            </a:pPr>
            <a:r>
              <a:rPr lang="en-US" sz="1600" b="1" dirty="0">
                <a:solidFill>
                  <a:srgbClr val="0F2742"/>
                </a:solidFill>
                <a:latin typeface="Calibri" pitchFamily="34" charset="0"/>
                <a:ea typeface="Calibri" pitchFamily="34" charset="-122"/>
                <a:cs typeface="Calibri" pitchFamily="34" charset="-120"/>
              </a:rPr>
              <a:t>My SKU</a:t>
            </a:r>
            <a:endParaRPr lang="en-US" sz="1600" dirty="0"/>
          </a:p>
        </p:txBody>
      </p:sp>
      <p:sp>
        <p:nvSpPr>
          <p:cNvPr id="10" name="Text 7"/>
          <p:cNvSpPr/>
          <p:nvPr/>
        </p:nvSpPr>
        <p:spPr>
          <a:xfrm>
            <a:off x="540868" y="3383280"/>
            <a:ext cx="1783080" cy="685800"/>
          </a:xfrm>
          <a:prstGeom prst="rect">
            <a:avLst/>
          </a:prstGeom>
          <a:noFill/>
          <a:ln/>
        </p:spPr>
        <p:txBody>
          <a:bodyPr wrap="square" lIns="0" tIns="0" rIns="0" bIns="0" rtlCol="0" anchor="t"/>
          <a:lstStyle/>
          <a:p>
            <a:pPr algn="ctr" indent="0" marL="0">
              <a:buNone/>
            </a:pPr>
            <a:r>
              <a:rPr lang="en-US" sz="1100" dirty="0">
                <a:solidFill>
                  <a:srgbClr val="5A6776"/>
                </a:solidFill>
                <a:latin typeface="Calibri" pitchFamily="34" charset="0"/>
                <a:ea typeface="Calibri" pitchFamily="34" charset="-122"/>
                <a:cs typeface="Calibri" pitchFamily="34" charset="-120"/>
              </a:rPr>
              <a:t>Upload and manage product catalogue</a:t>
            </a:r>
            <a:endParaRPr lang="en-US" sz="1100" dirty="0"/>
          </a:p>
        </p:txBody>
      </p:sp>
      <p:sp>
        <p:nvSpPr>
          <p:cNvPr id="11" name="Shape 8"/>
          <p:cNvSpPr/>
          <p:nvPr/>
        </p:nvSpPr>
        <p:spPr>
          <a:xfrm>
            <a:off x="2689708" y="1828800"/>
            <a:ext cx="2148840" cy="228600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2" name="Shape 9"/>
          <p:cNvSpPr/>
          <p:nvPr/>
        </p:nvSpPr>
        <p:spPr>
          <a:xfrm>
            <a:off x="2689708" y="1828800"/>
            <a:ext cx="2148840" cy="73152"/>
          </a:xfrm>
          <a:prstGeom prst="rect">
            <a:avLst/>
          </a:prstGeom>
          <a:solidFill>
            <a:srgbClr val="F26B38"/>
          </a:solidFill>
          <a:ln w="12700">
            <a:solidFill>
              <a:srgbClr val="F26B38"/>
            </a:solidFill>
            <a:prstDash val="solid"/>
          </a:ln>
        </p:spPr>
      </p:sp>
      <p:sp>
        <p:nvSpPr>
          <p:cNvPr id="13" name="Shape 10"/>
          <p:cNvSpPr/>
          <p:nvPr/>
        </p:nvSpPr>
        <p:spPr>
          <a:xfrm>
            <a:off x="3375508" y="2148840"/>
            <a:ext cx="777240" cy="777240"/>
          </a:xfrm>
          <a:prstGeom prst="ellipse">
            <a:avLst/>
          </a:prstGeom>
          <a:solidFill>
            <a:srgbClr val="FFF6EC"/>
          </a:solidFill>
          <a:ln w="12700">
            <a:solidFill>
              <a:srgbClr val="FFF6EC"/>
            </a:solidFill>
            <a:prstDash val="solid"/>
          </a:ln>
        </p:spPr>
      </p:sp>
      <p:pic>
        <p:nvPicPr>
          <p:cNvPr id="14" name="Image 1" descr="preencoded.png">    </p:cNvPr>
          <p:cNvPicPr>
            <a:picLocks noChangeAspect="1"/>
          </p:cNvPicPr>
          <p:nvPr/>
        </p:nvPicPr>
        <p:blipFill>
          <a:blip r:embed="rId2"/>
          <a:stretch>
            <a:fillRect/>
          </a:stretch>
        </p:blipFill>
        <p:spPr>
          <a:xfrm>
            <a:off x="3535528" y="2286000"/>
            <a:ext cx="502920" cy="502920"/>
          </a:xfrm>
          <a:prstGeom prst="rect">
            <a:avLst/>
          </a:prstGeom>
        </p:spPr>
      </p:pic>
      <p:sp>
        <p:nvSpPr>
          <p:cNvPr id="15" name="Text 11"/>
          <p:cNvSpPr/>
          <p:nvPr/>
        </p:nvSpPr>
        <p:spPr>
          <a:xfrm>
            <a:off x="2689708" y="3017520"/>
            <a:ext cx="2148840" cy="365760"/>
          </a:xfrm>
          <a:prstGeom prst="rect">
            <a:avLst/>
          </a:prstGeom>
          <a:noFill/>
          <a:ln/>
        </p:spPr>
        <p:txBody>
          <a:bodyPr wrap="square" lIns="0" tIns="0" rIns="0" bIns="0" rtlCol="0" anchor="ctr"/>
          <a:lstStyle/>
          <a:p>
            <a:pPr algn="ctr" indent="0" marL="0">
              <a:buNone/>
            </a:pPr>
            <a:r>
              <a:rPr lang="en-US" sz="1600" b="1" dirty="0">
                <a:solidFill>
                  <a:srgbClr val="0F2742"/>
                </a:solidFill>
                <a:latin typeface="Calibri" pitchFamily="34" charset="0"/>
                <a:ea typeface="Calibri" pitchFamily="34" charset="-122"/>
                <a:cs typeface="Calibri" pitchFamily="34" charset="-120"/>
              </a:rPr>
              <a:t>Customers</a:t>
            </a:r>
            <a:endParaRPr lang="en-US" sz="1600" dirty="0"/>
          </a:p>
        </p:txBody>
      </p:sp>
      <p:sp>
        <p:nvSpPr>
          <p:cNvPr id="16" name="Text 12"/>
          <p:cNvSpPr/>
          <p:nvPr/>
        </p:nvSpPr>
        <p:spPr>
          <a:xfrm>
            <a:off x="2872588" y="3383280"/>
            <a:ext cx="1783080" cy="685800"/>
          </a:xfrm>
          <a:prstGeom prst="rect">
            <a:avLst/>
          </a:prstGeom>
          <a:noFill/>
          <a:ln/>
        </p:spPr>
        <p:txBody>
          <a:bodyPr wrap="square" lIns="0" tIns="0" rIns="0" bIns="0" rtlCol="0" anchor="t"/>
          <a:lstStyle/>
          <a:p>
            <a:pPr algn="ctr" indent="0" marL="0">
              <a:buNone/>
            </a:pPr>
            <a:r>
              <a:rPr lang="en-US" sz="1100" dirty="0">
                <a:solidFill>
                  <a:srgbClr val="5A6776"/>
                </a:solidFill>
                <a:latin typeface="Calibri" pitchFamily="34" charset="0"/>
                <a:ea typeface="Calibri" pitchFamily="34" charset="-122"/>
                <a:cs typeface="Calibri" pitchFamily="34" charset="-120"/>
              </a:rPr>
              <a:t>Retailers who buy from you</a:t>
            </a:r>
            <a:endParaRPr lang="en-US" sz="1100" dirty="0"/>
          </a:p>
        </p:txBody>
      </p:sp>
      <p:sp>
        <p:nvSpPr>
          <p:cNvPr id="17" name="Shape 13"/>
          <p:cNvSpPr/>
          <p:nvPr/>
        </p:nvSpPr>
        <p:spPr>
          <a:xfrm>
            <a:off x="5021428" y="1828800"/>
            <a:ext cx="2148840" cy="228600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18" name="Shape 14"/>
          <p:cNvSpPr/>
          <p:nvPr/>
        </p:nvSpPr>
        <p:spPr>
          <a:xfrm>
            <a:off x="5021428" y="1828800"/>
            <a:ext cx="2148840" cy="73152"/>
          </a:xfrm>
          <a:prstGeom prst="rect">
            <a:avLst/>
          </a:prstGeom>
          <a:solidFill>
            <a:srgbClr val="F26B38"/>
          </a:solidFill>
          <a:ln w="12700">
            <a:solidFill>
              <a:srgbClr val="F26B38"/>
            </a:solidFill>
            <a:prstDash val="solid"/>
          </a:ln>
        </p:spPr>
      </p:sp>
      <p:sp>
        <p:nvSpPr>
          <p:cNvPr id="19" name="Shape 15"/>
          <p:cNvSpPr/>
          <p:nvPr/>
        </p:nvSpPr>
        <p:spPr>
          <a:xfrm>
            <a:off x="5707228" y="2148840"/>
            <a:ext cx="777240" cy="777240"/>
          </a:xfrm>
          <a:prstGeom prst="ellipse">
            <a:avLst/>
          </a:prstGeom>
          <a:solidFill>
            <a:srgbClr val="FFF6EC"/>
          </a:solidFill>
          <a:ln w="12700">
            <a:solidFill>
              <a:srgbClr val="FFF6EC"/>
            </a:solidFill>
            <a:prstDash val="solid"/>
          </a:ln>
        </p:spPr>
      </p:sp>
      <p:pic>
        <p:nvPicPr>
          <p:cNvPr id="20" name="Image 2" descr="preencoded.png">    </p:cNvPr>
          <p:cNvPicPr>
            <a:picLocks noChangeAspect="1"/>
          </p:cNvPicPr>
          <p:nvPr/>
        </p:nvPicPr>
        <p:blipFill>
          <a:blip r:embed="rId3"/>
          <a:stretch>
            <a:fillRect/>
          </a:stretch>
        </p:blipFill>
        <p:spPr>
          <a:xfrm>
            <a:off x="5867248" y="2286000"/>
            <a:ext cx="502920" cy="502920"/>
          </a:xfrm>
          <a:prstGeom prst="rect">
            <a:avLst/>
          </a:prstGeom>
        </p:spPr>
      </p:pic>
      <p:sp>
        <p:nvSpPr>
          <p:cNvPr id="21" name="Text 16"/>
          <p:cNvSpPr/>
          <p:nvPr/>
        </p:nvSpPr>
        <p:spPr>
          <a:xfrm>
            <a:off x="5021428" y="3017520"/>
            <a:ext cx="2148840" cy="365760"/>
          </a:xfrm>
          <a:prstGeom prst="rect">
            <a:avLst/>
          </a:prstGeom>
          <a:noFill/>
          <a:ln/>
        </p:spPr>
        <p:txBody>
          <a:bodyPr wrap="square" lIns="0" tIns="0" rIns="0" bIns="0" rtlCol="0" anchor="ctr"/>
          <a:lstStyle/>
          <a:p>
            <a:pPr algn="ctr" indent="0" marL="0">
              <a:buNone/>
            </a:pPr>
            <a:r>
              <a:rPr lang="en-US" sz="1600" b="1" dirty="0">
                <a:solidFill>
                  <a:srgbClr val="0F2742"/>
                </a:solidFill>
                <a:latin typeface="Calibri" pitchFamily="34" charset="0"/>
                <a:ea typeface="Calibri" pitchFamily="34" charset="-122"/>
                <a:cs typeface="Calibri" pitchFamily="34" charset="-120"/>
              </a:rPr>
              <a:t>Offers &amp; Schemes</a:t>
            </a:r>
            <a:endParaRPr lang="en-US" sz="1600" dirty="0"/>
          </a:p>
        </p:txBody>
      </p:sp>
      <p:sp>
        <p:nvSpPr>
          <p:cNvPr id="22" name="Text 17"/>
          <p:cNvSpPr/>
          <p:nvPr/>
        </p:nvSpPr>
        <p:spPr>
          <a:xfrm>
            <a:off x="5204308" y="3383280"/>
            <a:ext cx="1783080" cy="685800"/>
          </a:xfrm>
          <a:prstGeom prst="rect">
            <a:avLst/>
          </a:prstGeom>
          <a:noFill/>
          <a:ln/>
        </p:spPr>
        <p:txBody>
          <a:bodyPr wrap="square" lIns="0" tIns="0" rIns="0" bIns="0" rtlCol="0" anchor="t"/>
          <a:lstStyle/>
          <a:p>
            <a:pPr algn="ctr" indent="0" marL="0">
              <a:buNone/>
            </a:pPr>
            <a:r>
              <a:rPr lang="en-US" sz="1100" dirty="0">
                <a:solidFill>
                  <a:srgbClr val="5A6776"/>
                </a:solidFill>
                <a:latin typeface="Calibri" pitchFamily="34" charset="0"/>
                <a:ea typeface="Calibri" pitchFamily="34" charset="-122"/>
                <a:cs typeface="Calibri" pitchFamily="34" charset="-120"/>
              </a:rPr>
              <a:t>QPS quantity-based pricing (Phase 1)</a:t>
            </a:r>
            <a:endParaRPr lang="en-US" sz="1100" dirty="0"/>
          </a:p>
        </p:txBody>
      </p:sp>
      <p:sp>
        <p:nvSpPr>
          <p:cNvPr id="23" name="Shape 18"/>
          <p:cNvSpPr/>
          <p:nvPr/>
        </p:nvSpPr>
        <p:spPr>
          <a:xfrm>
            <a:off x="7353148" y="1828800"/>
            <a:ext cx="2148840" cy="228600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24" name="Shape 19"/>
          <p:cNvSpPr/>
          <p:nvPr/>
        </p:nvSpPr>
        <p:spPr>
          <a:xfrm>
            <a:off x="7353148" y="1828800"/>
            <a:ext cx="2148840" cy="73152"/>
          </a:xfrm>
          <a:prstGeom prst="rect">
            <a:avLst/>
          </a:prstGeom>
          <a:solidFill>
            <a:srgbClr val="F26B38"/>
          </a:solidFill>
          <a:ln w="12700">
            <a:solidFill>
              <a:srgbClr val="F26B38"/>
            </a:solidFill>
            <a:prstDash val="solid"/>
          </a:ln>
        </p:spPr>
      </p:sp>
      <p:sp>
        <p:nvSpPr>
          <p:cNvPr id="25" name="Shape 20"/>
          <p:cNvSpPr/>
          <p:nvPr/>
        </p:nvSpPr>
        <p:spPr>
          <a:xfrm>
            <a:off x="8038948" y="2148840"/>
            <a:ext cx="777240" cy="777240"/>
          </a:xfrm>
          <a:prstGeom prst="ellipse">
            <a:avLst/>
          </a:prstGeom>
          <a:solidFill>
            <a:srgbClr val="FFF6EC"/>
          </a:solidFill>
          <a:ln w="12700">
            <a:solidFill>
              <a:srgbClr val="FFF6EC"/>
            </a:solidFill>
            <a:prstDash val="solid"/>
          </a:ln>
        </p:spPr>
      </p:sp>
      <p:pic>
        <p:nvPicPr>
          <p:cNvPr id="26" name="Image 3" descr="preencoded.png">    </p:cNvPr>
          <p:cNvPicPr>
            <a:picLocks noChangeAspect="1"/>
          </p:cNvPicPr>
          <p:nvPr/>
        </p:nvPicPr>
        <p:blipFill>
          <a:blip r:embed="rId4"/>
          <a:stretch>
            <a:fillRect/>
          </a:stretch>
        </p:blipFill>
        <p:spPr>
          <a:xfrm>
            <a:off x="8198968" y="2286000"/>
            <a:ext cx="502920" cy="502920"/>
          </a:xfrm>
          <a:prstGeom prst="rect">
            <a:avLst/>
          </a:prstGeom>
        </p:spPr>
      </p:pic>
      <p:sp>
        <p:nvSpPr>
          <p:cNvPr id="27" name="Text 21"/>
          <p:cNvSpPr/>
          <p:nvPr/>
        </p:nvSpPr>
        <p:spPr>
          <a:xfrm>
            <a:off x="7353148" y="3017520"/>
            <a:ext cx="2148840" cy="365760"/>
          </a:xfrm>
          <a:prstGeom prst="rect">
            <a:avLst/>
          </a:prstGeom>
          <a:noFill/>
          <a:ln/>
        </p:spPr>
        <p:txBody>
          <a:bodyPr wrap="square" lIns="0" tIns="0" rIns="0" bIns="0" rtlCol="0" anchor="ctr"/>
          <a:lstStyle/>
          <a:p>
            <a:pPr algn="ctr" indent="0" marL="0">
              <a:buNone/>
            </a:pPr>
            <a:r>
              <a:rPr lang="en-US" sz="1600" b="1" dirty="0">
                <a:solidFill>
                  <a:srgbClr val="0F2742"/>
                </a:solidFill>
                <a:latin typeface="Calibri" pitchFamily="34" charset="0"/>
                <a:ea typeface="Calibri" pitchFamily="34" charset="-122"/>
                <a:cs typeface="Calibri" pitchFamily="34" charset="-120"/>
              </a:rPr>
              <a:t>Orders</a:t>
            </a:r>
            <a:endParaRPr lang="en-US" sz="1600" dirty="0"/>
          </a:p>
        </p:txBody>
      </p:sp>
      <p:sp>
        <p:nvSpPr>
          <p:cNvPr id="28" name="Text 22"/>
          <p:cNvSpPr/>
          <p:nvPr/>
        </p:nvSpPr>
        <p:spPr>
          <a:xfrm>
            <a:off x="7536028" y="3383280"/>
            <a:ext cx="1783080" cy="685800"/>
          </a:xfrm>
          <a:prstGeom prst="rect">
            <a:avLst/>
          </a:prstGeom>
          <a:noFill/>
          <a:ln/>
        </p:spPr>
        <p:txBody>
          <a:bodyPr wrap="square" lIns="0" tIns="0" rIns="0" bIns="0" rtlCol="0" anchor="t"/>
          <a:lstStyle/>
          <a:p>
            <a:pPr algn="ctr" indent="0" marL="0">
              <a:buNone/>
            </a:pPr>
            <a:r>
              <a:rPr lang="en-US" sz="1100" dirty="0">
                <a:solidFill>
                  <a:srgbClr val="5A6776"/>
                </a:solidFill>
                <a:latin typeface="Calibri" pitchFamily="34" charset="0"/>
                <a:ea typeface="Calibri" pitchFamily="34" charset="-122"/>
                <a:cs typeface="Calibri" pitchFamily="34" charset="-120"/>
              </a:rPr>
              <a:t>Incoming orders, confirm &amp; dispatch</a:t>
            </a:r>
            <a:endParaRPr lang="en-US" sz="1100" dirty="0"/>
          </a:p>
        </p:txBody>
      </p:sp>
      <p:sp>
        <p:nvSpPr>
          <p:cNvPr id="29" name="Shape 23"/>
          <p:cNvSpPr/>
          <p:nvPr/>
        </p:nvSpPr>
        <p:spPr>
          <a:xfrm>
            <a:off x="9684868" y="1828800"/>
            <a:ext cx="2148840" cy="228600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8000"/>
              </a:srgbClr>
            </a:outerShdw>
          </a:effectLst>
        </p:spPr>
      </p:sp>
      <p:sp>
        <p:nvSpPr>
          <p:cNvPr id="30" name="Shape 24"/>
          <p:cNvSpPr/>
          <p:nvPr/>
        </p:nvSpPr>
        <p:spPr>
          <a:xfrm>
            <a:off x="9684868" y="1828800"/>
            <a:ext cx="2148840" cy="73152"/>
          </a:xfrm>
          <a:prstGeom prst="rect">
            <a:avLst/>
          </a:prstGeom>
          <a:solidFill>
            <a:srgbClr val="F26B38"/>
          </a:solidFill>
          <a:ln w="12700">
            <a:solidFill>
              <a:srgbClr val="F26B38"/>
            </a:solidFill>
            <a:prstDash val="solid"/>
          </a:ln>
        </p:spPr>
      </p:sp>
      <p:sp>
        <p:nvSpPr>
          <p:cNvPr id="31" name="Shape 25"/>
          <p:cNvSpPr/>
          <p:nvPr/>
        </p:nvSpPr>
        <p:spPr>
          <a:xfrm>
            <a:off x="10370668" y="2148840"/>
            <a:ext cx="777240" cy="777240"/>
          </a:xfrm>
          <a:prstGeom prst="ellipse">
            <a:avLst/>
          </a:prstGeom>
          <a:solidFill>
            <a:srgbClr val="FFF6EC"/>
          </a:solidFill>
          <a:ln w="12700">
            <a:solidFill>
              <a:srgbClr val="FFF6EC"/>
            </a:solidFill>
            <a:prstDash val="solid"/>
          </a:ln>
        </p:spPr>
      </p:sp>
      <p:pic>
        <p:nvPicPr>
          <p:cNvPr id="32" name="Image 4" descr="preencoded.png">    </p:cNvPr>
          <p:cNvPicPr>
            <a:picLocks noChangeAspect="1"/>
          </p:cNvPicPr>
          <p:nvPr/>
        </p:nvPicPr>
        <p:blipFill>
          <a:blip r:embed="rId5"/>
          <a:stretch>
            <a:fillRect/>
          </a:stretch>
        </p:blipFill>
        <p:spPr>
          <a:xfrm>
            <a:off x="10530688" y="2286000"/>
            <a:ext cx="502920" cy="502920"/>
          </a:xfrm>
          <a:prstGeom prst="rect">
            <a:avLst/>
          </a:prstGeom>
        </p:spPr>
      </p:pic>
      <p:sp>
        <p:nvSpPr>
          <p:cNvPr id="33" name="Text 26"/>
          <p:cNvSpPr/>
          <p:nvPr/>
        </p:nvSpPr>
        <p:spPr>
          <a:xfrm>
            <a:off x="9684868" y="3017520"/>
            <a:ext cx="2148840" cy="365760"/>
          </a:xfrm>
          <a:prstGeom prst="rect">
            <a:avLst/>
          </a:prstGeom>
          <a:noFill/>
          <a:ln/>
        </p:spPr>
        <p:txBody>
          <a:bodyPr wrap="square" lIns="0" tIns="0" rIns="0" bIns="0" rtlCol="0" anchor="ctr"/>
          <a:lstStyle/>
          <a:p>
            <a:pPr algn="ctr" indent="0" marL="0">
              <a:buNone/>
            </a:pPr>
            <a:r>
              <a:rPr lang="en-US" sz="1600" b="1" dirty="0">
                <a:solidFill>
                  <a:srgbClr val="0F2742"/>
                </a:solidFill>
                <a:latin typeface="Calibri" pitchFamily="34" charset="0"/>
                <a:ea typeface="Calibri" pitchFamily="34" charset="-122"/>
                <a:cs typeface="Calibri" pitchFamily="34" charset="-120"/>
              </a:rPr>
              <a:t>Settings</a:t>
            </a:r>
            <a:endParaRPr lang="en-US" sz="1600" dirty="0"/>
          </a:p>
        </p:txBody>
      </p:sp>
      <p:sp>
        <p:nvSpPr>
          <p:cNvPr id="34" name="Text 27"/>
          <p:cNvSpPr/>
          <p:nvPr/>
        </p:nvSpPr>
        <p:spPr>
          <a:xfrm>
            <a:off x="9867748" y="3383280"/>
            <a:ext cx="1783080" cy="685800"/>
          </a:xfrm>
          <a:prstGeom prst="rect">
            <a:avLst/>
          </a:prstGeom>
          <a:noFill/>
          <a:ln/>
        </p:spPr>
        <p:txBody>
          <a:bodyPr wrap="square" lIns="0" tIns="0" rIns="0" bIns="0" rtlCol="0" anchor="t"/>
          <a:lstStyle/>
          <a:p>
            <a:pPr algn="ctr" indent="0" marL="0">
              <a:buNone/>
            </a:pPr>
            <a:r>
              <a:rPr lang="en-US" sz="1100" dirty="0">
                <a:solidFill>
                  <a:srgbClr val="5A6776"/>
                </a:solidFill>
                <a:latin typeface="Calibri" pitchFamily="34" charset="0"/>
                <a:ea typeface="Calibri" pitchFamily="34" charset="-122"/>
                <a:cs typeface="Calibri" pitchFamily="34" charset="-120"/>
              </a:rPr>
              <a:t>Store, order rules, WhatsApp</a:t>
            </a:r>
            <a:endParaRPr lang="en-US" sz="1100" dirty="0"/>
          </a:p>
        </p:txBody>
      </p:sp>
      <p:sp>
        <p:nvSpPr>
          <p:cNvPr id="35" name="Shape 28"/>
          <p:cNvSpPr/>
          <p:nvPr/>
        </p:nvSpPr>
        <p:spPr>
          <a:xfrm>
            <a:off x="548640" y="4572000"/>
            <a:ext cx="11109960" cy="1783080"/>
          </a:xfrm>
          <a:prstGeom prst="rect">
            <a:avLst/>
          </a:prstGeom>
          <a:solidFill>
            <a:srgbClr val="FFF6EC"/>
          </a:solidFill>
          <a:ln w="12700">
            <a:solidFill>
              <a:srgbClr val="F26B38"/>
            </a:solidFill>
            <a:prstDash val="solid"/>
          </a:ln>
        </p:spPr>
      </p:sp>
      <p:sp>
        <p:nvSpPr>
          <p:cNvPr id="36" name="Shape 29"/>
          <p:cNvSpPr/>
          <p:nvPr/>
        </p:nvSpPr>
        <p:spPr>
          <a:xfrm>
            <a:off x="548640" y="4572000"/>
            <a:ext cx="73152" cy="1783080"/>
          </a:xfrm>
          <a:prstGeom prst="rect">
            <a:avLst/>
          </a:prstGeom>
          <a:solidFill>
            <a:srgbClr val="F26B38"/>
          </a:solidFill>
          <a:ln w="12700">
            <a:solidFill>
              <a:srgbClr val="F26B38"/>
            </a:solidFill>
            <a:prstDash val="solid"/>
          </a:ln>
        </p:spPr>
      </p:sp>
      <p:sp>
        <p:nvSpPr>
          <p:cNvPr id="37" name="Text 30"/>
          <p:cNvSpPr/>
          <p:nvPr/>
        </p:nvSpPr>
        <p:spPr>
          <a:xfrm>
            <a:off x="777240" y="4681728"/>
            <a:ext cx="10789920" cy="292608"/>
          </a:xfrm>
          <a:prstGeom prst="rect">
            <a:avLst/>
          </a:prstGeom>
          <a:noFill/>
          <a:ln/>
        </p:spPr>
        <p:txBody>
          <a:bodyPr wrap="square" lIns="0" tIns="0" rIns="0" bIns="0" rtlCol="0" anchor="ctr"/>
          <a:lstStyle/>
          <a:p>
            <a:pPr indent="0" marL="0">
              <a:buNone/>
            </a:pPr>
            <a:r>
              <a:rPr lang="en-US" sz="1200" b="1" spc="100" kern="0" dirty="0">
                <a:solidFill>
                  <a:srgbClr val="C84A1F"/>
                </a:solidFill>
                <a:latin typeface="Calibri" pitchFamily="34" charset="0"/>
                <a:ea typeface="Calibri" pitchFamily="34" charset="-122"/>
                <a:cs typeface="Calibri" pitchFamily="34" charset="-120"/>
              </a:rPr>
              <a:t>What's intentionally not here yet</a:t>
            </a:r>
            <a:endParaRPr lang="en-US" sz="1200" dirty="0"/>
          </a:p>
        </p:txBody>
      </p:sp>
      <p:sp>
        <p:nvSpPr>
          <p:cNvPr id="38" name="Text 31"/>
          <p:cNvSpPr/>
          <p:nvPr/>
        </p:nvSpPr>
        <p:spPr>
          <a:xfrm>
            <a:off x="777240" y="4983480"/>
            <a:ext cx="10789920" cy="1280160"/>
          </a:xfrm>
          <a:prstGeom prst="rect">
            <a:avLst/>
          </a:prstGeom>
          <a:noFill/>
          <a:ln/>
        </p:spPr>
        <p:txBody>
          <a:bodyPr wrap="square" lIns="0" tIns="0" rIns="0" bIns="0" rtlCol="0" anchor="ctr"/>
          <a:lstStyle/>
          <a:p>
            <a:pPr indent="0" marL="0">
              <a:spcAft>
                <a:spcPts val="300"/>
              </a:spcAft>
              <a:buNone/>
            </a:pPr>
            <a:r>
              <a:rPr lang="en-US" sz="1200" dirty="0">
                <a:solidFill>
                  <a:srgbClr val="1A2332"/>
                </a:solidFill>
                <a:latin typeface="Calibri" pitchFamily="34" charset="0"/>
                <a:ea typeface="Calibri" pitchFamily="34" charset="-122"/>
                <a:cs typeface="Calibri" pitchFamily="34" charset="-120"/>
              </a:rPr>
              <a:t>Dashboard analytics, returns workflow, value-slab/BOGO/case-bonus offers — all planned for Phase 2. Phase 1 covers the minimum a distributor needs to receive orders from ONDC and fulfil them.</a:t>
            </a:r>
            <a:endParaRPr lang="en-US" sz="1200" dirty="0"/>
          </a:p>
        </p:txBody>
      </p:sp>
      <p:sp>
        <p:nvSpPr>
          <p:cNvPr id="39" name="Shape 32"/>
          <p:cNvSpPr/>
          <p:nvPr/>
        </p:nvSpPr>
        <p:spPr>
          <a:xfrm>
            <a:off x="0" y="6565392"/>
            <a:ext cx="12191695" cy="292608"/>
          </a:xfrm>
          <a:prstGeom prst="rect">
            <a:avLst/>
          </a:prstGeom>
          <a:solidFill>
            <a:srgbClr val="0F2742"/>
          </a:solidFill>
          <a:ln w="12700">
            <a:solidFill>
              <a:srgbClr val="0F2742"/>
            </a:solidFill>
            <a:prstDash val="solid"/>
          </a:ln>
        </p:spPr>
      </p:sp>
      <p:sp>
        <p:nvSpPr>
          <p:cNvPr id="40" name="Text 33"/>
          <p:cNvSpPr/>
          <p:nvPr/>
        </p:nvSpPr>
        <p:spPr>
          <a:xfrm>
            <a:off x="457200" y="6583680"/>
            <a:ext cx="731520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Qwipo Seller Store · Seller Training Guide · v1.1 · Internal Use</a:t>
            </a:r>
            <a:endParaRPr lang="en-US" sz="900" dirty="0"/>
          </a:p>
        </p:txBody>
      </p:sp>
      <p:sp>
        <p:nvSpPr>
          <p:cNvPr id="41" name="Text 34"/>
          <p:cNvSpPr/>
          <p:nvPr/>
        </p:nvSpPr>
        <p:spPr>
          <a:xfrm>
            <a:off x="10820095" y="6583680"/>
            <a:ext cx="914400" cy="256032"/>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 / 33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2742"/>
          </a:solidFill>
          <a:ln w="12700">
            <a:solidFill>
              <a:srgbClr val="0F2742"/>
            </a:solidFill>
            <a:prstDash val="solid"/>
          </a:ln>
        </p:spPr>
      </p:sp>
      <p:sp>
        <p:nvSpPr>
          <p:cNvPr id="3" name="Text 1"/>
          <p:cNvSpPr/>
          <p:nvPr/>
        </p:nvSpPr>
        <p:spPr>
          <a:xfrm>
            <a:off x="640080" y="320040"/>
            <a:ext cx="10058400" cy="320040"/>
          </a:xfrm>
          <a:prstGeom prst="rect">
            <a:avLst/>
          </a:prstGeom>
          <a:noFill/>
          <a:ln/>
        </p:spPr>
        <p:txBody>
          <a:bodyPr wrap="square" rtlCol="0" anchor="ctr"/>
          <a:lstStyle/>
          <a:p>
            <a:pPr indent="0" marL="0">
              <a:buNone/>
            </a:pPr>
            <a:r>
              <a:rPr lang="en-US" sz="1100" b="1" spc="400" kern="0" dirty="0">
                <a:solidFill>
                  <a:srgbClr val="F26B38"/>
                </a:solidFill>
                <a:latin typeface="Calibri" pitchFamily="34" charset="0"/>
                <a:ea typeface="Calibri" pitchFamily="34" charset="-122"/>
                <a:cs typeface="Calibri" pitchFamily="34" charset="-120"/>
              </a:rPr>
              <a:t>GETTING STARTED</a:t>
            </a:r>
            <a:endParaRPr lang="en-US" sz="1100" dirty="0"/>
          </a:p>
        </p:txBody>
      </p:sp>
      <p:sp>
        <p:nvSpPr>
          <p:cNvPr id="4" name="Text 2"/>
          <p:cNvSpPr/>
          <p:nvPr/>
        </p:nvSpPr>
        <p:spPr>
          <a:xfrm>
            <a:off x="640080" y="594360"/>
            <a:ext cx="10789920" cy="777240"/>
          </a:xfrm>
          <a:prstGeom prst="rect">
            <a:avLst/>
          </a:prstGeom>
          <a:noFill/>
          <a:ln/>
        </p:spPr>
        <p:txBody>
          <a:bodyPr wrap="square" lIns="0" tIns="0" rIns="0" bIns="0" rtlCol="0" anchor="ctr"/>
          <a:lstStyle/>
          <a:p>
            <a:pPr indent="0" marL="0">
              <a:buNone/>
            </a:pPr>
            <a:r>
              <a:rPr lang="en-US" sz="3000" b="1" dirty="0">
                <a:solidFill>
                  <a:srgbClr val="0F2742"/>
                </a:solidFill>
                <a:latin typeface="Calibri" pitchFamily="34" charset="0"/>
                <a:ea typeface="Calibri" pitchFamily="34" charset="-122"/>
                <a:cs typeface="Calibri" pitchFamily="34" charset="-120"/>
              </a:rPr>
              <a:t>Logging in to the Seller Portal</a:t>
            </a:r>
            <a:endParaRPr lang="en-US" sz="3000" dirty="0"/>
          </a:p>
        </p:txBody>
      </p:sp>
      <p:sp>
        <p:nvSpPr>
          <p:cNvPr id="5" name="Shape 3"/>
          <p:cNvSpPr/>
          <p:nvPr/>
        </p:nvSpPr>
        <p:spPr>
          <a:xfrm>
            <a:off x="548640" y="1691640"/>
            <a:ext cx="5029200" cy="4572000"/>
          </a:xfrm>
          <a:prstGeom prst="rect">
            <a:avLst/>
          </a:prstGeom>
          <a:solidFill>
            <a:srgbClr val="FFFFFF"/>
          </a:solidFill>
          <a:ln w="9525">
            <a:solidFill>
              <a:srgbClr val="E2E8F0"/>
            </a:solidFill>
            <a:prstDash val="solid"/>
          </a:ln>
        </p:spPr>
      </p:sp>
      <p:sp>
        <p:nvSpPr>
          <p:cNvPr id="6" name="Shape 4"/>
          <p:cNvSpPr/>
          <p:nvPr/>
        </p:nvSpPr>
        <p:spPr>
          <a:xfrm>
            <a:off x="548640" y="1691640"/>
            <a:ext cx="73152" cy="4572000"/>
          </a:xfrm>
          <a:prstGeom prst="rect">
            <a:avLst/>
          </a:prstGeom>
          <a:solidFill>
            <a:srgbClr val="F26B38"/>
          </a:solidFill>
          <a:ln w="12700">
            <a:solidFill>
              <a:srgbClr val="F26B38"/>
            </a:solidFill>
            <a:prstDash val="solid"/>
          </a:ln>
        </p:spPr>
      </p:sp>
      <p:sp>
        <p:nvSpPr>
          <p:cNvPr id="7" name="Text 5"/>
          <p:cNvSpPr/>
          <p:nvPr/>
        </p:nvSpPr>
        <p:spPr>
          <a:xfrm>
            <a:off x="777240" y="1828800"/>
            <a:ext cx="4572000" cy="365760"/>
          </a:xfrm>
          <a:prstGeom prst="rect">
            <a:avLst/>
          </a:prstGeom>
          <a:noFill/>
          <a:ln/>
        </p:spPr>
        <p:txBody>
          <a:bodyPr wrap="square" lIns="0" tIns="0" rIns="0" bIns="0" rtlCol="0" anchor="ctr"/>
          <a:lstStyle/>
          <a:p>
            <a:pPr indent="0" marL="0">
              <a:buNone/>
            </a:pPr>
            <a:r>
              <a:rPr lang="en-US" sz="1700" b="1" dirty="0">
                <a:solidFill>
                  <a:srgbClr val="0F2742"/>
                </a:solidFill>
                <a:latin typeface="Calibri" pitchFamily="34" charset="0"/>
                <a:ea typeface="Calibri" pitchFamily="34" charset="-122"/>
                <a:cs typeface="Calibri" pitchFamily="34" charset="-120"/>
              </a:rPr>
              <a:t>Login steps</a:t>
            </a:r>
            <a:endParaRPr lang="en-US" sz="1700" dirty="0"/>
          </a:p>
        </p:txBody>
      </p:sp>
      <p:sp>
        <p:nvSpPr>
          <p:cNvPr id="8" name="Shape 6"/>
          <p:cNvSpPr/>
          <p:nvPr/>
        </p:nvSpPr>
        <p:spPr>
          <a:xfrm>
            <a:off x="777240" y="2331720"/>
            <a:ext cx="502920" cy="502920"/>
          </a:xfrm>
          <a:prstGeom prst="ellipse">
            <a:avLst/>
          </a:prstGeom>
          <a:solidFill>
            <a:srgbClr val="0F2742"/>
          </a:solidFill>
          <a:ln w="12700">
            <a:solidFill>
              <a:srgbClr val="0F2742"/>
            </a:solidFill>
            <a:prstDash val="solid"/>
          </a:ln>
        </p:spPr>
      </p:sp>
      <p:sp>
        <p:nvSpPr>
          <p:cNvPr id="9" name="Text 7"/>
          <p:cNvSpPr/>
          <p:nvPr/>
        </p:nvSpPr>
        <p:spPr>
          <a:xfrm>
            <a:off x="777240" y="23317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0" name="Text 8"/>
          <p:cNvSpPr/>
          <p:nvPr/>
        </p:nvSpPr>
        <p:spPr>
          <a:xfrm>
            <a:off x="1417320" y="2331720"/>
            <a:ext cx="4114800" cy="502920"/>
          </a:xfrm>
          <a:prstGeom prst="rect">
            <a:avLst/>
          </a:prstGeom>
          <a:noFill/>
          <a:ln/>
        </p:spPr>
        <p:txBody>
          <a:bodyPr wrap="square" lIns="0" tIns="0" rIns="0" bIns="0" rtlCol="0" anchor="ctr"/>
          <a:lstStyle/>
          <a:p>
            <a:pPr indent="0" marL="0">
              <a:buNone/>
            </a:pPr>
            <a:r>
              <a:rPr lang="en-US" sz="1300" dirty="0">
                <a:solidFill>
                  <a:srgbClr val="1A2332"/>
                </a:solidFill>
                <a:latin typeface="Calibri" pitchFamily="34" charset="0"/>
                <a:ea typeface="Calibri" pitchFamily="34" charset="-122"/>
                <a:cs typeface="Calibri" pitchFamily="34" charset="-120"/>
              </a:rPr>
              <a:t>Open the Seller Portal URL in your browser.</a:t>
            </a:r>
            <a:endParaRPr lang="en-US" sz="1300" dirty="0"/>
          </a:p>
        </p:txBody>
      </p:sp>
      <p:sp>
        <p:nvSpPr>
          <p:cNvPr id="11" name="Shape 9"/>
          <p:cNvSpPr/>
          <p:nvPr/>
        </p:nvSpPr>
        <p:spPr>
          <a:xfrm>
            <a:off x="777240" y="2971800"/>
            <a:ext cx="502920" cy="502920"/>
          </a:xfrm>
          <a:prstGeom prst="ellipse">
            <a:avLst/>
          </a:prstGeom>
          <a:solidFill>
            <a:srgbClr val="0F2742"/>
          </a:solidFill>
          <a:ln w="12700">
            <a:solidFill>
              <a:srgbClr val="0F2742"/>
            </a:solidFill>
            <a:prstDash val="solid"/>
          </a:ln>
        </p:spPr>
      </p:sp>
      <p:sp>
        <p:nvSpPr>
          <p:cNvPr id="12" name="Text 10"/>
          <p:cNvSpPr/>
          <p:nvPr/>
        </p:nvSpPr>
        <p:spPr>
          <a:xfrm>
            <a:off x="777240" y="29718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1"/>
          <p:cNvSpPr/>
          <p:nvPr/>
        </p:nvSpPr>
        <p:spPr>
          <a:xfrm>
            <a:off x="1417320" y="2971800"/>
            <a:ext cx="4114800" cy="502920"/>
          </a:xfrm>
          <a:prstGeom prst="rect">
            <a:avLst/>
          </a:prstGeom>
          <a:noFill/>
          <a:ln/>
        </p:spPr>
        <p:txBody>
          <a:bodyPr wrap="square" lIns="0" tIns="0" rIns="0" bIns="0" rtlCol="0" anchor="ctr"/>
          <a:lstStyle/>
          <a:p>
            <a:pPr indent="0" marL="0">
              <a:buNone/>
            </a:pPr>
            <a:r>
              <a:rPr lang="en-US" sz="1300" dirty="0">
                <a:solidFill>
                  <a:srgbClr val="1A2332"/>
                </a:solidFill>
                <a:latin typeface="Calibri" pitchFamily="34" charset="0"/>
                <a:ea typeface="Calibri" pitchFamily="34" charset="-122"/>
                <a:cs typeface="Calibri" pitchFamily="34" charset="-120"/>
              </a:rPr>
              <a:t>Enter your registered mobile number.</a:t>
            </a:r>
            <a:endParaRPr lang="en-US" sz="1300" dirty="0"/>
          </a:p>
        </p:txBody>
      </p:sp>
      <p:sp>
        <p:nvSpPr>
          <p:cNvPr id="14" name="Shape 12"/>
          <p:cNvSpPr/>
          <p:nvPr/>
        </p:nvSpPr>
        <p:spPr>
          <a:xfrm>
            <a:off x="777240" y="3611880"/>
            <a:ext cx="502920" cy="502920"/>
          </a:xfrm>
          <a:prstGeom prst="ellipse">
            <a:avLst/>
          </a:prstGeom>
          <a:solidFill>
            <a:srgbClr val="0F2742"/>
          </a:solidFill>
          <a:ln w="12700">
            <a:solidFill>
              <a:srgbClr val="0F2742"/>
            </a:solidFill>
            <a:prstDash val="solid"/>
          </a:ln>
        </p:spPr>
      </p:sp>
      <p:sp>
        <p:nvSpPr>
          <p:cNvPr id="15" name="Text 13"/>
          <p:cNvSpPr/>
          <p:nvPr/>
        </p:nvSpPr>
        <p:spPr>
          <a:xfrm>
            <a:off x="777240" y="36118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6" name="Text 14"/>
          <p:cNvSpPr/>
          <p:nvPr/>
        </p:nvSpPr>
        <p:spPr>
          <a:xfrm>
            <a:off x="1417320" y="3611880"/>
            <a:ext cx="4114800" cy="502920"/>
          </a:xfrm>
          <a:prstGeom prst="rect">
            <a:avLst/>
          </a:prstGeom>
          <a:noFill/>
          <a:ln/>
        </p:spPr>
        <p:txBody>
          <a:bodyPr wrap="square" lIns="0" tIns="0" rIns="0" bIns="0" rtlCol="0" anchor="ctr"/>
          <a:lstStyle/>
          <a:p>
            <a:pPr indent="0" marL="0">
              <a:buNone/>
            </a:pPr>
            <a:r>
              <a:rPr lang="en-US" sz="1300" dirty="0">
                <a:solidFill>
                  <a:srgbClr val="1A2332"/>
                </a:solidFill>
                <a:latin typeface="Calibri" pitchFamily="34" charset="0"/>
                <a:ea typeface="Calibri" pitchFamily="34" charset="-122"/>
                <a:cs typeface="Calibri" pitchFamily="34" charset="-120"/>
              </a:rPr>
              <a:t>Enter the OTP received on that number.</a:t>
            </a:r>
            <a:endParaRPr lang="en-US" sz="1300" dirty="0"/>
          </a:p>
        </p:txBody>
      </p:sp>
      <p:sp>
        <p:nvSpPr>
          <p:cNvPr id="17" name="Shape 15"/>
          <p:cNvSpPr/>
          <p:nvPr/>
        </p:nvSpPr>
        <p:spPr>
          <a:xfrm>
            <a:off x="777240" y="4251960"/>
            <a:ext cx="502920" cy="502920"/>
          </a:xfrm>
          <a:prstGeom prst="ellipse">
            <a:avLst/>
          </a:prstGeom>
          <a:solidFill>
            <a:srgbClr val="0F2742"/>
          </a:solidFill>
          <a:ln w="12700">
            <a:solidFill>
              <a:srgbClr val="0F2742"/>
            </a:solidFill>
            <a:prstDash val="solid"/>
          </a:ln>
        </p:spPr>
      </p:sp>
      <p:sp>
        <p:nvSpPr>
          <p:cNvPr id="18" name="Text 16"/>
          <p:cNvSpPr/>
          <p:nvPr/>
        </p:nvSpPr>
        <p:spPr>
          <a:xfrm>
            <a:off x="777240" y="42519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9" name="Text 17"/>
          <p:cNvSpPr/>
          <p:nvPr/>
        </p:nvSpPr>
        <p:spPr>
          <a:xfrm>
            <a:off x="1417320" y="4251960"/>
            <a:ext cx="4114800" cy="502920"/>
          </a:xfrm>
          <a:prstGeom prst="rect">
            <a:avLst/>
          </a:prstGeom>
          <a:noFill/>
          <a:ln/>
        </p:spPr>
        <p:txBody>
          <a:bodyPr wrap="square" lIns="0" tIns="0" rIns="0" bIns="0" rtlCol="0" anchor="ctr"/>
          <a:lstStyle/>
          <a:p>
            <a:pPr indent="0" marL="0">
              <a:buNone/>
            </a:pPr>
            <a:r>
              <a:rPr lang="en-US" sz="1300" dirty="0">
                <a:solidFill>
                  <a:srgbClr val="1A2332"/>
                </a:solidFill>
                <a:latin typeface="Calibri" pitchFamily="34" charset="0"/>
                <a:ea typeface="Calibri" pitchFamily="34" charset="-122"/>
                <a:cs typeface="Calibri" pitchFamily="34" charset="-120"/>
              </a:rPr>
              <a:t>Click Verify and Sign In.</a:t>
            </a:r>
            <a:endParaRPr lang="en-US" sz="1300" dirty="0"/>
          </a:p>
        </p:txBody>
      </p:sp>
      <p:sp>
        <p:nvSpPr>
          <p:cNvPr id="20" name="Shape 18"/>
          <p:cNvSpPr/>
          <p:nvPr/>
        </p:nvSpPr>
        <p:spPr>
          <a:xfrm>
            <a:off x="777240" y="4892040"/>
            <a:ext cx="502920" cy="502920"/>
          </a:xfrm>
          <a:prstGeom prst="ellipse">
            <a:avLst/>
          </a:prstGeom>
          <a:solidFill>
            <a:srgbClr val="0F2742"/>
          </a:solidFill>
          <a:ln w="12700">
            <a:solidFill>
              <a:srgbClr val="0F2742"/>
            </a:solidFill>
            <a:prstDash val="solid"/>
          </a:ln>
        </p:spPr>
      </p:sp>
      <p:sp>
        <p:nvSpPr>
          <p:cNvPr id="21" name="Text 19"/>
          <p:cNvSpPr/>
          <p:nvPr/>
        </p:nvSpPr>
        <p:spPr>
          <a:xfrm>
            <a:off x="777240" y="48920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2" name="Text 20"/>
          <p:cNvSpPr/>
          <p:nvPr/>
        </p:nvSpPr>
        <p:spPr>
          <a:xfrm>
            <a:off x="1417320" y="4892040"/>
            <a:ext cx="4114800" cy="502920"/>
          </a:xfrm>
          <a:prstGeom prst="rect">
            <a:avLst/>
          </a:prstGeom>
          <a:noFill/>
          <a:ln/>
        </p:spPr>
        <p:txBody>
          <a:bodyPr wrap="square" lIns="0" tIns="0" rIns="0" bIns="0" rtlCol="0" anchor="ctr"/>
          <a:lstStyle/>
          <a:p>
            <a:pPr indent="0" marL="0">
              <a:buNone/>
            </a:pPr>
            <a:r>
              <a:rPr lang="en-US" sz="1300" dirty="0">
                <a:solidFill>
                  <a:srgbClr val="1A2332"/>
                </a:solidFill>
                <a:latin typeface="Calibri" pitchFamily="34" charset="0"/>
                <a:ea typeface="Calibri" pitchFamily="34" charset="-122"/>
                <a:cs typeface="Calibri" pitchFamily="34" charset="-120"/>
              </a:rPr>
              <a:t>You'll land on the Dashboard logged in as your business.</a:t>
            </a:r>
            <a:endParaRPr lang="en-US" sz="1300" dirty="0"/>
          </a:p>
        </p:txBody>
      </p:sp>
      <p:sp>
        <p:nvSpPr>
          <p:cNvPr id="23" name="Shape 21"/>
          <p:cNvSpPr/>
          <p:nvPr/>
        </p:nvSpPr>
        <p:spPr>
          <a:xfrm>
            <a:off x="5760720" y="1645920"/>
            <a:ext cx="5989320" cy="3291840"/>
          </a:xfrm>
          <a:prstGeom prst="rect">
            <a:avLst/>
          </a:prstGeom>
          <a:solidFill>
            <a:srgbClr val="FFFFFF"/>
          </a:solidFill>
          <a:ln w="9525">
            <a:solidFill>
              <a:srgbClr val="E2E8F0"/>
            </a:solidFill>
            <a:prstDash val="solid"/>
          </a:ln>
          <a:effectLst>
            <a:outerShdw sx="100000" sy="100000" kx="0" ky="0" algn="bl" rotWithShape="0" blurRad="152400" dist="38100" dir="5400000">
              <a:srgbClr val="000000">
                <a:alpha val="18000"/>
              </a:srgbClr>
            </a:outerShdw>
          </a:effectLst>
        </p:spPr>
      </p:sp>
      <p:pic>
        <p:nvPicPr>
          <p:cNvPr id="24" name="Image 0" descr="C:\Users\Lenovo\OneDrive - Xavica Primary\Desktop\Seller Store\.deck-qa\seller-img\image.png">    </p:cNvPr>
          <p:cNvPicPr>
            <a:picLocks noChangeAspect="1"/>
          </p:cNvPicPr>
          <p:nvPr/>
        </p:nvPicPr>
        <p:blipFill>
          <a:blip r:embed="rId1"/>
          <a:srcRect l="0" r="0" t="0" b="0"/>
          <a:stretch/>
        </p:blipFill>
        <p:spPr>
          <a:xfrm>
            <a:off x="5806440" y="1691640"/>
            <a:ext cx="5897880" cy="3200400"/>
          </a:xfrm>
          <a:prstGeom prst="rect">
            <a:avLst/>
          </a:prstGeom>
        </p:spPr>
      </p:pic>
      <p:sp>
        <p:nvSpPr>
          <p:cNvPr id="25" name="Shape 22"/>
          <p:cNvSpPr/>
          <p:nvPr/>
        </p:nvSpPr>
        <p:spPr>
          <a:xfrm>
            <a:off x="5806440" y="5120640"/>
            <a:ext cx="5897880" cy="1143000"/>
          </a:xfrm>
          <a:prstGeom prst="rect">
            <a:avLst/>
          </a:prstGeom>
          <a:solidFill>
            <a:srgbClr val="FFF6EC"/>
          </a:solidFill>
          <a:ln w="12700">
            <a:solidFill>
              <a:srgbClr val="F26B38"/>
            </a:solidFill>
            <a:prstDash val="solid"/>
          </a:ln>
        </p:spPr>
      </p:sp>
      <p:sp>
        <p:nvSpPr>
          <p:cNvPr id="26" name="Shape 23"/>
          <p:cNvSpPr/>
          <p:nvPr/>
        </p:nvSpPr>
        <p:spPr>
          <a:xfrm>
            <a:off x="5806440" y="5120640"/>
            <a:ext cx="73152" cy="1143000"/>
          </a:xfrm>
          <a:prstGeom prst="rect">
            <a:avLst/>
          </a:prstGeom>
          <a:solidFill>
            <a:srgbClr val="F26B38"/>
          </a:solidFill>
          <a:ln w="12700">
            <a:solidFill>
              <a:srgbClr val="F26B38"/>
            </a:solidFill>
            <a:prstDash val="solid"/>
          </a:ln>
        </p:spPr>
      </p:sp>
      <p:sp>
        <p:nvSpPr>
          <p:cNvPr id="27" name="Text 24"/>
          <p:cNvSpPr/>
          <p:nvPr/>
        </p:nvSpPr>
        <p:spPr>
          <a:xfrm>
            <a:off x="6035040" y="5230368"/>
            <a:ext cx="5577840" cy="292608"/>
          </a:xfrm>
          <a:prstGeom prst="rect">
            <a:avLst/>
          </a:prstGeom>
          <a:noFill/>
          <a:ln/>
        </p:spPr>
        <p:txBody>
          <a:bodyPr wrap="square" lIns="0" tIns="0" rIns="0" bIns="0" rtlCol="0" anchor="ctr"/>
          <a:lstStyle/>
          <a:p>
            <a:pPr indent="0" marL="0">
              <a:buNone/>
            </a:pPr>
            <a:r>
              <a:rPr lang="en-US" sz="1200" b="1" spc="100" kern="0" dirty="0">
                <a:solidFill>
                  <a:srgbClr val="C84A1F"/>
                </a:solidFill>
                <a:latin typeface="Calibri" pitchFamily="34" charset="0"/>
                <a:ea typeface="Calibri" pitchFamily="34" charset="-122"/>
                <a:cs typeface="Calibri" pitchFamily="34" charset="-120"/>
              </a:rPr>
              <a:t>Phase 1 dashboard reality</a:t>
            </a:r>
            <a:endParaRPr lang="en-US" sz="1200" dirty="0"/>
          </a:p>
        </p:txBody>
      </p:sp>
      <p:sp>
        <p:nvSpPr>
          <p:cNvPr id="28" name="Text 25"/>
          <p:cNvSpPr/>
          <p:nvPr/>
        </p:nvSpPr>
        <p:spPr>
          <a:xfrm>
            <a:off x="6035040" y="5532120"/>
            <a:ext cx="5577840" cy="640080"/>
          </a:xfrm>
          <a:prstGeom prst="rect">
            <a:avLst/>
          </a:prstGeom>
          <a:noFill/>
          <a:ln/>
        </p:spPr>
        <p:txBody>
          <a:bodyPr wrap="square" lIns="0" tIns="0" rIns="0" bIns="0" rtlCol="0" anchor="ctr"/>
          <a:lstStyle/>
          <a:p>
            <a:pPr indent="0" marL="0">
              <a:spcAft>
                <a:spcPts val="300"/>
              </a:spcAft>
              <a:buNone/>
            </a:pPr>
            <a:r>
              <a:rPr lang="en-US" sz="1200" dirty="0">
                <a:solidFill>
                  <a:srgbClr val="1A2332"/>
                </a:solidFill>
                <a:latin typeface="Calibri" pitchFamily="34" charset="0"/>
                <a:ea typeface="Calibri" pitchFamily="34" charset="-122"/>
                <a:cs typeface="Calibri" pitchFamily="34" charset="-120"/>
              </a:rPr>
              <a:t>You'll see 'Dashboard is on the way' — KPIs and sales insights are coming in a later phase. The 5 modules in the sidebar are what's live today.</a:t>
            </a:r>
            <a:endParaRPr lang="en-US" sz="1200" dirty="0"/>
          </a:p>
        </p:txBody>
      </p:sp>
      <p:sp>
        <p:nvSpPr>
          <p:cNvPr id="29" name="Shape 26"/>
          <p:cNvSpPr/>
          <p:nvPr/>
        </p:nvSpPr>
        <p:spPr>
          <a:xfrm>
            <a:off x="0" y="6565392"/>
            <a:ext cx="12191695" cy="292608"/>
          </a:xfrm>
          <a:prstGeom prst="rect">
            <a:avLst/>
          </a:prstGeom>
          <a:solidFill>
            <a:srgbClr val="0F2742"/>
          </a:solidFill>
          <a:ln w="12700">
            <a:solidFill>
              <a:srgbClr val="0F2742"/>
            </a:solidFill>
            <a:prstDash val="solid"/>
          </a:ln>
        </p:spPr>
      </p:sp>
      <p:sp>
        <p:nvSpPr>
          <p:cNvPr id="30" name="Text 27"/>
          <p:cNvSpPr/>
          <p:nvPr/>
        </p:nvSpPr>
        <p:spPr>
          <a:xfrm>
            <a:off x="457200" y="6583680"/>
            <a:ext cx="731520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Qwipo Seller Store · Seller Training Guide · v1.1 · Internal Use</a:t>
            </a:r>
            <a:endParaRPr lang="en-US" sz="900" dirty="0"/>
          </a:p>
        </p:txBody>
      </p:sp>
      <p:sp>
        <p:nvSpPr>
          <p:cNvPr id="31" name="Text 28"/>
          <p:cNvSpPr/>
          <p:nvPr/>
        </p:nvSpPr>
        <p:spPr>
          <a:xfrm>
            <a:off x="10820095" y="6583680"/>
            <a:ext cx="914400" cy="256032"/>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 / 33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2742"/>
        </a:solidFill>
      </p:bgPr>
    </p:bg>
    <p:spTree>
      <p:nvGrpSpPr>
        <p:cNvPr id="1" name=""/>
        <p:cNvGrpSpPr/>
        <p:nvPr/>
      </p:nvGrpSpPr>
      <p:grpSpPr>
        <a:xfrm>
          <a:off x="0" y="0"/>
          <a:ext cx="0" cy="0"/>
          <a:chOff x="0" y="0"/>
          <a:chExt cx="0" cy="0"/>
        </a:xfrm>
      </p:grpSpPr>
      <p:sp>
        <p:nvSpPr>
          <p:cNvPr id="2" name="Shape 0"/>
          <p:cNvSpPr/>
          <p:nvPr/>
        </p:nvSpPr>
        <p:spPr>
          <a:xfrm>
            <a:off x="10820095" y="5486400"/>
            <a:ext cx="1371600" cy="1371600"/>
          </a:xfrm>
          <a:prstGeom prst="rect">
            <a:avLst/>
          </a:prstGeom>
          <a:solidFill>
            <a:srgbClr val="F26B38"/>
          </a:solidFill>
          <a:ln w="12700">
            <a:solidFill>
              <a:srgbClr val="F26B38"/>
            </a:solidFill>
            <a:prstDash val="solid"/>
          </a:ln>
        </p:spPr>
      </p:sp>
      <p:sp>
        <p:nvSpPr>
          <p:cNvPr id="3" name="Shape 1"/>
          <p:cNvSpPr/>
          <p:nvPr/>
        </p:nvSpPr>
        <p:spPr>
          <a:xfrm>
            <a:off x="548640" y="2194560"/>
            <a:ext cx="457200" cy="54864"/>
          </a:xfrm>
          <a:prstGeom prst="rect">
            <a:avLst/>
          </a:prstGeom>
          <a:solidFill>
            <a:srgbClr val="F26B38"/>
          </a:solidFill>
          <a:ln w="12700">
            <a:solidFill>
              <a:srgbClr val="F26B38"/>
            </a:solidFill>
            <a:prstDash val="solid"/>
          </a:ln>
        </p:spPr>
      </p:sp>
      <p:sp>
        <p:nvSpPr>
          <p:cNvPr id="4" name="Text 2"/>
          <p:cNvSpPr/>
          <p:nvPr/>
        </p:nvSpPr>
        <p:spPr>
          <a:xfrm>
            <a:off x="548640" y="2331720"/>
            <a:ext cx="9144000" cy="365760"/>
          </a:xfrm>
          <a:prstGeom prst="rect">
            <a:avLst/>
          </a:prstGeom>
          <a:noFill/>
          <a:ln/>
        </p:spPr>
        <p:txBody>
          <a:bodyPr wrap="square" rtlCol="0" anchor="ctr"/>
          <a:lstStyle/>
          <a:p>
            <a:pPr indent="0" marL="0">
              <a:buNone/>
            </a:pPr>
            <a:r>
              <a:rPr lang="en-US" sz="1300" b="1" spc="600" kern="0" dirty="0">
                <a:solidFill>
                  <a:srgbClr val="F26B38"/>
                </a:solidFill>
                <a:latin typeface="Calibri" pitchFamily="34" charset="0"/>
                <a:ea typeface="Calibri" pitchFamily="34" charset="-122"/>
                <a:cs typeface="Calibri" pitchFamily="34" charset="-120"/>
              </a:rPr>
              <a:t>MODULE 1</a:t>
            </a:r>
            <a:endParaRPr lang="en-US" sz="1300" dirty="0"/>
          </a:p>
        </p:txBody>
      </p:sp>
      <p:sp>
        <p:nvSpPr>
          <p:cNvPr id="5" name="Text 3"/>
          <p:cNvSpPr/>
          <p:nvPr/>
        </p:nvSpPr>
        <p:spPr>
          <a:xfrm>
            <a:off x="548640" y="2743200"/>
            <a:ext cx="10058400" cy="146304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My SKU — Your catalogue is what buyers see</a:t>
            </a:r>
            <a:endParaRPr lang="en-US" sz="4400" dirty="0"/>
          </a:p>
        </p:txBody>
      </p:sp>
      <p:sp>
        <p:nvSpPr>
          <p:cNvPr id="6" name="Text 4"/>
          <p:cNvSpPr/>
          <p:nvPr/>
        </p:nvSpPr>
        <p:spPr>
          <a:xfrm>
            <a:off x="548640" y="4297680"/>
            <a:ext cx="10058400" cy="1005840"/>
          </a:xfrm>
          <a:prstGeom prst="rect">
            <a:avLst/>
          </a:prstGeom>
          <a:noFill/>
          <a:ln/>
        </p:spPr>
        <p:txBody>
          <a:bodyPr wrap="square" lIns="0" tIns="0" rIns="0" bIns="0" rtlCol="0" anchor="ctr"/>
          <a:lstStyle/>
          <a:p>
            <a:pPr indent="0" marL="0">
              <a:buNone/>
            </a:pPr>
            <a:r>
              <a:rPr lang="en-US" sz="1700" dirty="0">
                <a:solidFill>
                  <a:srgbClr val="C9D6E5"/>
                </a:solidFill>
                <a:latin typeface="Calibri" pitchFamily="34" charset="0"/>
                <a:ea typeface="Calibri" pitchFamily="34" charset="-122"/>
                <a:cs typeface="Calibri" pitchFamily="34" charset="-120"/>
              </a:rPr>
              <a:t>Six steps to take products from your Excel sheet to ONDC-compliant listings on the buyer app.</a:t>
            </a:r>
            <a:endParaRPr lang="en-US" sz="1700" dirty="0"/>
          </a:p>
        </p:txBody>
      </p:sp>
      <p:sp>
        <p:nvSpPr>
          <p:cNvPr id="7" name="Shape 5"/>
          <p:cNvSpPr/>
          <p:nvPr/>
        </p:nvSpPr>
        <p:spPr>
          <a:xfrm>
            <a:off x="0" y="6565392"/>
            <a:ext cx="12191695" cy="292608"/>
          </a:xfrm>
          <a:prstGeom prst="rect">
            <a:avLst/>
          </a:prstGeom>
          <a:solidFill>
            <a:srgbClr val="0F2742"/>
          </a:solidFill>
          <a:ln w="12700">
            <a:solidFill>
              <a:srgbClr val="0F2742"/>
            </a:solidFill>
            <a:prstDash val="solid"/>
          </a:ln>
        </p:spPr>
      </p:sp>
      <p:sp>
        <p:nvSpPr>
          <p:cNvPr id="8" name="Text 6"/>
          <p:cNvSpPr/>
          <p:nvPr/>
        </p:nvSpPr>
        <p:spPr>
          <a:xfrm>
            <a:off x="457200" y="6583680"/>
            <a:ext cx="731520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Qwipo Seller Store · Seller Training Guide · v1.1 · Internal Use</a:t>
            </a:r>
            <a:endParaRPr lang="en-US" sz="900" dirty="0"/>
          </a:p>
        </p:txBody>
      </p:sp>
      <p:sp>
        <p:nvSpPr>
          <p:cNvPr id="9" name="Text 7"/>
          <p:cNvSpPr/>
          <p:nvPr/>
        </p:nvSpPr>
        <p:spPr>
          <a:xfrm>
            <a:off x="10820095" y="6583680"/>
            <a:ext cx="914400" cy="256032"/>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 / 33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2742"/>
          </a:solidFill>
          <a:ln w="12700">
            <a:solidFill>
              <a:srgbClr val="0F2742"/>
            </a:solidFill>
            <a:prstDash val="solid"/>
          </a:ln>
        </p:spPr>
      </p:sp>
      <p:sp>
        <p:nvSpPr>
          <p:cNvPr id="3" name="Text 1"/>
          <p:cNvSpPr/>
          <p:nvPr/>
        </p:nvSpPr>
        <p:spPr>
          <a:xfrm>
            <a:off x="640080" y="320040"/>
            <a:ext cx="10058400" cy="320040"/>
          </a:xfrm>
          <a:prstGeom prst="rect">
            <a:avLst/>
          </a:prstGeom>
          <a:noFill/>
          <a:ln/>
        </p:spPr>
        <p:txBody>
          <a:bodyPr wrap="square" rtlCol="0" anchor="ctr"/>
          <a:lstStyle/>
          <a:p>
            <a:pPr indent="0" marL="0">
              <a:buNone/>
            </a:pPr>
            <a:r>
              <a:rPr lang="en-US" sz="1100" b="1" spc="400" kern="0" dirty="0">
                <a:solidFill>
                  <a:srgbClr val="F26B38"/>
                </a:solidFill>
                <a:latin typeface="Calibri" pitchFamily="34" charset="0"/>
                <a:ea typeface="Calibri" pitchFamily="34" charset="-122"/>
                <a:cs typeface="Calibri" pitchFamily="34" charset="-120"/>
              </a:rPr>
              <a:t>MY SKU · WHY THIS MODULE EXISTS</a:t>
            </a:r>
            <a:endParaRPr lang="en-US" sz="1100" dirty="0"/>
          </a:p>
        </p:txBody>
      </p:sp>
      <p:sp>
        <p:nvSpPr>
          <p:cNvPr id="4" name="Text 2"/>
          <p:cNvSpPr/>
          <p:nvPr/>
        </p:nvSpPr>
        <p:spPr>
          <a:xfrm>
            <a:off x="640080" y="594360"/>
            <a:ext cx="10789920" cy="777240"/>
          </a:xfrm>
          <a:prstGeom prst="rect">
            <a:avLst/>
          </a:prstGeom>
          <a:noFill/>
          <a:ln/>
        </p:spPr>
        <p:txBody>
          <a:bodyPr wrap="square" lIns="0" tIns="0" rIns="0" bIns="0" rtlCol="0" anchor="ctr"/>
          <a:lstStyle/>
          <a:p>
            <a:pPr indent="0" marL="0">
              <a:buNone/>
            </a:pPr>
            <a:r>
              <a:rPr lang="en-US" sz="3000" b="1" dirty="0">
                <a:solidFill>
                  <a:srgbClr val="0F2742"/>
                </a:solidFill>
                <a:latin typeface="Calibri" pitchFamily="34" charset="0"/>
                <a:ea typeface="Calibri" pitchFamily="34" charset="-122"/>
                <a:cs typeface="Calibri" pitchFamily="34" charset="-120"/>
              </a:rPr>
              <a:t>Without SKUs in the catalogue, no orders. Period.</a:t>
            </a:r>
            <a:endParaRPr lang="en-US" sz="3000" dirty="0"/>
          </a:p>
        </p:txBody>
      </p:sp>
      <p:sp>
        <p:nvSpPr>
          <p:cNvPr id="5" name="Shape 3"/>
          <p:cNvSpPr/>
          <p:nvPr/>
        </p:nvSpPr>
        <p:spPr>
          <a:xfrm>
            <a:off x="548640" y="1691640"/>
            <a:ext cx="5486400" cy="219456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6000"/>
              </a:srgbClr>
            </a:outerShdw>
          </a:effectLst>
        </p:spPr>
      </p:sp>
      <p:sp>
        <p:nvSpPr>
          <p:cNvPr id="6" name="Shape 4"/>
          <p:cNvSpPr/>
          <p:nvPr/>
        </p:nvSpPr>
        <p:spPr>
          <a:xfrm>
            <a:off x="548640" y="1691640"/>
            <a:ext cx="73152" cy="2194560"/>
          </a:xfrm>
          <a:prstGeom prst="rect">
            <a:avLst/>
          </a:prstGeom>
          <a:solidFill>
            <a:srgbClr val="F26B38"/>
          </a:solidFill>
          <a:ln w="12700">
            <a:solidFill>
              <a:srgbClr val="F26B38"/>
            </a:solidFill>
            <a:prstDash val="solid"/>
          </a:ln>
        </p:spPr>
      </p:sp>
      <p:sp>
        <p:nvSpPr>
          <p:cNvPr id="7" name="Text 5"/>
          <p:cNvSpPr/>
          <p:nvPr/>
        </p:nvSpPr>
        <p:spPr>
          <a:xfrm>
            <a:off x="777240" y="1856232"/>
            <a:ext cx="5166360" cy="365760"/>
          </a:xfrm>
          <a:prstGeom prst="rect">
            <a:avLst/>
          </a:prstGeom>
          <a:noFill/>
          <a:ln/>
        </p:spPr>
        <p:txBody>
          <a:bodyPr wrap="square" lIns="0" tIns="0" rIns="0" bIns="0" rtlCol="0" anchor="ctr"/>
          <a:lstStyle/>
          <a:p>
            <a:pPr indent="0" marL="0">
              <a:buNone/>
            </a:pPr>
            <a:r>
              <a:rPr lang="en-US" sz="1500" b="1" dirty="0">
                <a:solidFill>
                  <a:srgbClr val="0F2742"/>
                </a:solidFill>
                <a:latin typeface="Calibri" pitchFamily="34" charset="0"/>
                <a:ea typeface="Calibri" pitchFamily="34" charset="-122"/>
                <a:cs typeface="Calibri" pitchFamily="34" charset="-120"/>
              </a:rPr>
              <a:t>Each SKU drives 3 things downstream</a:t>
            </a:r>
            <a:endParaRPr lang="en-US" sz="1500" dirty="0"/>
          </a:p>
        </p:txBody>
      </p:sp>
      <p:sp>
        <p:nvSpPr>
          <p:cNvPr id="8" name="Text 6"/>
          <p:cNvSpPr/>
          <p:nvPr/>
        </p:nvSpPr>
        <p:spPr>
          <a:xfrm>
            <a:off x="777240" y="2286000"/>
            <a:ext cx="5120640" cy="1463040"/>
          </a:xfrm>
          <a:prstGeom prst="rect">
            <a:avLst/>
          </a:prstGeom>
          <a:noFill/>
          <a:ln/>
        </p:spPr>
        <p:txBody>
          <a:bodyPr wrap="square" rtlCol="0" anchor="t"/>
          <a:lstStyle/>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Visibility — appears in the buyer app and ONDC search</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Eligibility — only ONDC-compliant SKUs can be ordered</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Pricing — links to the QPS schemes you create</a:t>
            </a:r>
            <a:endParaRPr lang="en-US" sz="1150" dirty="0"/>
          </a:p>
        </p:txBody>
      </p:sp>
      <p:sp>
        <p:nvSpPr>
          <p:cNvPr id="9" name="Shape 7"/>
          <p:cNvSpPr/>
          <p:nvPr/>
        </p:nvSpPr>
        <p:spPr>
          <a:xfrm>
            <a:off x="6263640" y="1691640"/>
            <a:ext cx="5394960" cy="219456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6000"/>
              </a:srgbClr>
            </a:outerShdw>
          </a:effectLst>
        </p:spPr>
      </p:sp>
      <p:sp>
        <p:nvSpPr>
          <p:cNvPr id="10" name="Shape 8"/>
          <p:cNvSpPr/>
          <p:nvPr/>
        </p:nvSpPr>
        <p:spPr>
          <a:xfrm>
            <a:off x="6263640" y="1691640"/>
            <a:ext cx="73152" cy="2194560"/>
          </a:xfrm>
          <a:prstGeom prst="rect">
            <a:avLst/>
          </a:prstGeom>
          <a:solidFill>
            <a:srgbClr val="0F2742"/>
          </a:solidFill>
          <a:ln w="12700">
            <a:solidFill>
              <a:srgbClr val="0F2742"/>
            </a:solidFill>
            <a:prstDash val="solid"/>
          </a:ln>
        </p:spPr>
      </p:sp>
      <p:sp>
        <p:nvSpPr>
          <p:cNvPr id="11" name="Text 9"/>
          <p:cNvSpPr/>
          <p:nvPr/>
        </p:nvSpPr>
        <p:spPr>
          <a:xfrm>
            <a:off x="6492240" y="1856232"/>
            <a:ext cx="5074920" cy="365760"/>
          </a:xfrm>
          <a:prstGeom prst="rect">
            <a:avLst/>
          </a:prstGeom>
          <a:noFill/>
          <a:ln/>
        </p:spPr>
        <p:txBody>
          <a:bodyPr wrap="square" lIns="0" tIns="0" rIns="0" bIns="0" rtlCol="0" anchor="ctr"/>
          <a:lstStyle/>
          <a:p>
            <a:pPr indent="0" marL="0">
              <a:buNone/>
            </a:pPr>
            <a:r>
              <a:rPr lang="en-US" sz="1500" b="1" dirty="0">
                <a:solidFill>
                  <a:srgbClr val="0F2742"/>
                </a:solidFill>
                <a:latin typeface="Calibri" pitchFamily="34" charset="0"/>
                <a:ea typeface="Calibri" pitchFamily="34" charset="-122"/>
                <a:cs typeface="Calibri" pitchFamily="34" charset="-120"/>
              </a:rPr>
              <a:t>Two hard dependencies</a:t>
            </a:r>
            <a:endParaRPr lang="en-US" sz="1500" dirty="0"/>
          </a:p>
        </p:txBody>
      </p:sp>
      <p:sp>
        <p:nvSpPr>
          <p:cNvPr id="12" name="Text 10"/>
          <p:cNvSpPr/>
          <p:nvPr/>
        </p:nvSpPr>
        <p:spPr>
          <a:xfrm>
            <a:off x="6492240" y="2286000"/>
            <a:ext cx="5029200" cy="1463040"/>
          </a:xfrm>
          <a:prstGeom prst="rect">
            <a:avLst/>
          </a:prstGeom>
          <a:noFill/>
          <a:ln/>
        </p:spPr>
        <p:txBody>
          <a:bodyPr wrap="square" rtlCol="0" anchor="t"/>
          <a:lstStyle/>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Manufacturer field must equal an existing Company name (created by Super Admin)</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Brand field must equal an existing Brand mapped to your seller account</a:t>
            </a:r>
            <a:endParaRPr lang="en-US" sz="1150" dirty="0"/>
          </a:p>
        </p:txBody>
      </p:sp>
      <p:sp>
        <p:nvSpPr>
          <p:cNvPr id="13" name="Shape 11"/>
          <p:cNvSpPr/>
          <p:nvPr/>
        </p:nvSpPr>
        <p:spPr>
          <a:xfrm>
            <a:off x="548640" y="4069080"/>
            <a:ext cx="11109960" cy="2286000"/>
          </a:xfrm>
          <a:prstGeom prst="rect">
            <a:avLst/>
          </a:prstGeom>
          <a:solidFill>
            <a:srgbClr val="FFF6EC"/>
          </a:solidFill>
          <a:ln w="12700">
            <a:solidFill>
              <a:srgbClr val="F26B38"/>
            </a:solidFill>
            <a:prstDash val="solid"/>
          </a:ln>
        </p:spPr>
      </p:sp>
      <p:sp>
        <p:nvSpPr>
          <p:cNvPr id="14" name="Shape 12"/>
          <p:cNvSpPr/>
          <p:nvPr/>
        </p:nvSpPr>
        <p:spPr>
          <a:xfrm>
            <a:off x="548640" y="4069080"/>
            <a:ext cx="73152" cy="2286000"/>
          </a:xfrm>
          <a:prstGeom prst="rect">
            <a:avLst/>
          </a:prstGeom>
          <a:solidFill>
            <a:srgbClr val="F26B38"/>
          </a:solidFill>
          <a:ln w="12700">
            <a:solidFill>
              <a:srgbClr val="F26B38"/>
            </a:solidFill>
            <a:prstDash val="solid"/>
          </a:ln>
        </p:spPr>
      </p:sp>
      <p:sp>
        <p:nvSpPr>
          <p:cNvPr id="15" name="Text 13"/>
          <p:cNvSpPr/>
          <p:nvPr/>
        </p:nvSpPr>
        <p:spPr>
          <a:xfrm>
            <a:off x="777240" y="4178808"/>
            <a:ext cx="10789920" cy="292608"/>
          </a:xfrm>
          <a:prstGeom prst="rect">
            <a:avLst/>
          </a:prstGeom>
          <a:noFill/>
          <a:ln/>
        </p:spPr>
        <p:txBody>
          <a:bodyPr wrap="square" lIns="0" tIns="0" rIns="0" bIns="0" rtlCol="0" anchor="ctr"/>
          <a:lstStyle/>
          <a:p>
            <a:pPr indent="0" marL="0">
              <a:buNone/>
            </a:pPr>
            <a:r>
              <a:rPr lang="en-US" sz="1200" b="1" spc="100" kern="0" dirty="0">
                <a:solidFill>
                  <a:srgbClr val="C84A1F"/>
                </a:solidFill>
                <a:latin typeface="Calibri" pitchFamily="34" charset="0"/>
                <a:ea typeface="Calibri" pitchFamily="34" charset="-122"/>
                <a:cs typeface="Calibri" pitchFamily="34" charset="-120"/>
              </a:rPr>
              <a:t>How Company &amp; Brand are used downstream</a:t>
            </a:r>
            <a:endParaRPr lang="en-US" sz="1200" dirty="0"/>
          </a:p>
        </p:txBody>
      </p:sp>
      <p:sp>
        <p:nvSpPr>
          <p:cNvPr id="16" name="Text 14"/>
          <p:cNvSpPr/>
          <p:nvPr/>
        </p:nvSpPr>
        <p:spPr>
          <a:xfrm>
            <a:off x="777240" y="4480560"/>
            <a:ext cx="10789920" cy="1783080"/>
          </a:xfrm>
          <a:prstGeom prst="rect">
            <a:avLst/>
          </a:prstGeom>
          <a:noFill/>
          <a:ln/>
        </p:spPr>
        <p:txBody>
          <a:bodyPr wrap="square" lIns="0" tIns="0" rIns="0" bIns="0" rtlCol="0" anchor="ctr"/>
          <a:lstStyle/>
          <a:p>
            <a:pPr indent="0" marL="0">
              <a:spcAft>
                <a:spcPts val="300"/>
              </a:spcAft>
              <a:buNone/>
            </a:pPr>
            <a:r>
              <a:rPr lang="en-US" sz="1200" dirty="0">
                <a:solidFill>
                  <a:srgbClr val="1A2332"/>
                </a:solidFill>
                <a:latin typeface="Calibri" pitchFamily="34" charset="0"/>
                <a:ea typeface="Calibri" pitchFamily="34" charset="-122"/>
                <a:cs typeface="Calibri" pitchFamily="34" charset="-120"/>
              </a:rPr>
              <a:t>In the buyer app, products are grouped by Company → Brand → SKU. That's how a retailer browsing 'GRB' sees the GRB ghee, butter, sweets, etc. clustered together. Serviceability is also per Company — i.e. the seller's beats are defined company-by-company. So mismatched names don't just fail the upload, they would also break grouping and routing if force-loaded.</a:t>
            </a:r>
            <a:endParaRPr lang="en-US" sz="1200" dirty="0"/>
          </a:p>
        </p:txBody>
      </p:sp>
      <p:sp>
        <p:nvSpPr>
          <p:cNvPr id="17" name="Shape 15"/>
          <p:cNvSpPr/>
          <p:nvPr/>
        </p:nvSpPr>
        <p:spPr>
          <a:xfrm>
            <a:off x="0" y="6565392"/>
            <a:ext cx="12191695" cy="292608"/>
          </a:xfrm>
          <a:prstGeom prst="rect">
            <a:avLst/>
          </a:prstGeom>
          <a:solidFill>
            <a:srgbClr val="0F2742"/>
          </a:solidFill>
          <a:ln w="12700">
            <a:solidFill>
              <a:srgbClr val="0F2742"/>
            </a:solidFill>
            <a:prstDash val="solid"/>
          </a:ln>
        </p:spPr>
      </p:sp>
      <p:sp>
        <p:nvSpPr>
          <p:cNvPr id="18" name="Text 16"/>
          <p:cNvSpPr/>
          <p:nvPr/>
        </p:nvSpPr>
        <p:spPr>
          <a:xfrm>
            <a:off x="457200" y="6583680"/>
            <a:ext cx="731520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Qwipo Seller Store · Seller Training Guide · v1.1 · Internal Use</a:t>
            </a:r>
            <a:endParaRPr lang="en-US" sz="900" dirty="0"/>
          </a:p>
        </p:txBody>
      </p:sp>
      <p:sp>
        <p:nvSpPr>
          <p:cNvPr id="19" name="Text 17"/>
          <p:cNvSpPr/>
          <p:nvPr/>
        </p:nvSpPr>
        <p:spPr>
          <a:xfrm>
            <a:off x="10820095" y="6583680"/>
            <a:ext cx="914400" cy="256032"/>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 / 33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2742"/>
          </a:solidFill>
          <a:ln w="12700">
            <a:solidFill>
              <a:srgbClr val="0F2742"/>
            </a:solidFill>
            <a:prstDash val="solid"/>
          </a:ln>
        </p:spPr>
      </p:sp>
      <p:sp>
        <p:nvSpPr>
          <p:cNvPr id="3" name="Text 1"/>
          <p:cNvSpPr/>
          <p:nvPr/>
        </p:nvSpPr>
        <p:spPr>
          <a:xfrm>
            <a:off x="640080" y="320040"/>
            <a:ext cx="10058400" cy="320040"/>
          </a:xfrm>
          <a:prstGeom prst="rect">
            <a:avLst/>
          </a:prstGeom>
          <a:noFill/>
          <a:ln/>
        </p:spPr>
        <p:txBody>
          <a:bodyPr wrap="square" rtlCol="0" anchor="ctr"/>
          <a:lstStyle/>
          <a:p>
            <a:pPr indent="0" marL="0">
              <a:buNone/>
            </a:pPr>
            <a:r>
              <a:rPr lang="en-US" sz="1100" b="1" spc="400" kern="0" dirty="0">
                <a:solidFill>
                  <a:srgbClr val="F26B38"/>
                </a:solidFill>
                <a:latin typeface="Calibri" pitchFamily="34" charset="0"/>
                <a:ea typeface="Calibri" pitchFamily="34" charset="-122"/>
                <a:cs typeface="Calibri" pitchFamily="34" charset="-120"/>
              </a:rPr>
              <a:t>MY SKU · STEP 1</a:t>
            </a:r>
            <a:endParaRPr lang="en-US" sz="1100" dirty="0"/>
          </a:p>
        </p:txBody>
      </p:sp>
      <p:sp>
        <p:nvSpPr>
          <p:cNvPr id="4" name="Text 2"/>
          <p:cNvSpPr/>
          <p:nvPr/>
        </p:nvSpPr>
        <p:spPr>
          <a:xfrm>
            <a:off x="640080" y="594360"/>
            <a:ext cx="10789920" cy="777240"/>
          </a:xfrm>
          <a:prstGeom prst="rect">
            <a:avLst/>
          </a:prstGeom>
          <a:noFill/>
          <a:ln/>
        </p:spPr>
        <p:txBody>
          <a:bodyPr wrap="square" lIns="0" tIns="0" rIns="0" bIns="0" rtlCol="0" anchor="ctr"/>
          <a:lstStyle/>
          <a:p>
            <a:pPr indent="0" marL="0">
              <a:buNone/>
            </a:pPr>
            <a:r>
              <a:rPr lang="en-US" sz="3000" b="1" dirty="0">
                <a:solidFill>
                  <a:srgbClr val="0F2742"/>
                </a:solidFill>
                <a:latin typeface="Calibri" pitchFamily="34" charset="0"/>
                <a:ea typeface="Calibri" pitchFamily="34" charset="-122"/>
                <a:cs typeface="Calibri" pitchFamily="34" charset="-120"/>
              </a:rPr>
              <a:t>Always download a fresh template before each upload</a:t>
            </a:r>
            <a:endParaRPr lang="en-US" sz="3000" dirty="0"/>
          </a:p>
        </p:txBody>
      </p:sp>
      <p:sp>
        <p:nvSpPr>
          <p:cNvPr id="5" name="Shape 3"/>
          <p:cNvSpPr/>
          <p:nvPr/>
        </p:nvSpPr>
        <p:spPr>
          <a:xfrm>
            <a:off x="548640" y="1691640"/>
            <a:ext cx="5486400" cy="24688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6000"/>
              </a:srgbClr>
            </a:outerShdw>
          </a:effectLst>
        </p:spPr>
      </p:sp>
      <p:sp>
        <p:nvSpPr>
          <p:cNvPr id="6" name="Shape 4"/>
          <p:cNvSpPr/>
          <p:nvPr/>
        </p:nvSpPr>
        <p:spPr>
          <a:xfrm>
            <a:off x="548640" y="1691640"/>
            <a:ext cx="73152" cy="2468880"/>
          </a:xfrm>
          <a:prstGeom prst="rect">
            <a:avLst/>
          </a:prstGeom>
          <a:solidFill>
            <a:srgbClr val="F26B38"/>
          </a:solidFill>
          <a:ln w="12700">
            <a:solidFill>
              <a:srgbClr val="F26B38"/>
            </a:solidFill>
            <a:prstDash val="solid"/>
          </a:ln>
        </p:spPr>
      </p:sp>
      <p:sp>
        <p:nvSpPr>
          <p:cNvPr id="7" name="Text 5"/>
          <p:cNvSpPr/>
          <p:nvPr/>
        </p:nvSpPr>
        <p:spPr>
          <a:xfrm>
            <a:off x="777240" y="1856232"/>
            <a:ext cx="5166360" cy="365760"/>
          </a:xfrm>
          <a:prstGeom prst="rect">
            <a:avLst/>
          </a:prstGeom>
          <a:noFill/>
          <a:ln/>
        </p:spPr>
        <p:txBody>
          <a:bodyPr wrap="square" lIns="0" tIns="0" rIns="0" bIns="0" rtlCol="0" anchor="ctr"/>
          <a:lstStyle/>
          <a:p>
            <a:pPr indent="0" marL="0">
              <a:buNone/>
            </a:pPr>
            <a:r>
              <a:rPr lang="en-US" sz="1500" b="1" dirty="0">
                <a:solidFill>
                  <a:srgbClr val="0F2742"/>
                </a:solidFill>
                <a:latin typeface="Calibri" pitchFamily="34" charset="0"/>
                <a:ea typeface="Calibri" pitchFamily="34" charset="-122"/>
                <a:cs typeface="Calibri" pitchFamily="34" charset="-120"/>
              </a:rPr>
              <a:t>The 4-step shortcut</a:t>
            </a:r>
            <a:endParaRPr lang="en-US" sz="1500" dirty="0"/>
          </a:p>
        </p:txBody>
      </p:sp>
      <p:sp>
        <p:nvSpPr>
          <p:cNvPr id="8" name="Text 6"/>
          <p:cNvSpPr/>
          <p:nvPr/>
        </p:nvSpPr>
        <p:spPr>
          <a:xfrm>
            <a:off x="777240" y="2286000"/>
            <a:ext cx="5120640" cy="1737360"/>
          </a:xfrm>
          <a:prstGeom prst="rect">
            <a:avLst/>
          </a:prstGeom>
          <a:noFill/>
          <a:ln/>
        </p:spPr>
        <p:txBody>
          <a:bodyPr wrap="square" rtlCol="0" anchor="t"/>
          <a:lstStyle/>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Click My SKU in the left sidebar</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Click Bulk Import (top right)</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Click Download Template in the modal</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Save SKU_Import_Template.xlsx and open in Excel</a:t>
            </a:r>
            <a:endParaRPr lang="en-US" sz="1150" dirty="0"/>
          </a:p>
        </p:txBody>
      </p:sp>
      <p:sp>
        <p:nvSpPr>
          <p:cNvPr id="9" name="Shape 7"/>
          <p:cNvSpPr/>
          <p:nvPr/>
        </p:nvSpPr>
        <p:spPr>
          <a:xfrm>
            <a:off x="6263640" y="1691640"/>
            <a:ext cx="5394960" cy="246888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6000"/>
              </a:srgbClr>
            </a:outerShdw>
          </a:effectLst>
        </p:spPr>
      </p:sp>
      <p:sp>
        <p:nvSpPr>
          <p:cNvPr id="10" name="Shape 8"/>
          <p:cNvSpPr/>
          <p:nvPr/>
        </p:nvSpPr>
        <p:spPr>
          <a:xfrm>
            <a:off x="6263640" y="1691640"/>
            <a:ext cx="73152" cy="2468880"/>
          </a:xfrm>
          <a:prstGeom prst="rect">
            <a:avLst/>
          </a:prstGeom>
          <a:solidFill>
            <a:srgbClr val="0F2742"/>
          </a:solidFill>
          <a:ln w="12700">
            <a:solidFill>
              <a:srgbClr val="0F2742"/>
            </a:solidFill>
            <a:prstDash val="solid"/>
          </a:ln>
        </p:spPr>
      </p:sp>
      <p:sp>
        <p:nvSpPr>
          <p:cNvPr id="11" name="Text 9"/>
          <p:cNvSpPr/>
          <p:nvPr/>
        </p:nvSpPr>
        <p:spPr>
          <a:xfrm>
            <a:off x="6492240" y="1856232"/>
            <a:ext cx="5074920" cy="365760"/>
          </a:xfrm>
          <a:prstGeom prst="rect">
            <a:avLst/>
          </a:prstGeom>
          <a:noFill/>
          <a:ln/>
        </p:spPr>
        <p:txBody>
          <a:bodyPr wrap="square" lIns="0" tIns="0" rIns="0" bIns="0" rtlCol="0" anchor="ctr"/>
          <a:lstStyle/>
          <a:p>
            <a:pPr indent="0" marL="0">
              <a:buNone/>
            </a:pPr>
            <a:r>
              <a:rPr lang="en-US" sz="1500" b="1" dirty="0">
                <a:solidFill>
                  <a:srgbClr val="0F2742"/>
                </a:solidFill>
                <a:latin typeface="Calibri" pitchFamily="34" charset="0"/>
                <a:ea typeface="Calibri" pitchFamily="34" charset="-122"/>
                <a:cs typeface="Calibri" pitchFamily="34" charset="-120"/>
              </a:rPr>
              <a:t>Template sheets</a:t>
            </a:r>
            <a:endParaRPr lang="en-US" sz="1500" dirty="0"/>
          </a:p>
        </p:txBody>
      </p:sp>
      <p:sp>
        <p:nvSpPr>
          <p:cNvPr id="12" name="Text 10"/>
          <p:cNvSpPr/>
          <p:nvPr/>
        </p:nvSpPr>
        <p:spPr>
          <a:xfrm>
            <a:off x="6492240" y="2286000"/>
            <a:ext cx="5029200" cy="1737360"/>
          </a:xfrm>
          <a:prstGeom prst="rect">
            <a:avLst/>
          </a:prstGeom>
          <a:noFill/>
          <a:ln/>
        </p:spPr>
        <p:txBody>
          <a:bodyPr wrap="square" rtlCol="0" anchor="t"/>
          <a:lstStyle/>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Main SKU Upload — paste your data here</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Master Data — valid units, categories, dropdowns (reference only)</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Validation — DO NOT edit (drives the in-Excel validation)</a:t>
            </a:r>
            <a:endParaRPr lang="en-US" sz="1150" dirty="0"/>
          </a:p>
        </p:txBody>
      </p:sp>
      <p:sp>
        <p:nvSpPr>
          <p:cNvPr id="13" name="Shape 11"/>
          <p:cNvSpPr/>
          <p:nvPr/>
        </p:nvSpPr>
        <p:spPr>
          <a:xfrm>
            <a:off x="548640" y="4343400"/>
            <a:ext cx="11109960" cy="2011680"/>
          </a:xfrm>
          <a:prstGeom prst="rect">
            <a:avLst/>
          </a:prstGeom>
          <a:solidFill>
            <a:srgbClr val="FFF6EC"/>
          </a:solidFill>
          <a:ln w="12700">
            <a:solidFill>
              <a:srgbClr val="F26B38"/>
            </a:solidFill>
            <a:prstDash val="solid"/>
          </a:ln>
        </p:spPr>
      </p:sp>
      <p:sp>
        <p:nvSpPr>
          <p:cNvPr id="14" name="Shape 12"/>
          <p:cNvSpPr/>
          <p:nvPr/>
        </p:nvSpPr>
        <p:spPr>
          <a:xfrm>
            <a:off x="548640" y="4343400"/>
            <a:ext cx="73152" cy="2011680"/>
          </a:xfrm>
          <a:prstGeom prst="rect">
            <a:avLst/>
          </a:prstGeom>
          <a:solidFill>
            <a:srgbClr val="F26B38"/>
          </a:solidFill>
          <a:ln w="12700">
            <a:solidFill>
              <a:srgbClr val="F26B38"/>
            </a:solidFill>
            <a:prstDash val="solid"/>
          </a:ln>
        </p:spPr>
      </p:sp>
      <p:sp>
        <p:nvSpPr>
          <p:cNvPr id="15" name="Text 13"/>
          <p:cNvSpPr/>
          <p:nvPr/>
        </p:nvSpPr>
        <p:spPr>
          <a:xfrm>
            <a:off x="777240" y="4453128"/>
            <a:ext cx="10789920" cy="292608"/>
          </a:xfrm>
          <a:prstGeom prst="rect">
            <a:avLst/>
          </a:prstGeom>
          <a:noFill/>
          <a:ln/>
        </p:spPr>
        <p:txBody>
          <a:bodyPr wrap="square" lIns="0" tIns="0" rIns="0" bIns="0" rtlCol="0" anchor="ctr"/>
          <a:lstStyle/>
          <a:p>
            <a:pPr indent="0" marL="0">
              <a:buNone/>
            </a:pPr>
            <a:r>
              <a:rPr lang="en-US" sz="1200" b="1" spc="100" kern="0" dirty="0">
                <a:solidFill>
                  <a:srgbClr val="C84A1F"/>
                </a:solidFill>
                <a:latin typeface="Calibri" pitchFamily="34" charset="0"/>
                <a:ea typeface="Calibri" pitchFamily="34" charset="-122"/>
                <a:cs typeface="Calibri" pitchFamily="34" charset="-120"/>
              </a:rPr>
              <a:t>Why a fresh download every time</a:t>
            </a:r>
            <a:endParaRPr lang="en-US" sz="1200" dirty="0"/>
          </a:p>
        </p:txBody>
      </p:sp>
      <p:sp>
        <p:nvSpPr>
          <p:cNvPr id="16" name="Text 14"/>
          <p:cNvSpPr/>
          <p:nvPr/>
        </p:nvSpPr>
        <p:spPr>
          <a:xfrm>
            <a:off x="777240" y="4754880"/>
            <a:ext cx="10789920" cy="1508760"/>
          </a:xfrm>
          <a:prstGeom prst="rect">
            <a:avLst/>
          </a:prstGeom>
          <a:noFill/>
          <a:ln/>
        </p:spPr>
        <p:txBody>
          <a:bodyPr wrap="square" lIns="0" tIns="0" rIns="0" bIns="0" rtlCol="0" anchor="ctr"/>
          <a:lstStyle/>
          <a:p>
            <a:pPr indent="0" marL="0">
              <a:spcAft>
                <a:spcPts val="300"/>
              </a:spcAft>
              <a:buNone/>
            </a:pPr>
            <a:r>
              <a:rPr lang="en-US" sz="1200" dirty="0">
                <a:solidFill>
                  <a:srgbClr val="1A2332"/>
                </a:solidFill>
                <a:latin typeface="Calibri" pitchFamily="34" charset="0"/>
                <a:ea typeface="Calibri" pitchFamily="34" charset="-122"/>
                <a:cs typeface="Calibri" pitchFamily="34" charset="-120"/>
              </a:rPr>
              <a:t>Column order and validation rules change between releases. Using a saved or self-made spreadsheet causes silent import failures — the file appears to upload but every row gets flagged. Treat the template as a single-use disposable form.</a:t>
            </a:r>
            <a:endParaRPr lang="en-US" sz="1200" dirty="0"/>
          </a:p>
        </p:txBody>
      </p:sp>
      <p:sp>
        <p:nvSpPr>
          <p:cNvPr id="17" name="Shape 15"/>
          <p:cNvSpPr/>
          <p:nvPr/>
        </p:nvSpPr>
        <p:spPr>
          <a:xfrm>
            <a:off x="0" y="6565392"/>
            <a:ext cx="12191695" cy="292608"/>
          </a:xfrm>
          <a:prstGeom prst="rect">
            <a:avLst/>
          </a:prstGeom>
          <a:solidFill>
            <a:srgbClr val="0F2742"/>
          </a:solidFill>
          <a:ln w="12700">
            <a:solidFill>
              <a:srgbClr val="0F2742"/>
            </a:solidFill>
            <a:prstDash val="solid"/>
          </a:ln>
        </p:spPr>
      </p:sp>
      <p:sp>
        <p:nvSpPr>
          <p:cNvPr id="18" name="Text 16"/>
          <p:cNvSpPr/>
          <p:nvPr/>
        </p:nvSpPr>
        <p:spPr>
          <a:xfrm>
            <a:off x="457200" y="6583680"/>
            <a:ext cx="731520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Qwipo Seller Store · Seller Training Guide · v1.1 · Internal Use</a:t>
            </a:r>
            <a:endParaRPr lang="en-US" sz="900" dirty="0"/>
          </a:p>
        </p:txBody>
      </p:sp>
      <p:sp>
        <p:nvSpPr>
          <p:cNvPr id="19" name="Text 17"/>
          <p:cNvSpPr/>
          <p:nvPr/>
        </p:nvSpPr>
        <p:spPr>
          <a:xfrm>
            <a:off x="10820095" y="6583680"/>
            <a:ext cx="914400" cy="256032"/>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 / 33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2742"/>
          </a:solidFill>
          <a:ln w="12700">
            <a:solidFill>
              <a:srgbClr val="0F2742"/>
            </a:solidFill>
            <a:prstDash val="solid"/>
          </a:ln>
        </p:spPr>
      </p:sp>
      <p:sp>
        <p:nvSpPr>
          <p:cNvPr id="3" name="Text 1"/>
          <p:cNvSpPr/>
          <p:nvPr/>
        </p:nvSpPr>
        <p:spPr>
          <a:xfrm>
            <a:off x="640080" y="320040"/>
            <a:ext cx="10058400" cy="320040"/>
          </a:xfrm>
          <a:prstGeom prst="rect">
            <a:avLst/>
          </a:prstGeom>
          <a:noFill/>
          <a:ln/>
        </p:spPr>
        <p:txBody>
          <a:bodyPr wrap="square" rtlCol="0" anchor="ctr"/>
          <a:lstStyle/>
          <a:p>
            <a:pPr indent="0" marL="0">
              <a:buNone/>
            </a:pPr>
            <a:r>
              <a:rPr lang="en-US" sz="1100" b="1" spc="400" kern="0" dirty="0">
                <a:solidFill>
                  <a:srgbClr val="F26B38"/>
                </a:solidFill>
                <a:latin typeface="Calibri" pitchFamily="34" charset="0"/>
                <a:ea typeface="Calibri" pitchFamily="34" charset="-122"/>
                <a:cs typeface="Calibri" pitchFamily="34" charset="-120"/>
              </a:rPr>
              <a:t>MY SKU · STEP 2</a:t>
            </a:r>
            <a:endParaRPr lang="en-US" sz="1100" dirty="0"/>
          </a:p>
        </p:txBody>
      </p:sp>
      <p:sp>
        <p:nvSpPr>
          <p:cNvPr id="4" name="Text 2"/>
          <p:cNvSpPr/>
          <p:nvPr/>
        </p:nvSpPr>
        <p:spPr>
          <a:xfrm>
            <a:off x="640080" y="594360"/>
            <a:ext cx="10789920" cy="777240"/>
          </a:xfrm>
          <a:prstGeom prst="rect">
            <a:avLst/>
          </a:prstGeom>
          <a:noFill/>
          <a:ln/>
        </p:spPr>
        <p:txBody>
          <a:bodyPr wrap="square" lIns="0" tIns="0" rIns="0" bIns="0" rtlCol="0" anchor="ctr"/>
          <a:lstStyle/>
          <a:p>
            <a:pPr indent="0" marL="0">
              <a:buNone/>
            </a:pPr>
            <a:r>
              <a:rPr lang="en-US" sz="3000" b="1" dirty="0">
                <a:solidFill>
                  <a:srgbClr val="0F2742"/>
                </a:solidFill>
                <a:latin typeface="Calibri" pitchFamily="34" charset="0"/>
                <a:ea typeface="Calibri" pitchFamily="34" charset="-122"/>
                <a:cs typeface="Calibri" pitchFamily="34" charset="-120"/>
              </a:rPr>
              <a:t>Prepare data — paste as values only</a:t>
            </a:r>
            <a:endParaRPr lang="en-US" sz="3000" dirty="0"/>
          </a:p>
        </p:txBody>
      </p:sp>
      <p:sp>
        <p:nvSpPr>
          <p:cNvPr id="5" name="Shape 3"/>
          <p:cNvSpPr/>
          <p:nvPr/>
        </p:nvSpPr>
        <p:spPr>
          <a:xfrm>
            <a:off x="548640" y="1691640"/>
            <a:ext cx="5120640" cy="411480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6000"/>
              </a:srgbClr>
            </a:outerShdw>
          </a:effectLst>
        </p:spPr>
      </p:sp>
      <p:sp>
        <p:nvSpPr>
          <p:cNvPr id="6" name="Shape 4"/>
          <p:cNvSpPr/>
          <p:nvPr/>
        </p:nvSpPr>
        <p:spPr>
          <a:xfrm>
            <a:off x="548640" y="1691640"/>
            <a:ext cx="73152" cy="4114800"/>
          </a:xfrm>
          <a:prstGeom prst="rect">
            <a:avLst/>
          </a:prstGeom>
          <a:solidFill>
            <a:srgbClr val="F26B38"/>
          </a:solidFill>
          <a:ln w="12700">
            <a:solidFill>
              <a:srgbClr val="F26B38"/>
            </a:solidFill>
            <a:prstDash val="solid"/>
          </a:ln>
        </p:spPr>
      </p:sp>
      <p:sp>
        <p:nvSpPr>
          <p:cNvPr id="7" name="Text 5"/>
          <p:cNvSpPr/>
          <p:nvPr/>
        </p:nvSpPr>
        <p:spPr>
          <a:xfrm>
            <a:off x="777240" y="1856232"/>
            <a:ext cx="4800600" cy="365760"/>
          </a:xfrm>
          <a:prstGeom prst="rect">
            <a:avLst/>
          </a:prstGeom>
          <a:noFill/>
          <a:ln/>
        </p:spPr>
        <p:txBody>
          <a:bodyPr wrap="square" lIns="0" tIns="0" rIns="0" bIns="0" rtlCol="0" anchor="ctr"/>
          <a:lstStyle/>
          <a:p>
            <a:pPr indent="0" marL="0">
              <a:buNone/>
            </a:pPr>
            <a:r>
              <a:rPr lang="en-US" sz="1500" b="1" dirty="0">
                <a:solidFill>
                  <a:srgbClr val="0F2742"/>
                </a:solidFill>
                <a:latin typeface="Calibri" pitchFamily="34" charset="0"/>
                <a:ea typeface="Calibri" pitchFamily="34" charset="-122"/>
                <a:cs typeface="Calibri" pitchFamily="34" charset="-120"/>
              </a:rPr>
              <a:t>The correct paste flow</a:t>
            </a:r>
            <a:endParaRPr lang="en-US" sz="1500" dirty="0"/>
          </a:p>
        </p:txBody>
      </p:sp>
      <p:sp>
        <p:nvSpPr>
          <p:cNvPr id="8" name="Text 6"/>
          <p:cNvSpPr/>
          <p:nvPr/>
        </p:nvSpPr>
        <p:spPr>
          <a:xfrm>
            <a:off x="777240" y="2286000"/>
            <a:ext cx="4754880" cy="3383280"/>
          </a:xfrm>
          <a:prstGeom prst="rect">
            <a:avLst/>
          </a:prstGeom>
          <a:noFill/>
          <a:ln/>
        </p:spPr>
        <p:txBody>
          <a:bodyPr wrap="square" rtlCol="0" anchor="t"/>
          <a:lstStyle/>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Open your existing product data in Excel</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Copy the data (no headers — the template has its own)</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In the template, go to Main SKU Upload</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Right-click the first data row → Paste Special</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Choose Values only (second paste option)</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Match column order exactly — never add, remove, or reorder</a:t>
            </a:r>
            <a:endParaRPr lang="en-US" sz="1150" dirty="0"/>
          </a:p>
        </p:txBody>
      </p:sp>
      <p:sp>
        <p:nvSpPr>
          <p:cNvPr id="9" name="Shape 7"/>
          <p:cNvSpPr/>
          <p:nvPr/>
        </p:nvSpPr>
        <p:spPr>
          <a:xfrm>
            <a:off x="5852160" y="1645920"/>
            <a:ext cx="5897880" cy="3383280"/>
          </a:xfrm>
          <a:prstGeom prst="rect">
            <a:avLst/>
          </a:prstGeom>
          <a:solidFill>
            <a:srgbClr val="FFFFFF"/>
          </a:solidFill>
          <a:ln w="9525">
            <a:solidFill>
              <a:srgbClr val="E2E8F0"/>
            </a:solidFill>
            <a:prstDash val="solid"/>
          </a:ln>
          <a:effectLst>
            <a:outerShdw sx="100000" sy="100000" kx="0" ky="0" algn="bl" rotWithShape="0" blurRad="152400" dist="38100" dir="5400000">
              <a:srgbClr val="000000">
                <a:alpha val="18000"/>
              </a:srgbClr>
            </a:outerShdw>
          </a:effectLst>
        </p:spPr>
      </p:sp>
      <p:pic>
        <p:nvPicPr>
          <p:cNvPr id="10" name="Image 0" descr="C:\Users\Lenovo\OneDrive - Xavica Primary\Desktop\Seller Store\.deck-qa\seller-img\image2.png">    </p:cNvPr>
          <p:cNvPicPr>
            <a:picLocks noChangeAspect="1"/>
          </p:cNvPicPr>
          <p:nvPr/>
        </p:nvPicPr>
        <p:blipFill>
          <a:blip r:embed="rId1"/>
          <a:srcRect l="0" r="0" t="0" b="0"/>
          <a:stretch/>
        </p:blipFill>
        <p:spPr>
          <a:xfrm>
            <a:off x="5897880" y="1691640"/>
            <a:ext cx="5806440" cy="3291840"/>
          </a:xfrm>
          <a:prstGeom prst="rect">
            <a:avLst/>
          </a:prstGeom>
        </p:spPr>
      </p:pic>
      <p:sp>
        <p:nvSpPr>
          <p:cNvPr id="11" name="Shape 8"/>
          <p:cNvSpPr/>
          <p:nvPr/>
        </p:nvSpPr>
        <p:spPr>
          <a:xfrm>
            <a:off x="5897880" y="5120640"/>
            <a:ext cx="5806440" cy="1188720"/>
          </a:xfrm>
          <a:prstGeom prst="rect">
            <a:avLst/>
          </a:prstGeom>
          <a:solidFill>
            <a:srgbClr val="FFF6EC"/>
          </a:solidFill>
          <a:ln w="12700">
            <a:solidFill>
              <a:srgbClr val="F26B38"/>
            </a:solidFill>
            <a:prstDash val="solid"/>
          </a:ln>
        </p:spPr>
      </p:sp>
      <p:sp>
        <p:nvSpPr>
          <p:cNvPr id="12" name="Shape 9"/>
          <p:cNvSpPr/>
          <p:nvPr/>
        </p:nvSpPr>
        <p:spPr>
          <a:xfrm>
            <a:off x="5897880" y="5120640"/>
            <a:ext cx="73152" cy="1188720"/>
          </a:xfrm>
          <a:prstGeom prst="rect">
            <a:avLst/>
          </a:prstGeom>
          <a:solidFill>
            <a:srgbClr val="F26B38"/>
          </a:solidFill>
          <a:ln w="12700">
            <a:solidFill>
              <a:srgbClr val="F26B38"/>
            </a:solidFill>
            <a:prstDash val="solid"/>
          </a:ln>
        </p:spPr>
      </p:sp>
      <p:sp>
        <p:nvSpPr>
          <p:cNvPr id="13" name="Text 10"/>
          <p:cNvSpPr/>
          <p:nvPr/>
        </p:nvSpPr>
        <p:spPr>
          <a:xfrm>
            <a:off x="6126480" y="5230368"/>
            <a:ext cx="5486400" cy="292608"/>
          </a:xfrm>
          <a:prstGeom prst="rect">
            <a:avLst/>
          </a:prstGeom>
          <a:noFill/>
          <a:ln/>
        </p:spPr>
        <p:txBody>
          <a:bodyPr wrap="square" lIns="0" tIns="0" rIns="0" bIns="0" rtlCol="0" anchor="ctr"/>
          <a:lstStyle/>
          <a:p>
            <a:pPr indent="0" marL="0">
              <a:buNone/>
            </a:pPr>
            <a:r>
              <a:rPr lang="en-US" sz="1200" b="1" spc="100" kern="0" dirty="0">
                <a:solidFill>
                  <a:srgbClr val="C84A1F"/>
                </a:solidFill>
                <a:latin typeface="Calibri" pitchFamily="34" charset="0"/>
                <a:ea typeface="Calibri" pitchFamily="34" charset="-122"/>
                <a:cs typeface="Calibri" pitchFamily="34" charset="-120"/>
              </a:rPr>
              <a:t>Never paste with formulas</a:t>
            </a:r>
            <a:endParaRPr lang="en-US" sz="1200" dirty="0"/>
          </a:p>
        </p:txBody>
      </p:sp>
      <p:sp>
        <p:nvSpPr>
          <p:cNvPr id="14" name="Text 11"/>
          <p:cNvSpPr/>
          <p:nvPr/>
        </p:nvSpPr>
        <p:spPr>
          <a:xfrm>
            <a:off x="6126480" y="5532120"/>
            <a:ext cx="5486400" cy="685800"/>
          </a:xfrm>
          <a:prstGeom prst="rect">
            <a:avLst/>
          </a:prstGeom>
          <a:noFill/>
          <a:ln/>
        </p:spPr>
        <p:txBody>
          <a:bodyPr wrap="square" lIns="0" tIns="0" rIns="0" bIns="0" rtlCol="0" anchor="ctr"/>
          <a:lstStyle/>
          <a:p>
            <a:pPr indent="0" marL="0">
              <a:spcAft>
                <a:spcPts val="300"/>
              </a:spcAft>
              <a:buNone/>
            </a:pPr>
            <a:r>
              <a:rPr lang="en-US" sz="1200" dirty="0">
                <a:solidFill>
                  <a:srgbClr val="1A2332"/>
                </a:solidFill>
                <a:latin typeface="Calibri" pitchFamily="34" charset="0"/>
                <a:ea typeface="Calibri" pitchFamily="34" charset="-122"/>
                <a:cs typeface="Calibri" pitchFamily="34" charset="-120"/>
              </a:rPr>
              <a:t>Pasting with formulas pulls broken cell references, breaks the hidden validation logic, and produces unpredictable failures. Values only is the only safe paste.</a:t>
            </a:r>
            <a:endParaRPr lang="en-US" sz="1200" dirty="0"/>
          </a:p>
        </p:txBody>
      </p:sp>
      <p:sp>
        <p:nvSpPr>
          <p:cNvPr id="15" name="Shape 12"/>
          <p:cNvSpPr/>
          <p:nvPr/>
        </p:nvSpPr>
        <p:spPr>
          <a:xfrm>
            <a:off x="0" y="6565392"/>
            <a:ext cx="12191695" cy="292608"/>
          </a:xfrm>
          <a:prstGeom prst="rect">
            <a:avLst/>
          </a:prstGeom>
          <a:solidFill>
            <a:srgbClr val="0F2742"/>
          </a:solidFill>
          <a:ln w="12700">
            <a:solidFill>
              <a:srgbClr val="0F2742"/>
            </a:solidFill>
            <a:prstDash val="solid"/>
          </a:ln>
        </p:spPr>
      </p:sp>
      <p:sp>
        <p:nvSpPr>
          <p:cNvPr id="16" name="Text 13"/>
          <p:cNvSpPr/>
          <p:nvPr/>
        </p:nvSpPr>
        <p:spPr>
          <a:xfrm>
            <a:off x="457200" y="6583680"/>
            <a:ext cx="731520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Qwipo Seller Store · Seller Training Guide · v1.1 · Internal Use</a:t>
            </a:r>
            <a:endParaRPr lang="en-US" sz="900" dirty="0"/>
          </a:p>
        </p:txBody>
      </p:sp>
      <p:sp>
        <p:nvSpPr>
          <p:cNvPr id="17" name="Text 14"/>
          <p:cNvSpPr/>
          <p:nvPr/>
        </p:nvSpPr>
        <p:spPr>
          <a:xfrm>
            <a:off x="10820095" y="6583680"/>
            <a:ext cx="914400" cy="256032"/>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10 / 33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2742"/>
          </a:solidFill>
          <a:ln w="12700">
            <a:solidFill>
              <a:srgbClr val="0F2742"/>
            </a:solidFill>
            <a:prstDash val="solid"/>
          </a:ln>
        </p:spPr>
      </p:sp>
      <p:sp>
        <p:nvSpPr>
          <p:cNvPr id="3" name="Text 1"/>
          <p:cNvSpPr/>
          <p:nvPr/>
        </p:nvSpPr>
        <p:spPr>
          <a:xfrm>
            <a:off x="640080" y="320040"/>
            <a:ext cx="10058400" cy="320040"/>
          </a:xfrm>
          <a:prstGeom prst="rect">
            <a:avLst/>
          </a:prstGeom>
          <a:noFill/>
          <a:ln/>
        </p:spPr>
        <p:txBody>
          <a:bodyPr wrap="square" rtlCol="0" anchor="ctr"/>
          <a:lstStyle/>
          <a:p>
            <a:pPr indent="0" marL="0">
              <a:buNone/>
            </a:pPr>
            <a:r>
              <a:rPr lang="en-US" sz="1100" b="1" spc="400" kern="0" dirty="0">
                <a:solidFill>
                  <a:srgbClr val="F26B38"/>
                </a:solidFill>
                <a:latin typeface="Calibri" pitchFamily="34" charset="0"/>
                <a:ea typeface="Calibri" pitchFamily="34" charset="-122"/>
                <a:cs typeface="Calibri" pitchFamily="34" charset="-120"/>
              </a:rPr>
              <a:t>MY SKU · STEP 2</a:t>
            </a:r>
            <a:endParaRPr lang="en-US" sz="1100" dirty="0"/>
          </a:p>
        </p:txBody>
      </p:sp>
      <p:sp>
        <p:nvSpPr>
          <p:cNvPr id="4" name="Text 2"/>
          <p:cNvSpPr/>
          <p:nvPr/>
        </p:nvSpPr>
        <p:spPr>
          <a:xfrm>
            <a:off x="640080" y="594360"/>
            <a:ext cx="10789920" cy="777240"/>
          </a:xfrm>
          <a:prstGeom prst="rect">
            <a:avLst/>
          </a:prstGeom>
          <a:noFill/>
          <a:ln/>
        </p:spPr>
        <p:txBody>
          <a:bodyPr wrap="square" lIns="0" tIns="0" rIns="0" bIns="0" rtlCol="0" anchor="ctr"/>
          <a:lstStyle/>
          <a:p>
            <a:pPr indent="0" marL="0">
              <a:buNone/>
            </a:pPr>
            <a:r>
              <a:rPr lang="en-US" sz="3000" b="1" dirty="0">
                <a:solidFill>
                  <a:srgbClr val="0F2742"/>
                </a:solidFill>
                <a:latin typeface="Calibri" pitchFamily="34" charset="0"/>
                <a:ea typeface="Calibri" pitchFamily="34" charset="-122"/>
                <a:cs typeface="Calibri" pitchFamily="34" charset="-120"/>
              </a:rPr>
              <a:t>Mandatory fields and acceptable placeholders</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109960" cy="914400"/>
        </p:xfrm>
        <a:graphic>
          <a:graphicData uri="http://schemas.openxmlformats.org/drawingml/2006/table">
            <a:tbl>
              <a:tblPr/>
              <a:tblGrid>
                <a:gridCol w="4114800"/>
                <a:gridCol w="6995160"/>
              </a:tblGrid>
              <a:tr h="32004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Field</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74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Placeholder when real data is missing</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742"/>
                    </a:solidFill>
                  </a:tcPr>
                </a:tc>
              </a:tr>
              <a:tr h="320040">
                <a:tc>
                  <a:txBody>
                    <a:bodyPr/>
                    <a:lstStyle/>
                    <a:p>
                      <a:pPr indent="0" marL="0">
                        <a:buNone/>
                      </a:pPr>
                      <a:r>
                        <a:rPr lang="en-US" sz="1150" b="1" dirty="0">
                          <a:solidFill>
                            <a:srgbClr val="0F2742"/>
                          </a:solidFill>
                          <a:latin typeface="Calibri" pitchFamily="34" charset="0"/>
                          <a:ea typeface="Calibri" pitchFamily="34" charset="-122"/>
                          <a:cs typeface="Calibri" pitchFamily="34" charset="-120"/>
                        </a:rPr>
                        <a:t>Short Description</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A2332"/>
                          </a:solidFill>
                          <a:latin typeface="Calibri" pitchFamily="34" charset="0"/>
                          <a:ea typeface="Calibri" pitchFamily="34" charset="-122"/>
                          <a:cs typeface="Calibri" pitchFamily="34" charset="-120"/>
                        </a:rPr>
                        <a:t>Any text 10–200 characters — copy the SKU name</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20040">
                <a:tc>
                  <a:txBody>
                    <a:bodyPr/>
                    <a:lstStyle/>
                    <a:p>
                      <a:pPr indent="0" marL="0">
                        <a:buNone/>
                      </a:pPr>
                      <a:r>
                        <a:rPr lang="en-US" sz="1150" b="1" dirty="0">
                          <a:solidFill>
                            <a:srgbClr val="0F2742"/>
                          </a:solidFill>
                          <a:latin typeface="Calibri" pitchFamily="34" charset="0"/>
                          <a:ea typeface="Calibri" pitchFamily="34" charset="-122"/>
                          <a:cs typeface="Calibri" pitchFamily="34" charset="-120"/>
                        </a:rPr>
                        <a:t>Category</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A2332"/>
                          </a:solidFill>
                          <a:latin typeface="Calibri" pitchFamily="34" charset="0"/>
                          <a:ea typeface="Calibri" pitchFamily="34" charset="-122"/>
                          <a:cs typeface="Calibri" pitchFamily="34" charset="-120"/>
                        </a:rPr>
                        <a:t>Beauty &amp; Hygiene (taxonomy fix coming later)</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20040">
                <a:tc>
                  <a:txBody>
                    <a:bodyPr/>
                    <a:lstStyle/>
                    <a:p>
                      <a:pPr indent="0" marL="0">
                        <a:buNone/>
                      </a:pPr>
                      <a:r>
                        <a:rPr lang="en-US" sz="1150" b="1" dirty="0">
                          <a:solidFill>
                            <a:srgbClr val="0F2742"/>
                          </a:solidFill>
                          <a:latin typeface="Calibri" pitchFamily="34" charset="0"/>
                          <a:ea typeface="Calibri" pitchFamily="34" charset="-122"/>
                          <a:cs typeface="Calibri" pitchFamily="34" charset="-120"/>
                        </a:rPr>
                        <a:t>Manufacturer Address</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A2332"/>
                          </a:solidFill>
                          <a:latin typeface="Calibri" pitchFamily="34" charset="0"/>
                          <a:ea typeface="Calibri" pitchFamily="34" charset="-122"/>
                          <a:cs typeface="Calibri" pitchFamily="34" charset="-120"/>
                        </a:rPr>
                        <a:t>Seller's business address</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20040">
                <a:tc>
                  <a:txBody>
                    <a:bodyPr/>
                    <a:lstStyle/>
                    <a:p>
                      <a:pPr indent="0" marL="0">
                        <a:buNone/>
                      </a:pPr>
                      <a:r>
                        <a:rPr lang="en-US" sz="1150" b="1" dirty="0">
                          <a:solidFill>
                            <a:srgbClr val="0F2742"/>
                          </a:solidFill>
                          <a:latin typeface="Calibri" pitchFamily="34" charset="0"/>
                          <a:ea typeface="Calibri" pitchFamily="34" charset="-122"/>
                          <a:cs typeface="Calibri" pitchFamily="34" charset="-120"/>
                        </a:rPr>
                        <a:t>Customer Support Number</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A2332"/>
                          </a:solidFill>
                          <a:latin typeface="Calibri" pitchFamily="34" charset="0"/>
                          <a:ea typeface="Calibri" pitchFamily="34" charset="-122"/>
                          <a:cs typeface="Calibri" pitchFamily="34" charset="-120"/>
                        </a:rPr>
                        <a:t>Seller's registered mobile number</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20040">
                <a:tc>
                  <a:txBody>
                    <a:bodyPr/>
                    <a:lstStyle/>
                    <a:p>
                      <a:pPr indent="0" marL="0">
                        <a:buNone/>
                      </a:pPr>
                      <a:r>
                        <a:rPr lang="en-US" sz="1150" b="1" dirty="0">
                          <a:solidFill>
                            <a:srgbClr val="0F2742"/>
                          </a:solidFill>
                          <a:latin typeface="Calibri" pitchFamily="34" charset="0"/>
                          <a:ea typeface="Calibri" pitchFamily="34" charset="-122"/>
                          <a:cs typeface="Calibri" pitchFamily="34" charset="-120"/>
                        </a:rPr>
                        <a:t>Min / Max Order Quantity</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A2332"/>
                          </a:solidFill>
                          <a:latin typeface="Calibri" pitchFamily="34" charset="0"/>
                          <a:ea typeface="Calibri" pitchFamily="34" charset="-122"/>
                          <a:cs typeface="Calibri" pitchFamily="34" charset="-120"/>
                        </a:rPr>
                        <a:t>1 / 1000</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20040">
                <a:tc>
                  <a:txBody>
                    <a:bodyPr/>
                    <a:lstStyle/>
                    <a:p>
                      <a:pPr indent="0" marL="0">
                        <a:buNone/>
                      </a:pPr>
                      <a:r>
                        <a:rPr lang="en-US" sz="1150" b="1" dirty="0">
                          <a:solidFill>
                            <a:srgbClr val="0F2742"/>
                          </a:solidFill>
                          <a:latin typeface="Calibri" pitchFamily="34" charset="0"/>
                          <a:ea typeface="Calibri" pitchFamily="34" charset="-122"/>
                          <a:cs typeface="Calibri" pitchFamily="34" charset="-120"/>
                        </a:rPr>
                        <a:t>Time to Ship</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A2332"/>
                          </a:solidFill>
                          <a:latin typeface="Calibri" pitchFamily="34" charset="0"/>
                          <a:ea typeface="Calibri" pitchFamily="34" charset="-122"/>
                          <a:cs typeface="Calibri" pitchFamily="34" charset="-120"/>
                        </a:rPr>
                        <a:t>24 hours</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20040">
                <a:tc>
                  <a:txBody>
                    <a:bodyPr/>
                    <a:lstStyle/>
                    <a:p>
                      <a:pPr indent="0" marL="0">
                        <a:buNone/>
                      </a:pPr>
                      <a:r>
                        <a:rPr lang="en-US" sz="1150" b="1" dirty="0">
                          <a:solidFill>
                            <a:srgbClr val="0F2742"/>
                          </a:solidFill>
                          <a:latin typeface="Calibri" pitchFamily="34" charset="0"/>
                          <a:ea typeface="Calibri" pitchFamily="34" charset="-122"/>
                          <a:cs typeface="Calibri" pitchFamily="34" charset="-120"/>
                        </a:rPr>
                        <a:t>Country of Origin</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A2332"/>
                          </a:solidFill>
                          <a:latin typeface="Calibri" pitchFamily="34" charset="0"/>
                          <a:ea typeface="Calibri" pitchFamily="34" charset="-122"/>
                          <a:cs typeface="Calibri" pitchFamily="34" charset="-120"/>
                        </a:rPr>
                        <a:t>India</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20040">
                <a:tc>
                  <a:txBody>
                    <a:bodyPr/>
                    <a:lstStyle/>
                    <a:p>
                      <a:pPr indent="0" marL="0">
                        <a:buNone/>
                      </a:pPr>
                      <a:r>
                        <a:rPr lang="en-US" sz="1150" b="1" dirty="0">
                          <a:solidFill>
                            <a:srgbClr val="0F2742"/>
                          </a:solidFill>
                          <a:latin typeface="Calibri" pitchFamily="34" charset="0"/>
                          <a:ea typeface="Calibri" pitchFamily="34" charset="-122"/>
                          <a:cs typeface="Calibri" pitchFamily="34" charset="-120"/>
                        </a:rPr>
                        <a:t>Status</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A2332"/>
                          </a:solidFill>
                          <a:latin typeface="Calibri" pitchFamily="34" charset="0"/>
                          <a:ea typeface="Calibri" pitchFamily="34" charset="-122"/>
                          <a:cs typeface="Calibri" pitchFamily="34" charset="-120"/>
                        </a:rPr>
                        <a:t>active</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4937760"/>
            <a:ext cx="11109960" cy="1371600"/>
          </a:xfrm>
          <a:prstGeom prst="rect">
            <a:avLst/>
          </a:prstGeom>
          <a:solidFill>
            <a:srgbClr val="FFF6EC"/>
          </a:solidFill>
          <a:ln w="12700">
            <a:solidFill>
              <a:srgbClr val="F26B38"/>
            </a:solidFill>
            <a:prstDash val="solid"/>
          </a:ln>
        </p:spPr>
      </p:sp>
      <p:sp>
        <p:nvSpPr>
          <p:cNvPr id="7" name="Shape 4"/>
          <p:cNvSpPr/>
          <p:nvPr/>
        </p:nvSpPr>
        <p:spPr>
          <a:xfrm>
            <a:off x="548640" y="4937760"/>
            <a:ext cx="73152" cy="1371600"/>
          </a:xfrm>
          <a:prstGeom prst="rect">
            <a:avLst/>
          </a:prstGeom>
          <a:solidFill>
            <a:srgbClr val="F26B38"/>
          </a:solidFill>
          <a:ln w="12700">
            <a:solidFill>
              <a:srgbClr val="F26B38"/>
            </a:solidFill>
            <a:prstDash val="solid"/>
          </a:ln>
        </p:spPr>
      </p:sp>
      <p:sp>
        <p:nvSpPr>
          <p:cNvPr id="8" name="Text 5"/>
          <p:cNvSpPr/>
          <p:nvPr/>
        </p:nvSpPr>
        <p:spPr>
          <a:xfrm>
            <a:off x="777240" y="5047488"/>
            <a:ext cx="10789920" cy="292608"/>
          </a:xfrm>
          <a:prstGeom prst="rect">
            <a:avLst/>
          </a:prstGeom>
          <a:noFill/>
          <a:ln/>
        </p:spPr>
        <p:txBody>
          <a:bodyPr wrap="square" lIns="0" tIns="0" rIns="0" bIns="0" rtlCol="0" anchor="ctr"/>
          <a:lstStyle/>
          <a:p>
            <a:pPr indent="0" marL="0">
              <a:buNone/>
            </a:pPr>
            <a:r>
              <a:rPr lang="en-US" sz="1200" b="1" spc="100" kern="0" dirty="0">
                <a:solidFill>
                  <a:srgbClr val="C84A1F"/>
                </a:solidFill>
                <a:latin typeface="Calibri" pitchFamily="34" charset="0"/>
                <a:ea typeface="Calibri" pitchFamily="34" charset="-122"/>
                <a:cs typeface="Calibri" pitchFamily="34" charset="-120"/>
              </a:rPr>
              <a:t>Why placeholders are OK for Phase 1</a:t>
            </a:r>
            <a:endParaRPr lang="en-US" sz="1200" dirty="0"/>
          </a:p>
        </p:txBody>
      </p:sp>
      <p:sp>
        <p:nvSpPr>
          <p:cNvPr id="9" name="Text 6"/>
          <p:cNvSpPr/>
          <p:nvPr/>
        </p:nvSpPr>
        <p:spPr>
          <a:xfrm>
            <a:off x="777240" y="5349240"/>
            <a:ext cx="10789920" cy="868680"/>
          </a:xfrm>
          <a:prstGeom prst="rect">
            <a:avLst/>
          </a:prstGeom>
          <a:noFill/>
          <a:ln/>
        </p:spPr>
        <p:txBody>
          <a:bodyPr wrap="square" lIns="0" tIns="0" rIns="0" bIns="0" rtlCol="0" anchor="ctr"/>
          <a:lstStyle/>
          <a:p>
            <a:pPr indent="0" marL="0">
              <a:spcAft>
                <a:spcPts val="300"/>
              </a:spcAft>
              <a:buNone/>
            </a:pPr>
            <a:r>
              <a:rPr lang="en-US" sz="1200" dirty="0">
                <a:solidFill>
                  <a:srgbClr val="1A2332"/>
                </a:solidFill>
                <a:latin typeface="Calibri" pitchFamily="34" charset="0"/>
                <a:ea typeface="Calibri" pitchFamily="34" charset="-122"/>
                <a:cs typeface="Calibri" pitchFamily="34" charset="-120"/>
              </a:rPr>
              <a:t>Phase 1 prioritises getting catalogues live on ONDC. Once SKUs are flowing, the seller refines copy, categories, and addresses in subsequent edit cycles. Better to launch with placeholders than to block on perfection.</a:t>
            </a:r>
            <a:endParaRPr lang="en-US" sz="1200" dirty="0"/>
          </a:p>
        </p:txBody>
      </p:sp>
      <p:sp>
        <p:nvSpPr>
          <p:cNvPr id="10" name="Shape 7"/>
          <p:cNvSpPr/>
          <p:nvPr/>
        </p:nvSpPr>
        <p:spPr>
          <a:xfrm>
            <a:off x="0" y="6565392"/>
            <a:ext cx="12191695" cy="292608"/>
          </a:xfrm>
          <a:prstGeom prst="rect">
            <a:avLst/>
          </a:prstGeom>
          <a:solidFill>
            <a:srgbClr val="0F2742"/>
          </a:solidFill>
          <a:ln w="12700">
            <a:solidFill>
              <a:srgbClr val="0F2742"/>
            </a:solidFill>
            <a:prstDash val="solid"/>
          </a:ln>
        </p:spPr>
      </p:sp>
      <p:sp>
        <p:nvSpPr>
          <p:cNvPr id="11" name="Text 8"/>
          <p:cNvSpPr/>
          <p:nvPr/>
        </p:nvSpPr>
        <p:spPr>
          <a:xfrm>
            <a:off x="457200" y="6583680"/>
            <a:ext cx="731520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Qwipo Seller Store · Seller Training Guide · v1.1 · Internal Use</a:t>
            </a:r>
            <a:endParaRPr lang="en-US" sz="900" dirty="0"/>
          </a:p>
        </p:txBody>
      </p:sp>
      <p:sp>
        <p:nvSpPr>
          <p:cNvPr id="12" name="Text 9"/>
          <p:cNvSpPr/>
          <p:nvPr/>
        </p:nvSpPr>
        <p:spPr>
          <a:xfrm>
            <a:off x="10820095" y="6583680"/>
            <a:ext cx="914400" cy="256032"/>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11 / 33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2742"/>
          </a:solidFill>
          <a:ln w="12700">
            <a:solidFill>
              <a:srgbClr val="0F2742"/>
            </a:solidFill>
            <a:prstDash val="solid"/>
          </a:ln>
        </p:spPr>
      </p:sp>
      <p:sp>
        <p:nvSpPr>
          <p:cNvPr id="3" name="Text 1"/>
          <p:cNvSpPr/>
          <p:nvPr/>
        </p:nvSpPr>
        <p:spPr>
          <a:xfrm>
            <a:off x="640080" y="320040"/>
            <a:ext cx="10058400" cy="320040"/>
          </a:xfrm>
          <a:prstGeom prst="rect">
            <a:avLst/>
          </a:prstGeom>
          <a:noFill/>
          <a:ln/>
        </p:spPr>
        <p:txBody>
          <a:bodyPr wrap="square" rtlCol="0" anchor="ctr"/>
          <a:lstStyle/>
          <a:p>
            <a:pPr indent="0" marL="0">
              <a:buNone/>
            </a:pPr>
            <a:r>
              <a:rPr lang="en-US" sz="1100" b="1" spc="400" kern="0" dirty="0">
                <a:solidFill>
                  <a:srgbClr val="F26B38"/>
                </a:solidFill>
                <a:latin typeface="Calibri" pitchFamily="34" charset="0"/>
                <a:ea typeface="Calibri" pitchFamily="34" charset="-122"/>
                <a:cs typeface="Calibri" pitchFamily="34" charset="-120"/>
              </a:rPr>
              <a:t>MY SKU · STEP 2 — CRITICAL</a:t>
            </a:r>
            <a:endParaRPr lang="en-US" sz="1100" dirty="0"/>
          </a:p>
        </p:txBody>
      </p:sp>
      <p:sp>
        <p:nvSpPr>
          <p:cNvPr id="4" name="Text 2"/>
          <p:cNvSpPr/>
          <p:nvPr/>
        </p:nvSpPr>
        <p:spPr>
          <a:xfrm>
            <a:off x="640080" y="594360"/>
            <a:ext cx="10789920" cy="777240"/>
          </a:xfrm>
          <a:prstGeom prst="rect">
            <a:avLst/>
          </a:prstGeom>
          <a:noFill/>
          <a:ln/>
        </p:spPr>
        <p:txBody>
          <a:bodyPr wrap="square" lIns="0" tIns="0" rIns="0" bIns="0" rtlCol="0" anchor="ctr"/>
          <a:lstStyle/>
          <a:p>
            <a:pPr indent="0" marL="0">
              <a:buNone/>
            </a:pPr>
            <a:r>
              <a:rPr lang="en-US" sz="3000" b="1" dirty="0">
                <a:solidFill>
                  <a:srgbClr val="0F2742"/>
                </a:solidFill>
                <a:latin typeface="Calibri" pitchFamily="34" charset="0"/>
                <a:ea typeface="Calibri" pitchFamily="34" charset="-122"/>
                <a:cs typeface="Calibri" pitchFamily="34" charset="-120"/>
              </a:rPr>
              <a:t>The ONDC 'Unit' constraint</a:t>
            </a:r>
            <a:endParaRPr lang="en-US" sz="3000" dirty="0"/>
          </a:p>
        </p:txBody>
      </p:sp>
      <p:sp>
        <p:nvSpPr>
          <p:cNvPr id="5" name="Shape 3"/>
          <p:cNvSpPr/>
          <p:nvPr/>
        </p:nvSpPr>
        <p:spPr>
          <a:xfrm>
            <a:off x="548640" y="1691640"/>
            <a:ext cx="5486400" cy="3291840"/>
          </a:xfrm>
          <a:prstGeom prst="rect">
            <a:avLst/>
          </a:prstGeom>
          <a:solidFill>
            <a:srgbClr val="FFFFFF"/>
          </a:solidFill>
          <a:ln w="9525">
            <a:solidFill>
              <a:srgbClr val="E2E8F0"/>
            </a:solidFill>
            <a:prstDash val="solid"/>
          </a:ln>
        </p:spPr>
      </p:sp>
      <p:sp>
        <p:nvSpPr>
          <p:cNvPr id="6" name="Shape 4"/>
          <p:cNvSpPr/>
          <p:nvPr/>
        </p:nvSpPr>
        <p:spPr>
          <a:xfrm>
            <a:off x="548640" y="1691640"/>
            <a:ext cx="5486400" cy="502920"/>
          </a:xfrm>
          <a:prstGeom prst="rect">
            <a:avLst/>
          </a:prstGeom>
          <a:solidFill>
            <a:srgbClr val="1F8A4C"/>
          </a:solidFill>
          <a:ln w="12700">
            <a:solidFill>
              <a:srgbClr val="1F8A4C"/>
            </a:solidFill>
            <a:prstDash val="solid"/>
          </a:ln>
        </p:spPr>
      </p:sp>
      <p:sp>
        <p:nvSpPr>
          <p:cNvPr id="7" name="Text 5"/>
          <p:cNvSpPr/>
          <p:nvPr/>
        </p:nvSpPr>
        <p:spPr>
          <a:xfrm>
            <a:off x="777240" y="1755648"/>
            <a:ext cx="502920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Use only these 4 units</a:t>
            </a:r>
            <a:endParaRPr lang="en-US" sz="1500" dirty="0"/>
          </a:p>
        </p:txBody>
      </p:sp>
      <p:pic>
        <p:nvPicPr>
          <p:cNvPr id="8" name="Image 0" descr="preencoded.png">    </p:cNvPr>
          <p:cNvPicPr>
            <a:picLocks noChangeAspect="1"/>
          </p:cNvPicPr>
          <p:nvPr/>
        </p:nvPicPr>
        <p:blipFill>
          <a:blip r:embed="rId1"/>
          <a:stretch>
            <a:fillRect/>
          </a:stretch>
        </p:blipFill>
        <p:spPr>
          <a:xfrm>
            <a:off x="914400" y="2514600"/>
            <a:ext cx="274320" cy="274320"/>
          </a:xfrm>
          <a:prstGeom prst="rect">
            <a:avLst/>
          </a:prstGeom>
        </p:spPr>
      </p:pic>
      <p:sp>
        <p:nvSpPr>
          <p:cNvPr id="9" name="Text 6"/>
          <p:cNvSpPr/>
          <p:nvPr/>
        </p:nvSpPr>
        <p:spPr>
          <a:xfrm>
            <a:off x="1325880" y="2468880"/>
            <a:ext cx="4572000" cy="365760"/>
          </a:xfrm>
          <a:prstGeom prst="rect">
            <a:avLst/>
          </a:prstGeom>
          <a:noFill/>
          <a:ln/>
        </p:spPr>
        <p:txBody>
          <a:bodyPr wrap="square" lIns="0" tIns="0" rIns="0" bIns="0" rtlCol="0" anchor="ctr"/>
          <a:lstStyle/>
          <a:p>
            <a:pPr indent="0" marL="0">
              <a:buNone/>
            </a:pPr>
            <a:r>
              <a:rPr lang="en-US" sz="1600" dirty="0">
                <a:solidFill>
                  <a:srgbClr val="1A2332"/>
                </a:solidFill>
                <a:latin typeface="Calibri" pitchFamily="34" charset="0"/>
                <a:ea typeface="Calibri" pitchFamily="34" charset="-122"/>
                <a:cs typeface="Calibri" pitchFamily="34" charset="-120"/>
              </a:rPr>
              <a:t>Gram</a:t>
            </a:r>
            <a:endParaRPr lang="en-US" sz="1600" dirty="0"/>
          </a:p>
        </p:txBody>
      </p:sp>
      <p:pic>
        <p:nvPicPr>
          <p:cNvPr id="10" name="Image 1" descr="preencoded.png">    </p:cNvPr>
          <p:cNvPicPr>
            <a:picLocks noChangeAspect="1"/>
          </p:cNvPicPr>
          <p:nvPr/>
        </p:nvPicPr>
        <p:blipFill>
          <a:blip r:embed="rId2"/>
          <a:stretch>
            <a:fillRect/>
          </a:stretch>
        </p:blipFill>
        <p:spPr>
          <a:xfrm>
            <a:off x="914400" y="3063240"/>
            <a:ext cx="274320" cy="274320"/>
          </a:xfrm>
          <a:prstGeom prst="rect">
            <a:avLst/>
          </a:prstGeom>
        </p:spPr>
      </p:pic>
      <p:sp>
        <p:nvSpPr>
          <p:cNvPr id="11" name="Text 7"/>
          <p:cNvSpPr/>
          <p:nvPr/>
        </p:nvSpPr>
        <p:spPr>
          <a:xfrm>
            <a:off x="1325880" y="3017520"/>
            <a:ext cx="4572000" cy="365760"/>
          </a:xfrm>
          <a:prstGeom prst="rect">
            <a:avLst/>
          </a:prstGeom>
          <a:noFill/>
          <a:ln/>
        </p:spPr>
        <p:txBody>
          <a:bodyPr wrap="square" lIns="0" tIns="0" rIns="0" bIns="0" rtlCol="0" anchor="ctr"/>
          <a:lstStyle/>
          <a:p>
            <a:pPr indent="0" marL="0">
              <a:buNone/>
            </a:pPr>
            <a:r>
              <a:rPr lang="en-US" sz="1600" dirty="0">
                <a:solidFill>
                  <a:srgbClr val="1A2332"/>
                </a:solidFill>
                <a:latin typeface="Calibri" pitchFamily="34" charset="0"/>
                <a:ea typeface="Calibri" pitchFamily="34" charset="-122"/>
                <a:cs typeface="Calibri" pitchFamily="34" charset="-120"/>
              </a:rPr>
              <a:t>Kilogram</a:t>
            </a:r>
            <a:endParaRPr lang="en-US" sz="1600" dirty="0"/>
          </a:p>
        </p:txBody>
      </p:sp>
      <p:pic>
        <p:nvPicPr>
          <p:cNvPr id="12" name="Image 2" descr="preencoded.png">    </p:cNvPr>
          <p:cNvPicPr>
            <a:picLocks noChangeAspect="1"/>
          </p:cNvPicPr>
          <p:nvPr/>
        </p:nvPicPr>
        <p:blipFill>
          <a:blip r:embed="rId3"/>
          <a:stretch>
            <a:fillRect/>
          </a:stretch>
        </p:blipFill>
        <p:spPr>
          <a:xfrm>
            <a:off x="914400" y="3611880"/>
            <a:ext cx="274320" cy="274320"/>
          </a:xfrm>
          <a:prstGeom prst="rect">
            <a:avLst/>
          </a:prstGeom>
        </p:spPr>
      </p:pic>
      <p:sp>
        <p:nvSpPr>
          <p:cNvPr id="13" name="Text 8"/>
          <p:cNvSpPr/>
          <p:nvPr/>
        </p:nvSpPr>
        <p:spPr>
          <a:xfrm>
            <a:off x="1325880" y="3566160"/>
            <a:ext cx="4572000" cy="365760"/>
          </a:xfrm>
          <a:prstGeom prst="rect">
            <a:avLst/>
          </a:prstGeom>
          <a:noFill/>
          <a:ln/>
        </p:spPr>
        <p:txBody>
          <a:bodyPr wrap="square" lIns="0" tIns="0" rIns="0" bIns="0" rtlCol="0" anchor="ctr"/>
          <a:lstStyle/>
          <a:p>
            <a:pPr indent="0" marL="0">
              <a:buNone/>
            </a:pPr>
            <a:r>
              <a:rPr lang="en-US" sz="1600" dirty="0">
                <a:solidFill>
                  <a:srgbClr val="1A2332"/>
                </a:solidFill>
                <a:latin typeface="Calibri" pitchFamily="34" charset="0"/>
                <a:ea typeface="Calibri" pitchFamily="34" charset="-122"/>
                <a:cs typeface="Calibri" pitchFamily="34" charset="-120"/>
              </a:rPr>
              <a:t>Litre</a:t>
            </a:r>
            <a:endParaRPr lang="en-US" sz="1600" dirty="0"/>
          </a:p>
        </p:txBody>
      </p:sp>
      <p:pic>
        <p:nvPicPr>
          <p:cNvPr id="14" name="Image 3" descr="preencoded.png">    </p:cNvPr>
          <p:cNvPicPr>
            <a:picLocks noChangeAspect="1"/>
          </p:cNvPicPr>
          <p:nvPr/>
        </p:nvPicPr>
        <p:blipFill>
          <a:blip r:embed="rId4"/>
          <a:stretch>
            <a:fillRect/>
          </a:stretch>
        </p:blipFill>
        <p:spPr>
          <a:xfrm>
            <a:off x="914400" y="4160520"/>
            <a:ext cx="274320" cy="274320"/>
          </a:xfrm>
          <a:prstGeom prst="rect">
            <a:avLst/>
          </a:prstGeom>
        </p:spPr>
      </p:pic>
      <p:sp>
        <p:nvSpPr>
          <p:cNvPr id="15" name="Text 9"/>
          <p:cNvSpPr/>
          <p:nvPr/>
        </p:nvSpPr>
        <p:spPr>
          <a:xfrm>
            <a:off x="1325880" y="4114800"/>
            <a:ext cx="4572000" cy="365760"/>
          </a:xfrm>
          <a:prstGeom prst="rect">
            <a:avLst/>
          </a:prstGeom>
          <a:noFill/>
          <a:ln/>
        </p:spPr>
        <p:txBody>
          <a:bodyPr wrap="square" lIns="0" tIns="0" rIns="0" bIns="0" rtlCol="0" anchor="ctr"/>
          <a:lstStyle/>
          <a:p>
            <a:pPr indent="0" marL="0">
              <a:buNone/>
            </a:pPr>
            <a:r>
              <a:rPr lang="en-US" sz="1600" dirty="0">
                <a:solidFill>
                  <a:srgbClr val="1A2332"/>
                </a:solidFill>
                <a:latin typeface="Calibri" pitchFamily="34" charset="0"/>
                <a:ea typeface="Calibri" pitchFamily="34" charset="-122"/>
                <a:cs typeface="Calibri" pitchFamily="34" charset="-120"/>
              </a:rPr>
              <a:t>Millilitre</a:t>
            </a:r>
            <a:endParaRPr lang="en-US" sz="1600" dirty="0"/>
          </a:p>
        </p:txBody>
      </p:sp>
      <p:sp>
        <p:nvSpPr>
          <p:cNvPr id="16" name="Shape 10"/>
          <p:cNvSpPr/>
          <p:nvPr/>
        </p:nvSpPr>
        <p:spPr>
          <a:xfrm>
            <a:off x="6263640" y="1691640"/>
            <a:ext cx="5394960" cy="3291840"/>
          </a:xfrm>
          <a:prstGeom prst="rect">
            <a:avLst/>
          </a:prstGeom>
          <a:solidFill>
            <a:srgbClr val="FFFFFF"/>
          </a:solidFill>
          <a:ln w="9525">
            <a:solidFill>
              <a:srgbClr val="E2E8F0"/>
            </a:solidFill>
            <a:prstDash val="solid"/>
          </a:ln>
        </p:spPr>
      </p:sp>
      <p:sp>
        <p:nvSpPr>
          <p:cNvPr id="17" name="Shape 11"/>
          <p:cNvSpPr/>
          <p:nvPr/>
        </p:nvSpPr>
        <p:spPr>
          <a:xfrm>
            <a:off x="6263640" y="1691640"/>
            <a:ext cx="5394960" cy="502920"/>
          </a:xfrm>
          <a:prstGeom prst="rect">
            <a:avLst/>
          </a:prstGeom>
          <a:solidFill>
            <a:srgbClr val="D6422E"/>
          </a:solidFill>
          <a:ln w="12700">
            <a:solidFill>
              <a:srgbClr val="D6422E"/>
            </a:solidFill>
            <a:prstDash val="solid"/>
          </a:ln>
        </p:spPr>
      </p:sp>
      <p:sp>
        <p:nvSpPr>
          <p:cNvPr id="18" name="Text 12"/>
          <p:cNvSpPr/>
          <p:nvPr/>
        </p:nvSpPr>
        <p:spPr>
          <a:xfrm>
            <a:off x="6492240" y="1755648"/>
            <a:ext cx="502920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Not accepted by ONDC</a:t>
            </a:r>
            <a:endParaRPr lang="en-US" sz="1500" dirty="0"/>
          </a:p>
        </p:txBody>
      </p:sp>
      <p:sp>
        <p:nvSpPr>
          <p:cNvPr id="19" name="Text 13"/>
          <p:cNvSpPr/>
          <p:nvPr/>
        </p:nvSpPr>
        <p:spPr>
          <a:xfrm>
            <a:off x="6629400" y="2468880"/>
            <a:ext cx="365760" cy="365760"/>
          </a:xfrm>
          <a:prstGeom prst="rect">
            <a:avLst/>
          </a:prstGeom>
          <a:noFill/>
          <a:ln/>
        </p:spPr>
        <p:txBody>
          <a:bodyPr wrap="square" lIns="0" tIns="0" rIns="0" bIns="0" rtlCol="0" anchor="ctr"/>
          <a:lstStyle/>
          <a:p>
            <a:pPr indent="0" marL="0">
              <a:buNone/>
            </a:pPr>
            <a:r>
              <a:rPr lang="en-US" sz="2200" b="1" dirty="0">
                <a:solidFill>
                  <a:srgbClr val="D6422E"/>
                </a:solidFill>
                <a:latin typeface="Calibri" pitchFamily="34" charset="0"/>
                <a:ea typeface="Calibri" pitchFamily="34" charset="-122"/>
                <a:cs typeface="Calibri" pitchFamily="34" charset="-120"/>
              </a:rPr>
              <a:t>✕</a:t>
            </a:r>
            <a:endParaRPr lang="en-US" sz="2200" dirty="0"/>
          </a:p>
        </p:txBody>
      </p:sp>
      <p:sp>
        <p:nvSpPr>
          <p:cNvPr id="20" name="Text 14"/>
          <p:cNvSpPr/>
          <p:nvPr/>
        </p:nvSpPr>
        <p:spPr>
          <a:xfrm>
            <a:off x="7086600" y="2468880"/>
            <a:ext cx="4572000" cy="365760"/>
          </a:xfrm>
          <a:prstGeom prst="rect">
            <a:avLst/>
          </a:prstGeom>
          <a:noFill/>
          <a:ln/>
        </p:spPr>
        <p:txBody>
          <a:bodyPr wrap="square" lIns="0" tIns="0" rIns="0" bIns="0" rtlCol="0" anchor="ctr"/>
          <a:lstStyle/>
          <a:p>
            <a:pPr indent="0" marL="0">
              <a:buNone/>
            </a:pPr>
            <a:r>
              <a:rPr lang="en-US" sz="1600" dirty="0">
                <a:solidFill>
                  <a:srgbClr val="1A2332"/>
                </a:solidFill>
                <a:latin typeface="Calibri" pitchFamily="34" charset="0"/>
                <a:ea typeface="Calibri" pitchFamily="34" charset="-122"/>
                <a:cs typeface="Calibri" pitchFamily="34" charset="-120"/>
              </a:rPr>
              <a:t>Piece / Pcs</a:t>
            </a:r>
            <a:endParaRPr lang="en-US" sz="1600" dirty="0"/>
          </a:p>
        </p:txBody>
      </p:sp>
      <p:sp>
        <p:nvSpPr>
          <p:cNvPr id="21" name="Text 15"/>
          <p:cNvSpPr/>
          <p:nvPr/>
        </p:nvSpPr>
        <p:spPr>
          <a:xfrm>
            <a:off x="6629400" y="3063240"/>
            <a:ext cx="365760" cy="365760"/>
          </a:xfrm>
          <a:prstGeom prst="rect">
            <a:avLst/>
          </a:prstGeom>
          <a:noFill/>
          <a:ln/>
        </p:spPr>
        <p:txBody>
          <a:bodyPr wrap="square" lIns="0" tIns="0" rIns="0" bIns="0" rtlCol="0" anchor="ctr"/>
          <a:lstStyle/>
          <a:p>
            <a:pPr indent="0" marL="0">
              <a:buNone/>
            </a:pPr>
            <a:r>
              <a:rPr lang="en-US" sz="2200" b="1" dirty="0">
                <a:solidFill>
                  <a:srgbClr val="D6422E"/>
                </a:solidFill>
                <a:latin typeface="Calibri" pitchFamily="34" charset="0"/>
                <a:ea typeface="Calibri" pitchFamily="34" charset="-122"/>
                <a:cs typeface="Calibri" pitchFamily="34" charset="-120"/>
              </a:rPr>
              <a:t>✕</a:t>
            </a:r>
            <a:endParaRPr lang="en-US" sz="2200" dirty="0"/>
          </a:p>
        </p:txBody>
      </p:sp>
      <p:sp>
        <p:nvSpPr>
          <p:cNvPr id="22" name="Text 16"/>
          <p:cNvSpPr/>
          <p:nvPr/>
        </p:nvSpPr>
        <p:spPr>
          <a:xfrm>
            <a:off x="7086600" y="3063240"/>
            <a:ext cx="4572000" cy="365760"/>
          </a:xfrm>
          <a:prstGeom prst="rect">
            <a:avLst/>
          </a:prstGeom>
          <a:noFill/>
          <a:ln/>
        </p:spPr>
        <p:txBody>
          <a:bodyPr wrap="square" lIns="0" tIns="0" rIns="0" bIns="0" rtlCol="0" anchor="ctr"/>
          <a:lstStyle/>
          <a:p>
            <a:pPr indent="0" marL="0">
              <a:buNone/>
            </a:pPr>
            <a:r>
              <a:rPr lang="en-US" sz="1600" dirty="0">
                <a:solidFill>
                  <a:srgbClr val="1A2332"/>
                </a:solidFill>
                <a:latin typeface="Calibri" pitchFamily="34" charset="0"/>
                <a:ea typeface="Calibri" pitchFamily="34" charset="-122"/>
                <a:cs typeface="Calibri" pitchFamily="34" charset="-120"/>
              </a:rPr>
              <a:t>Pack</a:t>
            </a:r>
            <a:endParaRPr lang="en-US" sz="1600" dirty="0"/>
          </a:p>
        </p:txBody>
      </p:sp>
      <p:sp>
        <p:nvSpPr>
          <p:cNvPr id="23" name="Text 17"/>
          <p:cNvSpPr/>
          <p:nvPr/>
        </p:nvSpPr>
        <p:spPr>
          <a:xfrm>
            <a:off x="6629400" y="3657600"/>
            <a:ext cx="365760" cy="365760"/>
          </a:xfrm>
          <a:prstGeom prst="rect">
            <a:avLst/>
          </a:prstGeom>
          <a:noFill/>
          <a:ln/>
        </p:spPr>
        <p:txBody>
          <a:bodyPr wrap="square" lIns="0" tIns="0" rIns="0" bIns="0" rtlCol="0" anchor="ctr"/>
          <a:lstStyle/>
          <a:p>
            <a:pPr indent="0" marL="0">
              <a:buNone/>
            </a:pPr>
            <a:r>
              <a:rPr lang="en-US" sz="2200" b="1" dirty="0">
                <a:solidFill>
                  <a:srgbClr val="D6422E"/>
                </a:solidFill>
                <a:latin typeface="Calibri" pitchFamily="34" charset="0"/>
                <a:ea typeface="Calibri" pitchFamily="34" charset="-122"/>
                <a:cs typeface="Calibri" pitchFamily="34" charset="-120"/>
              </a:rPr>
              <a:t>✕</a:t>
            </a:r>
            <a:endParaRPr lang="en-US" sz="2200" dirty="0"/>
          </a:p>
        </p:txBody>
      </p:sp>
      <p:sp>
        <p:nvSpPr>
          <p:cNvPr id="24" name="Text 18"/>
          <p:cNvSpPr/>
          <p:nvPr/>
        </p:nvSpPr>
        <p:spPr>
          <a:xfrm>
            <a:off x="7086600" y="3657600"/>
            <a:ext cx="4572000" cy="365760"/>
          </a:xfrm>
          <a:prstGeom prst="rect">
            <a:avLst/>
          </a:prstGeom>
          <a:noFill/>
          <a:ln/>
        </p:spPr>
        <p:txBody>
          <a:bodyPr wrap="square" lIns="0" tIns="0" rIns="0" bIns="0" rtlCol="0" anchor="ctr"/>
          <a:lstStyle/>
          <a:p>
            <a:pPr indent="0" marL="0">
              <a:buNone/>
            </a:pPr>
            <a:r>
              <a:rPr lang="en-US" sz="1600" dirty="0">
                <a:solidFill>
                  <a:srgbClr val="1A2332"/>
                </a:solidFill>
                <a:latin typeface="Calibri" pitchFamily="34" charset="0"/>
                <a:ea typeface="Calibri" pitchFamily="34" charset="-122"/>
                <a:cs typeface="Calibri" pitchFamily="34" charset="-120"/>
              </a:rPr>
              <a:t>Nos</a:t>
            </a:r>
            <a:endParaRPr lang="en-US" sz="1600" dirty="0"/>
          </a:p>
        </p:txBody>
      </p:sp>
      <p:sp>
        <p:nvSpPr>
          <p:cNvPr id="25" name="Text 19"/>
          <p:cNvSpPr/>
          <p:nvPr/>
        </p:nvSpPr>
        <p:spPr>
          <a:xfrm>
            <a:off x="6492240" y="4297680"/>
            <a:ext cx="4937760" cy="502920"/>
          </a:xfrm>
          <a:prstGeom prst="rect">
            <a:avLst/>
          </a:prstGeom>
          <a:noFill/>
          <a:ln/>
        </p:spPr>
        <p:txBody>
          <a:bodyPr wrap="square" lIns="0" tIns="0" rIns="0" bIns="0" rtlCol="0" anchor="ctr"/>
          <a:lstStyle/>
          <a:p>
            <a:pPr indent="0" marL="0">
              <a:buNone/>
            </a:pPr>
            <a:r>
              <a:rPr lang="en-US" sz="1100" i="1" dirty="0">
                <a:solidFill>
                  <a:srgbClr val="5A6776"/>
                </a:solidFill>
                <a:latin typeface="Calibri" pitchFamily="34" charset="0"/>
                <a:ea typeface="Calibri" pitchFamily="34" charset="-122"/>
                <a:cs typeface="Calibri" pitchFamily="34" charset="-120"/>
              </a:rPr>
              <a:t>Workaround: use Gram as a temporary unit. Limitation is under review.</a:t>
            </a:r>
            <a:endParaRPr lang="en-US" sz="1100" dirty="0"/>
          </a:p>
        </p:txBody>
      </p:sp>
      <p:sp>
        <p:nvSpPr>
          <p:cNvPr id="26" name="Shape 20"/>
          <p:cNvSpPr/>
          <p:nvPr/>
        </p:nvSpPr>
        <p:spPr>
          <a:xfrm>
            <a:off x="548640" y="5120640"/>
            <a:ext cx="11109960" cy="1234440"/>
          </a:xfrm>
          <a:prstGeom prst="rect">
            <a:avLst/>
          </a:prstGeom>
          <a:solidFill>
            <a:srgbClr val="FFF6EC"/>
          </a:solidFill>
          <a:ln w="12700">
            <a:solidFill>
              <a:srgbClr val="F26B38"/>
            </a:solidFill>
            <a:prstDash val="solid"/>
          </a:ln>
        </p:spPr>
      </p:sp>
      <p:sp>
        <p:nvSpPr>
          <p:cNvPr id="27" name="Shape 21"/>
          <p:cNvSpPr/>
          <p:nvPr/>
        </p:nvSpPr>
        <p:spPr>
          <a:xfrm>
            <a:off x="548640" y="5120640"/>
            <a:ext cx="73152" cy="1234440"/>
          </a:xfrm>
          <a:prstGeom prst="rect">
            <a:avLst/>
          </a:prstGeom>
          <a:solidFill>
            <a:srgbClr val="F26B38"/>
          </a:solidFill>
          <a:ln w="12700">
            <a:solidFill>
              <a:srgbClr val="F26B38"/>
            </a:solidFill>
            <a:prstDash val="solid"/>
          </a:ln>
        </p:spPr>
      </p:sp>
      <p:sp>
        <p:nvSpPr>
          <p:cNvPr id="28" name="Text 22"/>
          <p:cNvSpPr/>
          <p:nvPr/>
        </p:nvSpPr>
        <p:spPr>
          <a:xfrm>
            <a:off x="777240" y="5230368"/>
            <a:ext cx="10789920" cy="292608"/>
          </a:xfrm>
          <a:prstGeom prst="rect">
            <a:avLst/>
          </a:prstGeom>
          <a:noFill/>
          <a:ln/>
        </p:spPr>
        <p:txBody>
          <a:bodyPr wrap="square" lIns="0" tIns="0" rIns="0" bIns="0" rtlCol="0" anchor="ctr"/>
          <a:lstStyle/>
          <a:p>
            <a:pPr indent="0" marL="0">
              <a:buNone/>
            </a:pPr>
            <a:r>
              <a:rPr lang="en-US" sz="1200" b="1" spc="100" kern="0" dirty="0">
                <a:solidFill>
                  <a:srgbClr val="C84A1F"/>
                </a:solidFill>
                <a:latin typeface="Calibri" pitchFamily="34" charset="0"/>
                <a:ea typeface="Calibri" pitchFamily="34" charset="-122"/>
                <a:cs typeface="Calibri" pitchFamily="34" charset="-120"/>
              </a:rPr>
              <a:t>Why this restriction exists</a:t>
            </a:r>
            <a:endParaRPr lang="en-US" sz="1200" dirty="0"/>
          </a:p>
        </p:txBody>
      </p:sp>
      <p:sp>
        <p:nvSpPr>
          <p:cNvPr id="29" name="Text 23"/>
          <p:cNvSpPr/>
          <p:nvPr/>
        </p:nvSpPr>
        <p:spPr>
          <a:xfrm>
            <a:off x="777240" y="5532120"/>
            <a:ext cx="10789920" cy="731520"/>
          </a:xfrm>
          <a:prstGeom prst="rect">
            <a:avLst/>
          </a:prstGeom>
          <a:noFill/>
          <a:ln/>
        </p:spPr>
        <p:txBody>
          <a:bodyPr wrap="square" lIns="0" tIns="0" rIns="0" bIns="0" rtlCol="0" anchor="ctr"/>
          <a:lstStyle/>
          <a:p>
            <a:pPr indent="0" marL="0">
              <a:spcAft>
                <a:spcPts val="300"/>
              </a:spcAft>
              <a:buNone/>
            </a:pPr>
            <a:r>
              <a:rPr lang="en-US" sz="1200" dirty="0">
                <a:solidFill>
                  <a:srgbClr val="1A2332"/>
                </a:solidFill>
                <a:latin typeface="Calibri" pitchFamily="34" charset="0"/>
                <a:ea typeface="Calibri" pitchFamily="34" charset="-122"/>
                <a:cs typeface="Calibri" pitchFamily="34" charset="-120"/>
              </a:rPr>
              <a:t>The ONDC protocol — the open network that connects sellers to buyer apps — only accepts these 4 weight/volume units. Any other unit causes the SKU to be rejected at the marketplace layer, even if the seller portal accepts the upload.</a:t>
            </a:r>
            <a:endParaRPr lang="en-US" sz="1200" dirty="0"/>
          </a:p>
        </p:txBody>
      </p:sp>
      <p:sp>
        <p:nvSpPr>
          <p:cNvPr id="30" name="Shape 24"/>
          <p:cNvSpPr/>
          <p:nvPr/>
        </p:nvSpPr>
        <p:spPr>
          <a:xfrm>
            <a:off x="0" y="6565392"/>
            <a:ext cx="12191695" cy="292608"/>
          </a:xfrm>
          <a:prstGeom prst="rect">
            <a:avLst/>
          </a:prstGeom>
          <a:solidFill>
            <a:srgbClr val="0F2742"/>
          </a:solidFill>
          <a:ln w="12700">
            <a:solidFill>
              <a:srgbClr val="0F2742"/>
            </a:solidFill>
            <a:prstDash val="solid"/>
          </a:ln>
        </p:spPr>
      </p:sp>
      <p:sp>
        <p:nvSpPr>
          <p:cNvPr id="31" name="Text 25"/>
          <p:cNvSpPr/>
          <p:nvPr/>
        </p:nvSpPr>
        <p:spPr>
          <a:xfrm>
            <a:off x="457200" y="6583680"/>
            <a:ext cx="731520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Qwipo Seller Store · Seller Training Guide · v1.1 · Internal Use</a:t>
            </a:r>
            <a:endParaRPr lang="en-US" sz="900" dirty="0"/>
          </a:p>
        </p:txBody>
      </p:sp>
      <p:sp>
        <p:nvSpPr>
          <p:cNvPr id="32" name="Text 26"/>
          <p:cNvSpPr/>
          <p:nvPr/>
        </p:nvSpPr>
        <p:spPr>
          <a:xfrm>
            <a:off x="10820095" y="6583680"/>
            <a:ext cx="914400" cy="256032"/>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12 / 33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2742"/>
          </a:solidFill>
          <a:ln w="12700">
            <a:solidFill>
              <a:srgbClr val="0F2742"/>
            </a:solidFill>
            <a:prstDash val="solid"/>
          </a:ln>
        </p:spPr>
      </p:sp>
      <p:sp>
        <p:nvSpPr>
          <p:cNvPr id="3" name="Text 1"/>
          <p:cNvSpPr/>
          <p:nvPr/>
        </p:nvSpPr>
        <p:spPr>
          <a:xfrm>
            <a:off x="640080" y="320040"/>
            <a:ext cx="10058400" cy="320040"/>
          </a:xfrm>
          <a:prstGeom prst="rect">
            <a:avLst/>
          </a:prstGeom>
          <a:noFill/>
          <a:ln/>
        </p:spPr>
        <p:txBody>
          <a:bodyPr wrap="square" rtlCol="0" anchor="ctr"/>
          <a:lstStyle/>
          <a:p>
            <a:pPr indent="0" marL="0">
              <a:buNone/>
            </a:pPr>
            <a:r>
              <a:rPr lang="en-US" sz="1100" b="1" spc="400" kern="0" dirty="0">
                <a:solidFill>
                  <a:srgbClr val="F26B38"/>
                </a:solidFill>
                <a:latin typeface="Calibri" pitchFamily="34" charset="0"/>
                <a:ea typeface="Calibri" pitchFamily="34" charset="-122"/>
                <a:cs typeface="Calibri" pitchFamily="34" charset="-120"/>
              </a:rPr>
              <a:t>MY SKU · STEP 2 — CRITICAL</a:t>
            </a:r>
            <a:endParaRPr lang="en-US" sz="1100" dirty="0"/>
          </a:p>
        </p:txBody>
      </p:sp>
      <p:sp>
        <p:nvSpPr>
          <p:cNvPr id="4" name="Text 2"/>
          <p:cNvSpPr/>
          <p:nvPr/>
        </p:nvSpPr>
        <p:spPr>
          <a:xfrm>
            <a:off x="640080" y="594360"/>
            <a:ext cx="10789920" cy="777240"/>
          </a:xfrm>
          <a:prstGeom prst="rect">
            <a:avLst/>
          </a:prstGeom>
          <a:noFill/>
          <a:ln/>
        </p:spPr>
        <p:txBody>
          <a:bodyPr wrap="square" lIns="0" tIns="0" rIns="0" bIns="0" rtlCol="0" anchor="ctr"/>
          <a:lstStyle/>
          <a:p>
            <a:pPr indent="0" marL="0">
              <a:buNone/>
            </a:pPr>
            <a:r>
              <a:rPr lang="en-US" sz="3000" b="1" dirty="0">
                <a:solidFill>
                  <a:srgbClr val="0F2742"/>
                </a:solidFill>
                <a:latin typeface="Calibri" pitchFamily="34" charset="0"/>
                <a:ea typeface="Calibri" pitchFamily="34" charset="-122"/>
                <a:cs typeface="Calibri" pitchFamily="34" charset="-120"/>
              </a:rPr>
              <a:t>Manufacturer name must exactly match the Company</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109960" cy="914400"/>
        </p:xfrm>
        <a:graphic>
          <a:graphicData uri="http://schemas.openxmlformats.org/drawingml/2006/table">
            <a:tbl>
              <a:tblPr/>
              <a:tblGrid>
                <a:gridCol w="5550408"/>
                <a:gridCol w="5559552"/>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Saved in system (Company)</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74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Will fail upload (Manufacturer in file)</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742"/>
                    </a:solidFill>
                  </a:tcPr>
                </a:tc>
              </a:tr>
              <a:tr h="457200">
                <a:tc>
                  <a:txBody>
                    <a:bodyPr/>
                    <a:lstStyle/>
                    <a:p>
                      <a:pPr indent="0" marL="0">
                        <a:buNone/>
                      </a:pPr>
                      <a:r>
                        <a:rPr lang="en-US" sz="1200" b="1" dirty="0">
                          <a:solidFill>
                            <a:srgbClr val="1F8A4C"/>
                          </a:solidFill>
                          <a:latin typeface="Calibri" pitchFamily="34" charset="0"/>
                          <a:ea typeface="Calibri" pitchFamily="34" charset="-122"/>
                          <a:cs typeface="Calibri" pitchFamily="34" charset="-120"/>
                        </a:rPr>
                        <a:t>GRB DAIRY FOODS PVTLTD</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D6422E"/>
                          </a:solidFill>
                          <a:latin typeface="Calibri" pitchFamily="34" charset="0"/>
                          <a:ea typeface="Calibri" pitchFamily="34" charset="-122"/>
                          <a:cs typeface="Calibri" pitchFamily="34" charset="-120"/>
                        </a:rPr>
                        <a:t>GRB DAIRY FOODS PVT.LTD.</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F8A4C"/>
                          </a:solidFill>
                          <a:latin typeface="Calibri" pitchFamily="34" charset="0"/>
                          <a:ea typeface="Calibri" pitchFamily="34" charset="-122"/>
                          <a:cs typeface="Calibri" pitchFamily="34" charset="-120"/>
                        </a:rPr>
                        <a:t>N Ranga Rao Sons Private Limited</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D6422E"/>
                          </a:solidFill>
                          <a:latin typeface="Calibri" pitchFamily="34" charset="0"/>
                          <a:ea typeface="Calibri" pitchFamily="34" charset="-122"/>
                          <a:cs typeface="Calibri" pitchFamily="34" charset="-120"/>
                        </a:rPr>
                        <a:t>N. Ranga Rao &amp; Sons Private Limited</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F8A4C"/>
                          </a:solidFill>
                          <a:latin typeface="Calibri" pitchFamily="34" charset="0"/>
                          <a:ea typeface="Calibri" pitchFamily="34" charset="-122"/>
                          <a:cs typeface="Calibri" pitchFamily="34" charset="-120"/>
                        </a:rPr>
                        <a:t>Raghav Lifestyle Products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D6422E"/>
                          </a:solidFill>
                          <a:latin typeface="Calibri" pitchFamily="34" charset="0"/>
                          <a:ea typeface="Calibri" pitchFamily="34" charset="-122"/>
                          <a:cs typeface="Calibri" pitchFamily="34" charset="-120"/>
                        </a:rPr>
                        <a:t>Raghav Lifestyle Products  (trailing space)</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3840480"/>
            <a:ext cx="11109960" cy="2468880"/>
          </a:xfrm>
          <a:prstGeom prst="rect">
            <a:avLst/>
          </a:prstGeom>
          <a:solidFill>
            <a:srgbClr val="FFF6EC"/>
          </a:solidFill>
          <a:ln w="12700">
            <a:solidFill>
              <a:srgbClr val="F26B38"/>
            </a:solidFill>
            <a:prstDash val="solid"/>
          </a:ln>
        </p:spPr>
      </p:sp>
      <p:sp>
        <p:nvSpPr>
          <p:cNvPr id="7" name="Shape 4"/>
          <p:cNvSpPr/>
          <p:nvPr/>
        </p:nvSpPr>
        <p:spPr>
          <a:xfrm>
            <a:off x="548640" y="3840480"/>
            <a:ext cx="73152" cy="2468880"/>
          </a:xfrm>
          <a:prstGeom prst="rect">
            <a:avLst/>
          </a:prstGeom>
          <a:solidFill>
            <a:srgbClr val="F26B38"/>
          </a:solidFill>
          <a:ln w="12700">
            <a:solidFill>
              <a:srgbClr val="F26B38"/>
            </a:solidFill>
            <a:prstDash val="solid"/>
          </a:ln>
        </p:spPr>
      </p:sp>
      <p:sp>
        <p:nvSpPr>
          <p:cNvPr id="8" name="Text 5"/>
          <p:cNvSpPr/>
          <p:nvPr/>
        </p:nvSpPr>
        <p:spPr>
          <a:xfrm>
            <a:off x="777240" y="3950208"/>
            <a:ext cx="10789920" cy="292608"/>
          </a:xfrm>
          <a:prstGeom prst="rect">
            <a:avLst/>
          </a:prstGeom>
          <a:noFill/>
          <a:ln/>
        </p:spPr>
        <p:txBody>
          <a:bodyPr wrap="square" lIns="0" tIns="0" rIns="0" bIns="0" rtlCol="0" anchor="ctr"/>
          <a:lstStyle/>
          <a:p>
            <a:pPr indent="0" marL="0">
              <a:buNone/>
            </a:pPr>
            <a:r>
              <a:rPr lang="en-US" sz="1200" b="1" spc="100" kern="0" dirty="0">
                <a:solidFill>
                  <a:srgbClr val="C84A1F"/>
                </a:solidFill>
                <a:latin typeface="Calibri" pitchFamily="34" charset="0"/>
                <a:ea typeface="Calibri" pitchFamily="34" charset="-122"/>
                <a:cs typeface="Calibri" pitchFamily="34" charset="-120"/>
              </a:rPr>
              <a:t>Why even a dot or space matters</a:t>
            </a:r>
            <a:endParaRPr lang="en-US" sz="1200" dirty="0"/>
          </a:p>
        </p:txBody>
      </p:sp>
      <p:sp>
        <p:nvSpPr>
          <p:cNvPr id="9" name="Text 6"/>
          <p:cNvSpPr/>
          <p:nvPr/>
        </p:nvSpPr>
        <p:spPr>
          <a:xfrm>
            <a:off x="777240" y="4251960"/>
            <a:ext cx="10789920" cy="1965960"/>
          </a:xfrm>
          <a:prstGeom prst="rect">
            <a:avLst/>
          </a:prstGeom>
          <a:noFill/>
          <a:ln/>
        </p:spPr>
        <p:txBody>
          <a:bodyPr wrap="square" lIns="0" tIns="0" rIns="0" bIns="0" rtlCol="0" anchor="ctr"/>
          <a:lstStyle/>
          <a:p>
            <a:pPr indent="0" marL="0">
              <a:spcAft>
                <a:spcPts val="300"/>
              </a:spcAft>
              <a:buNone/>
            </a:pPr>
            <a:r>
              <a:rPr lang="en-US" sz="1200" dirty="0">
                <a:solidFill>
                  <a:srgbClr val="1A2332"/>
                </a:solidFill>
                <a:latin typeface="Calibri" pitchFamily="34" charset="0"/>
                <a:ea typeface="Calibri" pitchFamily="34" charset="-122"/>
                <a:cs typeface="Calibri" pitchFamily="34" charset="-120"/>
              </a:rPr>
              <a:t>The Manufacturer column is matched character-by-character against the Company list created by the Super Admin. There is no fuzzy matching — that's intentional. If 'GRB DAIRY FOODS PVTLTD' were treated the same as 'GRB DAIRY FOODS PVT. LTD.', a buyer app could end up showing two separate company tiles for the same brand and routing orders to the wrong seller. Before uploading, confirm the exact Company name with your Super Admin and copy it as-is.</a:t>
            </a:r>
            <a:endParaRPr lang="en-US" sz="1200" dirty="0"/>
          </a:p>
        </p:txBody>
      </p:sp>
      <p:sp>
        <p:nvSpPr>
          <p:cNvPr id="10" name="Shape 7"/>
          <p:cNvSpPr/>
          <p:nvPr/>
        </p:nvSpPr>
        <p:spPr>
          <a:xfrm>
            <a:off x="0" y="6565392"/>
            <a:ext cx="12191695" cy="292608"/>
          </a:xfrm>
          <a:prstGeom prst="rect">
            <a:avLst/>
          </a:prstGeom>
          <a:solidFill>
            <a:srgbClr val="0F2742"/>
          </a:solidFill>
          <a:ln w="12700">
            <a:solidFill>
              <a:srgbClr val="0F2742"/>
            </a:solidFill>
            <a:prstDash val="solid"/>
          </a:ln>
        </p:spPr>
      </p:sp>
      <p:sp>
        <p:nvSpPr>
          <p:cNvPr id="11" name="Text 8"/>
          <p:cNvSpPr/>
          <p:nvPr/>
        </p:nvSpPr>
        <p:spPr>
          <a:xfrm>
            <a:off x="457200" y="6583680"/>
            <a:ext cx="731520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Qwipo Seller Store · Seller Training Guide · v1.1 · Internal Use</a:t>
            </a:r>
            <a:endParaRPr lang="en-US" sz="900" dirty="0"/>
          </a:p>
        </p:txBody>
      </p:sp>
      <p:sp>
        <p:nvSpPr>
          <p:cNvPr id="12" name="Text 9"/>
          <p:cNvSpPr/>
          <p:nvPr/>
        </p:nvSpPr>
        <p:spPr>
          <a:xfrm>
            <a:off x="10820095" y="6583680"/>
            <a:ext cx="914400" cy="256032"/>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13 / 33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2742"/>
          </a:solidFill>
          <a:ln w="12700">
            <a:solidFill>
              <a:srgbClr val="0F2742"/>
            </a:solidFill>
            <a:prstDash val="solid"/>
          </a:ln>
        </p:spPr>
      </p:sp>
      <p:sp>
        <p:nvSpPr>
          <p:cNvPr id="3" name="Text 1"/>
          <p:cNvSpPr/>
          <p:nvPr/>
        </p:nvSpPr>
        <p:spPr>
          <a:xfrm>
            <a:off x="640080" y="320040"/>
            <a:ext cx="10058400" cy="320040"/>
          </a:xfrm>
          <a:prstGeom prst="rect">
            <a:avLst/>
          </a:prstGeom>
          <a:noFill/>
          <a:ln/>
        </p:spPr>
        <p:txBody>
          <a:bodyPr wrap="square" rtlCol="0" anchor="ctr"/>
          <a:lstStyle/>
          <a:p>
            <a:pPr indent="0" marL="0">
              <a:buNone/>
            </a:pPr>
            <a:r>
              <a:rPr lang="en-US" sz="1100" b="1" spc="400" kern="0" dirty="0">
                <a:solidFill>
                  <a:srgbClr val="F26B38"/>
                </a:solidFill>
                <a:latin typeface="Calibri" pitchFamily="34" charset="0"/>
                <a:ea typeface="Calibri" pitchFamily="34" charset="-122"/>
                <a:cs typeface="Calibri" pitchFamily="34" charset="-120"/>
              </a:rPr>
              <a:t>MY SKU · STEP 3</a:t>
            </a:r>
            <a:endParaRPr lang="en-US" sz="1100" dirty="0"/>
          </a:p>
        </p:txBody>
      </p:sp>
      <p:sp>
        <p:nvSpPr>
          <p:cNvPr id="4" name="Text 2"/>
          <p:cNvSpPr/>
          <p:nvPr/>
        </p:nvSpPr>
        <p:spPr>
          <a:xfrm>
            <a:off x="640080" y="594360"/>
            <a:ext cx="10789920" cy="777240"/>
          </a:xfrm>
          <a:prstGeom prst="rect">
            <a:avLst/>
          </a:prstGeom>
          <a:noFill/>
          <a:ln/>
        </p:spPr>
        <p:txBody>
          <a:bodyPr wrap="square" lIns="0" tIns="0" rIns="0" bIns="0" rtlCol="0" anchor="ctr"/>
          <a:lstStyle/>
          <a:p>
            <a:pPr indent="0" marL="0">
              <a:buNone/>
            </a:pPr>
            <a:r>
              <a:rPr lang="en-US" sz="3000" b="1" dirty="0">
                <a:solidFill>
                  <a:srgbClr val="0F2742"/>
                </a:solidFill>
                <a:latin typeface="Calibri" pitchFamily="34" charset="0"/>
                <a:ea typeface="Calibri" pitchFamily="34" charset="-122"/>
                <a:cs typeface="Calibri" pitchFamily="34" charset="-120"/>
              </a:rPr>
              <a:t>Upload the prepared file</a:t>
            </a:r>
            <a:endParaRPr lang="en-US" sz="3000" dirty="0"/>
          </a:p>
        </p:txBody>
      </p:sp>
      <p:sp>
        <p:nvSpPr>
          <p:cNvPr id="5" name="Shape 3"/>
          <p:cNvSpPr/>
          <p:nvPr/>
        </p:nvSpPr>
        <p:spPr>
          <a:xfrm>
            <a:off x="548640" y="1691640"/>
            <a:ext cx="5486400" cy="402336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6000"/>
              </a:srgbClr>
            </a:outerShdw>
          </a:effectLst>
        </p:spPr>
      </p:sp>
      <p:sp>
        <p:nvSpPr>
          <p:cNvPr id="6" name="Shape 4"/>
          <p:cNvSpPr/>
          <p:nvPr/>
        </p:nvSpPr>
        <p:spPr>
          <a:xfrm>
            <a:off x="548640" y="1691640"/>
            <a:ext cx="73152" cy="4023360"/>
          </a:xfrm>
          <a:prstGeom prst="rect">
            <a:avLst/>
          </a:prstGeom>
          <a:solidFill>
            <a:srgbClr val="F26B38"/>
          </a:solidFill>
          <a:ln w="12700">
            <a:solidFill>
              <a:srgbClr val="F26B38"/>
            </a:solidFill>
            <a:prstDash val="solid"/>
          </a:ln>
        </p:spPr>
      </p:sp>
      <p:sp>
        <p:nvSpPr>
          <p:cNvPr id="7" name="Text 5"/>
          <p:cNvSpPr/>
          <p:nvPr/>
        </p:nvSpPr>
        <p:spPr>
          <a:xfrm>
            <a:off x="777240" y="1856232"/>
            <a:ext cx="5166360" cy="365760"/>
          </a:xfrm>
          <a:prstGeom prst="rect">
            <a:avLst/>
          </a:prstGeom>
          <a:noFill/>
          <a:ln/>
        </p:spPr>
        <p:txBody>
          <a:bodyPr wrap="square" lIns="0" tIns="0" rIns="0" bIns="0" rtlCol="0" anchor="ctr"/>
          <a:lstStyle/>
          <a:p>
            <a:pPr indent="0" marL="0">
              <a:buNone/>
            </a:pPr>
            <a:r>
              <a:rPr lang="en-US" sz="1500" b="1" dirty="0">
                <a:solidFill>
                  <a:srgbClr val="0F2742"/>
                </a:solidFill>
                <a:latin typeface="Calibri" pitchFamily="34" charset="0"/>
                <a:ea typeface="Calibri" pitchFamily="34" charset="-122"/>
                <a:cs typeface="Calibri" pitchFamily="34" charset="-120"/>
              </a:rPr>
              <a:t>Upload flow</a:t>
            </a:r>
            <a:endParaRPr lang="en-US" sz="1500" dirty="0"/>
          </a:p>
        </p:txBody>
      </p:sp>
      <p:sp>
        <p:nvSpPr>
          <p:cNvPr id="8" name="Text 6"/>
          <p:cNvSpPr/>
          <p:nvPr/>
        </p:nvSpPr>
        <p:spPr>
          <a:xfrm>
            <a:off x="777240" y="2286000"/>
            <a:ext cx="5120640" cy="3291840"/>
          </a:xfrm>
          <a:prstGeom prst="rect">
            <a:avLst/>
          </a:prstGeom>
          <a:noFill/>
          <a:ln/>
        </p:spPr>
        <p:txBody>
          <a:bodyPr wrap="square" rtlCol="0" anchor="t"/>
          <a:lstStyle/>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Go to My SKU → Bulk Import</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Click Add SKU — Bulk Import</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Upload your prepared .xlsx file</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System runs Import Validation automatically</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Wait for the validation summary screen</a:t>
            </a:r>
            <a:endParaRPr lang="en-US" sz="1150" dirty="0"/>
          </a:p>
        </p:txBody>
      </p:sp>
      <p:sp>
        <p:nvSpPr>
          <p:cNvPr id="9" name="Shape 7"/>
          <p:cNvSpPr/>
          <p:nvPr/>
        </p:nvSpPr>
        <p:spPr>
          <a:xfrm>
            <a:off x="6263640" y="1691640"/>
            <a:ext cx="5394960" cy="402336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6000"/>
              </a:srgbClr>
            </a:outerShdw>
          </a:effectLst>
        </p:spPr>
      </p:sp>
      <p:sp>
        <p:nvSpPr>
          <p:cNvPr id="10" name="Shape 8"/>
          <p:cNvSpPr/>
          <p:nvPr/>
        </p:nvSpPr>
        <p:spPr>
          <a:xfrm>
            <a:off x="6263640" y="1691640"/>
            <a:ext cx="73152" cy="4023360"/>
          </a:xfrm>
          <a:prstGeom prst="rect">
            <a:avLst/>
          </a:prstGeom>
          <a:solidFill>
            <a:srgbClr val="0F2742"/>
          </a:solidFill>
          <a:ln w="12700">
            <a:solidFill>
              <a:srgbClr val="0F2742"/>
            </a:solidFill>
            <a:prstDash val="solid"/>
          </a:ln>
        </p:spPr>
      </p:sp>
      <p:sp>
        <p:nvSpPr>
          <p:cNvPr id="11" name="Text 9"/>
          <p:cNvSpPr/>
          <p:nvPr/>
        </p:nvSpPr>
        <p:spPr>
          <a:xfrm>
            <a:off x="6492240" y="1856232"/>
            <a:ext cx="5074920" cy="365760"/>
          </a:xfrm>
          <a:prstGeom prst="rect">
            <a:avLst/>
          </a:prstGeom>
          <a:noFill/>
          <a:ln/>
        </p:spPr>
        <p:txBody>
          <a:bodyPr wrap="square" lIns="0" tIns="0" rIns="0" bIns="0" rtlCol="0" anchor="ctr"/>
          <a:lstStyle/>
          <a:p>
            <a:pPr indent="0" marL="0">
              <a:buNone/>
            </a:pPr>
            <a:r>
              <a:rPr lang="en-US" sz="1500" b="1" dirty="0">
                <a:solidFill>
                  <a:srgbClr val="0F2742"/>
                </a:solidFill>
                <a:latin typeface="Calibri" pitchFamily="34" charset="0"/>
                <a:ea typeface="Calibri" pitchFamily="34" charset="-122"/>
                <a:cs typeface="Calibri" pitchFamily="34" charset="-120"/>
              </a:rPr>
              <a:t>What validation checks</a:t>
            </a:r>
            <a:endParaRPr lang="en-US" sz="1500" dirty="0"/>
          </a:p>
        </p:txBody>
      </p:sp>
      <p:sp>
        <p:nvSpPr>
          <p:cNvPr id="12" name="Text 10"/>
          <p:cNvSpPr/>
          <p:nvPr/>
        </p:nvSpPr>
        <p:spPr>
          <a:xfrm>
            <a:off x="6492240" y="2286000"/>
            <a:ext cx="5029200" cy="3291840"/>
          </a:xfrm>
          <a:prstGeom prst="rect">
            <a:avLst/>
          </a:prstGeom>
          <a:noFill/>
          <a:ln/>
        </p:spPr>
        <p:txBody>
          <a:bodyPr wrap="square" rtlCol="0" anchor="t"/>
          <a:lstStyle/>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Mandatory fields are populated</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Units are one of the 4 ONDC-accepted values</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Manufacturer exists as a Company in your account</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Brand exists and is mapped to your seller</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Description, quantity, time-to-ship ranges are valid</a:t>
            </a:r>
            <a:endParaRPr lang="en-US" sz="1150" dirty="0"/>
          </a:p>
        </p:txBody>
      </p:sp>
      <p:sp>
        <p:nvSpPr>
          <p:cNvPr id="13" name="Shape 11"/>
          <p:cNvSpPr/>
          <p:nvPr/>
        </p:nvSpPr>
        <p:spPr>
          <a:xfrm>
            <a:off x="548640" y="5806440"/>
            <a:ext cx="11109960" cy="594360"/>
          </a:xfrm>
          <a:prstGeom prst="rect">
            <a:avLst/>
          </a:prstGeom>
          <a:solidFill>
            <a:srgbClr val="FFF6EC"/>
          </a:solidFill>
          <a:ln w="12700">
            <a:solidFill>
              <a:srgbClr val="F26B38"/>
            </a:solidFill>
            <a:prstDash val="solid"/>
          </a:ln>
        </p:spPr>
      </p:sp>
      <p:sp>
        <p:nvSpPr>
          <p:cNvPr id="14" name="Shape 12"/>
          <p:cNvSpPr/>
          <p:nvPr/>
        </p:nvSpPr>
        <p:spPr>
          <a:xfrm>
            <a:off x="548640" y="5806440"/>
            <a:ext cx="73152" cy="594360"/>
          </a:xfrm>
          <a:prstGeom prst="rect">
            <a:avLst/>
          </a:prstGeom>
          <a:solidFill>
            <a:srgbClr val="F26B38"/>
          </a:solidFill>
          <a:ln w="12700">
            <a:solidFill>
              <a:srgbClr val="F26B38"/>
            </a:solidFill>
            <a:prstDash val="solid"/>
          </a:ln>
        </p:spPr>
      </p:sp>
      <p:sp>
        <p:nvSpPr>
          <p:cNvPr id="15" name="Text 13"/>
          <p:cNvSpPr/>
          <p:nvPr/>
        </p:nvSpPr>
        <p:spPr>
          <a:xfrm>
            <a:off x="777240" y="5806440"/>
            <a:ext cx="10789920" cy="594360"/>
          </a:xfrm>
          <a:prstGeom prst="rect">
            <a:avLst/>
          </a:prstGeom>
          <a:noFill/>
          <a:ln/>
        </p:spPr>
        <p:txBody>
          <a:bodyPr wrap="square" lIns="0" tIns="0" rIns="0" bIns="0" rtlCol="0" anchor="ctr"/>
          <a:lstStyle/>
          <a:p>
            <a:pPr indent="0" marL="0">
              <a:buNone/>
            </a:pPr>
            <a:r>
              <a:rPr lang="en-US" sz="1200" b="1" spc="100" kern="0" dirty="0">
                <a:solidFill>
                  <a:srgbClr val="C84A1F"/>
                </a:solidFill>
                <a:latin typeface="Calibri" pitchFamily="34" charset="0"/>
                <a:ea typeface="Calibri" pitchFamily="34" charset="-122"/>
                <a:cs typeface="Calibri" pitchFamily="34" charset="-120"/>
              </a:rPr>
              <a:t>Use the same file name each retry — easier to track</a:t>
            </a:r>
            <a:endParaRPr lang="en-US" sz="1200" dirty="0"/>
          </a:p>
        </p:txBody>
      </p:sp>
      <p:sp>
        <p:nvSpPr>
          <p:cNvPr id="16" name="Shape 14"/>
          <p:cNvSpPr/>
          <p:nvPr/>
        </p:nvSpPr>
        <p:spPr>
          <a:xfrm>
            <a:off x="0" y="6565392"/>
            <a:ext cx="12191695" cy="292608"/>
          </a:xfrm>
          <a:prstGeom prst="rect">
            <a:avLst/>
          </a:prstGeom>
          <a:solidFill>
            <a:srgbClr val="0F2742"/>
          </a:solidFill>
          <a:ln w="12700">
            <a:solidFill>
              <a:srgbClr val="0F2742"/>
            </a:solidFill>
            <a:prstDash val="solid"/>
          </a:ln>
        </p:spPr>
      </p:sp>
      <p:sp>
        <p:nvSpPr>
          <p:cNvPr id="17" name="Text 15"/>
          <p:cNvSpPr/>
          <p:nvPr/>
        </p:nvSpPr>
        <p:spPr>
          <a:xfrm>
            <a:off x="457200" y="6583680"/>
            <a:ext cx="731520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Qwipo Seller Store · Seller Training Guide · v1.1 · Internal Use</a:t>
            </a:r>
            <a:endParaRPr lang="en-US" sz="900" dirty="0"/>
          </a:p>
        </p:txBody>
      </p:sp>
      <p:sp>
        <p:nvSpPr>
          <p:cNvPr id="18" name="Text 16"/>
          <p:cNvSpPr/>
          <p:nvPr/>
        </p:nvSpPr>
        <p:spPr>
          <a:xfrm>
            <a:off x="10820095" y="6583680"/>
            <a:ext cx="914400" cy="256032"/>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14 / 33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2742"/>
          </a:solidFill>
          <a:ln w="12700">
            <a:solidFill>
              <a:srgbClr val="0F2742"/>
            </a:solidFill>
            <a:prstDash val="solid"/>
          </a:ln>
        </p:spPr>
      </p:sp>
      <p:sp>
        <p:nvSpPr>
          <p:cNvPr id="3" name="Text 1"/>
          <p:cNvSpPr/>
          <p:nvPr/>
        </p:nvSpPr>
        <p:spPr>
          <a:xfrm>
            <a:off x="640080" y="320040"/>
            <a:ext cx="10058400" cy="320040"/>
          </a:xfrm>
          <a:prstGeom prst="rect">
            <a:avLst/>
          </a:prstGeom>
          <a:noFill/>
          <a:ln/>
        </p:spPr>
        <p:txBody>
          <a:bodyPr wrap="square" rtlCol="0" anchor="ctr"/>
          <a:lstStyle/>
          <a:p>
            <a:pPr indent="0" marL="0">
              <a:buNone/>
            </a:pPr>
            <a:r>
              <a:rPr lang="en-US" sz="1100" b="1" spc="400" kern="0" dirty="0">
                <a:solidFill>
                  <a:srgbClr val="F26B38"/>
                </a:solidFill>
                <a:latin typeface="Calibri" pitchFamily="34" charset="0"/>
                <a:ea typeface="Calibri" pitchFamily="34" charset="-122"/>
                <a:cs typeface="Calibri" pitchFamily="34" charset="-120"/>
              </a:rPr>
              <a:t>MY SKU · STEP 4</a:t>
            </a:r>
            <a:endParaRPr lang="en-US" sz="1100" dirty="0"/>
          </a:p>
        </p:txBody>
      </p:sp>
      <p:sp>
        <p:nvSpPr>
          <p:cNvPr id="4" name="Text 2"/>
          <p:cNvSpPr/>
          <p:nvPr/>
        </p:nvSpPr>
        <p:spPr>
          <a:xfrm>
            <a:off x="640080" y="594360"/>
            <a:ext cx="10789920" cy="777240"/>
          </a:xfrm>
          <a:prstGeom prst="rect">
            <a:avLst/>
          </a:prstGeom>
          <a:noFill/>
          <a:ln/>
        </p:spPr>
        <p:txBody>
          <a:bodyPr wrap="square" lIns="0" tIns="0" rIns="0" bIns="0" rtlCol="0" anchor="ctr"/>
          <a:lstStyle/>
          <a:p>
            <a:pPr indent="0" marL="0">
              <a:buNone/>
            </a:pPr>
            <a:r>
              <a:rPr lang="en-US" sz="3000" b="1" dirty="0">
                <a:solidFill>
                  <a:srgbClr val="0F2742"/>
                </a:solidFill>
                <a:latin typeface="Calibri" pitchFamily="34" charset="0"/>
                <a:ea typeface="Calibri" pitchFamily="34" charset="-122"/>
                <a:cs typeface="Calibri" pitchFamily="34" charset="-120"/>
              </a:rPr>
              <a:t>Read the validation summary</a:t>
            </a:r>
            <a:endParaRPr lang="en-US" sz="3000" dirty="0"/>
          </a:p>
        </p:txBody>
      </p:sp>
      <p:sp>
        <p:nvSpPr>
          <p:cNvPr id="5" name="Shape 3"/>
          <p:cNvSpPr/>
          <p:nvPr/>
        </p:nvSpPr>
        <p:spPr>
          <a:xfrm>
            <a:off x="502920" y="1645920"/>
            <a:ext cx="6492240" cy="3429000"/>
          </a:xfrm>
          <a:prstGeom prst="rect">
            <a:avLst/>
          </a:prstGeom>
          <a:solidFill>
            <a:srgbClr val="FFFFFF"/>
          </a:solidFill>
          <a:ln w="9525">
            <a:solidFill>
              <a:srgbClr val="E2E8F0"/>
            </a:solidFill>
            <a:prstDash val="solid"/>
          </a:ln>
          <a:effectLst>
            <a:outerShdw sx="100000" sy="100000" kx="0" ky="0" algn="bl" rotWithShape="0" blurRad="152400" dist="38100" dir="5400000">
              <a:srgbClr val="000000">
                <a:alpha val="18000"/>
              </a:srgbClr>
            </a:outerShdw>
          </a:effectLst>
        </p:spPr>
      </p:sp>
      <p:pic>
        <p:nvPicPr>
          <p:cNvPr id="6" name="Image 0" descr="C:\Users\Lenovo\OneDrive - Xavica Primary\Desktop\Seller Store\.deck-qa\seller-img\image3.png">    </p:cNvPr>
          <p:cNvPicPr>
            <a:picLocks noChangeAspect="1"/>
          </p:cNvPicPr>
          <p:nvPr/>
        </p:nvPicPr>
        <p:blipFill>
          <a:blip r:embed="rId1"/>
          <a:srcRect l="0" r="0" t="0" b="0"/>
          <a:stretch/>
        </p:blipFill>
        <p:spPr>
          <a:xfrm>
            <a:off x="548640" y="1691640"/>
            <a:ext cx="6400800" cy="3337560"/>
          </a:xfrm>
          <a:prstGeom prst="rect">
            <a:avLst/>
          </a:prstGeom>
        </p:spPr>
      </p:pic>
      <p:sp>
        <p:nvSpPr>
          <p:cNvPr id="7" name="Shape 4"/>
          <p:cNvSpPr/>
          <p:nvPr/>
        </p:nvSpPr>
        <p:spPr>
          <a:xfrm>
            <a:off x="7178040" y="1691640"/>
            <a:ext cx="4526280" cy="960120"/>
          </a:xfrm>
          <a:prstGeom prst="rect">
            <a:avLst/>
          </a:prstGeom>
          <a:solidFill>
            <a:srgbClr val="FFFFFF"/>
          </a:solidFill>
          <a:ln w="7620">
            <a:solidFill>
              <a:srgbClr val="E2E8F0"/>
            </a:solidFill>
            <a:prstDash val="solid"/>
          </a:ln>
        </p:spPr>
      </p:sp>
      <p:sp>
        <p:nvSpPr>
          <p:cNvPr id="8" name="Shape 5"/>
          <p:cNvSpPr/>
          <p:nvPr/>
        </p:nvSpPr>
        <p:spPr>
          <a:xfrm>
            <a:off x="7178040" y="1691640"/>
            <a:ext cx="73152" cy="960120"/>
          </a:xfrm>
          <a:prstGeom prst="rect">
            <a:avLst/>
          </a:prstGeom>
          <a:solidFill>
            <a:srgbClr val="0F2742"/>
          </a:solidFill>
          <a:ln w="12700">
            <a:solidFill>
              <a:srgbClr val="0F2742"/>
            </a:solidFill>
            <a:prstDash val="solid"/>
          </a:ln>
        </p:spPr>
      </p:sp>
      <p:sp>
        <p:nvSpPr>
          <p:cNvPr id="9" name="Text 6"/>
          <p:cNvSpPr/>
          <p:nvPr/>
        </p:nvSpPr>
        <p:spPr>
          <a:xfrm>
            <a:off x="7360920" y="1783080"/>
            <a:ext cx="4114800" cy="274320"/>
          </a:xfrm>
          <a:prstGeom prst="rect">
            <a:avLst/>
          </a:prstGeom>
          <a:noFill/>
          <a:ln/>
        </p:spPr>
        <p:txBody>
          <a:bodyPr wrap="square" lIns="0" tIns="0" rIns="0" bIns="0" rtlCol="0" anchor="ctr"/>
          <a:lstStyle/>
          <a:p>
            <a:pPr indent="0" marL="0">
              <a:buNone/>
            </a:pPr>
            <a:r>
              <a:rPr lang="en-US" sz="1100" b="1" dirty="0">
                <a:solidFill>
                  <a:srgbClr val="0F2742"/>
                </a:solidFill>
                <a:latin typeface="Calibri" pitchFamily="34" charset="0"/>
                <a:ea typeface="Calibri" pitchFamily="34" charset="-122"/>
                <a:cs typeface="Calibri" pitchFamily="34" charset="-120"/>
              </a:rPr>
              <a:t>Total Records</a:t>
            </a:r>
            <a:endParaRPr lang="en-US" sz="1100" dirty="0"/>
          </a:p>
        </p:txBody>
      </p:sp>
      <p:sp>
        <p:nvSpPr>
          <p:cNvPr id="10" name="Text 7"/>
          <p:cNvSpPr/>
          <p:nvPr/>
        </p:nvSpPr>
        <p:spPr>
          <a:xfrm>
            <a:off x="7360920" y="2103120"/>
            <a:ext cx="4114800" cy="502920"/>
          </a:xfrm>
          <a:prstGeom prst="rect">
            <a:avLst/>
          </a:prstGeom>
          <a:noFill/>
          <a:ln/>
        </p:spPr>
        <p:txBody>
          <a:bodyPr wrap="square" lIns="0" tIns="0" rIns="0" bIns="0" rtlCol="0" anchor="ctr"/>
          <a:lstStyle/>
          <a:p>
            <a:pPr indent="0" marL="0">
              <a:buNone/>
            </a:pPr>
            <a:r>
              <a:rPr lang="en-US" sz="1150" dirty="0">
                <a:solidFill>
                  <a:srgbClr val="1A2332"/>
                </a:solidFill>
                <a:latin typeface="Calibri" pitchFamily="34" charset="0"/>
                <a:ea typeface="Calibri" pitchFamily="34" charset="-122"/>
                <a:cs typeface="Calibri" pitchFamily="34" charset="-120"/>
              </a:rPr>
              <a:t>All rows in your file</a:t>
            </a:r>
            <a:endParaRPr lang="en-US" sz="1150" dirty="0"/>
          </a:p>
        </p:txBody>
      </p:sp>
      <p:sp>
        <p:nvSpPr>
          <p:cNvPr id="11" name="Shape 8"/>
          <p:cNvSpPr/>
          <p:nvPr/>
        </p:nvSpPr>
        <p:spPr>
          <a:xfrm>
            <a:off x="7178040" y="2743200"/>
            <a:ext cx="4526280" cy="960120"/>
          </a:xfrm>
          <a:prstGeom prst="rect">
            <a:avLst/>
          </a:prstGeom>
          <a:solidFill>
            <a:srgbClr val="FFFFFF"/>
          </a:solidFill>
          <a:ln w="7620">
            <a:solidFill>
              <a:srgbClr val="E2E8F0"/>
            </a:solidFill>
            <a:prstDash val="solid"/>
          </a:ln>
        </p:spPr>
      </p:sp>
      <p:sp>
        <p:nvSpPr>
          <p:cNvPr id="12" name="Shape 9"/>
          <p:cNvSpPr/>
          <p:nvPr/>
        </p:nvSpPr>
        <p:spPr>
          <a:xfrm>
            <a:off x="7178040" y="2743200"/>
            <a:ext cx="73152" cy="960120"/>
          </a:xfrm>
          <a:prstGeom prst="rect">
            <a:avLst/>
          </a:prstGeom>
          <a:solidFill>
            <a:srgbClr val="1F8A4C"/>
          </a:solidFill>
          <a:ln w="12700">
            <a:solidFill>
              <a:srgbClr val="1F8A4C"/>
            </a:solidFill>
            <a:prstDash val="solid"/>
          </a:ln>
        </p:spPr>
      </p:sp>
      <p:sp>
        <p:nvSpPr>
          <p:cNvPr id="13" name="Text 10"/>
          <p:cNvSpPr/>
          <p:nvPr/>
        </p:nvSpPr>
        <p:spPr>
          <a:xfrm>
            <a:off x="7360920" y="2834640"/>
            <a:ext cx="4114800" cy="274320"/>
          </a:xfrm>
          <a:prstGeom prst="rect">
            <a:avLst/>
          </a:prstGeom>
          <a:noFill/>
          <a:ln/>
        </p:spPr>
        <p:txBody>
          <a:bodyPr wrap="square" lIns="0" tIns="0" rIns="0" bIns="0" rtlCol="0" anchor="ctr"/>
          <a:lstStyle/>
          <a:p>
            <a:pPr indent="0" marL="0">
              <a:buNone/>
            </a:pPr>
            <a:r>
              <a:rPr lang="en-US" sz="1100" b="1" dirty="0">
                <a:solidFill>
                  <a:srgbClr val="1F8A4C"/>
                </a:solidFill>
                <a:latin typeface="Calibri" pitchFamily="34" charset="0"/>
                <a:ea typeface="Calibri" pitchFamily="34" charset="-122"/>
                <a:cs typeface="Calibri" pitchFamily="34" charset="-120"/>
              </a:rPr>
              <a:t>Valid Records</a:t>
            </a:r>
            <a:endParaRPr lang="en-US" sz="1100" dirty="0"/>
          </a:p>
        </p:txBody>
      </p:sp>
      <p:sp>
        <p:nvSpPr>
          <p:cNvPr id="14" name="Text 11"/>
          <p:cNvSpPr/>
          <p:nvPr/>
        </p:nvSpPr>
        <p:spPr>
          <a:xfrm>
            <a:off x="7360920" y="3154680"/>
            <a:ext cx="4114800" cy="502920"/>
          </a:xfrm>
          <a:prstGeom prst="rect">
            <a:avLst/>
          </a:prstGeom>
          <a:noFill/>
          <a:ln/>
        </p:spPr>
        <p:txBody>
          <a:bodyPr wrap="square" lIns="0" tIns="0" rIns="0" bIns="0" rtlCol="0" anchor="ctr"/>
          <a:lstStyle/>
          <a:p>
            <a:pPr indent="0" marL="0">
              <a:buNone/>
            </a:pPr>
            <a:r>
              <a:rPr lang="en-US" sz="1150" dirty="0">
                <a:solidFill>
                  <a:srgbClr val="1A2332"/>
                </a:solidFill>
                <a:latin typeface="Calibri" pitchFamily="34" charset="0"/>
                <a:ea typeface="Calibri" pitchFamily="34" charset="-122"/>
                <a:cs typeface="Calibri" pitchFamily="34" charset="-120"/>
              </a:rPr>
              <a:t>Rows that passed all checks</a:t>
            </a:r>
            <a:endParaRPr lang="en-US" sz="1150" dirty="0"/>
          </a:p>
        </p:txBody>
      </p:sp>
      <p:sp>
        <p:nvSpPr>
          <p:cNvPr id="15" name="Shape 12"/>
          <p:cNvSpPr/>
          <p:nvPr/>
        </p:nvSpPr>
        <p:spPr>
          <a:xfrm>
            <a:off x="7178040" y="3794760"/>
            <a:ext cx="4526280" cy="960120"/>
          </a:xfrm>
          <a:prstGeom prst="rect">
            <a:avLst/>
          </a:prstGeom>
          <a:solidFill>
            <a:srgbClr val="FFFFFF"/>
          </a:solidFill>
          <a:ln w="7620">
            <a:solidFill>
              <a:srgbClr val="E2E8F0"/>
            </a:solidFill>
            <a:prstDash val="solid"/>
          </a:ln>
        </p:spPr>
      </p:sp>
      <p:sp>
        <p:nvSpPr>
          <p:cNvPr id="16" name="Shape 13"/>
          <p:cNvSpPr/>
          <p:nvPr/>
        </p:nvSpPr>
        <p:spPr>
          <a:xfrm>
            <a:off x="7178040" y="3794760"/>
            <a:ext cx="73152" cy="960120"/>
          </a:xfrm>
          <a:prstGeom prst="rect">
            <a:avLst/>
          </a:prstGeom>
          <a:solidFill>
            <a:srgbClr val="D6422E"/>
          </a:solidFill>
          <a:ln w="12700">
            <a:solidFill>
              <a:srgbClr val="D6422E"/>
            </a:solidFill>
            <a:prstDash val="solid"/>
          </a:ln>
        </p:spPr>
      </p:sp>
      <p:sp>
        <p:nvSpPr>
          <p:cNvPr id="17" name="Text 14"/>
          <p:cNvSpPr/>
          <p:nvPr/>
        </p:nvSpPr>
        <p:spPr>
          <a:xfrm>
            <a:off x="7360920" y="3886200"/>
            <a:ext cx="4114800" cy="274320"/>
          </a:xfrm>
          <a:prstGeom prst="rect">
            <a:avLst/>
          </a:prstGeom>
          <a:noFill/>
          <a:ln/>
        </p:spPr>
        <p:txBody>
          <a:bodyPr wrap="square" lIns="0" tIns="0" rIns="0" bIns="0" rtlCol="0" anchor="ctr"/>
          <a:lstStyle/>
          <a:p>
            <a:pPr indent="0" marL="0">
              <a:buNone/>
            </a:pPr>
            <a:r>
              <a:rPr lang="en-US" sz="1100" b="1" dirty="0">
                <a:solidFill>
                  <a:srgbClr val="D6422E"/>
                </a:solidFill>
                <a:latin typeface="Calibri" pitchFamily="34" charset="0"/>
                <a:ea typeface="Calibri" pitchFamily="34" charset="-122"/>
                <a:cs typeface="Calibri" pitchFamily="34" charset="-120"/>
              </a:rPr>
              <a:t>Invalid Records</a:t>
            </a:r>
            <a:endParaRPr lang="en-US" sz="1100" dirty="0"/>
          </a:p>
        </p:txBody>
      </p:sp>
      <p:sp>
        <p:nvSpPr>
          <p:cNvPr id="18" name="Text 15"/>
          <p:cNvSpPr/>
          <p:nvPr/>
        </p:nvSpPr>
        <p:spPr>
          <a:xfrm>
            <a:off x="7360920" y="4206240"/>
            <a:ext cx="4206240" cy="502920"/>
          </a:xfrm>
          <a:prstGeom prst="rect">
            <a:avLst/>
          </a:prstGeom>
          <a:noFill/>
          <a:ln/>
        </p:spPr>
        <p:txBody>
          <a:bodyPr wrap="square" lIns="0" tIns="0" rIns="0" bIns="0" rtlCol="0" anchor="ctr"/>
          <a:lstStyle/>
          <a:p>
            <a:pPr indent="0" marL="0">
              <a:buNone/>
            </a:pPr>
            <a:r>
              <a:rPr lang="en-US" sz="1150" dirty="0">
                <a:solidFill>
                  <a:srgbClr val="1A2332"/>
                </a:solidFill>
                <a:latin typeface="Calibri" pitchFamily="34" charset="0"/>
                <a:ea typeface="Calibri" pitchFamily="34" charset="-122"/>
                <a:cs typeface="Calibri" pitchFamily="34" charset="-120"/>
              </a:rPr>
              <a:t>Rows that need fixing — download the error report</a:t>
            </a:r>
            <a:endParaRPr lang="en-US" sz="1150" dirty="0"/>
          </a:p>
        </p:txBody>
      </p:sp>
      <p:sp>
        <p:nvSpPr>
          <p:cNvPr id="19" name="Shape 16"/>
          <p:cNvSpPr/>
          <p:nvPr/>
        </p:nvSpPr>
        <p:spPr>
          <a:xfrm>
            <a:off x="548640" y="5212080"/>
            <a:ext cx="11109960" cy="1143000"/>
          </a:xfrm>
          <a:prstGeom prst="rect">
            <a:avLst/>
          </a:prstGeom>
          <a:solidFill>
            <a:srgbClr val="FFF6EC"/>
          </a:solidFill>
          <a:ln w="12700">
            <a:solidFill>
              <a:srgbClr val="F26B38"/>
            </a:solidFill>
            <a:prstDash val="solid"/>
          </a:ln>
        </p:spPr>
      </p:sp>
      <p:sp>
        <p:nvSpPr>
          <p:cNvPr id="20" name="Shape 17"/>
          <p:cNvSpPr/>
          <p:nvPr/>
        </p:nvSpPr>
        <p:spPr>
          <a:xfrm>
            <a:off x="548640" y="5212080"/>
            <a:ext cx="73152" cy="1143000"/>
          </a:xfrm>
          <a:prstGeom prst="rect">
            <a:avLst/>
          </a:prstGeom>
          <a:solidFill>
            <a:srgbClr val="F26B38"/>
          </a:solidFill>
          <a:ln w="12700">
            <a:solidFill>
              <a:srgbClr val="F26B38"/>
            </a:solidFill>
            <a:prstDash val="solid"/>
          </a:ln>
        </p:spPr>
      </p:sp>
      <p:sp>
        <p:nvSpPr>
          <p:cNvPr id="21" name="Text 18"/>
          <p:cNvSpPr/>
          <p:nvPr/>
        </p:nvSpPr>
        <p:spPr>
          <a:xfrm>
            <a:off x="777240" y="5321808"/>
            <a:ext cx="10789920" cy="292608"/>
          </a:xfrm>
          <a:prstGeom prst="rect">
            <a:avLst/>
          </a:prstGeom>
          <a:noFill/>
          <a:ln/>
        </p:spPr>
        <p:txBody>
          <a:bodyPr wrap="square" lIns="0" tIns="0" rIns="0" bIns="0" rtlCol="0" anchor="ctr"/>
          <a:lstStyle/>
          <a:p>
            <a:pPr indent="0" marL="0">
              <a:buNone/>
            </a:pPr>
            <a:r>
              <a:rPr lang="en-US" sz="1200" b="1" spc="100" kern="0" dirty="0">
                <a:solidFill>
                  <a:srgbClr val="C84A1F"/>
                </a:solidFill>
                <a:latin typeface="Calibri" pitchFamily="34" charset="0"/>
                <a:ea typeface="Calibri" pitchFamily="34" charset="-122"/>
                <a:cs typeface="Calibri" pitchFamily="34" charset="-120"/>
              </a:rPr>
              <a:t>Why a two-step (validate → import) flow</a:t>
            </a:r>
            <a:endParaRPr lang="en-US" sz="1200" dirty="0"/>
          </a:p>
        </p:txBody>
      </p:sp>
      <p:sp>
        <p:nvSpPr>
          <p:cNvPr id="22" name="Text 19"/>
          <p:cNvSpPr/>
          <p:nvPr/>
        </p:nvSpPr>
        <p:spPr>
          <a:xfrm>
            <a:off x="777240" y="5623560"/>
            <a:ext cx="10789920" cy="640080"/>
          </a:xfrm>
          <a:prstGeom prst="rect">
            <a:avLst/>
          </a:prstGeom>
          <a:noFill/>
          <a:ln/>
        </p:spPr>
        <p:txBody>
          <a:bodyPr wrap="square" lIns="0" tIns="0" rIns="0" bIns="0" rtlCol="0" anchor="ctr"/>
          <a:lstStyle/>
          <a:p>
            <a:pPr indent="0" marL="0">
              <a:spcAft>
                <a:spcPts val="300"/>
              </a:spcAft>
              <a:buNone/>
            </a:pPr>
            <a:r>
              <a:rPr lang="en-US" sz="1200" dirty="0">
                <a:solidFill>
                  <a:srgbClr val="1A2332"/>
                </a:solidFill>
                <a:latin typeface="Calibri" pitchFamily="34" charset="0"/>
                <a:ea typeface="Calibri" pitchFamily="34" charset="-122"/>
                <a:cs typeface="Calibri" pitchFamily="34" charset="-120"/>
              </a:rPr>
              <a:t>The system never commits a partial catalogue. Valid + Invalid rows are reported together, but nothing is saved until you click Import. This prevents half-uploaded SKUs that would mislead the buyer app or break grouping.</a:t>
            </a:r>
            <a:endParaRPr lang="en-US" sz="1200" dirty="0"/>
          </a:p>
        </p:txBody>
      </p:sp>
      <p:sp>
        <p:nvSpPr>
          <p:cNvPr id="23" name="Shape 20"/>
          <p:cNvSpPr/>
          <p:nvPr/>
        </p:nvSpPr>
        <p:spPr>
          <a:xfrm>
            <a:off x="0" y="6565392"/>
            <a:ext cx="12191695" cy="292608"/>
          </a:xfrm>
          <a:prstGeom prst="rect">
            <a:avLst/>
          </a:prstGeom>
          <a:solidFill>
            <a:srgbClr val="0F2742"/>
          </a:solidFill>
          <a:ln w="12700">
            <a:solidFill>
              <a:srgbClr val="0F2742"/>
            </a:solidFill>
            <a:prstDash val="solid"/>
          </a:ln>
        </p:spPr>
      </p:sp>
      <p:sp>
        <p:nvSpPr>
          <p:cNvPr id="24" name="Text 21"/>
          <p:cNvSpPr/>
          <p:nvPr/>
        </p:nvSpPr>
        <p:spPr>
          <a:xfrm>
            <a:off x="457200" y="6583680"/>
            <a:ext cx="731520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Qwipo Seller Store · Seller Training Guide · v1.1 · Internal Use</a:t>
            </a:r>
            <a:endParaRPr lang="en-US" sz="900" dirty="0"/>
          </a:p>
        </p:txBody>
      </p:sp>
      <p:sp>
        <p:nvSpPr>
          <p:cNvPr id="25" name="Text 22"/>
          <p:cNvSpPr/>
          <p:nvPr/>
        </p:nvSpPr>
        <p:spPr>
          <a:xfrm>
            <a:off x="10820095" y="6583680"/>
            <a:ext cx="914400" cy="256032"/>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15 / 33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2742"/>
          </a:solidFill>
          <a:ln w="12700">
            <a:solidFill>
              <a:srgbClr val="0F2742"/>
            </a:solidFill>
            <a:prstDash val="solid"/>
          </a:ln>
        </p:spPr>
      </p:sp>
      <p:sp>
        <p:nvSpPr>
          <p:cNvPr id="3" name="Text 1"/>
          <p:cNvSpPr/>
          <p:nvPr/>
        </p:nvSpPr>
        <p:spPr>
          <a:xfrm>
            <a:off x="640080" y="320040"/>
            <a:ext cx="10058400" cy="320040"/>
          </a:xfrm>
          <a:prstGeom prst="rect">
            <a:avLst/>
          </a:prstGeom>
          <a:noFill/>
          <a:ln/>
        </p:spPr>
        <p:txBody>
          <a:bodyPr wrap="square" rtlCol="0" anchor="ctr"/>
          <a:lstStyle/>
          <a:p>
            <a:pPr indent="0" marL="0">
              <a:buNone/>
            </a:pPr>
            <a:r>
              <a:rPr lang="en-US" sz="1100" b="1" spc="400" kern="0" dirty="0">
                <a:solidFill>
                  <a:srgbClr val="F26B38"/>
                </a:solidFill>
                <a:latin typeface="Calibri" pitchFamily="34" charset="0"/>
                <a:ea typeface="Calibri" pitchFamily="34" charset="-122"/>
                <a:cs typeface="Calibri" pitchFamily="34" charset="-120"/>
              </a:rPr>
              <a:t>MY SKU · STEP 4</a:t>
            </a:r>
            <a:endParaRPr lang="en-US" sz="1100" dirty="0"/>
          </a:p>
        </p:txBody>
      </p:sp>
      <p:sp>
        <p:nvSpPr>
          <p:cNvPr id="4" name="Text 2"/>
          <p:cNvSpPr/>
          <p:nvPr/>
        </p:nvSpPr>
        <p:spPr>
          <a:xfrm>
            <a:off x="640080" y="594360"/>
            <a:ext cx="10789920" cy="777240"/>
          </a:xfrm>
          <a:prstGeom prst="rect">
            <a:avLst/>
          </a:prstGeom>
          <a:noFill/>
          <a:ln/>
        </p:spPr>
        <p:txBody>
          <a:bodyPr wrap="square" lIns="0" tIns="0" rIns="0" bIns="0" rtlCol="0" anchor="ctr"/>
          <a:lstStyle/>
          <a:p>
            <a:pPr indent="0" marL="0">
              <a:buNone/>
            </a:pPr>
            <a:r>
              <a:rPr lang="en-US" sz="3000" b="1" dirty="0">
                <a:solidFill>
                  <a:srgbClr val="0F2742"/>
                </a:solidFill>
                <a:latin typeface="Calibri" pitchFamily="34" charset="0"/>
                <a:ea typeface="Calibri" pitchFamily="34" charset="-122"/>
                <a:cs typeface="Calibri" pitchFamily="34" charset="-120"/>
              </a:rPr>
              <a:t>Download the error report and fix</a:t>
            </a:r>
            <a:endParaRPr lang="en-US" sz="3000" dirty="0"/>
          </a:p>
        </p:txBody>
      </p:sp>
      <p:sp>
        <p:nvSpPr>
          <p:cNvPr id="5" name="Shape 3"/>
          <p:cNvSpPr/>
          <p:nvPr/>
        </p:nvSpPr>
        <p:spPr>
          <a:xfrm>
            <a:off x="502920" y="1645920"/>
            <a:ext cx="5943600" cy="3383280"/>
          </a:xfrm>
          <a:prstGeom prst="rect">
            <a:avLst/>
          </a:prstGeom>
          <a:solidFill>
            <a:srgbClr val="FFFFFF"/>
          </a:solidFill>
          <a:ln w="9525">
            <a:solidFill>
              <a:srgbClr val="E2E8F0"/>
            </a:solidFill>
            <a:prstDash val="solid"/>
          </a:ln>
          <a:effectLst>
            <a:outerShdw sx="100000" sy="100000" kx="0" ky="0" algn="bl" rotWithShape="0" blurRad="152400" dist="38100" dir="5400000">
              <a:srgbClr val="000000">
                <a:alpha val="18000"/>
              </a:srgbClr>
            </a:outerShdw>
          </a:effectLst>
        </p:spPr>
      </p:sp>
      <p:pic>
        <p:nvPicPr>
          <p:cNvPr id="6" name="Image 0" descr="C:\Users\Lenovo\OneDrive - Xavica Primary\Desktop\Seller Store\.deck-qa\seller-img\image4.png">    </p:cNvPr>
          <p:cNvPicPr>
            <a:picLocks noChangeAspect="1"/>
          </p:cNvPicPr>
          <p:nvPr/>
        </p:nvPicPr>
        <p:blipFill>
          <a:blip r:embed="rId1"/>
          <a:srcRect l="0" r="0" t="0" b="0"/>
          <a:stretch/>
        </p:blipFill>
        <p:spPr>
          <a:xfrm>
            <a:off x="548640" y="1691640"/>
            <a:ext cx="5852160" cy="3291840"/>
          </a:xfrm>
          <a:prstGeom prst="rect">
            <a:avLst/>
          </a:prstGeom>
        </p:spPr>
      </p:pic>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583680" y="1691640"/>
          <a:ext cx="5120640" cy="914400"/>
        </p:xfrm>
        <a:graphic>
          <a:graphicData uri="http://schemas.openxmlformats.org/drawingml/2006/table">
            <a:tbl>
              <a:tblPr/>
              <a:tblGrid>
                <a:gridCol w="2743200"/>
                <a:gridCol w="2377440"/>
              </a:tblGrid>
              <a:tr h="42062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Error message</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74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to do</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742"/>
                    </a:solidFill>
                  </a:tcPr>
                </a:tc>
              </a:tr>
              <a:tr h="420624">
                <a:tc>
                  <a:txBody>
                    <a:bodyPr/>
                    <a:lstStyle/>
                    <a:p>
                      <a:pPr indent="0" marL="0">
                        <a:buNone/>
                      </a:pPr>
                      <a:r>
                        <a:rPr lang="en-US" sz="1050" dirty="0">
                          <a:solidFill>
                            <a:srgbClr val="1A2332"/>
                          </a:solidFill>
                          <a:latin typeface="Calibri" pitchFamily="34" charset="0"/>
                          <a:ea typeface="Calibri" pitchFamily="34" charset="-122"/>
                          <a:cs typeface="Calibri" pitchFamily="34" charset="-120"/>
                        </a:rPr>
                        <a:t>Manufacturer does not match any company</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1A2332"/>
                          </a:solidFill>
                          <a:latin typeface="Calibri" pitchFamily="34" charset="0"/>
                          <a:ea typeface="Calibri" pitchFamily="34" charset="-122"/>
                          <a:cs typeface="Calibri" pitchFamily="34" charset="-120"/>
                        </a:rPr>
                        <a:t>Copy exact Company name from Super Admin portal</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A2332"/>
                          </a:solidFill>
                          <a:latin typeface="Calibri" pitchFamily="34" charset="0"/>
                          <a:ea typeface="Calibri" pitchFamily="34" charset="-122"/>
                          <a:cs typeface="Calibri" pitchFamily="34" charset="-120"/>
                        </a:rPr>
                        <a:t>Short description must be 10 to N characters</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1A2332"/>
                          </a:solidFill>
                          <a:latin typeface="Calibri" pitchFamily="34" charset="0"/>
                          <a:ea typeface="Calibri" pitchFamily="34" charset="-122"/>
                          <a:cs typeface="Calibri" pitchFamily="34" charset="-120"/>
                        </a:rPr>
                        <a:t>Paste the SKU name or any 10+ char text</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A2332"/>
                          </a:solidFill>
                          <a:latin typeface="Calibri" pitchFamily="34" charset="0"/>
                          <a:ea typeface="Calibri" pitchFamily="34" charset="-122"/>
                          <a:cs typeface="Calibri" pitchFamily="34" charset="-120"/>
                        </a:rPr>
                        <a:t>Invalid unit</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1A2332"/>
                          </a:solidFill>
                          <a:latin typeface="Calibri" pitchFamily="34" charset="0"/>
                          <a:ea typeface="Calibri" pitchFamily="34" charset="-122"/>
                          <a:cs typeface="Calibri" pitchFamily="34" charset="-120"/>
                        </a:rPr>
                        <a:t>Change to Gram, Kilogram, Litre, or Millilitre</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A2332"/>
                          </a:solidFill>
                          <a:latin typeface="Calibri" pitchFamily="34" charset="0"/>
                          <a:ea typeface="Calibri" pitchFamily="34" charset="-122"/>
                          <a:cs typeface="Calibri" pitchFamily="34" charset="-120"/>
                        </a:rPr>
                        <a:t>Category cannot be empty</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1A2332"/>
                          </a:solidFill>
                          <a:latin typeface="Calibri" pitchFamily="34" charset="0"/>
                          <a:ea typeface="Calibri" pitchFamily="34" charset="-122"/>
                          <a:cs typeface="Calibri" pitchFamily="34" charset="-120"/>
                        </a:rPr>
                        <a:t>Use Beauty &amp; Hygiene as a placeholder</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A2332"/>
                          </a:solidFill>
                          <a:latin typeface="Calibri" pitchFamily="34" charset="0"/>
                          <a:ea typeface="Calibri" pitchFamily="34" charset="-122"/>
                          <a:cs typeface="Calibri" pitchFamily="34" charset="-120"/>
                        </a:rPr>
                        <a:t>Min/Max order quantity cannot be empty</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1A2332"/>
                          </a:solidFill>
                          <a:latin typeface="Calibri" pitchFamily="34" charset="0"/>
                          <a:ea typeface="Calibri" pitchFamily="34" charset="-122"/>
                          <a:cs typeface="Calibri" pitchFamily="34" charset="-120"/>
                        </a:rPr>
                        <a:t>Use 1 for min, 1000 for max</a:t>
                      </a:r>
                      <a:endParaRPr lang="en-US" sz="10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5166360"/>
            <a:ext cx="11109960" cy="1188720"/>
          </a:xfrm>
          <a:prstGeom prst="rect">
            <a:avLst/>
          </a:prstGeom>
          <a:solidFill>
            <a:srgbClr val="FFF6EC"/>
          </a:solidFill>
          <a:ln w="12700">
            <a:solidFill>
              <a:srgbClr val="F26B38"/>
            </a:solidFill>
            <a:prstDash val="solid"/>
          </a:ln>
        </p:spPr>
      </p:sp>
      <p:sp>
        <p:nvSpPr>
          <p:cNvPr id="9" name="Shape 5"/>
          <p:cNvSpPr/>
          <p:nvPr/>
        </p:nvSpPr>
        <p:spPr>
          <a:xfrm>
            <a:off x="548640" y="5166360"/>
            <a:ext cx="73152" cy="1188720"/>
          </a:xfrm>
          <a:prstGeom prst="rect">
            <a:avLst/>
          </a:prstGeom>
          <a:solidFill>
            <a:srgbClr val="F26B38"/>
          </a:solidFill>
          <a:ln w="12700">
            <a:solidFill>
              <a:srgbClr val="F26B38"/>
            </a:solidFill>
            <a:prstDash val="solid"/>
          </a:ln>
        </p:spPr>
      </p:sp>
      <p:sp>
        <p:nvSpPr>
          <p:cNvPr id="10" name="Text 6"/>
          <p:cNvSpPr/>
          <p:nvPr/>
        </p:nvSpPr>
        <p:spPr>
          <a:xfrm>
            <a:off x="777240" y="5276088"/>
            <a:ext cx="10789920" cy="292608"/>
          </a:xfrm>
          <a:prstGeom prst="rect">
            <a:avLst/>
          </a:prstGeom>
          <a:noFill/>
          <a:ln/>
        </p:spPr>
        <p:txBody>
          <a:bodyPr wrap="square" lIns="0" tIns="0" rIns="0" bIns="0" rtlCol="0" anchor="ctr"/>
          <a:lstStyle/>
          <a:p>
            <a:pPr indent="0" marL="0">
              <a:buNone/>
            </a:pPr>
            <a:r>
              <a:rPr lang="en-US" sz="1200" b="1" spc="100" kern="0" dirty="0">
                <a:solidFill>
                  <a:srgbClr val="C84A1F"/>
                </a:solidFill>
                <a:latin typeface="Calibri" pitchFamily="34" charset="0"/>
                <a:ea typeface="Calibri" pitchFamily="34" charset="-122"/>
                <a:cs typeface="Calibri" pitchFamily="34" charset="-120"/>
              </a:rPr>
              <a:t>Fix → Re-upload → Repeat</a:t>
            </a:r>
            <a:endParaRPr lang="en-US" sz="1200" dirty="0"/>
          </a:p>
        </p:txBody>
      </p:sp>
      <p:sp>
        <p:nvSpPr>
          <p:cNvPr id="11" name="Text 7"/>
          <p:cNvSpPr/>
          <p:nvPr/>
        </p:nvSpPr>
        <p:spPr>
          <a:xfrm>
            <a:off x="777240" y="5577840"/>
            <a:ext cx="10789920" cy="685800"/>
          </a:xfrm>
          <a:prstGeom prst="rect">
            <a:avLst/>
          </a:prstGeom>
          <a:noFill/>
          <a:ln/>
        </p:spPr>
        <p:txBody>
          <a:bodyPr wrap="square" lIns="0" tIns="0" rIns="0" bIns="0" rtlCol="0" anchor="ctr"/>
          <a:lstStyle/>
          <a:p>
            <a:pPr indent="0" marL="0">
              <a:spcAft>
                <a:spcPts val="300"/>
              </a:spcAft>
              <a:buNone/>
            </a:pPr>
            <a:r>
              <a:rPr lang="en-US" sz="1200" dirty="0">
                <a:solidFill>
                  <a:srgbClr val="1A2332"/>
                </a:solidFill>
                <a:latin typeface="Calibri" pitchFamily="34" charset="0"/>
                <a:ea typeface="Calibri" pitchFamily="34" charset="-122"/>
                <a:cs typeface="Calibri" pitchFamily="34" charset="-120"/>
              </a:rPr>
              <a:t>Always re-download a fresh error report after each retry — fixing one error may surface a different validation that was hidden behind the first.</a:t>
            </a:r>
            <a:endParaRPr lang="en-US" sz="1200" dirty="0"/>
          </a:p>
        </p:txBody>
      </p:sp>
      <p:sp>
        <p:nvSpPr>
          <p:cNvPr id="12" name="Shape 8"/>
          <p:cNvSpPr/>
          <p:nvPr/>
        </p:nvSpPr>
        <p:spPr>
          <a:xfrm>
            <a:off x="0" y="6565392"/>
            <a:ext cx="12191695" cy="292608"/>
          </a:xfrm>
          <a:prstGeom prst="rect">
            <a:avLst/>
          </a:prstGeom>
          <a:solidFill>
            <a:srgbClr val="0F2742"/>
          </a:solidFill>
          <a:ln w="12700">
            <a:solidFill>
              <a:srgbClr val="0F2742"/>
            </a:solidFill>
            <a:prstDash val="solid"/>
          </a:ln>
        </p:spPr>
      </p:sp>
      <p:sp>
        <p:nvSpPr>
          <p:cNvPr id="13" name="Text 9"/>
          <p:cNvSpPr/>
          <p:nvPr/>
        </p:nvSpPr>
        <p:spPr>
          <a:xfrm>
            <a:off x="457200" y="6583680"/>
            <a:ext cx="731520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Qwipo Seller Store · Seller Training Guide · v1.1 · Internal Use</a:t>
            </a:r>
            <a:endParaRPr lang="en-US" sz="900" dirty="0"/>
          </a:p>
        </p:txBody>
      </p:sp>
      <p:sp>
        <p:nvSpPr>
          <p:cNvPr id="14" name="Text 10"/>
          <p:cNvSpPr/>
          <p:nvPr/>
        </p:nvSpPr>
        <p:spPr>
          <a:xfrm>
            <a:off x="10820095" y="6583680"/>
            <a:ext cx="914400" cy="256032"/>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16 / 33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2742"/>
          </a:solidFill>
          <a:ln w="12700">
            <a:solidFill>
              <a:srgbClr val="0F2742"/>
            </a:solidFill>
            <a:prstDash val="solid"/>
          </a:ln>
        </p:spPr>
      </p:sp>
      <p:sp>
        <p:nvSpPr>
          <p:cNvPr id="3" name="Text 1"/>
          <p:cNvSpPr/>
          <p:nvPr/>
        </p:nvSpPr>
        <p:spPr>
          <a:xfrm>
            <a:off x="640080" y="320040"/>
            <a:ext cx="10058400" cy="320040"/>
          </a:xfrm>
          <a:prstGeom prst="rect">
            <a:avLst/>
          </a:prstGeom>
          <a:noFill/>
          <a:ln/>
        </p:spPr>
        <p:txBody>
          <a:bodyPr wrap="square" rtlCol="0" anchor="ctr"/>
          <a:lstStyle/>
          <a:p>
            <a:pPr indent="0" marL="0">
              <a:buNone/>
            </a:pPr>
            <a:r>
              <a:rPr lang="en-US" sz="1100" b="1" spc="400" kern="0" dirty="0">
                <a:solidFill>
                  <a:srgbClr val="F26B38"/>
                </a:solidFill>
                <a:latin typeface="Calibri" pitchFamily="34" charset="0"/>
                <a:ea typeface="Calibri" pitchFamily="34" charset="-122"/>
                <a:cs typeface="Calibri" pitchFamily="34" charset="-120"/>
              </a:rPr>
              <a:t>MY SKU · STEP 5</a:t>
            </a:r>
            <a:endParaRPr lang="en-US" sz="1100" dirty="0"/>
          </a:p>
        </p:txBody>
      </p:sp>
      <p:sp>
        <p:nvSpPr>
          <p:cNvPr id="4" name="Text 2"/>
          <p:cNvSpPr/>
          <p:nvPr/>
        </p:nvSpPr>
        <p:spPr>
          <a:xfrm>
            <a:off x="640080" y="594360"/>
            <a:ext cx="10789920" cy="777240"/>
          </a:xfrm>
          <a:prstGeom prst="rect">
            <a:avLst/>
          </a:prstGeom>
          <a:noFill/>
          <a:ln/>
        </p:spPr>
        <p:txBody>
          <a:bodyPr wrap="square" lIns="0" tIns="0" rIns="0" bIns="0" rtlCol="0" anchor="ctr"/>
          <a:lstStyle/>
          <a:p>
            <a:pPr indent="0" marL="0">
              <a:buNone/>
            </a:pPr>
            <a:r>
              <a:rPr lang="en-US" sz="3000" b="1" dirty="0">
                <a:solidFill>
                  <a:srgbClr val="0F2742"/>
                </a:solidFill>
                <a:latin typeface="Calibri" pitchFamily="34" charset="0"/>
                <a:ea typeface="Calibri" pitchFamily="34" charset="-122"/>
                <a:cs typeface="Calibri" pitchFamily="34" charset="-120"/>
              </a:rPr>
              <a:t>Successful validation — commit the import</a:t>
            </a:r>
            <a:endParaRPr lang="en-US" sz="3000" dirty="0"/>
          </a:p>
        </p:txBody>
      </p:sp>
      <p:sp>
        <p:nvSpPr>
          <p:cNvPr id="5" name="Shape 3"/>
          <p:cNvSpPr/>
          <p:nvPr/>
        </p:nvSpPr>
        <p:spPr>
          <a:xfrm>
            <a:off x="502920" y="1645920"/>
            <a:ext cx="6492240" cy="2834640"/>
          </a:xfrm>
          <a:prstGeom prst="rect">
            <a:avLst/>
          </a:prstGeom>
          <a:solidFill>
            <a:srgbClr val="FFFFFF"/>
          </a:solidFill>
          <a:ln w="9525">
            <a:solidFill>
              <a:srgbClr val="E2E8F0"/>
            </a:solidFill>
            <a:prstDash val="solid"/>
          </a:ln>
          <a:effectLst>
            <a:outerShdw sx="100000" sy="100000" kx="0" ky="0" algn="bl" rotWithShape="0" blurRad="152400" dist="38100" dir="5400000">
              <a:srgbClr val="000000">
                <a:alpha val="18000"/>
              </a:srgbClr>
            </a:outerShdw>
          </a:effectLst>
        </p:spPr>
      </p:sp>
      <p:pic>
        <p:nvPicPr>
          <p:cNvPr id="6" name="Image 0" descr="C:\Users\Lenovo\OneDrive - Xavica Primary\Desktop\Seller Store\.deck-qa\seller-img\image5.png">    </p:cNvPr>
          <p:cNvPicPr>
            <a:picLocks noChangeAspect="1"/>
          </p:cNvPicPr>
          <p:nvPr/>
        </p:nvPicPr>
        <p:blipFill>
          <a:blip r:embed="rId1"/>
          <a:srcRect l="0" r="0" t="0" b="0"/>
          <a:stretch/>
        </p:blipFill>
        <p:spPr>
          <a:xfrm>
            <a:off x="548640" y="1691640"/>
            <a:ext cx="6400800" cy="2743200"/>
          </a:xfrm>
          <a:prstGeom prst="rect">
            <a:avLst/>
          </a:prstGeom>
        </p:spPr>
      </p:pic>
      <p:sp>
        <p:nvSpPr>
          <p:cNvPr id="7" name="Shape 4"/>
          <p:cNvSpPr/>
          <p:nvPr/>
        </p:nvSpPr>
        <p:spPr>
          <a:xfrm>
            <a:off x="7178040" y="1691640"/>
            <a:ext cx="4526280" cy="274320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6000"/>
              </a:srgbClr>
            </a:outerShdw>
          </a:effectLst>
        </p:spPr>
      </p:sp>
      <p:sp>
        <p:nvSpPr>
          <p:cNvPr id="8" name="Shape 5"/>
          <p:cNvSpPr/>
          <p:nvPr/>
        </p:nvSpPr>
        <p:spPr>
          <a:xfrm>
            <a:off x="7178040" y="1691640"/>
            <a:ext cx="73152" cy="2743200"/>
          </a:xfrm>
          <a:prstGeom prst="rect">
            <a:avLst/>
          </a:prstGeom>
          <a:solidFill>
            <a:srgbClr val="1F8A4C"/>
          </a:solidFill>
          <a:ln w="12700">
            <a:solidFill>
              <a:srgbClr val="1F8A4C"/>
            </a:solidFill>
            <a:prstDash val="solid"/>
          </a:ln>
        </p:spPr>
      </p:sp>
      <p:sp>
        <p:nvSpPr>
          <p:cNvPr id="9" name="Text 6"/>
          <p:cNvSpPr/>
          <p:nvPr/>
        </p:nvSpPr>
        <p:spPr>
          <a:xfrm>
            <a:off x="7406640" y="1856232"/>
            <a:ext cx="4206240" cy="365760"/>
          </a:xfrm>
          <a:prstGeom prst="rect">
            <a:avLst/>
          </a:prstGeom>
          <a:noFill/>
          <a:ln/>
        </p:spPr>
        <p:txBody>
          <a:bodyPr wrap="square" lIns="0" tIns="0" rIns="0" bIns="0" rtlCol="0" anchor="ctr"/>
          <a:lstStyle/>
          <a:p>
            <a:pPr indent="0" marL="0">
              <a:buNone/>
            </a:pPr>
            <a:r>
              <a:rPr lang="en-US" sz="1500" b="1" dirty="0">
                <a:solidFill>
                  <a:srgbClr val="0F2742"/>
                </a:solidFill>
                <a:latin typeface="Calibri" pitchFamily="34" charset="0"/>
                <a:ea typeface="Calibri" pitchFamily="34" charset="-122"/>
                <a:cs typeface="Calibri" pitchFamily="34" charset="-120"/>
              </a:rPr>
              <a:t>What 'green' means</a:t>
            </a:r>
            <a:endParaRPr lang="en-US" sz="1500" dirty="0"/>
          </a:p>
        </p:txBody>
      </p:sp>
      <p:sp>
        <p:nvSpPr>
          <p:cNvPr id="10" name="Text 7"/>
          <p:cNvSpPr/>
          <p:nvPr/>
        </p:nvSpPr>
        <p:spPr>
          <a:xfrm>
            <a:off x="7406640" y="2286000"/>
            <a:ext cx="4160520" cy="2011680"/>
          </a:xfrm>
          <a:prstGeom prst="rect">
            <a:avLst/>
          </a:prstGeom>
          <a:noFill/>
          <a:ln/>
        </p:spPr>
        <p:txBody>
          <a:bodyPr wrap="square" rtlCol="0" anchor="t"/>
          <a:lstStyle/>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Total = Valid, Invalid = 0</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Banner: 'All records passed validation — ready to import.'</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Click Import [X] Valid Records</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SKUs now appear on My SKU List</a:t>
            </a:r>
            <a:endParaRPr lang="en-US" sz="1150" dirty="0"/>
          </a:p>
        </p:txBody>
      </p:sp>
      <p:sp>
        <p:nvSpPr>
          <p:cNvPr id="11" name="Shape 8"/>
          <p:cNvSpPr/>
          <p:nvPr/>
        </p:nvSpPr>
        <p:spPr>
          <a:xfrm>
            <a:off x="548640" y="4572000"/>
            <a:ext cx="11109960" cy="1783080"/>
          </a:xfrm>
          <a:prstGeom prst="rect">
            <a:avLst/>
          </a:prstGeom>
          <a:solidFill>
            <a:srgbClr val="FFF6EC"/>
          </a:solidFill>
          <a:ln w="12700">
            <a:solidFill>
              <a:srgbClr val="F26B38"/>
            </a:solidFill>
            <a:prstDash val="solid"/>
          </a:ln>
        </p:spPr>
      </p:sp>
      <p:sp>
        <p:nvSpPr>
          <p:cNvPr id="12" name="Shape 9"/>
          <p:cNvSpPr/>
          <p:nvPr/>
        </p:nvSpPr>
        <p:spPr>
          <a:xfrm>
            <a:off x="548640" y="4572000"/>
            <a:ext cx="73152" cy="1783080"/>
          </a:xfrm>
          <a:prstGeom prst="rect">
            <a:avLst/>
          </a:prstGeom>
          <a:solidFill>
            <a:srgbClr val="F26B38"/>
          </a:solidFill>
          <a:ln w="12700">
            <a:solidFill>
              <a:srgbClr val="F26B38"/>
            </a:solidFill>
            <a:prstDash val="solid"/>
          </a:ln>
        </p:spPr>
      </p:sp>
      <p:sp>
        <p:nvSpPr>
          <p:cNvPr id="13" name="Text 10"/>
          <p:cNvSpPr/>
          <p:nvPr/>
        </p:nvSpPr>
        <p:spPr>
          <a:xfrm>
            <a:off x="777240" y="4681728"/>
            <a:ext cx="10789920" cy="292608"/>
          </a:xfrm>
          <a:prstGeom prst="rect">
            <a:avLst/>
          </a:prstGeom>
          <a:noFill/>
          <a:ln/>
        </p:spPr>
        <p:txBody>
          <a:bodyPr wrap="square" lIns="0" tIns="0" rIns="0" bIns="0" rtlCol="0" anchor="ctr"/>
          <a:lstStyle/>
          <a:p>
            <a:pPr indent="0" marL="0">
              <a:buNone/>
            </a:pPr>
            <a:r>
              <a:rPr lang="en-US" sz="1200" b="1" spc="100" kern="0" dirty="0">
                <a:solidFill>
                  <a:srgbClr val="C84A1F"/>
                </a:solidFill>
                <a:latin typeface="Calibri" pitchFamily="34" charset="0"/>
                <a:ea typeface="Calibri" pitchFamily="34" charset="-122"/>
                <a:cs typeface="Calibri" pitchFamily="34" charset="-120"/>
              </a:rPr>
              <a:t>After commit — what changes</a:t>
            </a:r>
            <a:endParaRPr lang="en-US" sz="1200" dirty="0"/>
          </a:p>
        </p:txBody>
      </p:sp>
      <p:sp>
        <p:nvSpPr>
          <p:cNvPr id="14" name="Text 11"/>
          <p:cNvSpPr/>
          <p:nvPr/>
        </p:nvSpPr>
        <p:spPr>
          <a:xfrm>
            <a:off x="777240" y="4983480"/>
            <a:ext cx="10789920" cy="1280160"/>
          </a:xfrm>
          <a:prstGeom prst="rect">
            <a:avLst/>
          </a:prstGeom>
          <a:noFill/>
          <a:ln/>
        </p:spPr>
        <p:txBody>
          <a:bodyPr wrap="square" lIns="0" tIns="0" rIns="0" bIns="0" rtlCol="0" anchor="ctr"/>
          <a:lstStyle/>
          <a:p>
            <a:pPr indent="0" marL="0">
              <a:spcAft>
                <a:spcPts val="300"/>
              </a:spcAft>
              <a:buNone/>
            </a:pPr>
            <a:r>
              <a:rPr lang="en-US" sz="1200" dirty="0">
                <a:solidFill>
                  <a:srgbClr val="1A2332"/>
                </a:solidFill>
                <a:latin typeface="Calibri" pitchFamily="34" charset="0"/>
                <a:ea typeface="Calibri" pitchFamily="34" charset="-122"/>
                <a:cs typeface="Calibri" pitchFamily="34" charset="-120"/>
              </a:rPr>
              <a:t>Your SKUs are stored in the seller catalogue but are NOT yet visible to buyers. They will all show 'Non-compliant' in the ONDC Compliance column because images are still missing. That's the next step.</a:t>
            </a:r>
            <a:endParaRPr lang="en-US" sz="1200" dirty="0"/>
          </a:p>
        </p:txBody>
      </p:sp>
      <p:sp>
        <p:nvSpPr>
          <p:cNvPr id="15" name="Shape 12"/>
          <p:cNvSpPr/>
          <p:nvPr/>
        </p:nvSpPr>
        <p:spPr>
          <a:xfrm>
            <a:off x="0" y="6565392"/>
            <a:ext cx="12191695" cy="292608"/>
          </a:xfrm>
          <a:prstGeom prst="rect">
            <a:avLst/>
          </a:prstGeom>
          <a:solidFill>
            <a:srgbClr val="0F2742"/>
          </a:solidFill>
          <a:ln w="12700">
            <a:solidFill>
              <a:srgbClr val="0F2742"/>
            </a:solidFill>
            <a:prstDash val="solid"/>
          </a:ln>
        </p:spPr>
      </p:sp>
      <p:sp>
        <p:nvSpPr>
          <p:cNvPr id="16" name="Text 13"/>
          <p:cNvSpPr/>
          <p:nvPr/>
        </p:nvSpPr>
        <p:spPr>
          <a:xfrm>
            <a:off x="457200" y="6583680"/>
            <a:ext cx="731520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Qwipo Seller Store · Seller Training Guide · v1.1 · Internal Use</a:t>
            </a:r>
            <a:endParaRPr lang="en-US" sz="900" dirty="0"/>
          </a:p>
        </p:txBody>
      </p:sp>
      <p:sp>
        <p:nvSpPr>
          <p:cNvPr id="17" name="Text 14"/>
          <p:cNvSpPr/>
          <p:nvPr/>
        </p:nvSpPr>
        <p:spPr>
          <a:xfrm>
            <a:off x="10820095" y="6583680"/>
            <a:ext cx="914400" cy="256032"/>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17 / 33</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2742"/>
          </a:solidFill>
          <a:ln w="12700">
            <a:solidFill>
              <a:srgbClr val="0F2742"/>
            </a:solidFill>
            <a:prstDash val="solid"/>
          </a:ln>
        </p:spPr>
      </p:sp>
      <p:sp>
        <p:nvSpPr>
          <p:cNvPr id="3" name="Text 1"/>
          <p:cNvSpPr/>
          <p:nvPr/>
        </p:nvSpPr>
        <p:spPr>
          <a:xfrm>
            <a:off x="640080" y="320040"/>
            <a:ext cx="10058400" cy="320040"/>
          </a:xfrm>
          <a:prstGeom prst="rect">
            <a:avLst/>
          </a:prstGeom>
          <a:noFill/>
          <a:ln/>
        </p:spPr>
        <p:txBody>
          <a:bodyPr wrap="square" rtlCol="0" anchor="ctr"/>
          <a:lstStyle/>
          <a:p>
            <a:pPr indent="0" marL="0">
              <a:buNone/>
            </a:pPr>
            <a:r>
              <a:rPr lang="en-US" sz="1100" b="1" spc="400" kern="0" dirty="0">
                <a:solidFill>
                  <a:srgbClr val="F26B38"/>
                </a:solidFill>
                <a:latin typeface="Calibri" pitchFamily="34" charset="0"/>
                <a:ea typeface="Calibri" pitchFamily="34" charset="-122"/>
                <a:cs typeface="Calibri" pitchFamily="34" charset="-120"/>
              </a:rPr>
              <a:t>MY SKU · STEP 6</a:t>
            </a:r>
            <a:endParaRPr lang="en-US" sz="1100" dirty="0"/>
          </a:p>
        </p:txBody>
      </p:sp>
      <p:sp>
        <p:nvSpPr>
          <p:cNvPr id="4" name="Text 2"/>
          <p:cNvSpPr/>
          <p:nvPr/>
        </p:nvSpPr>
        <p:spPr>
          <a:xfrm>
            <a:off x="640080" y="594360"/>
            <a:ext cx="10789920" cy="777240"/>
          </a:xfrm>
          <a:prstGeom prst="rect">
            <a:avLst/>
          </a:prstGeom>
          <a:noFill/>
          <a:ln/>
        </p:spPr>
        <p:txBody>
          <a:bodyPr wrap="square" lIns="0" tIns="0" rIns="0" bIns="0" rtlCol="0" anchor="ctr"/>
          <a:lstStyle/>
          <a:p>
            <a:pPr indent="0" marL="0">
              <a:buNone/>
            </a:pPr>
            <a:r>
              <a:rPr lang="en-US" sz="3000" b="1" dirty="0">
                <a:solidFill>
                  <a:srgbClr val="0F2742"/>
                </a:solidFill>
                <a:latin typeface="Calibri" pitchFamily="34" charset="0"/>
                <a:ea typeface="Calibri" pitchFamily="34" charset="-122"/>
                <a:cs typeface="Calibri" pitchFamily="34" charset="-120"/>
              </a:rPr>
              <a:t>ONDC compliance — images flip the switch</a:t>
            </a:r>
            <a:endParaRPr lang="en-US" sz="3000" dirty="0"/>
          </a:p>
        </p:txBody>
      </p:sp>
      <p:sp>
        <p:nvSpPr>
          <p:cNvPr id="5" name="Shape 3"/>
          <p:cNvSpPr/>
          <p:nvPr/>
        </p:nvSpPr>
        <p:spPr>
          <a:xfrm>
            <a:off x="502920" y="1645920"/>
            <a:ext cx="6492240" cy="3383280"/>
          </a:xfrm>
          <a:prstGeom prst="rect">
            <a:avLst/>
          </a:prstGeom>
          <a:solidFill>
            <a:srgbClr val="FFFFFF"/>
          </a:solidFill>
          <a:ln w="9525">
            <a:solidFill>
              <a:srgbClr val="E2E8F0"/>
            </a:solidFill>
            <a:prstDash val="solid"/>
          </a:ln>
          <a:effectLst>
            <a:outerShdw sx="100000" sy="100000" kx="0" ky="0" algn="bl" rotWithShape="0" blurRad="152400" dist="38100" dir="5400000">
              <a:srgbClr val="000000">
                <a:alpha val="18000"/>
              </a:srgbClr>
            </a:outerShdw>
          </a:effectLst>
        </p:spPr>
      </p:sp>
      <p:pic>
        <p:nvPicPr>
          <p:cNvPr id="6" name="Image 0" descr="C:\Users\Lenovo\OneDrive - Xavica Primary\Desktop\Seller Store\.deck-qa\seller-img\image6.png">    </p:cNvPr>
          <p:cNvPicPr>
            <a:picLocks noChangeAspect="1"/>
          </p:cNvPicPr>
          <p:nvPr/>
        </p:nvPicPr>
        <p:blipFill>
          <a:blip r:embed="rId1"/>
          <a:srcRect l="0" r="0" t="0" b="0"/>
          <a:stretch/>
        </p:blipFill>
        <p:spPr>
          <a:xfrm>
            <a:off x="548640" y="1691640"/>
            <a:ext cx="6400800" cy="3291840"/>
          </a:xfrm>
          <a:prstGeom prst="rect">
            <a:avLst/>
          </a:prstGeom>
        </p:spPr>
      </p:pic>
      <p:sp>
        <p:nvSpPr>
          <p:cNvPr id="7" name="Shape 4"/>
          <p:cNvSpPr/>
          <p:nvPr/>
        </p:nvSpPr>
        <p:spPr>
          <a:xfrm>
            <a:off x="7178040" y="1691640"/>
            <a:ext cx="4526280" cy="329184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6000"/>
              </a:srgbClr>
            </a:outerShdw>
          </a:effectLst>
        </p:spPr>
      </p:sp>
      <p:sp>
        <p:nvSpPr>
          <p:cNvPr id="8" name="Shape 5"/>
          <p:cNvSpPr/>
          <p:nvPr/>
        </p:nvSpPr>
        <p:spPr>
          <a:xfrm>
            <a:off x="7178040" y="1691640"/>
            <a:ext cx="73152" cy="3291840"/>
          </a:xfrm>
          <a:prstGeom prst="rect">
            <a:avLst/>
          </a:prstGeom>
          <a:solidFill>
            <a:srgbClr val="F26B38"/>
          </a:solidFill>
          <a:ln w="12700">
            <a:solidFill>
              <a:srgbClr val="F26B38"/>
            </a:solidFill>
            <a:prstDash val="solid"/>
          </a:ln>
        </p:spPr>
      </p:sp>
      <p:sp>
        <p:nvSpPr>
          <p:cNvPr id="9" name="Text 6"/>
          <p:cNvSpPr/>
          <p:nvPr/>
        </p:nvSpPr>
        <p:spPr>
          <a:xfrm>
            <a:off x="7406640" y="1856232"/>
            <a:ext cx="4206240" cy="365760"/>
          </a:xfrm>
          <a:prstGeom prst="rect">
            <a:avLst/>
          </a:prstGeom>
          <a:noFill/>
          <a:ln/>
        </p:spPr>
        <p:txBody>
          <a:bodyPr wrap="square" lIns="0" tIns="0" rIns="0" bIns="0" rtlCol="0" anchor="ctr"/>
          <a:lstStyle/>
          <a:p>
            <a:pPr indent="0" marL="0">
              <a:buNone/>
            </a:pPr>
            <a:r>
              <a:rPr lang="en-US" sz="1500" b="1" dirty="0">
                <a:solidFill>
                  <a:srgbClr val="0F2742"/>
                </a:solidFill>
                <a:latin typeface="Calibri" pitchFamily="34" charset="0"/>
                <a:ea typeface="Calibri" pitchFamily="34" charset="-122"/>
                <a:cs typeface="Calibri" pitchFamily="34" charset="-120"/>
              </a:rPr>
              <a:t>Image upload pipeline</a:t>
            </a:r>
            <a:endParaRPr lang="en-US" sz="1500" dirty="0"/>
          </a:p>
        </p:txBody>
      </p:sp>
      <p:sp>
        <p:nvSpPr>
          <p:cNvPr id="10" name="Text 7"/>
          <p:cNvSpPr/>
          <p:nvPr/>
        </p:nvSpPr>
        <p:spPr>
          <a:xfrm>
            <a:off x="7406640" y="2286000"/>
            <a:ext cx="4160520" cy="2560320"/>
          </a:xfrm>
          <a:prstGeom prst="rect">
            <a:avLst/>
          </a:prstGeom>
          <a:noFill/>
          <a:ln/>
        </p:spPr>
        <p:txBody>
          <a:bodyPr wrap="square" rtlCol="0" anchor="t"/>
          <a:lstStyle/>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Reads the SKU list from the portal</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Matches each SKU Code to its image in the brand folder</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Uploads the image to each SKU</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ONDC Compliance auto-flips: Non-compliant → Compliant</a:t>
            </a:r>
            <a:endParaRPr lang="en-US" sz="1150" dirty="0"/>
          </a:p>
        </p:txBody>
      </p:sp>
      <p:sp>
        <p:nvSpPr>
          <p:cNvPr id="11" name="Shape 8"/>
          <p:cNvSpPr/>
          <p:nvPr/>
        </p:nvSpPr>
        <p:spPr>
          <a:xfrm>
            <a:off x="548640" y="5120640"/>
            <a:ext cx="11109960" cy="1234440"/>
          </a:xfrm>
          <a:prstGeom prst="rect">
            <a:avLst/>
          </a:prstGeom>
          <a:solidFill>
            <a:srgbClr val="FFF6EC"/>
          </a:solidFill>
          <a:ln w="12700">
            <a:solidFill>
              <a:srgbClr val="F26B38"/>
            </a:solidFill>
            <a:prstDash val="solid"/>
          </a:ln>
        </p:spPr>
      </p:sp>
      <p:sp>
        <p:nvSpPr>
          <p:cNvPr id="12" name="Shape 9"/>
          <p:cNvSpPr/>
          <p:nvPr/>
        </p:nvSpPr>
        <p:spPr>
          <a:xfrm>
            <a:off x="548640" y="5120640"/>
            <a:ext cx="73152" cy="1234440"/>
          </a:xfrm>
          <a:prstGeom prst="rect">
            <a:avLst/>
          </a:prstGeom>
          <a:solidFill>
            <a:srgbClr val="F26B38"/>
          </a:solidFill>
          <a:ln w="12700">
            <a:solidFill>
              <a:srgbClr val="F26B38"/>
            </a:solidFill>
            <a:prstDash val="solid"/>
          </a:ln>
        </p:spPr>
      </p:sp>
      <p:sp>
        <p:nvSpPr>
          <p:cNvPr id="13" name="Text 10"/>
          <p:cNvSpPr/>
          <p:nvPr/>
        </p:nvSpPr>
        <p:spPr>
          <a:xfrm>
            <a:off x="777240" y="5230368"/>
            <a:ext cx="10789920" cy="292608"/>
          </a:xfrm>
          <a:prstGeom prst="rect">
            <a:avLst/>
          </a:prstGeom>
          <a:noFill/>
          <a:ln/>
        </p:spPr>
        <p:txBody>
          <a:bodyPr wrap="square" lIns="0" tIns="0" rIns="0" bIns="0" rtlCol="0" anchor="ctr"/>
          <a:lstStyle/>
          <a:p>
            <a:pPr indent="0" marL="0">
              <a:buNone/>
            </a:pPr>
            <a:r>
              <a:rPr lang="en-US" sz="1200" b="1" spc="100" kern="0" dirty="0">
                <a:solidFill>
                  <a:srgbClr val="C84A1F"/>
                </a:solidFill>
                <a:latin typeface="Calibri" pitchFamily="34" charset="0"/>
                <a:ea typeface="Calibri" pitchFamily="34" charset="-122"/>
                <a:cs typeface="Calibri" pitchFamily="34" charset="-120"/>
              </a:rPr>
              <a:t>Why images are mandatory for ONDC</a:t>
            </a:r>
            <a:endParaRPr lang="en-US" sz="1200" dirty="0"/>
          </a:p>
        </p:txBody>
      </p:sp>
      <p:sp>
        <p:nvSpPr>
          <p:cNvPr id="14" name="Text 11"/>
          <p:cNvSpPr/>
          <p:nvPr/>
        </p:nvSpPr>
        <p:spPr>
          <a:xfrm>
            <a:off x="777240" y="5532120"/>
            <a:ext cx="10789920" cy="731520"/>
          </a:xfrm>
          <a:prstGeom prst="rect">
            <a:avLst/>
          </a:prstGeom>
          <a:noFill/>
          <a:ln/>
        </p:spPr>
        <p:txBody>
          <a:bodyPr wrap="square" lIns="0" tIns="0" rIns="0" bIns="0" rtlCol="0" anchor="ctr"/>
          <a:lstStyle/>
          <a:p>
            <a:pPr indent="0" marL="0">
              <a:spcAft>
                <a:spcPts val="300"/>
              </a:spcAft>
              <a:buNone/>
            </a:pPr>
            <a:r>
              <a:rPr lang="en-US" sz="1200" dirty="0">
                <a:solidFill>
                  <a:srgbClr val="1A2332"/>
                </a:solidFill>
                <a:latin typeface="Calibri" pitchFamily="34" charset="0"/>
                <a:ea typeface="Calibri" pitchFamily="34" charset="-122"/>
                <a:cs typeface="Calibri" pitchFamily="34" charset="-120"/>
              </a:rPr>
              <a:t>ONDC requires at least one image per SKU before it can be published to any buyer app — without it, the SKU is invisible to consumers. A separate Claude skill (sku-image-upload) automates this so sellers don't upload images one-by-one.</a:t>
            </a:r>
            <a:endParaRPr lang="en-US" sz="1200" dirty="0"/>
          </a:p>
        </p:txBody>
      </p:sp>
      <p:sp>
        <p:nvSpPr>
          <p:cNvPr id="15" name="Shape 12"/>
          <p:cNvSpPr/>
          <p:nvPr/>
        </p:nvSpPr>
        <p:spPr>
          <a:xfrm>
            <a:off x="0" y="6565392"/>
            <a:ext cx="12191695" cy="292608"/>
          </a:xfrm>
          <a:prstGeom prst="rect">
            <a:avLst/>
          </a:prstGeom>
          <a:solidFill>
            <a:srgbClr val="0F2742"/>
          </a:solidFill>
          <a:ln w="12700">
            <a:solidFill>
              <a:srgbClr val="0F2742"/>
            </a:solidFill>
            <a:prstDash val="solid"/>
          </a:ln>
        </p:spPr>
      </p:sp>
      <p:sp>
        <p:nvSpPr>
          <p:cNvPr id="16" name="Text 13"/>
          <p:cNvSpPr/>
          <p:nvPr/>
        </p:nvSpPr>
        <p:spPr>
          <a:xfrm>
            <a:off x="457200" y="6583680"/>
            <a:ext cx="731520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Qwipo Seller Store · Seller Training Guide · v1.1 · Internal Use</a:t>
            </a:r>
            <a:endParaRPr lang="en-US" sz="900" dirty="0"/>
          </a:p>
        </p:txBody>
      </p:sp>
      <p:sp>
        <p:nvSpPr>
          <p:cNvPr id="17" name="Text 14"/>
          <p:cNvSpPr/>
          <p:nvPr/>
        </p:nvSpPr>
        <p:spPr>
          <a:xfrm>
            <a:off x="10820095" y="6583680"/>
            <a:ext cx="914400" cy="256032"/>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18 / 33</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2742"/>
        </a:solidFill>
      </p:bgPr>
    </p:bg>
    <p:spTree>
      <p:nvGrpSpPr>
        <p:cNvPr id="1" name=""/>
        <p:cNvGrpSpPr/>
        <p:nvPr/>
      </p:nvGrpSpPr>
      <p:grpSpPr>
        <a:xfrm>
          <a:off x="0" y="0"/>
          <a:ext cx="0" cy="0"/>
          <a:chOff x="0" y="0"/>
          <a:chExt cx="0" cy="0"/>
        </a:xfrm>
      </p:grpSpPr>
      <p:sp>
        <p:nvSpPr>
          <p:cNvPr id="2" name="Shape 0"/>
          <p:cNvSpPr/>
          <p:nvPr/>
        </p:nvSpPr>
        <p:spPr>
          <a:xfrm>
            <a:off x="10820095" y="5486400"/>
            <a:ext cx="1371600" cy="1371600"/>
          </a:xfrm>
          <a:prstGeom prst="rect">
            <a:avLst/>
          </a:prstGeom>
          <a:solidFill>
            <a:srgbClr val="F26B38"/>
          </a:solidFill>
          <a:ln w="12700">
            <a:solidFill>
              <a:srgbClr val="F26B38"/>
            </a:solidFill>
            <a:prstDash val="solid"/>
          </a:ln>
        </p:spPr>
      </p:sp>
      <p:sp>
        <p:nvSpPr>
          <p:cNvPr id="3" name="Shape 1"/>
          <p:cNvSpPr/>
          <p:nvPr/>
        </p:nvSpPr>
        <p:spPr>
          <a:xfrm>
            <a:off x="548640" y="2194560"/>
            <a:ext cx="457200" cy="54864"/>
          </a:xfrm>
          <a:prstGeom prst="rect">
            <a:avLst/>
          </a:prstGeom>
          <a:solidFill>
            <a:srgbClr val="F26B38"/>
          </a:solidFill>
          <a:ln w="12700">
            <a:solidFill>
              <a:srgbClr val="F26B38"/>
            </a:solidFill>
            <a:prstDash val="solid"/>
          </a:ln>
        </p:spPr>
      </p:sp>
      <p:sp>
        <p:nvSpPr>
          <p:cNvPr id="4" name="Text 2"/>
          <p:cNvSpPr/>
          <p:nvPr/>
        </p:nvSpPr>
        <p:spPr>
          <a:xfrm>
            <a:off x="548640" y="2331720"/>
            <a:ext cx="9144000" cy="365760"/>
          </a:xfrm>
          <a:prstGeom prst="rect">
            <a:avLst/>
          </a:prstGeom>
          <a:noFill/>
          <a:ln/>
        </p:spPr>
        <p:txBody>
          <a:bodyPr wrap="square" rtlCol="0" anchor="ctr"/>
          <a:lstStyle/>
          <a:p>
            <a:pPr indent="0" marL="0">
              <a:buNone/>
            </a:pPr>
            <a:r>
              <a:rPr lang="en-US" sz="1300" b="1" spc="600" kern="0" dirty="0">
                <a:solidFill>
                  <a:srgbClr val="F26B38"/>
                </a:solidFill>
                <a:latin typeface="Calibri" pitchFamily="34" charset="0"/>
                <a:ea typeface="Calibri" pitchFamily="34" charset="-122"/>
                <a:cs typeface="Calibri" pitchFamily="34" charset="-120"/>
              </a:rPr>
              <a:t>MODULE 2</a:t>
            </a:r>
            <a:endParaRPr lang="en-US" sz="1300" dirty="0"/>
          </a:p>
        </p:txBody>
      </p:sp>
      <p:sp>
        <p:nvSpPr>
          <p:cNvPr id="5" name="Text 3"/>
          <p:cNvSpPr/>
          <p:nvPr/>
        </p:nvSpPr>
        <p:spPr>
          <a:xfrm>
            <a:off x="548640" y="2743200"/>
            <a:ext cx="10058400" cy="146304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Customers — who buys from you</a:t>
            </a:r>
            <a:endParaRPr lang="en-US" sz="4400" dirty="0"/>
          </a:p>
        </p:txBody>
      </p:sp>
      <p:sp>
        <p:nvSpPr>
          <p:cNvPr id="6" name="Text 4"/>
          <p:cNvSpPr/>
          <p:nvPr/>
        </p:nvSpPr>
        <p:spPr>
          <a:xfrm>
            <a:off x="548640" y="4297680"/>
            <a:ext cx="10058400" cy="1005840"/>
          </a:xfrm>
          <a:prstGeom prst="rect">
            <a:avLst/>
          </a:prstGeom>
          <a:noFill/>
          <a:ln/>
        </p:spPr>
        <p:txBody>
          <a:bodyPr wrap="square" lIns="0" tIns="0" rIns="0" bIns="0" rtlCol="0" anchor="ctr"/>
          <a:lstStyle/>
          <a:p>
            <a:pPr indent="0" marL="0">
              <a:buNone/>
            </a:pPr>
            <a:r>
              <a:rPr lang="en-US" sz="1700" dirty="0">
                <a:solidFill>
                  <a:srgbClr val="C9D6E5"/>
                </a:solidFill>
                <a:latin typeface="Calibri" pitchFamily="34" charset="0"/>
                <a:ea typeface="Calibri" pitchFamily="34" charset="-122"/>
                <a:cs typeface="Calibri" pitchFamily="34" charset="-120"/>
              </a:rPr>
              <a:t>Read-only view of the retailers connected to your seller account.</a:t>
            </a:r>
            <a:endParaRPr lang="en-US" sz="1700" dirty="0"/>
          </a:p>
        </p:txBody>
      </p:sp>
      <p:sp>
        <p:nvSpPr>
          <p:cNvPr id="7" name="Shape 5"/>
          <p:cNvSpPr/>
          <p:nvPr/>
        </p:nvSpPr>
        <p:spPr>
          <a:xfrm>
            <a:off x="0" y="6565392"/>
            <a:ext cx="12191695" cy="292608"/>
          </a:xfrm>
          <a:prstGeom prst="rect">
            <a:avLst/>
          </a:prstGeom>
          <a:solidFill>
            <a:srgbClr val="0F2742"/>
          </a:solidFill>
          <a:ln w="12700">
            <a:solidFill>
              <a:srgbClr val="0F2742"/>
            </a:solidFill>
            <a:prstDash val="solid"/>
          </a:ln>
        </p:spPr>
      </p:sp>
      <p:sp>
        <p:nvSpPr>
          <p:cNvPr id="8" name="Text 6"/>
          <p:cNvSpPr/>
          <p:nvPr/>
        </p:nvSpPr>
        <p:spPr>
          <a:xfrm>
            <a:off x="457200" y="6583680"/>
            <a:ext cx="731520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Qwipo Seller Store · Seller Training Guide · v1.1 · Internal Use</a:t>
            </a:r>
            <a:endParaRPr lang="en-US" sz="900" dirty="0"/>
          </a:p>
        </p:txBody>
      </p:sp>
      <p:sp>
        <p:nvSpPr>
          <p:cNvPr id="9" name="Text 7"/>
          <p:cNvSpPr/>
          <p:nvPr/>
        </p:nvSpPr>
        <p:spPr>
          <a:xfrm>
            <a:off x="10820095" y="6583680"/>
            <a:ext cx="914400" cy="256032"/>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19 / 33</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2742"/>
          </a:solidFill>
          <a:ln w="12700">
            <a:solidFill>
              <a:srgbClr val="0F2742"/>
            </a:solidFill>
            <a:prstDash val="solid"/>
          </a:ln>
        </p:spPr>
      </p:sp>
      <p:sp>
        <p:nvSpPr>
          <p:cNvPr id="3" name="Text 1"/>
          <p:cNvSpPr/>
          <p:nvPr/>
        </p:nvSpPr>
        <p:spPr>
          <a:xfrm>
            <a:off x="640080" y="320040"/>
            <a:ext cx="10058400" cy="320040"/>
          </a:xfrm>
          <a:prstGeom prst="rect">
            <a:avLst/>
          </a:prstGeom>
          <a:noFill/>
          <a:ln/>
        </p:spPr>
        <p:txBody>
          <a:bodyPr wrap="square" rtlCol="0" anchor="ctr"/>
          <a:lstStyle/>
          <a:p>
            <a:pPr indent="0" marL="0">
              <a:buNone/>
            </a:pPr>
            <a:r>
              <a:rPr lang="en-US" sz="1100" b="1" spc="400" kern="0" dirty="0">
                <a:solidFill>
                  <a:srgbClr val="F26B38"/>
                </a:solidFill>
                <a:latin typeface="Calibri" pitchFamily="34" charset="0"/>
                <a:ea typeface="Calibri" pitchFamily="34" charset="-122"/>
                <a:cs typeface="Calibri" pitchFamily="34" charset="-120"/>
              </a:rPr>
              <a:t>CUSTOMERS</a:t>
            </a:r>
            <a:endParaRPr lang="en-US" sz="1100" dirty="0"/>
          </a:p>
        </p:txBody>
      </p:sp>
      <p:sp>
        <p:nvSpPr>
          <p:cNvPr id="4" name="Text 2"/>
          <p:cNvSpPr/>
          <p:nvPr/>
        </p:nvSpPr>
        <p:spPr>
          <a:xfrm>
            <a:off x="640080" y="594360"/>
            <a:ext cx="10789920" cy="777240"/>
          </a:xfrm>
          <a:prstGeom prst="rect">
            <a:avLst/>
          </a:prstGeom>
          <a:noFill/>
          <a:ln/>
        </p:spPr>
        <p:txBody>
          <a:bodyPr wrap="square" lIns="0" tIns="0" rIns="0" bIns="0" rtlCol="0" anchor="ctr"/>
          <a:lstStyle/>
          <a:p>
            <a:pPr indent="0" marL="0">
              <a:buNone/>
            </a:pPr>
            <a:r>
              <a:rPr lang="en-US" sz="3000" b="1" dirty="0">
                <a:solidFill>
                  <a:srgbClr val="0F2742"/>
                </a:solidFill>
                <a:latin typeface="Calibri" pitchFamily="34" charset="0"/>
                <a:ea typeface="Calibri" pitchFamily="34" charset="-122"/>
                <a:cs typeface="Calibri" pitchFamily="34" charset="-120"/>
              </a:rPr>
              <a:t>What this module is — and what it isn't</a:t>
            </a:r>
            <a:endParaRPr lang="en-US" sz="3000" dirty="0"/>
          </a:p>
        </p:txBody>
      </p:sp>
      <p:sp>
        <p:nvSpPr>
          <p:cNvPr id="5" name="Shape 3"/>
          <p:cNvSpPr/>
          <p:nvPr/>
        </p:nvSpPr>
        <p:spPr>
          <a:xfrm>
            <a:off x="502920" y="1645920"/>
            <a:ext cx="6492240" cy="3383280"/>
          </a:xfrm>
          <a:prstGeom prst="rect">
            <a:avLst/>
          </a:prstGeom>
          <a:solidFill>
            <a:srgbClr val="FFFFFF"/>
          </a:solidFill>
          <a:ln w="9525">
            <a:solidFill>
              <a:srgbClr val="E2E8F0"/>
            </a:solidFill>
            <a:prstDash val="solid"/>
          </a:ln>
          <a:effectLst>
            <a:outerShdw sx="100000" sy="100000" kx="0" ky="0" algn="bl" rotWithShape="0" blurRad="152400" dist="38100" dir="5400000">
              <a:srgbClr val="000000">
                <a:alpha val="18000"/>
              </a:srgbClr>
            </a:outerShdw>
          </a:effectLst>
        </p:spPr>
      </p:sp>
      <p:pic>
        <p:nvPicPr>
          <p:cNvPr id="6" name="Image 0" descr="C:\Users\Lenovo\OneDrive - Xavica Primary\Desktop\Seller Store\.deck-qa\seller-img\image7.png">    </p:cNvPr>
          <p:cNvPicPr>
            <a:picLocks noChangeAspect="1"/>
          </p:cNvPicPr>
          <p:nvPr/>
        </p:nvPicPr>
        <p:blipFill>
          <a:blip r:embed="rId1"/>
          <a:srcRect l="0" r="0" t="0" b="0"/>
          <a:stretch/>
        </p:blipFill>
        <p:spPr>
          <a:xfrm>
            <a:off x="548640" y="1691640"/>
            <a:ext cx="6400800" cy="3291840"/>
          </a:xfrm>
          <a:prstGeom prst="rect">
            <a:avLst/>
          </a:prstGeom>
        </p:spPr>
      </p:pic>
      <p:sp>
        <p:nvSpPr>
          <p:cNvPr id="7" name="Shape 4"/>
          <p:cNvSpPr/>
          <p:nvPr/>
        </p:nvSpPr>
        <p:spPr>
          <a:xfrm>
            <a:off x="7178040" y="1691640"/>
            <a:ext cx="4526280" cy="329184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6000"/>
              </a:srgbClr>
            </a:outerShdw>
          </a:effectLst>
        </p:spPr>
      </p:sp>
      <p:sp>
        <p:nvSpPr>
          <p:cNvPr id="8" name="Shape 5"/>
          <p:cNvSpPr/>
          <p:nvPr/>
        </p:nvSpPr>
        <p:spPr>
          <a:xfrm>
            <a:off x="7178040" y="1691640"/>
            <a:ext cx="73152" cy="3291840"/>
          </a:xfrm>
          <a:prstGeom prst="rect">
            <a:avLst/>
          </a:prstGeom>
          <a:solidFill>
            <a:srgbClr val="1C9B8E"/>
          </a:solidFill>
          <a:ln w="12700">
            <a:solidFill>
              <a:srgbClr val="1C9B8E"/>
            </a:solidFill>
            <a:prstDash val="solid"/>
          </a:ln>
        </p:spPr>
      </p:sp>
      <p:sp>
        <p:nvSpPr>
          <p:cNvPr id="9" name="Text 6"/>
          <p:cNvSpPr/>
          <p:nvPr/>
        </p:nvSpPr>
        <p:spPr>
          <a:xfrm>
            <a:off x="7406640" y="1856232"/>
            <a:ext cx="4206240" cy="365760"/>
          </a:xfrm>
          <a:prstGeom prst="rect">
            <a:avLst/>
          </a:prstGeom>
          <a:noFill/>
          <a:ln/>
        </p:spPr>
        <p:txBody>
          <a:bodyPr wrap="square" lIns="0" tIns="0" rIns="0" bIns="0" rtlCol="0" anchor="ctr"/>
          <a:lstStyle/>
          <a:p>
            <a:pPr indent="0" marL="0">
              <a:buNone/>
            </a:pPr>
            <a:r>
              <a:rPr lang="en-US" sz="1500" b="1" dirty="0">
                <a:solidFill>
                  <a:srgbClr val="0F2742"/>
                </a:solidFill>
                <a:latin typeface="Calibri" pitchFamily="34" charset="0"/>
                <a:ea typeface="Calibri" pitchFamily="34" charset="-122"/>
                <a:cs typeface="Calibri" pitchFamily="34" charset="-120"/>
              </a:rPr>
              <a:t>What you can do here</a:t>
            </a:r>
            <a:endParaRPr lang="en-US" sz="1500" dirty="0"/>
          </a:p>
        </p:txBody>
      </p:sp>
      <p:sp>
        <p:nvSpPr>
          <p:cNvPr id="10" name="Text 7"/>
          <p:cNvSpPr/>
          <p:nvPr/>
        </p:nvSpPr>
        <p:spPr>
          <a:xfrm>
            <a:off x="7406640" y="2286000"/>
            <a:ext cx="4160520" cy="2560320"/>
          </a:xfrm>
          <a:prstGeom prst="rect">
            <a:avLst/>
          </a:prstGeom>
          <a:noFill/>
          <a:ln/>
        </p:spPr>
        <p:txBody>
          <a:bodyPr wrap="square" rtlCol="0" anchor="t"/>
          <a:lstStyle/>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Search by name, business, mobile, company, area, PIN</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Filter by status or company</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Export the full customer list</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Click View → see order history per customer</a:t>
            </a:r>
            <a:endParaRPr lang="en-US" sz="1150" dirty="0"/>
          </a:p>
        </p:txBody>
      </p:sp>
      <p:sp>
        <p:nvSpPr>
          <p:cNvPr id="11" name="Shape 8"/>
          <p:cNvSpPr/>
          <p:nvPr/>
        </p:nvSpPr>
        <p:spPr>
          <a:xfrm>
            <a:off x="548640" y="5120640"/>
            <a:ext cx="11109960" cy="1234440"/>
          </a:xfrm>
          <a:prstGeom prst="rect">
            <a:avLst/>
          </a:prstGeom>
          <a:solidFill>
            <a:srgbClr val="FFF6EC"/>
          </a:solidFill>
          <a:ln w="12700">
            <a:solidFill>
              <a:srgbClr val="F26B38"/>
            </a:solidFill>
            <a:prstDash val="solid"/>
          </a:ln>
        </p:spPr>
      </p:sp>
      <p:sp>
        <p:nvSpPr>
          <p:cNvPr id="12" name="Shape 9"/>
          <p:cNvSpPr/>
          <p:nvPr/>
        </p:nvSpPr>
        <p:spPr>
          <a:xfrm>
            <a:off x="548640" y="5120640"/>
            <a:ext cx="73152" cy="1234440"/>
          </a:xfrm>
          <a:prstGeom prst="rect">
            <a:avLst/>
          </a:prstGeom>
          <a:solidFill>
            <a:srgbClr val="F26B38"/>
          </a:solidFill>
          <a:ln w="12700">
            <a:solidFill>
              <a:srgbClr val="F26B38"/>
            </a:solidFill>
            <a:prstDash val="solid"/>
          </a:ln>
        </p:spPr>
      </p:sp>
      <p:sp>
        <p:nvSpPr>
          <p:cNvPr id="13" name="Text 10"/>
          <p:cNvSpPr/>
          <p:nvPr/>
        </p:nvSpPr>
        <p:spPr>
          <a:xfrm>
            <a:off x="777240" y="5230368"/>
            <a:ext cx="10789920" cy="292608"/>
          </a:xfrm>
          <a:prstGeom prst="rect">
            <a:avLst/>
          </a:prstGeom>
          <a:noFill/>
          <a:ln/>
        </p:spPr>
        <p:txBody>
          <a:bodyPr wrap="square" lIns="0" tIns="0" rIns="0" bIns="0" rtlCol="0" anchor="ctr"/>
          <a:lstStyle/>
          <a:p>
            <a:pPr indent="0" marL="0">
              <a:buNone/>
            </a:pPr>
            <a:r>
              <a:rPr lang="en-US" sz="1200" b="1" spc="100" kern="0" dirty="0">
                <a:solidFill>
                  <a:srgbClr val="C84A1F"/>
                </a:solidFill>
                <a:latin typeface="Calibri" pitchFamily="34" charset="0"/>
                <a:ea typeface="Calibri" pitchFamily="34" charset="-122"/>
                <a:cs typeface="Calibri" pitchFamily="34" charset="-120"/>
              </a:rPr>
              <a:t>Why it's read-only</a:t>
            </a:r>
            <a:endParaRPr lang="en-US" sz="1200" dirty="0"/>
          </a:p>
        </p:txBody>
      </p:sp>
      <p:sp>
        <p:nvSpPr>
          <p:cNvPr id="14" name="Text 11"/>
          <p:cNvSpPr/>
          <p:nvPr/>
        </p:nvSpPr>
        <p:spPr>
          <a:xfrm>
            <a:off x="777240" y="5532120"/>
            <a:ext cx="10789920" cy="731520"/>
          </a:xfrm>
          <a:prstGeom prst="rect">
            <a:avLst/>
          </a:prstGeom>
          <a:noFill/>
          <a:ln/>
        </p:spPr>
        <p:txBody>
          <a:bodyPr wrap="square" lIns="0" tIns="0" rIns="0" bIns="0" rtlCol="0" anchor="ctr"/>
          <a:lstStyle/>
          <a:p>
            <a:pPr indent="0" marL="0">
              <a:spcAft>
                <a:spcPts val="300"/>
              </a:spcAft>
              <a:buNone/>
            </a:pPr>
            <a:r>
              <a:rPr lang="en-US" sz="1200" dirty="0">
                <a:solidFill>
                  <a:srgbClr val="1A2332"/>
                </a:solidFill>
                <a:latin typeface="Calibri" pitchFamily="34" charset="0"/>
                <a:ea typeface="Calibri" pitchFamily="34" charset="-122"/>
                <a:cs typeface="Calibri" pitchFamily="34" charset="-120"/>
              </a:rPr>
              <a:t>Customers are not created in the seller portal — they come in from the buyer app or are linked by the Super Admin. A seller seeing 'Active' and 'Mixed' status here is just observing the result of those upstream actions, not editing them.</a:t>
            </a:r>
            <a:endParaRPr lang="en-US" sz="1200" dirty="0"/>
          </a:p>
        </p:txBody>
      </p:sp>
      <p:sp>
        <p:nvSpPr>
          <p:cNvPr id="15" name="Shape 12"/>
          <p:cNvSpPr/>
          <p:nvPr/>
        </p:nvSpPr>
        <p:spPr>
          <a:xfrm>
            <a:off x="0" y="6565392"/>
            <a:ext cx="12191695" cy="292608"/>
          </a:xfrm>
          <a:prstGeom prst="rect">
            <a:avLst/>
          </a:prstGeom>
          <a:solidFill>
            <a:srgbClr val="0F2742"/>
          </a:solidFill>
          <a:ln w="12700">
            <a:solidFill>
              <a:srgbClr val="0F2742"/>
            </a:solidFill>
            <a:prstDash val="solid"/>
          </a:ln>
        </p:spPr>
      </p:sp>
      <p:sp>
        <p:nvSpPr>
          <p:cNvPr id="16" name="Text 13"/>
          <p:cNvSpPr/>
          <p:nvPr/>
        </p:nvSpPr>
        <p:spPr>
          <a:xfrm>
            <a:off x="457200" y="6583680"/>
            <a:ext cx="731520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Qwipo Seller Store · Seller Training Guide · v1.1 · Internal Use</a:t>
            </a:r>
            <a:endParaRPr lang="en-US" sz="900" dirty="0"/>
          </a:p>
        </p:txBody>
      </p:sp>
      <p:sp>
        <p:nvSpPr>
          <p:cNvPr id="17" name="Text 14"/>
          <p:cNvSpPr/>
          <p:nvPr/>
        </p:nvSpPr>
        <p:spPr>
          <a:xfrm>
            <a:off x="10820095" y="6583680"/>
            <a:ext cx="914400" cy="256032"/>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20 / 33</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2742"/>
        </a:solidFill>
      </p:bgPr>
    </p:bg>
    <p:spTree>
      <p:nvGrpSpPr>
        <p:cNvPr id="1" name=""/>
        <p:cNvGrpSpPr/>
        <p:nvPr/>
      </p:nvGrpSpPr>
      <p:grpSpPr>
        <a:xfrm>
          <a:off x="0" y="0"/>
          <a:ext cx="0" cy="0"/>
          <a:chOff x="0" y="0"/>
          <a:chExt cx="0" cy="0"/>
        </a:xfrm>
      </p:grpSpPr>
      <p:sp>
        <p:nvSpPr>
          <p:cNvPr id="2" name="Shape 0"/>
          <p:cNvSpPr/>
          <p:nvPr/>
        </p:nvSpPr>
        <p:spPr>
          <a:xfrm>
            <a:off x="10820095" y="5486400"/>
            <a:ext cx="1371600" cy="1371600"/>
          </a:xfrm>
          <a:prstGeom prst="rect">
            <a:avLst/>
          </a:prstGeom>
          <a:solidFill>
            <a:srgbClr val="F26B38"/>
          </a:solidFill>
          <a:ln w="12700">
            <a:solidFill>
              <a:srgbClr val="F26B38"/>
            </a:solidFill>
            <a:prstDash val="solid"/>
          </a:ln>
        </p:spPr>
      </p:sp>
      <p:sp>
        <p:nvSpPr>
          <p:cNvPr id="3" name="Shape 1"/>
          <p:cNvSpPr/>
          <p:nvPr/>
        </p:nvSpPr>
        <p:spPr>
          <a:xfrm>
            <a:off x="548640" y="2194560"/>
            <a:ext cx="457200" cy="54864"/>
          </a:xfrm>
          <a:prstGeom prst="rect">
            <a:avLst/>
          </a:prstGeom>
          <a:solidFill>
            <a:srgbClr val="F26B38"/>
          </a:solidFill>
          <a:ln w="12700">
            <a:solidFill>
              <a:srgbClr val="F26B38"/>
            </a:solidFill>
            <a:prstDash val="solid"/>
          </a:ln>
        </p:spPr>
      </p:sp>
      <p:sp>
        <p:nvSpPr>
          <p:cNvPr id="4" name="Text 2"/>
          <p:cNvSpPr/>
          <p:nvPr/>
        </p:nvSpPr>
        <p:spPr>
          <a:xfrm>
            <a:off x="548640" y="2331720"/>
            <a:ext cx="9144000" cy="365760"/>
          </a:xfrm>
          <a:prstGeom prst="rect">
            <a:avLst/>
          </a:prstGeom>
          <a:noFill/>
          <a:ln/>
        </p:spPr>
        <p:txBody>
          <a:bodyPr wrap="square" rtlCol="0" anchor="ctr"/>
          <a:lstStyle/>
          <a:p>
            <a:pPr indent="0" marL="0">
              <a:buNone/>
            </a:pPr>
            <a:r>
              <a:rPr lang="en-US" sz="1300" b="1" spc="600" kern="0" dirty="0">
                <a:solidFill>
                  <a:srgbClr val="F26B38"/>
                </a:solidFill>
                <a:latin typeface="Calibri" pitchFamily="34" charset="0"/>
                <a:ea typeface="Calibri" pitchFamily="34" charset="-122"/>
                <a:cs typeface="Calibri" pitchFamily="34" charset="-120"/>
              </a:rPr>
              <a:t>MODULE 3</a:t>
            </a:r>
            <a:endParaRPr lang="en-US" sz="1300" dirty="0"/>
          </a:p>
        </p:txBody>
      </p:sp>
      <p:sp>
        <p:nvSpPr>
          <p:cNvPr id="5" name="Text 3"/>
          <p:cNvSpPr/>
          <p:nvPr/>
        </p:nvSpPr>
        <p:spPr>
          <a:xfrm>
            <a:off x="548640" y="2743200"/>
            <a:ext cx="10058400" cy="146304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Offers &amp; Schemes — pricing levers</a:t>
            </a:r>
            <a:endParaRPr lang="en-US" sz="4400" dirty="0"/>
          </a:p>
        </p:txBody>
      </p:sp>
      <p:sp>
        <p:nvSpPr>
          <p:cNvPr id="6" name="Text 4"/>
          <p:cNvSpPr/>
          <p:nvPr/>
        </p:nvSpPr>
        <p:spPr>
          <a:xfrm>
            <a:off x="548640" y="4297680"/>
            <a:ext cx="10058400" cy="1005840"/>
          </a:xfrm>
          <a:prstGeom prst="rect">
            <a:avLst/>
          </a:prstGeom>
          <a:noFill/>
          <a:ln/>
        </p:spPr>
        <p:txBody>
          <a:bodyPr wrap="square" lIns="0" tIns="0" rIns="0" bIns="0" rtlCol="0" anchor="ctr"/>
          <a:lstStyle/>
          <a:p>
            <a:pPr indent="0" marL="0">
              <a:buNone/>
            </a:pPr>
            <a:r>
              <a:rPr lang="en-US" sz="1700" dirty="0">
                <a:solidFill>
                  <a:srgbClr val="C9D6E5"/>
                </a:solidFill>
                <a:latin typeface="Calibri" pitchFamily="34" charset="0"/>
                <a:ea typeface="Calibri" pitchFamily="34" charset="-122"/>
                <a:cs typeface="Calibri" pitchFamily="34" charset="-120"/>
              </a:rPr>
              <a:t>Phase 1: Quantity Pricing Scheme (QPS) only. Everything else is roadmap.</a:t>
            </a:r>
            <a:endParaRPr lang="en-US" sz="1700" dirty="0"/>
          </a:p>
        </p:txBody>
      </p:sp>
      <p:sp>
        <p:nvSpPr>
          <p:cNvPr id="7" name="Shape 5"/>
          <p:cNvSpPr/>
          <p:nvPr/>
        </p:nvSpPr>
        <p:spPr>
          <a:xfrm>
            <a:off x="0" y="6565392"/>
            <a:ext cx="12191695" cy="292608"/>
          </a:xfrm>
          <a:prstGeom prst="rect">
            <a:avLst/>
          </a:prstGeom>
          <a:solidFill>
            <a:srgbClr val="0F2742"/>
          </a:solidFill>
          <a:ln w="12700">
            <a:solidFill>
              <a:srgbClr val="0F2742"/>
            </a:solidFill>
            <a:prstDash val="solid"/>
          </a:ln>
        </p:spPr>
      </p:sp>
      <p:sp>
        <p:nvSpPr>
          <p:cNvPr id="8" name="Text 6"/>
          <p:cNvSpPr/>
          <p:nvPr/>
        </p:nvSpPr>
        <p:spPr>
          <a:xfrm>
            <a:off x="457200" y="6583680"/>
            <a:ext cx="731520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Qwipo Seller Store · Seller Training Guide · v1.1 · Internal Use</a:t>
            </a:r>
            <a:endParaRPr lang="en-US" sz="900" dirty="0"/>
          </a:p>
        </p:txBody>
      </p:sp>
      <p:sp>
        <p:nvSpPr>
          <p:cNvPr id="9" name="Text 7"/>
          <p:cNvSpPr/>
          <p:nvPr/>
        </p:nvSpPr>
        <p:spPr>
          <a:xfrm>
            <a:off x="10820095" y="6583680"/>
            <a:ext cx="914400" cy="256032"/>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21 / 33</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2742"/>
          </a:solidFill>
          <a:ln w="12700">
            <a:solidFill>
              <a:srgbClr val="0F2742"/>
            </a:solidFill>
            <a:prstDash val="solid"/>
          </a:ln>
        </p:spPr>
      </p:sp>
      <p:sp>
        <p:nvSpPr>
          <p:cNvPr id="3" name="Text 1"/>
          <p:cNvSpPr/>
          <p:nvPr/>
        </p:nvSpPr>
        <p:spPr>
          <a:xfrm>
            <a:off x="640080" y="320040"/>
            <a:ext cx="10058400" cy="320040"/>
          </a:xfrm>
          <a:prstGeom prst="rect">
            <a:avLst/>
          </a:prstGeom>
          <a:noFill/>
          <a:ln/>
        </p:spPr>
        <p:txBody>
          <a:bodyPr wrap="square" rtlCol="0" anchor="ctr"/>
          <a:lstStyle/>
          <a:p>
            <a:pPr indent="0" marL="0">
              <a:buNone/>
            </a:pPr>
            <a:r>
              <a:rPr lang="en-US" sz="1100" b="1" spc="400" kern="0" dirty="0">
                <a:solidFill>
                  <a:srgbClr val="F26B38"/>
                </a:solidFill>
                <a:latin typeface="Calibri" pitchFamily="34" charset="0"/>
                <a:ea typeface="Calibri" pitchFamily="34" charset="-122"/>
                <a:cs typeface="Calibri" pitchFamily="34" charset="-120"/>
              </a:rPr>
              <a:t>OFFERS &amp; SCHEMES</a:t>
            </a:r>
            <a:endParaRPr lang="en-US" sz="1100" dirty="0"/>
          </a:p>
        </p:txBody>
      </p:sp>
      <p:sp>
        <p:nvSpPr>
          <p:cNvPr id="4" name="Text 2"/>
          <p:cNvSpPr/>
          <p:nvPr/>
        </p:nvSpPr>
        <p:spPr>
          <a:xfrm>
            <a:off x="640080" y="594360"/>
            <a:ext cx="10789920" cy="777240"/>
          </a:xfrm>
          <a:prstGeom prst="rect">
            <a:avLst/>
          </a:prstGeom>
          <a:noFill/>
          <a:ln/>
        </p:spPr>
        <p:txBody>
          <a:bodyPr wrap="square" lIns="0" tIns="0" rIns="0" bIns="0" rtlCol="0" anchor="ctr"/>
          <a:lstStyle/>
          <a:p>
            <a:pPr indent="0" marL="0">
              <a:buNone/>
            </a:pPr>
            <a:r>
              <a:rPr lang="en-US" sz="3000" b="1" dirty="0">
                <a:solidFill>
                  <a:srgbClr val="0F2742"/>
                </a:solidFill>
                <a:latin typeface="Calibri" pitchFamily="34" charset="0"/>
                <a:ea typeface="Calibri" pitchFamily="34" charset="-122"/>
                <a:cs typeface="Calibri" pitchFamily="34" charset="-120"/>
              </a:rPr>
              <a:t>What's available now vs. coming soon</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109960" cy="914400"/>
        </p:xfrm>
        <a:graphic>
          <a:graphicData uri="http://schemas.openxmlformats.org/drawingml/2006/table">
            <a:tbl>
              <a:tblPr/>
              <a:tblGrid>
                <a:gridCol w="2194560"/>
                <a:gridCol w="6080760"/>
                <a:gridCol w="28346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Offer type</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74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does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74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742"/>
                    </a:solidFill>
                  </a:tcPr>
                </a:tc>
              </a:tr>
              <a:tr h="310896">
                <a:tc>
                  <a:txBody>
                    <a:bodyPr/>
                    <a:lstStyle/>
                    <a:p>
                      <a:pPr indent="0" marL="0">
                        <a:buNone/>
                      </a:pPr>
                      <a:r>
                        <a:rPr lang="en-US" sz="1150" b="1" dirty="0">
                          <a:solidFill>
                            <a:srgbClr val="1F8A4C"/>
                          </a:solidFill>
                          <a:latin typeface="Calibri" pitchFamily="34" charset="0"/>
                          <a:ea typeface="Calibri" pitchFamily="34" charset="-122"/>
                          <a:cs typeface="Calibri" pitchFamily="34" charset="-120"/>
                        </a:rPr>
                        <a:t>QPS</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A2332"/>
                          </a:solidFill>
                          <a:latin typeface="Calibri" pitchFamily="34" charset="0"/>
                          <a:ea typeface="Calibri" pitchFamily="34" charset="-122"/>
                          <a:cs typeface="Calibri" pitchFamily="34" charset="-120"/>
                        </a:rPr>
                        <a:t>Quantity-based price slabs with tiered discounts</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b="1" dirty="0">
                          <a:solidFill>
                            <a:srgbClr val="1F8A4C"/>
                          </a:solidFill>
                          <a:latin typeface="Calibri" pitchFamily="34" charset="0"/>
                          <a:ea typeface="Calibri" pitchFamily="34" charset="-122"/>
                          <a:cs typeface="Calibri" pitchFamily="34" charset="-120"/>
                        </a:rPr>
                        <a:t>Available now</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1A2332"/>
                          </a:solidFill>
                          <a:latin typeface="Calibri" pitchFamily="34" charset="0"/>
                          <a:ea typeface="Calibri" pitchFamily="34" charset="-122"/>
                          <a:cs typeface="Calibri" pitchFamily="34" charset="-120"/>
                        </a:rPr>
                        <a:t>Value Slab</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A2332"/>
                          </a:solidFill>
                          <a:latin typeface="Calibri" pitchFamily="34" charset="0"/>
                          <a:ea typeface="Calibri" pitchFamily="34" charset="-122"/>
                          <a:cs typeface="Calibri" pitchFamily="34" charset="-120"/>
                        </a:rPr>
                        <a:t>Order value-based discount tiers</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5A6776"/>
                          </a:solidFill>
                          <a:latin typeface="Calibri" pitchFamily="34" charset="0"/>
                          <a:ea typeface="Calibri" pitchFamily="34" charset="-122"/>
                          <a:cs typeface="Calibri" pitchFamily="34" charset="-120"/>
                        </a:rPr>
                        <a:t>Coming soon</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1A2332"/>
                          </a:solidFill>
                          <a:latin typeface="Calibri" pitchFamily="34" charset="0"/>
                          <a:ea typeface="Calibri" pitchFamily="34" charset="-122"/>
                          <a:cs typeface="Calibri" pitchFamily="34" charset="-120"/>
                        </a:rPr>
                        <a:t>BOGO</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A2332"/>
                          </a:solidFill>
                          <a:latin typeface="Calibri" pitchFamily="34" charset="0"/>
                          <a:ea typeface="Calibri" pitchFamily="34" charset="-122"/>
                          <a:cs typeface="Calibri" pitchFamily="34" charset="-120"/>
                        </a:rPr>
                        <a:t>Buy X get Y free</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5A6776"/>
                          </a:solidFill>
                          <a:latin typeface="Calibri" pitchFamily="34" charset="0"/>
                          <a:ea typeface="Calibri" pitchFamily="34" charset="-122"/>
                          <a:cs typeface="Calibri" pitchFamily="34" charset="-120"/>
                        </a:rPr>
                        <a:t>Coming soon</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1A2332"/>
                          </a:solidFill>
                          <a:latin typeface="Calibri" pitchFamily="34" charset="0"/>
                          <a:ea typeface="Calibri" pitchFamily="34" charset="-122"/>
                          <a:cs typeface="Calibri" pitchFamily="34" charset="-120"/>
                        </a:rPr>
                        <a:t>Case Bonus</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A2332"/>
                          </a:solidFill>
                          <a:latin typeface="Calibri" pitchFamily="34" charset="0"/>
                          <a:ea typeface="Calibri" pitchFamily="34" charset="-122"/>
                          <a:cs typeface="Calibri" pitchFamily="34" charset="-120"/>
                        </a:rPr>
                        <a:t>Extra cases free on bulk purchase</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5A6776"/>
                          </a:solidFill>
                          <a:latin typeface="Calibri" pitchFamily="34" charset="0"/>
                          <a:ea typeface="Calibri" pitchFamily="34" charset="-122"/>
                          <a:cs typeface="Calibri" pitchFamily="34" charset="-120"/>
                        </a:rPr>
                        <a:t>Coming soon</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1A2332"/>
                          </a:solidFill>
                          <a:latin typeface="Calibri" pitchFamily="34" charset="0"/>
                          <a:ea typeface="Calibri" pitchFamily="34" charset="-122"/>
                          <a:cs typeface="Calibri" pitchFamily="34" charset="-120"/>
                        </a:rPr>
                        <a:t>Off-Invoice</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A2332"/>
                          </a:solidFill>
                          <a:latin typeface="Calibri" pitchFamily="34" charset="0"/>
                          <a:ea typeface="Calibri" pitchFamily="34" charset="-122"/>
                          <a:cs typeface="Calibri" pitchFamily="34" charset="-120"/>
                        </a:rPr>
                        <a:t>Flat discount on invoice total</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5A6776"/>
                          </a:solidFill>
                          <a:latin typeface="Calibri" pitchFamily="34" charset="0"/>
                          <a:ea typeface="Calibri" pitchFamily="34" charset="-122"/>
                          <a:cs typeface="Calibri" pitchFamily="34" charset="-120"/>
                        </a:rPr>
                        <a:t>Coming soon</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1A2332"/>
                          </a:solidFill>
                          <a:latin typeface="Calibri" pitchFamily="34" charset="0"/>
                          <a:ea typeface="Calibri" pitchFamily="34" charset="-122"/>
                          <a:cs typeface="Calibri" pitchFamily="34" charset="-120"/>
                        </a:rPr>
                        <a:t>Display Allowance</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A2332"/>
                          </a:solidFill>
                          <a:latin typeface="Calibri" pitchFamily="34" charset="0"/>
                          <a:ea typeface="Calibri" pitchFamily="34" charset="-122"/>
                          <a:cs typeface="Calibri" pitchFamily="34" charset="-120"/>
                        </a:rPr>
                        <a:t>Incentive for in-store display</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5A6776"/>
                          </a:solidFill>
                          <a:latin typeface="Calibri" pitchFamily="34" charset="0"/>
                          <a:ea typeface="Calibri" pitchFamily="34" charset="-122"/>
                          <a:cs typeface="Calibri" pitchFamily="34" charset="-120"/>
                        </a:rPr>
                        <a:t>Coming soon</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1A2332"/>
                          </a:solidFill>
                          <a:latin typeface="Calibri" pitchFamily="34" charset="0"/>
                          <a:ea typeface="Calibri" pitchFamily="34" charset="-122"/>
                          <a:cs typeface="Calibri" pitchFamily="34" charset="-120"/>
                        </a:rPr>
                        <a:t>Launch Incentive</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A2332"/>
                          </a:solidFill>
                          <a:latin typeface="Calibri" pitchFamily="34" charset="0"/>
                          <a:ea typeface="Calibri" pitchFamily="34" charset="-122"/>
                          <a:cs typeface="Calibri" pitchFamily="34" charset="-120"/>
                        </a:rPr>
                        <a:t>Special pricing for new launches</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5A6776"/>
                          </a:solidFill>
                          <a:latin typeface="Calibri" pitchFamily="34" charset="0"/>
                          <a:ea typeface="Calibri" pitchFamily="34" charset="-122"/>
                          <a:cs typeface="Calibri" pitchFamily="34" charset="-120"/>
                        </a:rPr>
                        <a:t>Coming soon</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1A2332"/>
                          </a:solidFill>
                          <a:latin typeface="Calibri" pitchFamily="34" charset="0"/>
                          <a:ea typeface="Calibri" pitchFamily="34" charset="-122"/>
                          <a:cs typeface="Calibri" pitchFamily="34" charset="-120"/>
                        </a:rPr>
                        <a:t>Loyalty Rebate</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A2332"/>
                          </a:solidFill>
                          <a:latin typeface="Calibri" pitchFamily="34" charset="0"/>
                          <a:ea typeface="Calibri" pitchFamily="34" charset="-122"/>
                          <a:cs typeface="Calibri" pitchFamily="34" charset="-120"/>
                        </a:rPr>
                        <a:t>Cashback rebate for repeat purchases</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5A6776"/>
                          </a:solidFill>
                          <a:latin typeface="Calibri" pitchFamily="34" charset="0"/>
                          <a:ea typeface="Calibri" pitchFamily="34" charset="-122"/>
                          <a:cs typeface="Calibri" pitchFamily="34" charset="-120"/>
                        </a:rPr>
                        <a:t>Coming soon</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1A2332"/>
                          </a:solidFill>
                          <a:latin typeface="Calibri" pitchFamily="34" charset="0"/>
                          <a:ea typeface="Calibri" pitchFamily="34" charset="-122"/>
                          <a:cs typeface="Calibri" pitchFamily="34" charset="-120"/>
                        </a:rPr>
                        <a:t>Combo Bundle</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A2332"/>
                          </a:solidFill>
                          <a:latin typeface="Calibri" pitchFamily="34" charset="0"/>
                          <a:ea typeface="Calibri" pitchFamily="34" charset="-122"/>
                          <a:cs typeface="Calibri" pitchFamily="34" charset="-120"/>
                        </a:rPr>
                        <a:t>Bundled products at discount</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5A6776"/>
                          </a:solidFill>
                          <a:latin typeface="Calibri" pitchFamily="34" charset="0"/>
                          <a:ea typeface="Calibri" pitchFamily="34" charset="-122"/>
                          <a:cs typeface="Calibri" pitchFamily="34" charset="-120"/>
                        </a:rPr>
                        <a:t>Coming soon</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1A2332"/>
                          </a:solidFill>
                          <a:latin typeface="Calibri" pitchFamily="34" charset="0"/>
                          <a:ea typeface="Calibri" pitchFamily="34" charset="-122"/>
                          <a:cs typeface="Calibri" pitchFamily="34" charset="-120"/>
                        </a:rPr>
                        <a:t>Early Payment</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1A2332"/>
                          </a:solidFill>
                          <a:latin typeface="Calibri" pitchFamily="34" charset="0"/>
                          <a:ea typeface="Calibri" pitchFamily="34" charset="-122"/>
                          <a:cs typeface="Calibri" pitchFamily="34" charset="-120"/>
                        </a:rPr>
                        <a:t>Discount for early invoice settlement</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5A6776"/>
                          </a:solidFill>
                          <a:latin typeface="Calibri" pitchFamily="34" charset="0"/>
                          <a:ea typeface="Calibri" pitchFamily="34" charset="-122"/>
                          <a:cs typeface="Calibri" pitchFamily="34" charset="-120"/>
                        </a:rPr>
                        <a:t>Coming soon</a:t>
                      </a:r>
                      <a:endParaRPr lang="en-US" sz="115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6" name="Shape 3"/>
          <p:cNvSpPr/>
          <p:nvPr/>
        </p:nvSpPr>
        <p:spPr>
          <a:xfrm>
            <a:off x="0" y="6565392"/>
            <a:ext cx="12191695" cy="292608"/>
          </a:xfrm>
          <a:prstGeom prst="rect">
            <a:avLst/>
          </a:prstGeom>
          <a:solidFill>
            <a:srgbClr val="0F2742"/>
          </a:solidFill>
          <a:ln w="12700">
            <a:solidFill>
              <a:srgbClr val="0F2742"/>
            </a:solidFill>
            <a:prstDash val="solid"/>
          </a:ln>
        </p:spPr>
      </p:sp>
      <p:sp>
        <p:nvSpPr>
          <p:cNvPr id="7" name="Text 4"/>
          <p:cNvSpPr/>
          <p:nvPr/>
        </p:nvSpPr>
        <p:spPr>
          <a:xfrm>
            <a:off x="457200" y="6583680"/>
            <a:ext cx="731520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Qwipo Seller Store · Seller Training Guide · v1.1 · Internal Use</a:t>
            </a:r>
            <a:endParaRPr lang="en-US" sz="900" dirty="0"/>
          </a:p>
        </p:txBody>
      </p:sp>
      <p:sp>
        <p:nvSpPr>
          <p:cNvPr id="8" name="Text 5"/>
          <p:cNvSpPr/>
          <p:nvPr/>
        </p:nvSpPr>
        <p:spPr>
          <a:xfrm>
            <a:off x="10820095" y="6583680"/>
            <a:ext cx="914400" cy="256032"/>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22 / 33</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2742"/>
          </a:solidFill>
          <a:ln w="12700">
            <a:solidFill>
              <a:srgbClr val="0F2742"/>
            </a:solidFill>
            <a:prstDash val="solid"/>
          </a:ln>
        </p:spPr>
      </p:sp>
      <p:sp>
        <p:nvSpPr>
          <p:cNvPr id="3" name="Text 1"/>
          <p:cNvSpPr/>
          <p:nvPr/>
        </p:nvSpPr>
        <p:spPr>
          <a:xfrm>
            <a:off x="640080" y="320040"/>
            <a:ext cx="10058400" cy="320040"/>
          </a:xfrm>
          <a:prstGeom prst="rect">
            <a:avLst/>
          </a:prstGeom>
          <a:noFill/>
          <a:ln/>
        </p:spPr>
        <p:txBody>
          <a:bodyPr wrap="square" rtlCol="0" anchor="ctr"/>
          <a:lstStyle/>
          <a:p>
            <a:pPr indent="0" marL="0">
              <a:buNone/>
            </a:pPr>
            <a:r>
              <a:rPr lang="en-US" sz="1100" b="1" spc="400" kern="0" dirty="0">
                <a:solidFill>
                  <a:srgbClr val="F26B38"/>
                </a:solidFill>
                <a:latin typeface="Calibri" pitchFamily="34" charset="0"/>
                <a:ea typeface="Calibri" pitchFamily="34" charset="-122"/>
                <a:cs typeface="Calibri" pitchFamily="34" charset="-120"/>
              </a:rPr>
              <a:t>OFFERS &amp; SCHEMES</a:t>
            </a:r>
            <a:endParaRPr lang="en-US" sz="1100" dirty="0"/>
          </a:p>
        </p:txBody>
      </p:sp>
      <p:sp>
        <p:nvSpPr>
          <p:cNvPr id="4" name="Text 2"/>
          <p:cNvSpPr/>
          <p:nvPr/>
        </p:nvSpPr>
        <p:spPr>
          <a:xfrm>
            <a:off x="640080" y="594360"/>
            <a:ext cx="10789920" cy="777240"/>
          </a:xfrm>
          <a:prstGeom prst="rect">
            <a:avLst/>
          </a:prstGeom>
          <a:noFill/>
          <a:ln/>
        </p:spPr>
        <p:txBody>
          <a:bodyPr wrap="square" lIns="0" tIns="0" rIns="0" bIns="0" rtlCol="0" anchor="ctr"/>
          <a:lstStyle/>
          <a:p>
            <a:pPr indent="0" marL="0">
              <a:buNone/>
            </a:pPr>
            <a:r>
              <a:rPr lang="en-US" sz="3000" b="1" dirty="0">
                <a:solidFill>
                  <a:srgbClr val="0F2742"/>
                </a:solidFill>
                <a:latin typeface="Calibri" pitchFamily="34" charset="0"/>
                <a:ea typeface="Calibri" pitchFamily="34" charset="-122"/>
                <a:cs typeface="Calibri" pitchFamily="34" charset="-120"/>
              </a:rPr>
              <a:t>Create a QPS scheme — step by step</a:t>
            </a:r>
            <a:endParaRPr lang="en-US" sz="3000" dirty="0"/>
          </a:p>
        </p:txBody>
      </p:sp>
      <p:sp>
        <p:nvSpPr>
          <p:cNvPr id="5" name="Shape 3"/>
          <p:cNvSpPr/>
          <p:nvPr/>
        </p:nvSpPr>
        <p:spPr>
          <a:xfrm>
            <a:off x="502920" y="1645920"/>
            <a:ext cx="6492240" cy="2834640"/>
          </a:xfrm>
          <a:prstGeom prst="rect">
            <a:avLst/>
          </a:prstGeom>
          <a:solidFill>
            <a:srgbClr val="FFFFFF"/>
          </a:solidFill>
          <a:ln w="9525">
            <a:solidFill>
              <a:srgbClr val="E2E8F0"/>
            </a:solidFill>
            <a:prstDash val="solid"/>
          </a:ln>
          <a:effectLst>
            <a:outerShdw sx="100000" sy="100000" kx="0" ky="0" algn="bl" rotWithShape="0" blurRad="152400" dist="38100" dir="5400000">
              <a:srgbClr val="000000">
                <a:alpha val="18000"/>
              </a:srgbClr>
            </a:outerShdw>
          </a:effectLst>
        </p:spPr>
      </p:sp>
      <p:pic>
        <p:nvPicPr>
          <p:cNvPr id="6" name="Image 0" descr="C:\Users\Lenovo\OneDrive - Xavica Primary\Desktop\Seller Store\.deck-qa\seller-img\image9.png">    </p:cNvPr>
          <p:cNvPicPr>
            <a:picLocks noChangeAspect="1"/>
          </p:cNvPicPr>
          <p:nvPr/>
        </p:nvPicPr>
        <p:blipFill>
          <a:blip r:embed="rId1"/>
          <a:srcRect l="0" r="0" t="0" b="0"/>
          <a:stretch/>
        </p:blipFill>
        <p:spPr>
          <a:xfrm>
            <a:off x="548640" y="1691640"/>
            <a:ext cx="6400800" cy="2743200"/>
          </a:xfrm>
          <a:prstGeom prst="rect">
            <a:avLst/>
          </a:prstGeom>
        </p:spPr>
      </p:pic>
      <p:sp>
        <p:nvSpPr>
          <p:cNvPr id="7" name="Shape 4"/>
          <p:cNvSpPr/>
          <p:nvPr/>
        </p:nvSpPr>
        <p:spPr>
          <a:xfrm>
            <a:off x="7178040" y="1691640"/>
            <a:ext cx="4526280" cy="274320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6000"/>
              </a:srgbClr>
            </a:outerShdw>
          </a:effectLst>
        </p:spPr>
      </p:sp>
      <p:sp>
        <p:nvSpPr>
          <p:cNvPr id="8" name="Shape 5"/>
          <p:cNvSpPr/>
          <p:nvPr/>
        </p:nvSpPr>
        <p:spPr>
          <a:xfrm>
            <a:off x="7178040" y="1691640"/>
            <a:ext cx="73152" cy="2743200"/>
          </a:xfrm>
          <a:prstGeom prst="rect">
            <a:avLst/>
          </a:prstGeom>
          <a:solidFill>
            <a:srgbClr val="F26B38"/>
          </a:solidFill>
          <a:ln w="12700">
            <a:solidFill>
              <a:srgbClr val="F26B38"/>
            </a:solidFill>
            <a:prstDash val="solid"/>
          </a:ln>
        </p:spPr>
      </p:sp>
      <p:sp>
        <p:nvSpPr>
          <p:cNvPr id="9" name="Text 6"/>
          <p:cNvSpPr/>
          <p:nvPr/>
        </p:nvSpPr>
        <p:spPr>
          <a:xfrm>
            <a:off x="7406640" y="1856232"/>
            <a:ext cx="4206240" cy="365760"/>
          </a:xfrm>
          <a:prstGeom prst="rect">
            <a:avLst/>
          </a:prstGeom>
          <a:noFill/>
          <a:ln/>
        </p:spPr>
        <p:txBody>
          <a:bodyPr wrap="square" lIns="0" tIns="0" rIns="0" bIns="0" rtlCol="0" anchor="ctr"/>
          <a:lstStyle/>
          <a:p>
            <a:pPr indent="0" marL="0">
              <a:buNone/>
            </a:pPr>
            <a:r>
              <a:rPr lang="en-US" sz="1500" b="1" dirty="0">
                <a:solidFill>
                  <a:srgbClr val="0F2742"/>
                </a:solidFill>
                <a:latin typeface="Calibri" pitchFamily="34" charset="0"/>
                <a:ea typeface="Calibri" pitchFamily="34" charset="-122"/>
                <a:cs typeface="Calibri" pitchFamily="34" charset="-120"/>
              </a:rPr>
              <a:t>Fields explained</a:t>
            </a:r>
            <a:endParaRPr lang="en-US" sz="1500" dirty="0"/>
          </a:p>
        </p:txBody>
      </p:sp>
      <p:sp>
        <p:nvSpPr>
          <p:cNvPr id="10" name="Text 7"/>
          <p:cNvSpPr/>
          <p:nvPr/>
        </p:nvSpPr>
        <p:spPr>
          <a:xfrm>
            <a:off x="7406640" y="2286000"/>
            <a:ext cx="4160520" cy="2011680"/>
          </a:xfrm>
          <a:prstGeom prst="rect">
            <a:avLst/>
          </a:prstGeom>
          <a:noFill/>
          <a:ln/>
        </p:spPr>
        <p:txBody>
          <a:bodyPr wrap="square" rtlCol="0" anchor="t"/>
          <a:lstStyle/>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Scheme Name — display name (e.g., QPS - Boost)</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SKU — single product the scheme applies to</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Start Date — auto-set to today</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End Date — last day the scheme is valid</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Pricing Slabs — quantity range + discount %</a:t>
            </a:r>
            <a:endParaRPr lang="en-US" sz="1150" dirty="0"/>
          </a:p>
        </p:txBody>
      </p:sp>
      <p:sp>
        <p:nvSpPr>
          <p:cNvPr id="11" name="Shape 8"/>
          <p:cNvSpPr/>
          <p:nvPr/>
        </p:nvSpPr>
        <p:spPr>
          <a:xfrm>
            <a:off x="548640" y="4572000"/>
            <a:ext cx="11109960" cy="1783080"/>
          </a:xfrm>
          <a:prstGeom prst="rect">
            <a:avLst/>
          </a:prstGeom>
          <a:solidFill>
            <a:srgbClr val="FFF6EC"/>
          </a:solidFill>
          <a:ln w="12700">
            <a:solidFill>
              <a:srgbClr val="F26B38"/>
            </a:solidFill>
            <a:prstDash val="solid"/>
          </a:ln>
        </p:spPr>
      </p:sp>
      <p:sp>
        <p:nvSpPr>
          <p:cNvPr id="12" name="Shape 9"/>
          <p:cNvSpPr/>
          <p:nvPr/>
        </p:nvSpPr>
        <p:spPr>
          <a:xfrm>
            <a:off x="548640" y="4572000"/>
            <a:ext cx="73152" cy="1783080"/>
          </a:xfrm>
          <a:prstGeom prst="rect">
            <a:avLst/>
          </a:prstGeom>
          <a:solidFill>
            <a:srgbClr val="F26B38"/>
          </a:solidFill>
          <a:ln w="12700">
            <a:solidFill>
              <a:srgbClr val="F26B38"/>
            </a:solidFill>
            <a:prstDash val="solid"/>
          </a:ln>
        </p:spPr>
      </p:sp>
      <p:sp>
        <p:nvSpPr>
          <p:cNvPr id="13" name="Text 10"/>
          <p:cNvSpPr/>
          <p:nvPr/>
        </p:nvSpPr>
        <p:spPr>
          <a:xfrm>
            <a:off x="777240" y="4681728"/>
            <a:ext cx="10789920" cy="292608"/>
          </a:xfrm>
          <a:prstGeom prst="rect">
            <a:avLst/>
          </a:prstGeom>
          <a:noFill/>
          <a:ln/>
        </p:spPr>
        <p:txBody>
          <a:bodyPr wrap="square" lIns="0" tIns="0" rIns="0" bIns="0" rtlCol="0" anchor="ctr"/>
          <a:lstStyle/>
          <a:p>
            <a:pPr indent="0" marL="0">
              <a:buNone/>
            </a:pPr>
            <a:r>
              <a:rPr lang="en-US" sz="1200" b="1" spc="100" kern="0" dirty="0">
                <a:solidFill>
                  <a:srgbClr val="C84A1F"/>
                </a:solidFill>
                <a:latin typeface="Calibri" pitchFamily="34" charset="0"/>
                <a:ea typeface="Calibri" pitchFamily="34" charset="-122"/>
                <a:cs typeface="Calibri" pitchFamily="34" charset="-120"/>
              </a:rPr>
              <a:t>How slabs are interpreted</a:t>
            </a:r>
            <a:endParaRPr lang="en-US" sz="1200" dirty="0"/>
          </a:p>
        </p:txBody>
      </p:sp>
      <p:sp>
        <p:nvSpPr>
          <p:cNvPr id="14" name="Text 11"/>
          <p:cNvSpPr/>
          <p:nvPr/>
        </p:nvSpPr>
        <p:spPr>
          <a:xfrm>
            <a:off x="777240" y="4983480"/>
            <a:ext cx="10789920" cy="1280160"/>
          </a:xfrm>
          <a:prstGeom prst="rect">
            <a:avLst/>
          </a:prstGeom>
          <a:noFill/>
          <a:ln/>
        </p:spPr>
        <p:txBody>
          <a:bodyPr wrap="square" lIns="0" tIns="0" rIns="0" bIns="0" rtlCol="0" anchor="ctr"/>
          <a:lstStyle/>
          <a:p>
            <a:pPr indent="0" marL="0">
              <a:spcAft>
                <a:spcPts val="300"/>
              </a:spcAft>
              <a:buNone/>
            </a:pPr>
            <a:r>
              <a:rPr lang="en-US" sz="1200" dirty="0">
                <a:solidFill>
                  <a:srgbClr val="1A2332"/>
                </a:solidFill>
                <a:latin typeface="Calibri" pitchFamily="34" charset="0"/>
                <a:ea typeface="Calibri" pitchFamily="34" charset="-122"/>
                <a:cs typeface="Calibri" pitchFamily="34" charset="-120"/>
              </a:rPr>
              <a:t>Each slab defines a quantity range and a discount %. The portal calculates 'Customer Pays' and 'Saving' live as you type. Orders above the last slab's max quantity continue to receive the highest slab's discount — i.e. the top tier is open-ended.</a:t>
            </a:r>
            <a:endParaRPr lang="en-US" sz="1200" dirty="0"/>
          </a:p>
        </p:txBody>
      </p:sp>
      <p:sp>
        <p:nvSpPr>
          <p:cNvPr id="15" name="Shape 12"/>
          <p:cNvSpPr/>
          <p:nvPr/>
        </p:nvSpPr>
        <p:spPr>
          <a:xfrm>
            <a:off x="0" y="6565392"/>
            <a:ext cx="12191695" cy="292608"/>
          </a:xfrm>
          <a:prstGeom prst="rect">
            <a:avLst/>
          </a:prstGeom>
          <a:solidFill>
            <a:srgbClr val="0F2742"/>
          </a:solidFill>
          <a:ln w="12700">
            <a:solidFill>
              <a:srgbClr val="0F2742"/>
            </a:solidFill>
            <a:prstDash val="solid"/>
          </a:ln>
        </p:spPr>
      </p:sp>
      <p:sp>
        <p:nvSpPr>
          <p:cNvPr id="16" name="Text 13"/>
          <p:cNvSpPr/>
          <p:nvPr/>
        </p:nvSpPr>
        <p:spPr>
          <a:xfrm>
            <a:off x="457200" y="6583680"/>
            <a:ext cx="731520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Qwipo Seller Store · Seller Training Guide · v1.1 · Internal Use</a:t>
            </a:r>
            <a:endParaRPr lang="en-US" sz="900" dirty="0"/>
          </a:p>
        </p:txBody>
      </p:sp>
      <p:sp>
        <p:nvSpPr>
          <p:cNvPr id="17" name="Text 14"/>
          <p:cNvSpPr/>
          <p:nvPr/>
        </p:nvSpPr>
        <p:spPr>
          <a:xfrm>
            <a:off x="10820095" y="6583680"/>
            <a:ext cx="914400" cy="256032"/>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23 / 33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2742"/>
          </a:solidFill>
          <a:ln w="12700">
            <a:solidFill>
              <a:srgbClr val="0F2742"/>
            </a:solidFill>
            <a:prstDash val="solid"/>
          </a:ln>
        </p:spPr>
      </p:sp>
      <p:sp>
        <p:nvSpPr>
          <p:cNvPr id="3" name="Text 1"/>
          <p:cNvSpPr/>
          <p:nvPr/>
        </p:nvSpPr>
        <p:spPr>
          <a:xfrm>
            <a:off x="640080" y="320040"/>
            <a:ext cx="10058400" cy="320040"/>
          </a:xfrm>
          <a:prstGeom prst="rect">
            <a:avLst/>
          </a:prstGeom>
          <a:noFill/>
          <a:ln/>
        </p:spPr>
        <p:txBody>
          <a:bodyPr wrap="square" rtlCol="0" anchor="ctr"/>
          <a:lstStyle/>
          <a:p>
            <a:pPr indent="0" marL="0">
              <a:buNone/>
            </a:pPr>
            <a:r>
              <a:rPr lang="en-US" sz="1100" b="1" spc="400" kern="0" dirty="0">
                <a:solidFill>
                  <a:srgbClr val="F26B38"/>
                </a:solidFill>
                <a:latin typeface="Calibri" pitchFamily="34" charset="0"/>
                <a:ea typeface="Calibri" pitchFamily="34" charset="-122"/>
                <a:cs typeface="Calibri" pitchFamily="34" charset="-120"/>
              </a:rPr>
              <a:t>OFFERS &amp; SCHEMES</a:t>
            </a:r>
            <a:endParaRPr lang="en-US" sz="1100" dirty="0"/>
          </a:p>
        </p:txBody>
      </p:sp>
      <p:sp>
        <p:nvSpPr>
          <p:cNvPr id="4" name="Text 2"/>
          <p:cNvSpPr/>
          <p:nvPr/>
        </p:nvSpPr>
        <p:spPr>
          <a:xfrm>
            <a:off x="640080" y="594360"/>
            <a:ext cx="10789920" cy="777240"/>
          </a:xfrm>
          <a:prstGeom prst="rect">
            <a:avLst/>
          </a:prstGeom>
          <a:noFill/>
          <a:ln/>
        </p:spPr>
        <p:txBody>
          <a:bodyPr wrap="square" lIns="0" tIns="0" rIns="0" bIns="0" rtlCol="0" anchor="ctr"/>
          <a:lstStyle/>
          <a:p>
            <a:pPr indent="0" marL="0">
              <a:buNone/>
            </a:pPr>
            <a:r>
              <a:rPr lang="en-US" sz="3000" b="1" dirty="0">
                <a:solidFill>
                  <a:srgbClr val="0F2742"/>
                </a:solidFill>
                <a:latin typeface="Calibri" pitchFamily="34" charset="0"/>
                <a:ea typeface="Calibri" pitchFamily="34" charset="-122"/>
                <a:cs typeface="Calibri" pitchFamily="34" charset="-120"/>
              </a:rPr>
              <a:t>Viewing and editing active schemes</a:t>
            </a:r>
            <a:endParaRPr lang="en-US" sz="3000" dirty="0"/>
          </a:p>
        </p:txBody>
      </p:sp>
      <p:sp>
        <p:nvSpPr>
          <p:cNvPr id="5" name="Shape 3"/>
          <p:cNvSpPr/>
          <p:nvPr/>
        </p:nvSpPr>
        <p:spPr>
          <a:xfrm>
            <a:off x="502920" y="1645920"/>
            <a:ext cx="6492240" cy="3383280"/>
          </a:xfrm>
          <a:prstGeom prst="rect">
            <a:avLst/>
          </a:prstGeom>
          <a:solidFill>
            <a:srgbClr val="FFFFFF"/>
          </a:solidFill>
          <a:ln w="9525">
            <a:solidFill>
              <a:srgbClr val="E2E8F0"/>
            </a:solidFill>
            <a:prstDash val="solid"/>
          </a:ln>
          <a:effectLst>
            <a:outerShdw sx="100000" sy="100000" kx="0" ky="0" algn="bl" rotWithShape="0" blurRad="152400" dist="38100" dir="5400000">
              <a:srgbClr val="000000">
                <a:alpha val="18000"/>
              </a:srgbClr>
            </a:outerShdw>
          </a:effectLst>
        </p:spPr>
      </p:sp>
      <p:pic>
        <p:nvPicPr>
          <p:cNvPr id="6" name="Image 0" descr="C:\Users\Lenovo\OneDrive - Xavica Primary\Desktop\Seller Store\.deck-qa\seller-img\image8.png">    </p:cNvPr>
          <p:cNvPicPr>
            <a:picLocks noChangeAspect="1"/>
          </p:cNvPicPr>
          <p:nvPr/>
        </p:nvPicPr>
        <p:blipFill>
          <a:blip r:embed="rId1"/>
          <a:srcRect l="0" r="0" t="0" b="0"/>
          <a:stretch/>
        </p:blipFill>
        <p:spPr>
          <a:xfrm>
            <a:off x="548640" y="1691640"/>
            <a:ext cx="6400800" cy="3291840"/>
          </a:xfrm>
          <a:prstGeom prst="rect">
            <a:avLst/>
          </a:prstGeom>
        </p:spPr>
      </p:pic>
      <p:sp>
        <p:nvSpPr>
          <p:cNvPr id="7" name="Shape 4"/>
          <p:cNvSpPr/>
          <p:nvPr/>
        </p:nvSpPr>
        <p:spPr>
          <a:xfrm>
            <a:off x="7178040" y="1691640"/>
            <a:ext cx="4526280" cy="329184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6000"/>
              </a:srgbClr>
            </a:outerShdw>
          </a:effectLst>
        </p:spPr>
      </p:sp>
      <p:sp>
        <p:nvSpPr>
          <p:cNvPr id="8" name="Shape 5"/>
          <p:cNvSpPr/>
          <p:nvPr/>
        </p:nvSpPr>
        <p:spPr>
          <a:xfrm>
            <a:off x="7178040" y="1691640"/>
            <a:ext cx="73152" cy="3291840"/>
          </a:xfrm>
          <a:prstGeom prst="rect">
            <a:avLst/>
          </a:prstGeom>
          <a:solidFill>
            <a:srgbClr val="1C9B8E"/>
          </a:solidFill>
          <a:ln w="12700">
            <a:solidFill>
              <a:srgbClr val="1C9B8E"/>
            </a:solidFill>
            <a:prstDash val="solid"/>
          </a:ln>
        </p:spPr>
      </p:sp>
      <p:sp>
        <p:nvSpPr>
          <p:cNvPr id="9" name="Text 6"/>
          <p:cNvSpPr/>
          <p:nvPr/>
        </p:nvSpPr>
        <p:spPr>
          <a:xfrm>
            <a:off x="7406640" y="1856232"/>
            <a:ext cx="4206240" cy="365760"/>
          </a:xfrm>
          <a:prstGeom prst="rect">
            <a:avLst/>
          </a:prstGeom>
          <a:noFill/>
          <a:ln/>
        </p:spPr>
        <p:txBody>
          <a:bodyPr wrap="square" lIns="0" tIns="0" rIns="0" bIns="0" rtlCol="0" anchor="ctr"/>
          <a:lstStyle/>
          <a:p>
            <a:pPr indent="0" marL="0">
              <a:buNone/>
            </a:pPr>
            <a:r>
              <a:rPr lang="en-US" sz="1500" b="1" dirty="0">
                <a:solidFill>
                  <a:srgbClr val="0F2742"/>
                </a:solidFill>
                <a:latin typeface="Calibri" pitchFamily="34" charset="0"/>
                <a:ea typeface="Calibri" pitchFamily="34" charset="-122"/>
                <a:cs typeface="Calibri" pitchFamily="34" charset="-120"/>
              </a:rPr>
              <a:t>What the list shows</a:t>
            </a:r>
            <a:endParaRPr lang="en-US" sz="1500" dirty="0"/>
          </a:p>
        </p:txBody>
      </p:sp>
      <p:sp>
        <p:nvSpPr>
          <p:cNvPr id="10" name="Text 7"/>
          <p:cNvSpPr/>
          <p:nvPr/>
        </p:nvSpPr>
        <p:spPr>
          <a:xfrm>
            <a:off x="7406640" y="2286000"/>
            <a:ext cx="4160520" cy="2560320"/>
          </a:xfrm>
          <a:prstGeom prst="rect">
            <a:avLst/>
          </a:prstGeom>
          <a:noFill/>
          <a:ln/>
        </p:spPr>
        <p:txBody>
          <a:bodyPr wrap="square" rtlCol="0" anchor="t"/>
          <a:lstStyle/>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Offer Code — system-generated identifier</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SKU — product the scheme applies to</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Offer Type — QPS in Phase 1</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Validity dates — start / end</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Status — Active / Inactive</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Eye icon → view, Pencil icon → edit</a:t>
            </a:r>
            <a:endParaRPr lang="en-US" sz="1150" dirty="0"/>
          </a:p>
        </p:txBody>
      </p:sp>
      <p:sp>
        <p:nvSpPr>
          <p:cNvPr id="11" name="Shape 8"/>
          <p:cNvSpPr/>
          <p:nvPr/>
        </p:nvSpPr>
        <p:spPr>
          <a:xfrm>
            <a:off x="0" y="6565392"/>
            <a:ext cx="12191695" cy="292608"/>
          </a:xfrm>
          <a:prstGeom prst="rect">
            <a:avLst/>
          </a:prstGeom>
          <a:solidFill>
            <a:srgbClr val="0F2742"/>
          </a:solidFill>
          <a:ln w="12700">
            <a:solidFill>
              <a:srgbClr val="0F2742"/>
            </a:solidFill>
            <a:prstDash val="solid"/>
          </a:ln>
        </p:spPr>
      </p:sp>
      <p:sp>
        <p:nvSpPr>
          <p:cNvPr id="12" name="Text 9"/>
          <p:cNvSpPr/>
          <p:nvPr/>
        </p:nvSpPr>
        <p:spPr>
          <a:xfrm>
            <a:off x="457200" y="6583680"/>
            <a:ext cx="731520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Qwipo Seller Store · Seller Training Guide · v1.1 · Internal Use</a:t>
            </a:r>
            <a:endParaRPr lang="en-US" sz="900" dirty="0"/>
          </a:p>
        </p:txBody>
      </p:sp>
      <p:sp>
        <p:nvSpPr>
          <p:cNvPr id="13" name="Text 10"/>
          <p:cNvSpPr/>
          <p:nvPr/>
        </p:nvSpPr>
        <p:spPr>
          <a:xfrm>
            <a:off x="10820095" y="6583680"/>
            <a:ext cx="914400" cy="256032"/>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24 / 33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2742"/>
        </a:solidFill>
      </p:bgPr>
    </p:bg>
    <p:spTree>
      <p:nvGrpSpPr>
        <p:cNvPr id="1" name=""/>
        <p:cNvGrpSpPr/>
        <p:nvPr/>
      </p:nvGrpSpPr>
      <p:grpSpPr>
        <a:xfrm>
          <a:off x="0" y="0"/>
          <a:ext cx="0" cy="0"/>
          <a:chOff x="0" y="0"/>
          <a:chExt cx="0" cy="0"/>
        </a:xfrm>
      </p:grpSpPr>
      <p:sp>
        <p:nvSpPr>
          <p:cNvPr id="2" name="Shape 0"/>
          <p:cNvSpPr/>
          <p:nvPr/>
        </p:nvSpPr>
        <p:spPr>
          <a:xfrm>
            <a:off x="10820095" y="5486400"/>
            <a:ext cx="1371600" cy="1371600"/>
          </a:xfrm>
          <a:prstGeom prst="rect">
            <a:avLst/>
          </a:prstGeom>
          <a:solidFill>
            <a:srgbClr val="F26B38"/>
          </a:solidFill>
          <a:ln w="12700">
            <a:solidFill>
              <a:srgbClr val="F26B38"/>
            </a:solidFill>
            <a:prstDash val="solid"/>
          </a:ln>
        </p:spPr>
      </p:sp>
      <p:sp>
        <p:nvSpPr>
          <p:cNvPr id="3" name="Shape 1"/>
          <p:cNvSpPr/>
          <p:nvPr/>
        </p:nvSpPr>
        <p:spPr>
          <a:xfrm>
            <a:off x="548640" y="2194560"/>
            <a:ext cx="457200" cy="54864"/>
          </a:xfrm>
          <a:prstGeom prst="rect">
            <a:avLst/>
          </a:prstGeom>
          <a:solidFill>
            <a:srgbClr val="F26B38"/>
          </a:solidFill>
          <a:ln w="12700">
            <a:solidFill>
              <a:srgbClr val="F26B38"/>
            </a:solidFill>
            <a:prstDash val="solid"/>
          </a:ln>
        </p:spPr>
      </p:sp>
      <p:sp>
        <p:nvSpPr>
          <p:cNvPr id="4" name="Text 2"/>
          <p:cNvSpPr/>
          <p:nvPr/>
        </p:nvSpPr>
        <p:spPr>
          <a:xfrm>
            <a:off x="548640" y="2331720"/>
            <a:ext cx="9144000" cy="365760"/>
          </a:xfrm>
          <a:prstGeom prst="rect">
            <a:avLst/>
          </a:prstGeom>
          <a:noFill/>
          <a:ln/>
        </p:spPr>
        <p:txBody>
          <a:bodyPr wrap="square" rtlCol="0" anchor="ctr"/>
          <a:lstStyle/>
          <a:p>
            <a:pPr indent="0" marL="0">
              <a:buNone/>
            </a:pPr>
            <a:r>
              <a:rPr lang="en-US" sz="1300" b="1" spc="600" kern="0" dirty="0">
                <a:solidFill>
                  <a:srgbClr val="F26B38"/>
                </a:solidFill>
                <a:latin typeface="Calibri" pitchFamily="34" charset="0"/>
                <a:ea typeface="Calibri" pitchFamily="34" charset="-122"/>
                <a:cs typeface="Calibri" pitchFamily="34" charset="-120"/>
              </a:rPr>
              <a:t>MODULE 4</a:t>
            </a:r>
            <a:endParaRPr lang="en-US" sz="1300" dirty="0"/>
          </a:p>
        </p:txBody>
      </p:sp>
      <p:sp>
        <p:nvSpPr>
          <p:cNvPr id="5" name="Text 3"/>
          <p:cNvSpPr/>
          <p:nvPr/>
        </p:nvSpPr>
        <p:spPr>
          <a:xfrm>
            <a:off x="548640" y="2743200"/>
            <a:ext cx="10058400" cy="146304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Orders — the revenue moment</a:t>
            </a:r>
            <a:endParaRPr lang="en-US" sz="4400" dirty="0"/>
          </a:p>
        </p:txBody>
      </p:sp>
      <p:sp>
        <p:nvSpPr>
          <p:cNvPr id="6" name="Text 4"/>
          <p:cNvSpPr/>
          <p:nvPr/>
        </p:nvSpPr>
        <p:spPr>
          <a:xfrm>
            <a:off x="548640" y="4297680"/>
            <a:ext cx="10058400" cy="1005840"/>
          </a:xfrm>
          <a:prstGeom prst="rect">
            <a:avLst/>
          </a:prstGeom>
          <a:noFill/>
          <a:ln/>
        </p:spPr>
        <p:txBody>
          <a:bodyPr wrap="square" lIns="0" tIns="0" rIns="0" bIns="0" rtlCol="0" anchor="ctr"/>
          <a:lstStyle/>
          <a:p>
            <a:pPr indent="0" marL="0">
              <a:buNone/>
            </a:pPr>
            <a:r>
              <a:rPr lang="en-US" sz="1700" dirty="0">
                <a:solidFill>
                  <a:srgbClr val="C9D6E5"/>
                </a:solidFill>
                <a:latin typeface="Calibri" pitchFamily="34" charset="0"/>
                <a:ea typeface="Calibri" pitchFamily="34" charset="-122"/>
                <a:cs typeface="Calibri" pitchFamily="34" charset="-120"/>
              </a:rPr>
              <a:t>Every successful confirmation here turns a buyer-app cart into your dispatch.</a:t>
            </a:r>
            <a:endParaRPr lang="en-US" sz="1700" dirty="0"/>
          </a:p>
        </p:txBody>
      </p:sp>
      <p:sp>
        <p:nvSpPr>
          <p:cNvPr id="7" name="Shape 5"/>
          <p:cNvSpPr/>
          <p:nvPr/>
        </p:nvSpPr>
        <p:spPr>
          <a:xfrm>
            <a:off x="0" y="6565392"/>
            <a:ext cx="12191695" cy="292608"/>
          </a:xfrm>
          <a:prstGeom prst="rect">
            <a:avLst/>
          </a:prstGeom>
          <a:solidFill>
            <a:srgbClr val="0F2742"/>
          </a:solidFill>
          <a:ln w="12700">
            <a:solidFill>
              <a:srgbClr val="0F2742"/>
            </a:solidFill>
            <a:prstDash val="solid"/>
          </a:ln>
        </p:spPr>
      </p:sp>
      <p:sp>
        <p:nvSpPr>
          <p:cNvPr id="8" name="Text 6"/>
          <p:cNvSpPr/>
          <p:nvPr/>
        </p:nvSpPr>
        <p:spPr>
          <a:xfrm>
            <a:off x="457200" y="6583680"/>
            <a:ext cx="731520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Qwipo Seller Store · Seller Training Guide · v1.1 · Internal Use</a:t>
            </a:r>
            <a:endParaRPr lang="en-US" sz="900" dirty="0"/>
          </a:p>
        </p:txBody>
      </p:sp>
      <p:sp>
        <p:nvSpPr>
          <p:cNvPr id="9" name="Text 7"/>
          <p:cNvSpPr/>
          <p:nvPr/>
        </p:nvSpPr>
        <p:spPr>
          <a:xfrm>
            <a:off x="10820095" y="6583680"/>
            <a:ext cx="914400" cy="256032"/>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25 / 33</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2742"/>
          </a:solidFill>
          <a:ln w="12700">
            <a:solidFill>
              <a:srgbClr val="0F2742"/>
            </a:solidFill>
            <a:prstDash val="solid"/>
          </a:ln>
        </p:spPr>
      </p:sp>
      <p:sp>
        <p:nvSpPr>
          <p:cNvPr id="3" name="Text 1"/>
          <p:cNvSpPr/>
          <p:nvPr/>
        </p:nvSpPr>
        <p:spPr>
          <a:xfrm>
            <a:off x="640080" y="320040"/>
            <a:ext cx="10058400" cy="320040"/>
          </a:xfrm>
          <a:prstGeom prst="rect">
            <a:avLst/>
          </a:prstGeom>
          <a:noFill/>
          <a:ln/>
        </p:spPr>
        <p:txBody>
          <a:bodyPr wrap="square" rtlCol="0" anchor="ctr"/>
          <a:lstStyle/>
          <a:p>
            <a:pPr indent="0" marL="0">
              <a:buNone/>
            </a:pPr>
            <a:r>
              <a:rPr lang="en-US" sz="1100" b="1" spc="400" kern="0" dirty="0">
                <a:solidFill>
                  <a:srgbClr val="F26B38"/>
                </a:solidFill>
                <a:latin typeface="Calibri" pitchFamily="34" charset="0"/>
                <a:ea typeface="Calibri" pitchFamily="34" charset="-122"/>
                <a:cs typeface="Calibri" pitchFamily="34" charset="-120"/>
              </a:rPr>
              <a:t>ORDERS</a:t>
            </a:r>
            <a:endParaRPr lang="en-US" sz="1100" dirty="0"/>
          </a:p>
        </p:txBody>
      </p:sp>
      <p:sp>
        <p:nvSpPr>
          <p:cNvPr id="4" name="Text 2"/>
          <p:cNvSpPr/>
          <p:nvPr/>
        </p:nvSpPr>
        <p:spPr>
          <a:xfrm>
            <a:off x="640080" y="594360"/>
            <a:ext cx="10789920" cy="777240"/>
          </a:xfrm>
          <a:prstGeom prst="rect">
            <a:avLst/>
          </a:prstGeom>
          <a:noFill/>
          <a:ln/>
        </p:spPr>
        <p:txBody>
          <a:bodyPr wrap="square" lIns="0" tIns="0" rIns="0" bIns="0" rtlCol="0" anchor="ctr"/>
          <a:lstStyle/>
          <a:p>
            <a:pPr indent="0" marL="0">
              <a:buNone/>
            </a:pPr>
            <a:r>
              <a:rPr lang="en-US" sz="3000" b="1" dirty="0">
                <a:solidFill>
                  <a:srgbClr val="0F2742"/>
                </a:solidFill>
                <a:latin typeface="Calibri" pitchFamily="34" charset="0"/>
                <a:ea typeface="Calibri" pitchFamily="34" charset="-122"/>
                <a:cs typeface="Calibri" pitchFamily="34" charset="-120"/>
              </a:rPr>
              <a:t>Where orders come from and how to navigate</a:t>
            </a:r>
            <a:endParaRPr lang="en-US" sz="3000" dirty="0"/>
          </a:p>
        </p:txBody>
      </p:sp>
      <p:sp>
        <p:nvSpPr>
          <p:cNvPr id="5" name="Shape 3"/>
          <p:cNvSpPr/>
          <p:nvPr/>
        </p:nvSpPr>
        <p:spPr>
          <a:xfrm>
            <a:off x="502920" y="1645920"/>
            <a:ext cx="11201400" cy="2468880"/>
          </a:xfrm>
          <a:prstGeom prst="rect">
            <a:avLst/>
          </a:prstGeom>
          <a:solidFill>
            <a:srgbClr val="FFFFFF"/>
          </a:solidFill>
          <a:ln w="9525">
            <a:solidFill>
              <a:srgbClr val="E2E8F0"/>
            </a:solidFill>
            <a:prstDash val="solid"/>
          </a:ln>
          <a:effectLst>
            <a:outerShdw sx="100000" sy="100000" kx="0" ky="0" algn="bl" rotWithShape="0" blurRad="152400" dist="38100" dir="5400000">
              <a:srgbClr val="000000">
                <a:alpha val="18000"/>
              </a:srgbClr>
            </a:outerShdw>
          </a:effectLst>
        </p:spPr>
      </p:sp>
      <p:pic>
        <p:nvPicPr>
          <p:cNvPr id="6" name="Image 0" descr="C:\Users\Lenovo\OneDrive - Xavica Primary\Desktop\Seller Store\.deck-qa\seller-img\imagea.png">    </p:cNvPr>
          <p:cNvPicPr>
            <a:picLocks noChangeAspect="1"/>
          </p:cNvPicPr>
          <p:nvPr/>
        </p:nvPicPr>
        <p:blipFill>
          <a:blip r:embed="rId1"/>
          <a:srcRect l="0" r="0" t="0" b="0"/>
          <a:stretch/>
        </p:blipFill>
        <p:spPr>
          <a:xfrm>
            <a:off x="548640" y="1691640"/>
            <a:ext cx="11109960" cy="2377440"/>
          </a:xfrm>
          <a:prstGeom prst="rect">
            <a:avLst/>
          </a:prstGeom>
        </p:spPr>
      </p:pic>
      <p:sp>
        <p:nvSpPr>
          <p:cNvPr id="7" name="Shape 4"/>
          <p:cNvSpPr/>
          <p:nvPr/>
        </p:nvSpPr>
        <p:spPr>
          <a:xfrm>
            <a:off x="540868" y="4251960"/>
            <a:ext cx="2148840" cy="1554480"/>
          </a:xfrm>
          <a:prstGeom prst="rect">
            <a:avLst/>
          </a:prstGeom>
          <a:solidFill>
            <a:srgbClr val="FFFFFF"/>
          </a:solidFill>
          <a:ln w="7620">
            <a:solidFill>
              <a:srgbClr val="E2E8F0"/>
            </a:solidFill>
            <a:prstDash val="solid"/>
          </a:ln>
        </p:spPr>
      </p:sp>
      <p:sp>
        <p:nvSpPr>
          <p:cNvPr id="8" name="Shape 5"/>
          <p:cNvSpPr/>
          <p:nvPr/>
        </p:nvSpPr>
        <p:spPr>
          <a:xfrm>
            <a:off x="540868" y="4251960"/>
            <a:ext cx="2148840" cy="365760"/>
          </a:xfrm>
          <a:prstGeom prst="rect">
            <a:avLst/>
          </a:prstGeom>
          <a:solidFill>
            <a:srgbClr val="0F2742"/>
          </a:solidFill>
          <a:ln w="12700">
            <a:solidFill>
              <a:srgbClr val="0F2742"/>
            </a:solidFill>
            <a:prstDash val="solid"/>
          </a:ln>
        </p:spPr>
      </p:sp>
      <p:sp>
        <p:nvSpPr>
          <p:cNvPr id="9" name="Text 6"/>
          <p:cNvSpPr/>
          <p:nvPr/>
        </p:nvSpPr>
        <p:spPr>
          <a:xfrm>
            <a:off x="540868" y="425196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All</a:t>
            </a:r>
            <a:endParaRPr lang="en-US" sz="1300" dirty="0"/>
          </a:p>
        </p:txBody>
      </p:sp>
      <p:sp>
        <p:nvSpPr>
          <p:cNvPr id="10" name="Text 7"/>
          <p:cNvSpPr/>
          <p:nvPr/>
        </p:nvSpPr>
        <p:spPr>
          <a:xfrm>
            <a:off x="678028" y="4709160"/>
            <a:ext cx="1874520" cy="1051560"/>
          </a:xfrm>
          <a:prstGeom prst="rect">
            <a:avLst/>
          </a:prstGeom>
          <a:noFill/>
          <a:ln/>
        </p:spPr>
        <p:txBody>
          <a:bodyPr wrap="square" lIns="0" tIns="0" rIns="0" bIns="0" rtlCol="0" anchor="t"/>
          <a:lstStyle/>
          <a:p>
            <a:pPr algn="ctr" indent="0" marL="0">
              <a:spcAft>
                <a:spcPts val="200"/>
              </a:spcAft>
              <a:buNone/>
            </a:pPr>
            <a:r>
              <a:rPr lang="en-US" sz="1100" dirty="0">
                <a:solidFill>
                  <a:srgbClr val="1A2332"/>
                </a:solidFill>
                <a:latin typeface="Calibri" pitchFamily="34" charset="0"/>
                <a:ea typeface="Calibri" pitchFamily="34" charset="-122"/>
                <a:cs typeface="Calibri" pitchFamily="34" charset="-120"/>
              </a:rPr>
              <a:t>Every order regardless of status</a:t>
            </a:r>
            <a:endParaRPr lang="en-US" sz="1100" dirty="0"/>
          </a:p>
        </p:txBody>
      </p:sp>
      <p:sp>
        <p:nvSpPr>
          <p:cNvPr id="11" name="Shape 8"/>
          <p:cNvSpPr/>
          <p:nvPr/>
        </p:nvSpPr>
        <p:spPr>
          <a:xfrm>
            <a:off x="2781148" y="4251960"/>
            <a:ext cx="2148840" cy="1554480"/>
          </a:xfrm>
          <a:prstGeom prst="rect">
            <a:avLst/>
          </a:prstGeom>
          <a:solidFill>
            <a:srgbClr val="FFFFFF"/>
          </a:solidFill>
          <a:ln w="7620">
            <a:solidFill>
              <a:srgbClr val="E2E8F0"/>
            </a:solidFill>
            <a:prstDash val="solid"/>
          </a:ln>
        </p:spPr>
      </p:sp>
      <p:sp>
        <p:nvSpPr>
          <p:cNvPr id="12" name="Shape 9"/>
          <p:cNvSpPr/>
          <p:nvPr/>
        </p:nvSpPr>
        <p:spPr>
          <a:xfrm>
            <a:off x="2781148" y="4251960"/>
            <a:ext cx="2148840" cy="365760"/>
          </a:xfrm>
          <a:prstGeom prst="rect">
            <a:avLst/>
          </a:prstGeom>
          <a:solidFill>
            <a:srgbClr val="F26B38"/>
          </a:solidFill>
          <a:ln w="12700">
            <a:solidFill>
              <a:srgbClr val="F26B38"/>
            </a:solidFill>
            <a:prstDash val="solid"/>
          </a:ln>
        </p:spPr>
      </p:sp>
      <p:sp>
        <p:nvSpPr>
          <p:cNvPr id="13" name="Text 10"/>
          <p:cNvSpPr/>
          <p:nvPr/>
        </p:nvSpPr>
        <p:spPr>
          <a:xfrm>
            <a:off x="2781148" y="425196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New</a:t>
            </a:r>
            <a:endParaRPr lang="en-US" sz="1300" dirty="0"/>
          </a:p>
        </p:txBody>
      </p:sp>
      <p:sp>
        <p:nvSpPr>
          <p:cNvPr id="14" name="Text 11"/>
          <p:cNvSpPr/>
          <p:nvPr/>
        </p:nvSpPr>
        <p:spPr>
          <a:xfrm>
            <a:off x="2918308" y="4709160"/>
            <a:ext cx="1874520" cy="1051560"/>
          </a:xfrm>
          <a:prstGeom prst="rect">
            <a:avLst/>
          </a:prstGeom>
          <a:noFill/>
          <a:ln/>
        </p:spPr>
        <p:txBody>
          <a:bodyPr wrap="square" lIns="0" tIns="0" rIns="0" bIns="0" rtlCol="0" anchor="t"/>
          <a:lstStyle/>
          <a:p>
            <a:pPr algn="ctr" indent="0" marL="0">
              <a:spcAft>
                <a:spcPts val="200"/>
              </a:spcAft>
              <a:buNone/>
            </a:pPr>
            <a:r>
              <a:rPr lang="en-US" sz="1100" dirty="0">
                <a:solidFill>
                  <a:srgbClr val="1A2332"/>
                </a:solidFill>
                <a:latin typeface="Calibri" pitchFamily="34" charset="0"/>
                <a:ea typeface="Calibri" pitchFamily="34" charset="-122"/>
                <a:cs typeface="Calibri" pitchFamily="34" charset="-120"/>
              </a:rPr>
              <a:t>Just received — awaiting confirmation</a:t>
            </a:r>
            <a:endParaRPr lang="en-US" sz="1100" dirty="0"/>
          </a:p>
        </p:txBody>
      </p:sp>
      <p:sp>
        <p:nvSpPr>
          <p:cNvPr id="15" name="Shape 12"/>
          <p:cNvSpPr/>
          <p:nvPr/>
        </p:nvSpPr>
        <p:spPr>
          <a:xfrm>
            <a:off x="5021428" y="4251960"/>
            <a:ext cx="2148840" cy="1554480"/>
          </a:xfrm>
          <a:prstGeom prst="rect">
            <a:avLst/>
          </a:prstGeom>
          <a:solidFill>
            <a:srgbClr val="FFFFFF"/>
          </a:solidFill>
          <a:ln w="7620">
            <a:solidFill>
              <a:srgbClr val="E2E8F0"/>
            </a:solidFill>
            <a:prstDash val="solid"/>
          </a:ln>
        </p:spPr>
      </p:sp>
      <p:sp>
        <p:nvSpPr>
          <p:cNvPr id="16" name="Shape 13"/>
          <p:cNvSpPr/>
          <p:nvPr/>
        </p:nvSpPr>
        <p:spPr>
          <a:xfrm>
            <a:off x="5021428" y="4251960"/>
            <a:ext cx="2148840" cy="365760"/>
          </a:xfrm>
          <a:prstGeom prst="rect">
            <a:avLst/>
          </a:prstGeom>
          <a:solidFill>
            <a:srgbClr val="1C9B8E"/>
          </a:solidFill>
          <a:ln w="12700">
            <a:solidFill>
              <a:srgbClr val="1C9B8E"/>
            </a:solidFill>
            <a:prstDash val="solid"/>
          </a:ln>
        </p:spPr>
      </p:sp>
      <p:sp>
        <p:nvSpPr>
          <p:cNvPr id="17" name="Text 14"/>
          <p:cNvSpPr/>
          <p:nvPr/>
        </p:nvSpPr>
        <p:spPr>
          <a:xfrm>
            <a:off x="5021428" y="425196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Confirmed</a:t>
            </a:r>
            <a:endParaRPr lang="en-US" sz="1300" dirty="0"/>
          </a:p>
        </p:txBody>
      </p:sp>
      <p:sp>
        <p:nvSpPr>
          <p:cNvPr id="18" name="Text 15"/>
          <p:cNvSpPr/>
          <p:nvPr/>
        </p:nvSpPr>
        <p:spPr>
          <a:xfrm>
            <a:off x="5158588" y="4709160"/>
            <a:ext cx="1874520" cy="1051560"/>
          </a:xfrm>
          <a:prstGeom prst="rect">
            <a:avLst/>
          </a:prstGeom>
          <a:noFill/>
          <a:ln/>
        </p:spPr>
        <p:txBody>
          <a:bodyPr wrap="square" lIns="0" tIns="0" rIns="0" bIns="0" rtlCol="0" anchor="t"/>
          <a:lstStyle/>
          <a:p>
            <a:pPr algn="ctr" indent="0" marL="0">
              <a:spcAft>
                <a:spcPts val="200"/>
              </a:spcAft>
              <a:buNone/>
            </a:pPr>
            <a:r>
              <a:rPr lang="en-US" sz="1100" dirty="0">
                <a:solidFill>
                  <a:srgbClr val="1A2332"/>
                </a:solidFill>
                <a:latin typeface="Calibri" pitchFamily="34" charset="0"/>
                <a:ea typeface="Calibri" pitchFamily="34" charset="-122"/>
                <a:cs typeface="Calibri" pitchFamily="34" charset="-120"/>
              </a:rPr>
              <a:t>Accepted by you — being prepared</a:t>
            </a:r>
            <a:endParaRPr lang="en-US" sz="1100" dirty="0"/>
          </a:p>
        </p:txBody>
      </p:sp>
      <p:sp>
        <p:nvSpPr>
          <p:cNvPr id="19" name="Shape 16"/>
          <p:cNvSpPr/>
          <p:nvPr/>
        </p:nvSpPr>
        <p:spPr>
          <a:xfrm>
            <a:off x="7261708" y="4251960"/>
            <a:ext cx="2148840" cy="1554480"/>
          </a:xfrm>
          <a:prstGeom prst="rect">
            <a:avLst/>
          </a:prstGeom>
          <a:solidFill>
            <a:srgbClr val="FFFFFF"/>
          </a:solidFill>
          <a:ln w="7620">
            <a:solidFill>
              <a:srgbClr val="E2E8F0"/>
            </a:solidFill>
            <a:prstDash val="solid"/>
          </a:ln>
        </p:spPr>
      </p:sp>
      <p:sp>
        <p:nvSpPr>
          <p:cNvPr id="20" name="Shape 17"/>
          <p:cNvSpPr/>
          <p:nvPr/>
        </p:nvSpPr>
        <p:spPr>
          <a:xfrm>
            <a:off x="7261708" y="4251960"/>
            <a:ext cx="2148840" cy="365760"/>
          </a:xfrm>
          <a:prstGeom prst="rect">
            <a:avLst/>
          </a:prstGeom>
          <a:solidFill>
            <a:srgbClr val="1F8A4C"/>
          </a:solidFill>
          <a:ln w="12700">
            <a:solidFill>
              <a:srgbClr val="1F8A4C"/>
            </a:solidFill>
            <a:prstDash val="solid"/>
          </a:ln>
        </p:spPr>
      </p:sp>
      <p:sp>
        <p:nvSpPr>
          <p:cNvPr id="21" name="Text 18"/>
          <p:cNvSpPr/>
          <p:nvPr/>
        </p:nvSpPr>
        <p:spPr>
          <a:xfrm>
            <a:off x="7261708" y="425196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Delivered</a:t>
            </a:r>
            <a:endParaRPr lang="en-US" sz="1300" dirty="0"/>
          </a:p>
        </p:txBody>
      </p:sp>
      <p:sp>
        <p:nvSpPr>
          <p:cNvPr id="22" name="Text 19"/>
          <p:cNvSpPr/>
          <p:nvPr/>
        </p:nvSpPr>
        <p:spPr>
          <a:xfrm>
            <a:off x="7398868" y="4709160"/>
            <a:ext cx="1874520" cy="1051560"/>
          </a:xfrm>
          <a:prstGeom prst="rect">
            <a:avLst/>
          </a:prstGeom>
          <a:noFill/>
          <a:ln/>
        </p:spPr>
        <p:txBody>
          <a:bodyPr wrap="square" lIns="0" tIns="0" rIns="0" bIns="0" rtlCol="0" anchor="t"/>
          <a:lstStyle/>
          <a:p>
            <a:pPr algn="ctr" indent="0" marL="0">
              <a:spcAft>
                <a:spcPts val="200"/>
              </a:spcAft>
              <a:buNone/>
            </a:pPr>
            <a:r>
              <a:rPr lang="en-US" sz="1100" dirty="0">
                <a:solidFill>
                  <a:srgbClr val="1A2332"/>
                </a:solidFill>
                <a:latin typeface="Calibri" pitchFamily="34" charset="0"/>
                <a:ea typeface="Calibri" pitchFamily="34" charset="-122"/>
                <a:cs typeface="Calibri" pitchFamily="34" charset="-120"/>
              </a:rPr>
              <a:t>Completed deliveries</a:t>
            </a:r>
            <a:endParaRPr lang="en-US" sz="1100" dirty="0"/>
          </a:p>
        </p:txBody>
      </p:sp>
      <p:sp>
        <p:nvSpPr>
          <p:cNvPr id="23" name="Shape 20"/>
          <p:cNvSpPr/>
          <p:nvPr/>
        </p:nvSpPr>
        <p:spPr>
          <a:xfrm>
            <a:off x="9501988" y="4251960"/>
            <a:ext cx="2148840" cy="1554480"/>
          </a:xfrm>
          <a:prstGeom prst="rect">
            <a:avLst/>
          </a:prstGeom>
          <a:solidFill>
            <a:srgbClr val="FFFFFF"/>
          </a:solidFill>
          <a:ln w="7620">
            <a:solidFill>
              <a:srgbClr val="E2E8F0"/>
            </a:solidFill>
            <a:prstDash val="solid"/>
          </a:ln>
        </p:spPr>
      </p:sp>
      <p:sp>
        <p:nvSpPr>
          <p:cNvPr id="24" name="Shape 21"/>
          <p:cNvSpPr/>
          <p:nvPr/>
        </p:nvSpPr>
        <p:spPr>
          <a:xfrm>
            <a:off x="9501988" y="4251960"/>
            <a:ext cx="2148840" cy="365760"/>
          </a:xfrm>
          <a:prstGeom prst="rect">
            <a:avLst/>
          </a:prstGeom>
          <a:solidFill>
            <a:srgbClr val="D6422E"/>
          </a:solidFill>
          <a:ln w="12700">
            <a:solidFill>
              <a:srgbClr val="D6422E"/>
            </a:solidFill>
            <a:prstDash val="solid"/>
          </a:ln>
        </p:spPr>
      </p:sp>
      <p:sp>
        <p:nvSpPr>
          <p:cNvPr id="25" name="Text 22"/>
          <p:cNvSpPr/>
          <p:nvPr/>
        </p:nvSpPr>
        <p:spPr>
          <a:xfrm>
            <a:off x="9501988" y="425196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Cancelled</a:t>
            </a:r>
            <a:endParaRPr lang="en-US" sz="1300" dirty="0"/>
          </a:p>
        </p:txBody>
      </p:sp>
      <p:sp>
        <p:nvSpPr>
          <p:cNvPr id="26" name="Text 23"/>
          <p:cNvSpPr/>
          <p:nvPr/>
        </p:nvSpPr>
        <p:spPr>
          <a:xfrm>
            <a:off x="9639148" y="4709160"/>
            <a:ext cx="1874520" cy="1051560"/>
          </a:xfrm>
          <a:prstGeom prst="rect">
            <a:avLst/>
          </a:prstGeom>
          <a:noFill/>
          <a:ln/>
        </p:spPr>
        <p:txBody>
          <a:bodyPr wrap="square" lIns="0" tIns="0" rIns="0" bIns="0" rtlCol="0" anchor="t"/>
          <a:lstStyle/>
          <a:p>
            <a:pPr algn="ctr" indent="0" marL="0">
              <a:spcAft>
                <a:spcPts val="200"/>
              </a:spcAft>
              <a:buNone/>
            </a:pPr>
            <a:r>
              <a:rPr lang="en-US" sz="1100" dirty="0">
                <a:solidFill>
                  <a:srgbClr val="1A2332"/>
                </a:solidFill>
                <a:latin typeface="Calibri" pitchFamily="34" charset="0"/>
                <a:ea typeface="Calibri" pitchFamily="34" charset="-122"/>
                <a:cs typeface="Calibri" pitchFamily="34" charset="-120"/>
              </a:rPr>
              <a:t>Rejected or buyer-cancelled</a:t>
            </a:r>
            <a:endParaRPr lang="en-US" sz="1100" dirty="0"/>
          </a:p>
        </p:txBody>
      </p:sp>
      <p:sp>
        <p:nvSpPr>
          <p:cNvPr id="27" name="Shape 24"/>
          <p:cNvSpPr/>
          <p:nvPr/>
        </p:nvSpPr>
        <p:spPr>
          <a:xfrm>
            <a:off x="0" y="6565392"/>
            <a:ext cx="12191695" cy="292608"/>
          </a:xfrm>
          <a:prstGeom prst="rect">
            <a:avLst/>
          </a:prstGeom>
          <a:solidFill>
            <a:srgbClr val="0F2742"/>
          </a:solidFill>
          <a:ln w="12700">
            <a:solidFill>
              <a:srgbClr val="0F2742"/>
            </a:solidFill>
            <a:prstDash val="solid"/>
          </a:ln>
        </p:spPr>
      </p:sp>
      <p:sp>
        <p:nvSpPr>
          <p:cNvPr id="28" name="Text 25"/>
          <p:cNvSpPr/>
          <p:nvPr/>
        </p:nvSpPr>
        <p:spPr>
          <a:xfrm>
            <a:off x="457200" y="6583680"/>
            <a:ext cx="731520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Qwipo Seller Store · Seller Training Guide · v1.1 · Internal Use</a:t>
            </a:r>
            <a:endParaRPr lang="en-US" sz="900" dirty="0"/>
          </a:p>
        </p:txBody>
      </p:sp>
      <p:sp>
        <p:nvSpPr>
          <p:cNvPr id="29" name="Text 26"/>
          <p:cNvSpPr/>
          <p:nvPr/>
        </p:nvSpPr>
        <p:spPr>
          <a:xfrm>
            <a:off x="10820095" y="6583680"/>
            <a:ext cx="914400" cy="256032"/>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26 / 33</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2742"/>
          </a:solidFill>
          <a:ln w="12700">
            <a:solidFill>
              <a:srgbClr val="0F2742"/>
            </a:solidFill>
            <a:prstDash val="solid"/>
          </a:ln>
        </p:spPr>
      </p:sp>
      <p:sp>
        <p:nvSpPr>
          <p:cNvPr id="3" name="Text 1"/>
          <p:cNvSpPr/>
          <p:nvPr/>
        </p:nvSpPr>
        <p:spPr>
          <a:xfrm>
            <a:off x="640080" y="320040"/>
            <a:ext cx="10058400" cy="320040"/>
          </a:xfrm>
          <a:prstGeom prst="rect">
            <a:avLst/>
          </a:prstGeom>
          <a:noFill/>
          <a:ln/>
        </p:spPr>
        <p:txBody>
          <a:bodyPr wrap="square" rtlCol="0" anchor="ctr"/>
          <a:lstStyle/>
          <a:p>
            <a:pPr indent="0" marL="0">
              <a:buNone/>
            </a:pPr>
            <a:r>
              <a:rPr lang="en-US" sz="1100" b="1" spc="400" kern="0" dirty="0">
                <a:solidFill>
                  <a:srgbClr val="F26B38"/>
                </a:solidFill>
                <a:latin typeface="Calibri" pitchFamily="34" charset="0"/>
                <a:ea typeface="Calibri" pitchFamily="34" charset="-122"/>
                <a:cs typeface="Calibri" pitchFamily="34" charset="-120"/>
              </a:rPr>
              <a:t>ORDERS</a:t>
            </a:r>
            <a:endParaRPr lang="en-US" sz="1100" dirty="0"/>
          </a:p>
        </p:txBody>
      </p:sp>
      <p:sp>
        <p:nvSpPr>
          <p:cNvPr id="4" name="Text 2"/>
          <p:cNvSpPr/>
          <p:nvPr/>
        </p:nvSpPr>
        <p:spPr>
          <a:xfrm>
            <a:off x="640080" y="594360"/>
            <a:ext cx="10789920" cy="777240"/>
          </a:xfrm>
          <a:prstGeom prst="rect">
            <a:avLst/>
          </a:prstGeom>
          <a:noFill/>
          <a:ln/>
        </p:spPr>
        <p:txBody>
          <a:bodyPr wrap="square" lIns="0" tIns="0" rIns="0" bIns="0" rtlCol="0" anchor="ctr"/>
          <a:lstStyle/>
          <a:p>
            <a:pPr indent="0" marL="0">
              <a:buNone/>
            </a:pPr>
            <a:r>
              <a:rPr lang="en-US" sz="3000" b="1" dirty="0">
                <a:solidFill>
                  <a:srgbClr val="0F2742"/>
                </a:solidFill>
                <a:latin typeface="Calibri" pitchFamily="34" charset="0"/>
                <a:ea typeface="Calibri" pitchFamily="34" charset="-122"/>
                <a:cs typeface="Calibri" pitchFamily="34" charset="-120"/>
              </a:rPr>
              <a:t>Confirming an order</a:t>
            </a:r>
            <a:endParaRPr lang="en-US" sz="3000" dirty="0"/>
          </a:p>
        </p:txBody>
      </p:sp>
      <p:sp>
        <p:nvSpPr>
          <p:cNvPr id="5" name="Shape 3"/>
          <p:cNvSpPr/>
          <p:nvPr/>
        </p:nvSpPr>
        <p:spPr>
          <a:xfrm>
            <a:off x="502920" y="1645920"/>
            <a:ext cx="6492240" cy="1463040"/>
          </a:xfrm>
          <a:prstGeom prst="rect">
            <a:avLst/>
          </a:prstGeom>
          <a:solidFill>
            <a:srgbClr val="FFFFFF"/>
          </a:solidFill>
          <a:ln w="9525">
            <a:solidFill>
              <a:srgbClr val="E2E8F0"/>
            </a:solidFill>
            <a:prstDash val="solid"/>
          </a:ln>
          <a:effectLst>
            <a:outerShdw sx="100000" sy="100000" kx="0" ky="0" algn="bl" rotWithShape="0" blurRad="152400" dist="38100" dir="5400000">
              <a:srgbClr val="000000">
                <a:alpha val="18000"/>
              </a:srgbClr>
            </a:outerShdw>
          </a:effectLst>
        </p:spPr>
      </p:sp>
      <p:pic>
        <p:nvPicPr>
          <p:cNvPr id="6" name="Image 0" descr="C:\Users\Lenovo\OneDrive - Xavica Primary\Desktop\Seller Store\.deck-qa\seller-img\imageb.png">    </p:cNvPr>
          <p:cNvPicPr>
            <a:picLocks noChangeAspect="1"/>
          </p:cNvPicPr>
          <p:nvPr/>
        </p:nvPicPr>
        <p:blipFill>
          <a:blip r:embed="rId1"/>
          <a:srcRect l="0" r="0" t="0" b="0"/>
          <a:stretch/>
        </p:blipFill>
        <p:spPr>
          <a:xfrm>
            <a:off x="548640" y="1691640"/>
            <a:ext cx="6400800" cy="1371600"/>
          </a:xfrm>
          <a:prstGeom prst="rect">
            <a:avLst/>
          </a:prstGeom>
        </p:spPr>
      </p:pic>
      <p:sp>
        <p:nvSpPr>
          <p:cNvPr id="7" name="Shape 4"/>
          <p:cNvSpPr/>
          <p:nvPr/>
        </p:nvSpPr>
        <p:spPr>
          <a:xfrm>
            <a:off x="548640" y="3246120"/>
            <a:ext cx="6400800" cy="310896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6000"/>
              </a:srgbClr>
            </a:outerShdw>
          </a:effectLst>
        </p:spPr>
      </p:sp>
      <p:sp>
        <p:nvSpPr>
          <p:cNvPr id="8" name="Shape 5"/>
          <p:cNvSpPr/>
          <p:nvPr/>
        </p:nvSpPr>
        <p:spPr>
          <a:xfrm>
            <a:off x="548640" y="3246120"/>
            <a:ext cx="73152" cy="3108960"/>
          </a:xfrm>
          <a:prstGeom prst="rect">
            <a:avLst/>
          </a:prstGeom>
          <a:solidFill>
            <a:srgbClr val="0F2742"/>
          </a:solidFill>
          <a:ln w="12700">
            <a:solidFill>
              <a:srgbClr val="0F2742"/>
            </a:solidFill>
            <a:prstDash val="solid"/>
          </a:ln>
        </p:spPr>
      </p:sp>
      <p:sp>
        <p:nvSpPr>
          <p:cNvPr id="9" name="Text 6"/>
          <p:cNvSpPr/>
          <p:nvPr/>
        </p:nvSpPr>
        <p:spPr>
          <a:xfrm>
            <a:off x="777240" y="3410712"/>
            <a:ext cx="6080760" cy="365760"/>
          </a:xfrm>
          <a:prstGeom prst="rect">
            <a:avLst/>
          </a:prstGeom>
          <a:noFill/>
          <a:ln/>
        </p:spPr>
        <p:txBody>
          <a:bodyPr wrap="square" lIns="0" tIns="0" rIns="0" bIns="0" rtlCol="0" anchor="ctr"/>
          <a:lstStyle/>
          <a:p>
            <a:pPr indent="0" marL="0">
              <a:buNone/>
            </a:pPr>
            <a:r>
              <a:rPr lang="en-US" sz="1500" b="1" dirty="0">
                <a:solidFill>
                  <a:srgbClr val="0F2742"/>
                </a:solidFill>
                <a:latin typeface="Calibri" pitchFamily="34" charset="0"/>
                <a:ea typeface="Calibri" pitchFamily="34" charset="-122"/>
                <a:cs typeface="Calibri" pitchFamily="34" charset="-120"/>
              </a:rPr>
              <a:t>Order columns at a glance</a:t>
            </a:r>
            <a:endParaRPr lang="en-US" sz="1500" dirty="0"/>
          </a:p>
        </p:txBody>
      </p:sp>
      <p:sp>
        <p:nvSpPr>
          <p:cNvPr id="10" name="Text 7"/>
          <p:cNvSpPr/>
          <p:nvPr/>
        </p:nvSpPr>
        <p:spPr>
          <a:xfrm>
            <a:off x="777240" y="3840480"/>
            <a:ext cx="6035040" cy="2377440"/>
          </a:xfrm>
          <a:prstGeom prst="rect">
            <a:avLst/>
          </a:prstGeom>
          <a:noFill/>
          <a:ln/>
        </p:spPr>
        <p:txBody>
          <a:bodyPr wrap="square" rtlCol="0" anchor="t"/>
          <a:lstStyle/>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Order ID — unique reference (QWI-ONDC-...)</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Company — the manufacturer the order is for</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Retailer Name + Mobile — the buyer/shop</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Order Value — total amount</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Marketplace — where the order originated (e.g., ONDC)</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Order Date — when it was placed</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Status — New / Confirmed / Delivered / Cancelled</a:t>
            </a:r>
            <a:endParaRPr lang="en-US" sz="1150" dirty="0"/>
          </a:p>
        </p:txBody>
      </p:sp>
      <p:sp>
        <p:nvSpPr>
          <p:cNvPr id="11" name="Shape 8"/>
          <p:cNvSpPr/>
          <p:nvPr/>
        </p:nvSpPr>
        <p:spPr>
          <a:xfrm>
            <a:off x="7178040" y="1691640"/>
            <a:ext cx="4526280" cy="466344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6000"/>
              </a:srgbClr>
            </a:outerShdw>
          </a:effectLst>
        </p:spPr>
      </p:sp>
      <p:sp>
        <p:nvSpPr>
          <p:cNvPr id="12" name="Shape 9"/>
          <p:cNvSpPr/>
          <p:nvPr/>
        </p:nvSpPr>
        <p:spPr>
          <a:xfrm>
            <a:off x="7178040" y="1691640"/>
            <a:ext cx="73152" cy="4663440"/>
          </a:xfrm>
          <a:prstGeom prst="rect">
            <a:avLst/>
          </a:prstGeom>
          <a:solidFill>
            <a:srgbClr val="F26B38"/>
          </a:solidFill>
          <a:ln w="12700">
            <a:solidFill>
              <a:srgbClr val="F26B38"/>
            </a:solidFill>
            <a:prstDash val="solid"/>
          </a:ln>
        </p:spPr>
      </p:sp>
      <p:sp>
        <p:nvSpPr>
          <p:cNvPr id="13" name="Text 10"/>
          <p:cNvSpPr/>
          <p:nvPr/>
        </p:nvSpPr>
        <p:spPr>
          <a:xfrm>
            <a:off x="7406640" y="1856232"/>
            <a:ext cx="4206240" cy="365760"/>
          </a:xfrm>
          <a:prstGeom prst="rect">
            <a:avLst/>
          </a:prstGeom>
          <a:noFill/>
          <a:ln/>
        </p:spPr>
        <p:txBody>
          <a:bodyPr wrap="square" lIns="0" tIns="0" rIns="0" bIns="0" rtlCol="0" anchor="ctr"/>
          <a:lstStyle/>
          <a:p>
            <a:pPr indent="0" marL="0">
              <a:buNone/>
            </a:pPr>
            <a:r>
              <a:rPr lang="en-US" sz="1500" b="1" dirty="0">
                <a:solidFill>
                  <a:srgbClr val="0F2742"/>
                </a:solidFill>
                <a:latin typeface="Calibri" pitchFamily="34" charset="0"/>
                <a:ea typeface="Calibri" pitchFamily="34" charset="-122"/>
                <a:cs typeface="Calibri" pitchFamily="34" charset="-120"/>
              </a:rPr>
              <a:t>Confirm flow</a:t>
            </a:r>
            <a:endParaRPr lang="en-US" sz="1500" dirty="0"/>
          </a:p>
        </p:txBody>
      </p:sp>
      <p:sp>
        <p:nvSpPr>
          <p:cNvPr id="14" name="Text 11"/>
          <p:cNvSpPr/>
          <p:nvPr/>
        </p:nvSpPr>
        <p:spPr>
          <a:xfrm>
            <a:off x="7406640" y="2286000"/>
            <a:ext cx="4160520" cy="3931920"/>
          </a:xfrm>
          <a:prstGeom prst="rect">
            <a:avLst/>
          </a:prstGeom>
          <a:noFill/>
          <a:ln/>
        </p:spPr>
        <p:txBody>
          <a:bodyPr wrap="square" rtlCol="0" anchor="t"/>
          <a:lstStyle/>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Open the New tab</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Tick the checkbox on the order row</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Confirm and Cancel appear at top right</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Click Confirm to accept the order</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Status moves to Confirmed — retailer is notified</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Use Export (top right) to download orders for reconciliation</a:t>
            </a:r>
            <a:endParaRPr lang="en-US" sz="1150" dirty="0"/>
          </a:p>
        </p:txBody>
      </p:sp>
      <p:sp>
        <p:nvSpPr>
          <p:cNvPr id="15" name="Shape 12"/>
          <p:cNvSpPr/>
          <p:nvPr/>
        </p:nvSpPr>
        <p:spPr>
          <a:xfrm>
            <a:off x="0" y="6565392"/>
            <a:ext cx="12191695" cy="292608"/>
          </a:xfrm>
          <a:prstGeom prst="rect">
            <a:avLst/>
          </a:prstGeom>
          <a:solidFill>
            <a:srgbClr val="0F2742"/>
          </a:solidFill>
          <a:ln w="12700">
            <a:solidFill>
              <a:srgbClr val="0F2742"/>
            </a:solidFill>
            <a:prstDash val="solid"/>
          </a:ln>
        </p:spPr>
      </p:sp>
      <p:sp>
        <p:nvSpPr>
          <p:cNvPr id="16" name="Text 13"/>
          <p:cNvSpPr/>
          <p:nvPr/>
        </p:nvSpPr>
        <p:spPr>
          <a:xfrm>
            <a:off x="457200" y="6583680"/>
            <a:ext cx="731520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Qwipo Seller Store · Seller Training Guide · v1.1 · Internal Use</a:t>
            </a:r>
            <a:endParaRPr lang="en-US" sz="900" dirty="0"/>
          </a:p>
        </p:txBody>
      </p:sp>
      <p:sp>
        <p:nvSpPr>
          <p:cNvPr id="17" name="Text 14"/>
          <p:cNvSpPr/>
          <p:nvPr/>
        </p:nvSpPr>
        <p:spPr>
          <a:xfrm>
            <a:off x="10820095" y="6583680"/>
            <a:ext cx="914400" cy="256032"/>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27 / 33</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2742"/>
        </a:solidFill>
      </p:bgPr>
    </p:bg>
    <p:spTree>
      <p:nvGrpSpPr>
        <p:cNvPr id="1" name=""/>
        <p:cNvGrpSpPr/>
        <p:nvPr/>
      </p:nvGrpSpPr>
      <p:grpSpPr>
        <a:xfrm>
          <a:off x="0" y="0"/>
          <a:ext cx="0" cy="0"/>
          <a:chOff x="0" y="0"/>
          <a:chExt cx="0" cy="0"/>
        </a:xfrm>
      </p:grpSpPr>
      <p:sp>
        <p:nvSpPr>
          <p:cNvPr id="2" name="Shape 0"/>
          <p:cNvSpPr/>
          <p:nvPr/>
        </p:nvSpPr>
        <p:spPr>
          <a:xfrm>
            <a:off x="10820095" y="5486400"/>
            <a:ext cx="1371600" cy="1371600"/>
          </a:xfrm>
          <a:prstGeom prst="rect">
            <a:avLst/>
          </a:prstGeom>
          <a:solidFill>
            <a:srgbClr val="F26B38"/>
          </a:solidFill>
          <a:ln w="12700">
            <a:solidFill>
              <a:srgbClr val="F26B38"/>
            </a:solidFill>
            <a:prstDash val="solid"/>
          </a:ln>
        </p:spPr>
      </p:sp>
      <p:sp>
        <p:nvSpPr>
          <p:cNvPr id="3" name="Shape 1"/>
          <p:cNvSpPr/>
          <p:nvPr/>
        </p:nvSpPr>
        <p:spPr>
          <a:xfrm>
            <a:off x="548640" y="2194560"/>
            <a:ext cx="457200" cy="54864"/>
          </a:xfrm>
          <a:prstGeom prst="rect">
            <a:avLst/>
          </a:prstGeom>
          <a:solidFill>
            <a:srgbClr val="F26B38"/>
          </a:solidFill>
          <a:ln w="12700">
            <a:solidFill>
              <a:srgbClr val="F26B38"/>
            </a:solidFill>
            <a:prstDash val="solid"/>
          </a:ln>
        </p:spPr>
      </p:sp>
      <p:sp>
        <p:nvSpPr>
          <p:cNvPr id="4" name="Text 2"/>
          <p:cNvSpPr/>
          <p:nvPr/>
        </p:nvSpPr>
        <p:spPr>
          <a:xfrm>
            <a:off x="548640" y="2331720"/>
            <a:ext cx="9144000" cy="365760"/>
          </a:xfrm>
          <a:prstGeom prst="rect">
            <a:avLst/>
          </a:prstGeom>
          <a:noFill/>
          <a:ln/>
        </p:spPr>
        <p:txBody>
          <a:bodyPr wrap="square" rtlCol="0" anchor="ctr"/>
          <a:lstStyle/>
          <a:p>
            <a:pPr indent="0" marL="0">
              <a:buNone/>
            </a:pPr>
            <a:r>
              <a:rPr lang="en-US" sz="1300" b="1" spc="600" kern="0" dirty="0">
                <a:solidFill>
                  <a:srgbClr val="F26B38"/>
                </a:solidFill>
                <a:latin typeface="Calibri" pitchFamily="34" charset="0"/>
                <a:ea typeface="Calibri" pitchFamily="34" charset="-122"/>
                <a:cs typeface="Calibri" pitchFamily="34" charset="-120"/>
              </a:rPr>
              <a:t>MODULE 5</a:t>
            </a:r>
            <a:endParaRPr lang="en-US" sz="1300" dirty="0"/>
          </a:p>
        </p:txBody>
      </p:sp>
      <p:sp>
        <p:nvSpPr>
          <p:cNvPr id="5" name="Text 3"/>
          <p:cNvSpPr/>
          <p:nvPr/>
        </p:nvSpPr>
        <p:spPr>
          <a:xfrm>
            <a:off x="548640" y="2743200"/>
            <a:ext cx="10058400" cy="146304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Settings — store, orders, comms</a:t>
            </a:r>
            <a:endParaRPr lang="en-US" sz="4400" dirty="0"/>
          </a:p>
        </p:txBody>
      </p:sp>
      <p:sp>
        <p:nvSpPr>
          <p:cNvPr id="6" name="Text 4"/>
          <p:cNvSpPr/>
          <p:nvPr/>
        </p:nvSpPr>
        <p:spPr>
          <a:xfrm>
            <a:off x="548640" y="4297680"/>
            <a:ext cx="10058400" cy="1005840"/>
          </a:xfrm>
          <a:prstGeom prst="rect">
            <a:avLst/>
          </a:prstGeom>
          <a:noFill/>
          <a:ln/>
        </p:spPr>
        <p:txBody>
          <a:bodyPr wrap="square" lIns="0" tIns="0" rIns="0" bIns="0" rtlCol="0" anchor="ctr"/>
          <a:lstStyle/>
          <a:p>
            <a:pPr indent="0" marL="0">
              <a:buNone/>
            </a:pPr>
            <a:r>
              <a:rPr lang="en-US" sz="1700" dirty="0">
                <a:solidFill>
                  <a:srgbClr val="C9D6E5"/>
                </a:solidFill>
                <a:latin typeface="Calibri" pitchFamily="34" charset="0"/>
                <a:ea typeface="Calibri" pitchFamily="34" charset="-122"/>
                <a:cs typeface="Calibri" pitchFamily="34" charset="-120"/>
              </a:rPr>
              <a:t>Three sub-sections that control how your store accepts business.</a:t>
            </a:r>
            <a:endParaRPr lang="en-US" sz="1700" dirty="0"/>
          </a:p>
        </p:txBody>
      </p:sp>
      <p:sp>
        <p:nvSpPr>
          <p:cNvPr id="7" name="Shape 5"/>
          <p:cNvSpPr/>
          <p:nvPr/>
        </p:nvSpPr>
        <p:spPr>
          <a:xfrm>
            <a:off x="0" y="6565392"/>
            <a:ext cx="12191695" cy="292608"/>
          </a:xfrm>
          <a:prstGeom prst="rect">
            <a:avLst/>
          </a:prstGeom>
          <a:solidFill>
            <a:srgbClr val="0F2742"/>
          </a:solidFill>
          <a:ln w="12700">
            <a:solidFill>
              <a:srgbClr val="0F2742"/>
            </a:solidFill>
            <a:prstDash val="solid"/>
          </a:ln>
        </p:spPr>
      </p:sp>
      <p:sp>
        <p:nvSpPr>
          <p:cNvPr id="8" name="Text 6"/>
          <p:cNvSpPr/>
          <p:nvPr/>
        </p:nvSpPr>
        <p:spPr>
          <a:xfrm>
            <a:off x="457200" y="6583680"/>
            <a:ext cx="731520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Qwipo Seller Store · Seller Training Guide · v1.1 · Internal Use</a:t>
            </a:r>
            <a:endParaRPr lang="en-US" sz="900" dirty="0"/>
          </a:p>
        </p:txBody>
      </p:sp>
      <p:sp>
        <p:nvSpPr>
          <p:cNvPr id="9" name="Text 7"/>
          <p:cNvSpPr/>
          <p:nvPr/>
        </p:nvSpPr>
        <p:spPr>
          <a:xfrm>
            <a:off x="10820095" y="6583680"/>
            <a:ext cx="914400" cy="256032"/>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28 / 33</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2742"/>
          </a:solidFill>
          <a:ln w="12700">
            <a:solidFill>
              <a:srgbClr val="0F2742"/>
            </a:solidFill>
            <a:prstDash val="solid"/>
          </a:ln>
        </p:spPr>
      </p:sp>
      <p:sp>
        <p:nvSpPr>
          <p:cNvPr id="3" name="Text 1"/>
          <p:cNvSpPr/>
          <p:nvPr/>
        </p:nvSpPr>
        <p:spPr>
          <a:xfrm>
            <a:off x="640080" y="320040"/>
            <a:ext cx="10058400" cy="320040"/>
          </a:xfrm>
          <a:prstGeom prst="rect">
            <a:avLst/>
          </a:prstGeom>
          <a:noFill/>
          <a:ln/>
        </p:spPr>
        <p:txBody>
          <a:bodyPr wrap="square" rtlCol="0" anchor="ctr"/>
          <a:lstStyle/>
          <a:p>
            <a:pPr indent="0" marL="0">
              <a:buNone/>
            </a:pPr>
            <a:r>
              <a:rPr lang="en-US" sz="1100" b="1" spc="400" kern="0" dirty="0">
                <a:solidFill>
                  <a:srgbClr val="F26B38"/>
                </a:solidFill>
                <a:latin typeface="Calibri" pitchFamily="34" charset="0"/>
                <a:ea typeface="Calibri" pitchFamily="34" charset="-122"/>
                <a:cs typeface="Calibri" pitchFamily="34" charset="-120"/>
              </a:rPr>
              <a:t>SETTINGS · STORE</a:t>
            </a:r>
            <a:endParaRPr lang="en-US" sz="1100" dirty="0"/>
          </a:p>
        </p:txBody>
      </p:sp>
      <p:sp>
        <p:nvSpPr>
          <p:cNvPr id="4" name="Text 2"/>
          <p:cNvSpPr/>
          <p:nvPr/>
        </p:nvSpPr>
        <p:spPr>
          <a:xfrm>
            <a:off x="640080" y="594360"/>
            <a:ext cx="10789920" cy="777240"/>
          </a:xfrm>
          <a:prstGeom prst="rect">
            <a:avLst/>
          </a:prstGeom>
          <a:noFill/>
          <a:ln/>
        </p:spPr>
        <p:txBody>
          <a:bodyPr wrap="square" lIns="0" tIns="0" rIns="0" bIns="0" rtlCol="0" anchor="ctr"/>
          <a:lstStyle/>
          <a:p>
            <a:pPr indent="0" marL="0">
              <a:buNone/>
            </a:pPr>
            <a:r>
              <a:rPr lang="en-US" sz="3000" b="1" dirty="0">
                <a:solidFill>
                  <a:srgbClr val="0F2742"/>
                </a:solidFill>
                <a:latin typeface="Calibri" pitchFamily="34" charset="0"/>
                <a:ea typeface="Calibri" pitchFamily="34" charset="-122"/>
                <a:cs typeface="Calibri" pitchFamily="34" charset="-120"/>
              </a:rPr>
              <a:t>Warehouse = your dispatch origin</a:t>
            </a:r>
            <a:endParaRPr lang="en-US" sz="3000" dirty="0"/>
          </a:p>
        </p:txBody>
      </p:sp>
      <p:sp>
        <p:nvSpPr>
          <p:cNvPr id="5" name="Shape 3"/>
          <p:cNvSpPr/>
          <p:nvPr/>
        </p:nvSpPr>
        <p:spPr>
          <a:xfrm>
            <a:off x="502920" y="1645920"/>
            <a:ext cx="6492240" cy="2834640"/>
          </a:xfrm>
          <a:prstGeom prst="rect">
            <a:avLst/>
          </a:prstGeom>
          <a:solidFill>
            <a:srgbClr val="FFFFFF"/>
          </a:solidFill>
          <a:ln w="9525">
            <a:solidFill>
              <a:srgbClr val="E2E8F0"/>
            </a:solidFill>
            <a:prstDash val="solid"/>
          </a:ln>
          <a:effectLst>
            <a:outerShdw sx="100000" sy="100000" kx="0" ky="0" algn="bl" rotWithShape="0" blurRad="152400" dist="38100" dir="5400000">
              <a:srgbClr val="000000">
                <a:alpha val="18000"/>
              </a:srgbClr>
            </a:outerShdw>
          </a:effectLst>
        </p:spPr>
      </p:sp>
      <p:pic>
        <p:nvPicPr>
          <p:cNvPr id="6" name="Image 0" descr="C:\Users\Lenovo\OneDrive - Xavica Primary\Desktop\Seller Store\.deck-qa\seller-img\imagec.png">    </p:cNvPr>
          <p:cNvPicPr>
            <a:picLocks noChangeAspect="1"/>
          </p:cNvPicPr>
          <p:nvPr/>
        </p:nvPicPr>
        <p:blipFill>
          <a:blip r:embed="rId1"/>
          <a:srcRect l="0" r="0" t="0" b="0"/>
          <a:stretch/>
        </p:blipFill>
        <p:spPr>
          <a:xfrm>
            <a:off x="548640" y="1691640"/>
            <a:ext cx="6400800" cy="2743200"/>
          </a:xfrm>
          <a:prstGeom prst="rect">
            <a:avLst/>
          </a:prstGeom>
        </p:spPr>
      </p:pic>
      <p:sp>
        <p:nvSpPr>
          <p:cNvPr id="7" name="Shape 4"/>
          <p:cNvSpPr/>
          <p:nvPr/>
        </p:nvSpPr>
        <p:spPr>
          <a:xfrm>
            <a:off x="7178040" y="1691640"/>
            <a:ext cx="4526280" cy="274320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6000"/>
              </a:srgbClr>
            </a:outerShdw>
          </a:effectLst>
        </p:spPr>
      </p:sp>
      <p:sp>
        <p:nvSpPr>
          <p:cNvPr id="8" name="Shape 5"/>
          <p:cNvSpPr/>
          <p:nvPr/>
        </p:nvSpPr>
        <p:spPr>
          <a:xfrm>
            <a:off x="7178040" y="1691640"/>
            <a:ext cx="73152" cy="2743200"/>
          </a:xfrm>
          <a:prstGeom prst="rect">
            <a:avLst/>
          </a:prstGeom>
          <a:solidFill>
            <a:srgbClr val="F26B38"/>
          </a:solidFill>
          <a:ln w="12700">
            <a:solidFill>
              <a:srgbClr val="F26B38"/>
            </a:solidFill>
            <a:prstDash val="solid"/>
          </a:ln>
        </p:spPr>
      </p:sp>
      <p:sp>
        <p:nvSpPr>
          <p:cNvPr id="9" name="Text 6"/>
          <p:cNvSpPr/>
          <p:nvPr/>
        </p:nvSpPr>
        <p:spPr>
          <a:xfrm>
            <a:off x="7406640" y="1856232"/>
            <a:ext cx="4206240" cy="365760"/>
          </a:xfrm>
          <a:prstGeom prst="rect">
            <a:avLst/>
          </a:prstGeom>
          <a:noFill/>
          <a:ln/>
        </p:spPr>
        <p:txBody>
          <a:bodyPr wrap="square" lIns="0" tIns="0" rIns="0" bIns="0" rtlCol="0" anchor="ctr"/>
          <a:lstStyle/>
          <a:p>
            <a:pPr indent="0" marL="0">
              <a:buNone/>
            </a:pPr>
            <a:r>
              <a:rPr lang="en-US" sz="1500" b="1" dirty="0">
                <a:solidFill>
                  <a:srgbClr val="0F2742"/>
                </a:solidFill>
                <a:latin typeface="Calibri" pitchFamily="34" charset="0"/>
                <a:ea typeface="Calibri" pitchFamily="34" charset="-122"/>
                <a:cs typeface="Calibri" pitchFamily="34" charset="-120"/>
              </a:rPr>
              <a:t>Settings on this screen</a:t>
            </a:r>
            <a:endParaRPr lang="en-US" sz="1500" dirty="0"/>
          </a:p>
        </p:txBody>
      </p:sp>
      <p:sp>
        <p:nvSpPr>
          <p:cNvPr id="10" name="Text 7"/>
          <p:cNvSpPr/>
          <p:nvPr/>
        </p:nvSpPr>
        <p:spPr>
          <a:xfrm>
            <a:off x="7406640" y="2286000"/>
            <a:ext cx="4160520" cy="2011680"/>
          </a:xfrm>
          <a:prstGeom prst="rect">
            <a:avLst/>
          </a:prstGeom>
          <a:noFill/>
          <a:ln/>
        </p:spPr>
        <p:txBody>
          <a:bodyPr wrap="square" rtlCol="0" anchor="t"/>
          <a:lstStyle/>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Accept Orders — master ON/OFF switch</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Warehouses — set ONCE, cannot edit or delete</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Working Hours — open/close (coming soon enforcement)</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Weekly Off — days the store is closed</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Fixed Holidays — specific holiday dates</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Store Information — read-only (Super Admin set)</a:t>
            </a:r>
            <a:endParaRPr lang="en-US" sz="1150" dirty="0"/>
          </a:p>
        </p:txBody>
      </p:sp>
      <p:sp>
        <p:nvSpPr>
          <p:cNvPr id="11" name="Shape 8"/>
          <p:cNvSpPr/>
          <p:nvPr/>
        </p:nvSpPr>
        <p:spPr>
          <a:xfrm>
            <a:off x="548640" y="4572000"/>
            <a:ext cx="11109960" cy="1783080"/>
          </a:xfrm>
          <a:prstGeom prst="rect">
            <a:avLst/>
          </a:prstGeom>
          <a:solidFill>
            <a:srgbClr val="FFF6EC"/>
          </a:solidFill>
          <a:ln w="12700">
            <a:solidFill>
              <a:srgbClr val="F26B38"/>
            </a:solidFill>
            <a:prstDash val="solid"/>
          </a:ln>
        </p:spPr>
      </p:sp>
      <p:sp>
        <p:nvSpPr>
          <p:cNvPr id="12" name="Shape 9"/>
          <p:cNvSpPr/>
          <p:nvPr/>
        </p:nvSpPr>
        <p:spPr>
          <a:xfrm>
            <a:off x="548640" y="4572000"/>
            <a:ext cx="73152" cy="1783080"/>
          </a:xfrm>
          <a:prstGeom prst="rect">
            <a:avLst/>
          </a:prstGeom>
          <a:solidFill>
            <a:srgbClr val="F26B38"/>
          </a:solidFill>
          <a:ln w="12700">
            <a:solidFill>
              <a:srgbClr val="F26B38"/>
            </a:solidFill>
            <a:prstDash val="solid"/>
          </a:ln>
        </p:spPr>
      </p:sp>
      <p:sp>
        <p:nvSpPr>
          <p:cNvPr id="13" name="Text 10"/>
          <p:cNvSpPr/>
          <p:nvPr/>
        </p:nvSpPr>
        <p:spPr>
          <a:xfrm>
            <a:off x="777240" y="4681728"/>
            <a:ext cx="10789920" cy="292608"/>
          </a:xfrm>
          <a:prstGeom prst="rect">
            <a:avLst/>
          </a:prstGeom>
          <a:noFill/>
          <a:ln/>
        </p:spPr>
        <p:txBody>
          <a:bodyPr wrap="square" lIns="0" tIns="0" rIns="0" bIns="0" rtlCol="0" anchor="ctr"/>
          <a:lstStyle/>
          <a:p>
            <a:pPr indent="0" marL="0">
              <a:buNone/>
            </a:pPr>
            <a:r>
              <a:rPr lang="en-US" sz="1200" b="1" spc="100" kern="0" dirty="0">
                <a:solidFill>
                  <a:srgbClr val="C84A1F"/>
                </a:solidFill>
                <a:latin typeface="Calibri" pitchFamily="34" charset="0"/>
                <a:ea typeface="Calibri" pitchFamily="34" charset="-122"/>
                <a:cs typeface="Calibri" pitchFamily="34" charset="-120"/>
              </a:rPr>
              <a:t>Why the warehouse address is locked after creation</a:t>
            </a:r>
            <a:endParaRPr lang="en-US" sz="1200" dirty="0"/>
          </a:p>
        </p:txBody>
      </p:sp>
      <p:sp>
        <p:nvSpPr>
          <p:cNvPr id="14" name="Text 11"/>
          <p:cNvSpPr/>
          <p:nvPr/>
        </p:nvSpPr>
        <p:spPr>
          <a:xfrm>
            <a:off x="777240" y="4983480"/>
            <a:ext cx="10789920" cy="1280160"/>
          </a:xfrm>
          <a:prstGeom prst="rect">
            <a:avLst/>
          </a:prstGeom>
          <a:noFill/>
          <a:ln/>
        </p:spPr>
        <p:txBody>
          <a:bodyPr wrap="square" lIns="0" tIns="0" rIns="0" bIns="0" rtlCol="0" anchor="ctr"/>
          <a:lstStyle/>
          <a:p>
            <a:pPr indent="0" marL="0">
              <a:spcAft>
                <a:spcPts val="300"/>
              </a:spcAft>
              <a:buNone/>
            </a:pPr>
            <a:r>
              <a:rPr lang="en-US" sz="1200" dirty="0">
                <a:solidFill>
                  <a:srgbClr val="1A2332"/>
                </a:solidFill>
                <a:latin typeface="Calibri" pitchFamily="34" charset="0"/>
                <a:ea typeface="Calibri" pitchFamily="34" charset="-122"/>
                <a:cs typeface="Calibri" pitchFamily="34" charset="-120"/>
              </a:rPr>
              <a:t>The Super Admin enters the seller's address with latitude and longitude when creating the seller. Those lat/long values become the default warehouse coordinates here — i.e. the origin point for every dispatch and the centre of every serviceability beat. Changing it later would invalidate routing distances, ETA estimates, and serviceability polygons, so the system intentionally freezes it. Always confirm with the seller before saving.</a:t>
            </a:r>
            <a:endParaRPr lang="en-US" sz="1200" dirty="0"/>
          </a:p>
        </p:txBody>
      </p:sp>
      <p:sp>
        <p:nvSpPr>
          <p:cNvPr id="15" name="Shape 12"/>
          <p:cNvSpPr/>
          <p:nvPr/>
        </p:nvSpPr>
        <p:spPr>
          <a:xfrm>
            <a:off x="0" y="6565392"/>
            <a:ext cx="12191695" cy="292608"/>
          </a:xfrm>
          <a:prstGeom prst="rect">
            <a:avLst/>
          </a:prstGeom>
          <a:solidFill>
            <a:srgbClr val="0F2742"/>
          </a:solidFill>
          <a:ln w="12700">
            <a:solidFill>
              <a:srgbClr val="0F2742"/>
            </a:solidFill>
            <a:prstDash val="solid"/>
          </a:ln>
        </p:spPr>
      </p:sp>
      <p:sp>
        <p:nvSpPr>
          <p:cNvPr id="16" name="Text 13"/>
          <p:cNvSpPr/>
          <p:nvPr/>
        </p:nvSpPr>
        <p:spPr>
          <a:xfrm>
            <a:off x="457200" y="6583680"/>
            <a:ext cx="731520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Qwipo Seller Store · Seller Training Guide · v1.1 · Internal Use</a:t>
            </a:r>
            <a:endParaRPr lang="en-US" sz="900" dirty="0"/>
          </a:p>
        </p:txBody>
      </p:sp>
      <p:sp>
        <p:nvSpPr>
          <p:cNvPr id="17" name="Text 14"/>
          <p:cNvSpPr/>
          <p:nvPr/>
        </p:nvSpPr>
        <p:spPr>
          <a:xfrm>
            <a:off x="10820095" y="6583680"/>
            <a:ext cx="914400" cy="256032"/>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29 / 33</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2742"/>
          </a:solidFill>
          <a:ln w="12700">
            <a:solidFill>
              <a:srgbClr val="0F2742"/>
            </a:solidFill>
            <a:prstDash val="solid"/>
          </a:ln>
        </p:spPr>
      </p:sp>
      <p:sp>
        <p:nvSpPr>
          <p:cNvPr id="3" name="Text 1"/>
          <p:cNvSpPr/>
          <p:nvPr/>
        </p:nvSpPr>
        <p:spPr>
          <a:xfrm>
            <a:off x="640080" y="320040"/>
            <a:ext cx="10058400" cy="320040"/>
          </a:xfrm>
          <a:prstGeom prst="rect">
            <a:avLst/>
          </a:prstGeom>
          <a:noFill/>
          <a:ln/>
        </p:spPr>
        <p:txBody>
          <a:bodyPr wrap="square" rtlCol="0" anchor="ctr"/>
          <a:lstStyle/>
          <a:p>
            <a:pPr indent="0" marL="0">
              <a:buNone/>
            </a:pPr>
            <a:r>
              <a:rPr lang="en-US" sz="1100" b="1" spc="400" kern="0" dirty="0">
                <a:solidFill>
                  <a:srgbClr val="F26B38"/>
                </a:solidFill>
                <a:latin typeface="Calibri" pitchFamily="34" charset="0"/>
                <a:ea typeface="Calibri" pitchFamily="34" charset="-122"/>
                <a:cs typeface="Calibri" pitchFamily="34" charset="-120"/>
              </a:rPr>
              <a:t>SETTINGS · ORDERS</a:t>
            </a:r>
            <a:endParaRPr lang="en-US" sz="1100" dirty="0"/>
          </a:p>
        </p:txBody>
      </p:sp>
      <p:sp>
        <p:nvSpPr>
          <p:cNvPr id="4" name="Text 2"/>
          <p:cNvSpPr/>
          <p:nvPr/>
        </p:nvSpPr>
        <p:spPr>
          <a:xfrm>
            <a:off x="640080" y="594360"/>
            <a:ext cx="10789920" cy="777240"/>
          </a:xfrm>
          <a:prstGeom prst="rect">
            <a:avLst/>
          </a:prstGeom>
          <a:noFill/>
          <a:ln/>
        </p:spPr>
        <p:txBody>
          <a:bodyPr wrap="square" lIns="0" tIns="0" rIns="0" bIns="0" rtlCol="0" anchor="ctr"/>
          <a:lstStyle/>
          <a:p>
            <a:pPr indent="0" marL="0">
              <a:buNone/>
            </a:pPr>
            <a:r>
              <a:rPr lang="en-US" sz="3000" b="1" dirty="0">
                <a:solidFill>
                  <a:srgbClr val="0F2742"/>
                </a:solidFill>
                <a:latin typeface="Calibri" pitchFamily="34" charset="0"/>
                <a:ea typeface="Calibri" pitchFamily="34" charset="-122"/>
                <a:cs typeface="Calibri" pitchFamily="34" charset="-120"/>
              </a:rPr>
              <a:t>Set the rules buyers play by</a:t>
            </a:r>
            <a:endParaRPr lang="en-US" sz="3000" dirty="0"/>
          </a:p>
        </p:txBody>
      </p:sp>
      <p:sp>
        <p:nvSpPr>
          <p:cNvPr id="5" name="Shape 3"/>
          <p:cNvSpPr/>
          <p:nvPr/>
        </p:nvSpPr>
        <p:spPr>
          <a:xfrm>
            <a:off x="502920" y="1645920"/>
            <a:ext cx="6492240" cy="3383280"/>
          </a:xfrm>
          <a:prstGeom prst="rect">
            <a:avLst/>
          </a:prstGeom>
          <a:solidFill>
            <a:srgbClr val="FFFFFF"/>
          </a:solidFill>
          <a:ln w="9525">
            <a:solidFill>
              <a:srgbClr val="E2E8F0"/>
            </a:solidFill>
            <a:prstDash val="solid"/>
          </a:ln>
          <a:effectLst>
            <a:outerShdw sx="100000" sy="100000" kx="0" ky="0" algn="bl" rotWithShape="0" blurRad="152400" dist="38100" dir="5400000">
              <a:srgbClr val="000000">
                <a:alpha val="18000"/>
              </a:srgbClr>
            </a:outerShdw>
          </a:effectLst>
        </p:spPr>
      </p:sp>
      <p:pic>
        <p:nvPicPr>
          <p:cNvPr id="6" name="Image 0" descr="C:\Users\Lenovo\OneDrive - Xavica Primary\Desktop\Seller Store\.deck-qa\seller-img\imaged.png">    </p:cNvPr>
          <p:cNvPicPr>
            <a:picLocks noChangeAspect="1"/>
          </p:cNvPicPr>
          <p:nvPr/>
        </p:nvPicPr>
        <p:blipFill>
          <a:blip r:embed="rId1"/>
          <a:srcRect l="0" r="0" t="0" b="0"/>
          <a:stretch/>
        </p:blipFill>
        <p:spPr>
          <a:xfrm>
            <a:off x="548640" y="1691640"/>
            <a:ext cx="6400800" cy="3291840"/>
          </a:xfrm>
          <a:prstGeom prst="rect">
            <a:avLst/>
          </a:prstGeom>
        </p:spPr>
      </p:pic>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7178040" y="1691640"/>
          <a:ext cx="4526280" cy="914400"/>
        </p:xfrm>
        <a:graphic>
          <a:graphicData uri="http://schemas.openxmlformats.org/drawingml/2006/table">
            <a:tbl>
              <a:tblPr/>
              <a:tblGrid>
                <a:gridCol w="1920240"/>
                <a:gridCol w="2606040"/>
              </a:tblGrid>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Setting</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74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Effect</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742"/>
                    </a:solidFill>
                  </a:tcPr>
                </a:tc>
              </a:tr>
              <a:tr h="457200">
                <a:tc>
                  <a:txBody>
                    <a:bodyPr/>
                    <a:lstStyle/>
                    <a:p>
                      <a:pPr indent="0" marL="0">
                        <a:buNone/>
                      </a:pPr>
                      <a:r>
                        <a:rPr lang="en-US" sz="1100" b="1" dirty="0">
                          <a:solidFill>
                            <a:srgbClr val="0F2742"/>
                          </a:solidFill>
                          <a:latin typeface="Calibri" pitchFamily="34" charset="0"/>
                          <a:ea typeface="Calibri" pitchFamily="34" charset="-122"/>
                          <a:cs typeface="Calibri" pitchFamily="34" charset="-120"/>
                        </a:rPr>
                        <a:t>Minimum Order Value</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A2332"/>
                          </a:solidFill>
                          <a:latin typeface="Calibri" pitchFamily="34" charset="0"/>
                          <a:ea typeface="Calibri" pitchFamily="34" charset="-122"/>
                          <a:cs typeface="Calibri" pitchFamily="34" charset="-120"/>
                        </a:rPr>
                        <a:t>Orders below this won't be accepted (e.g., ₹1,000)</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0F2742"/>
                          </a:solidFill>
                          <a:latin typeface="Calibri" pitchFamily="34" charset="0"/>
                          <a:ea typeface="Calibri" pitchFamily="34" charset="-122"/>
                          <a:cs typeface="Calibri" pitchFamily="34" charset="-120"/>
                        </a:rPr>
                        <a:t>Maximum Order Value</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A2332"/>
                          </a:solidFill>
                          <a:latin typeface="Calibri" pitchFamily="34" charset="0"/>
                          <a:ea typeface="Calibri" pitchFamily="34" charset="-122"/>
                          <a:cs typeface="Calibri" pitchFamily="34" charset="-120"/>
                        </a:rPr>
                        <a:t>Optional upper cap per order</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0F2742"/>
                          </a:solidFill>
                          <a:latin typeface="Calibri" pitchFamily="34" charset="0"/>
                          <a:ea typeface="Calibri" pitchFamily="34" charset="-122"/>
                          <a:cs typeface="Calibri" pitchFamily="34" charset="-120"/>
                        </a:rPr>
                        <a:t>Processing Time</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A2332"/>
                          </a:solidFill>
                          <a:latin typeface="Calibri" pitchFamily="34" charset="0"/>
                          <a:ea typeface="Calibri" pitchFamily="34" charset="-122"/>
                          <a:cs typeface="Calibri" pitchFamily="34" charset="-120"/>
                        </a:rPr>
                        <a:t>Time you need before shipment (e.g., 24h)</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0F2742"/>
                          </a:solidFill>
                          <a:latin typeface="Calibri" pitchFamily="34" charset="0"/>
                          <a:ea typeface="Calibri" pitchFamily="34" charset="-122"/>
                          <a:cs typeface="Calibri" pitchFamily="34" charset="-120"/>
                        </a:rPr>
                        <a:t>Cancellation Window</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A2332"/>
                          </a:solidFill>
                          <a:latin typeface="Calibri" pitchFamily="34" charset="0"/>
                          <a:ea typeface="Calibri" pitchFamily="34" charset="-122"/>
                          <a:cs typeface="Calibri" pitchFamily="34" charset="-120"/>
                        </a:rPr>
                        <a:t>Buyer's cancel window after placing</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0F2742"/>
                          </a:solidFill>
                          <a:latin typeface="Calibri" pitchFamily="34" charset="0"/>
                          <a:ea typeface="Calibri" pitchFamily="34" charset="-122"/>
                          <a:cs typeface="Calibri" pitchFamily="34" charset="-120"/>
                        </a:rPr>
                        <a:t>Allow Returns</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A2332"/>
                          </a:solidFill>
                          <a:latin typeface="Calibri" pitchFamily="34" charset="0"/>
                          <a:ea typeface="Calibri" pitchFamily="34" charset="-122"/>
                          <a:cs typeface="Calibri" pitchFamily="34" charset="-120"/>
                        </a:rPr>
                        <a:t>Enable / disable returns (24h window today)</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0F2742"/>
                          </a:solidFill>
                          <a:latin typeface="Calibri" pitchFamily="34" charset="0"/>
                          <a:ea typeface="Calibri" pitchFamily="34" charset="-122"/>
                          <a:cs typeface="Calibri" pitchFamily="34" charset="-120"/>
                        </a:rPr>
                        <a:t>Return Type</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A2332"/>
                          </a:solidFill>
                          <a:latin typeface="Calibri" pitchFamily="34" charset="0"/>
                          <a:ea typeface="Calibri" pitchFamily="34" charset="-122"/>
                          <a:cs typeface="Calibri" pitchFamily="34" charset="-120"/>
                        </a:rPr>
                        <a:t>Phase 1: Full Order Return Only</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5166360"/>
            <a:ext cx="11109960" cy="1188720"/>
          </a:xfrm>
          <a:prstGeom prst="rect">
            <a:avLst/>
          </a:prstGeom>
          <a:solidFill>
            <a:srgbClr val="FFF6EC"/>
          </a:solidFill>
          <a:ln w="12700">
            <a:solidFill>
              <a:srgbClr val="F26B38"/>
            </a:solidFill>
            <a:prstDash val="solid"/>
          </a:ln>
        </p:spPr>
      </p:sp>
      <p:sp>
        <p:nvSpPr>
          <p:cNvPr id="9" name="Shape 5"/>
          <p:cNvSpPr/>
          <p:nvPr/>
        </p:nvSpPr>
        <p:spPr>
          <a:xfrm>
            <a:off x="548640" y="5166360"/>
            <a:ext cx="73152" cy="1188720"/>
          </a:xfrm>
          <a:prstGeom prst="rect">
            <a:avLst/>
          </a:prstGeom>
          <a:solidFill>
            <a:srgbClr val="F26B38"/>
          </a:solidFill>
          <a:ln w="12700">
            <a:solidFill>
              <a:srgbClr val="F26B38"/>
            </a:solidFill>
            <a:prstDash val="solid"/>
          </a:ln>
        </p:spPr>
      </p:sp>
      <p:sp>
        <p:nvSpPr>
          <p:cNvPr id="10" name="Text 6"/>
          <p:cNvSpPr/>
          <p:nvPr/>
        </p:nvSpPr>
        <p:spPr>
          <a:xfrm>
            <a:off x="777240" y="5276088"/>
            <a:ext cx="10789920" cy="292608"/>
          </a:xfrm>
          <a:prstGeom prst="rect">
            <a:avLst/>
          </a:prstGeom>
          <a:noFill/>
          <a:ln/>
        </p:spPr>
        <p:txBody>
          <a:bodyPr wrap="square" lIns="0" tIns="0" rIns="0" bIns="0" rtlCol="0" anchor="ctr"/>
          <a:lstStyle/>
          <a:p>
            <a:pPr indent="0" marL="0">
              <a:buNone/>
            </a:pPr>
            <a:r>
              <a:rPr lang="en-US" sz="1200" b="1" spc="100" kern="0" dirty="0">
                <a:solidFill>
                  <a:srgbClr val="C84A1F"/>
                </a:solidFill>
                <a:latin typeface="Calibri" pitchFamily="34" charset="0"/>
                <a:ea typeface="Calibri" pitchFamily="34" charset="-122"/>
                <a:cs typeface="Calibri" pitchFamily="34" charset="-120"/>
              </a:rPr>
              <a:t>These rules feed the buyer app's checkout</a:t>
            </a:r>
            <a:endParaRPr lang="en-US" sz="1200" dirty="0"/>
          </a:p>
        </p:txBody>
      </p:sp>
      <p:sp>
        <p:nvSpPr>
          <p:cNvPr id="11" name="Text 7"/>
          <p:cNvSpPr/>
          <p:nvPr/>
        </p:nvSpPr>
        <p:spPr>
          <a:xfrm>
            <a:off x="777240" y="5577840"/>
            <a:ext cx="10789920" cy="685800"/>
          </a:xfrm>
          <a:prstGeom prst="rect">
            <a:avLst/>
          </a:prstGeom>
          <a:noFill/>
          <a:ln/>
        </p:spPr>
        <p:txBody>
          <a:bodyPr wrap="square" lIns="0" tIns="0" rIns="0" bIns="0" rtlCol="0" anchor="ctr"/>
          <a:lstStyle/>
          <a:p>
            <a:pPr indent="0" marL="0">
              <a:spcAft>
                <a:spcPts val="300"/>
              </a:spcAft>
              <a:buNone/>
            </a:pPr>
            <a:r>
              <a:rPr lang="en-US" sz="1200" dirty="0">
                <a:solidFill>
                  <a:srgbClr val="1A2332"/>
                </a:solidFill>
                <a:latin typeface="Calibri" pitchFamily="34" charset="0"/>
                <a:ea typeface="Calibri" pitchFamily="34" charset="-122"/>
                <a:cs typeface="Calibri" pitchFamily="34" charset="-120"/>
              </a:rPr>
              <a:t>Min/Max value and Processing Time appear on the buyer-side product detail page — buyers see your terms before placing the order. Click Save in each section to commit changes.</a:t>
            </a:r>
            <a:endParaRPr lang="en-US" sz="1200" dirty="0"/>
          </a:p>
        </p:txBody>
      </p:sp>
      <p:sp>
        <p:nvSpPr>
          <p:cNvPr id="12" name="Shape 8"/>
          <p:cNvSpPr/>
          <p:nvPr/>
        </p:nvSpPr>
        <p:spPr>
          <a:xfrm>
            <a:off x="0" y="6565392"/>
            <a:ext cx="12191695" cy="292608"/>
          </a:xfrm>
          <a:prstGeom prst="rect">
            <a:avLst/>
          </a:prstGeom>
          <a:solidFill>
            <a:srgbClr val="0F2742"/>
          </a:solidFill>
          <a:ln w="12700">
            <a:solidFill>
              <a:srgbClr val="0F2742"/>
            </a:solidFill>
            <a:prstDash val="solid"/>
          </a:ln>
        </p:spPr>
      </p:sp>
      <p:sp>
        <p:nvSpPr>
          <p:cNvPr id="13" name="Text 9"/>
          <p:cNvSpPr/>
          <p:nvPr/>
        </p:nvSpPr>
        <p:spPr>
          <a:xfrm>
            <a:off x="457200" y="6583680"/>
            <a:ext cx="731520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Qwipo Seller Store · Seller Training Guide · v1.1 · Internal Use</a:t>
            </a:r>
            <a:endParaRPr lang="en-US" sz="900" dirty="0"/>
          </a:p>
        </p:txBody>
      </p:sp>
      <p:sp>
        <p:nvSpPr>
          <p:cNvPr id="14" name="Text 10"/>
          <p:cNvSpPr/>
          <p:nvPr/>
        </p:nvSpPr>
        <p:spPr>
          <a:xfrm>
            <a:off x="10820095" y="6583680"/>
            <a:ext cx="914400" cy="256032"/>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30 / 33</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2742"/>
          </a:solidFill>
          <a:ln w="12700">
            <a:solidFill>
              <a:srgbClr val="0F2742"/>
            </a:solidFill>
            <a:prstDash val="solid"/>
          </a:ln>
        </p:spPr>
      </p:sp>
      <p:sp>
        <p:nvSpPr>
          <p:cNvPr id="3" name="Text 1"/>
          <p:cNvSpPr/>
          <p:nvPr/>
        </p:nvSpPr>
        <p:spPr>
          <a:xfrm>
            <a:off x="640080" y="320040"/>
            <a:ext cx="10058400" cy="320040"/>
          </a:xfrm>
          <a:prstGeom prst="rect">
            <a:avLst/>
          </a:prstGeom>
          <a:noFill/>
          <a:ln/>
        </p:spPr>
        <p:txBody>
          <a:bodyPr wrap="square" rtlCol="0" anchor="ctr"/>
          <a:lstStyle/>
          <a:p>
            <a:pPr indent="0" marL="0">
              <a:buNone/>
            </a:pPr>
            <a:r>
              <a:rPr lang="en-US" sz="1100" b="1" spc="400" kern="0" dirty="0">
                <a:solidFill>
                  <a:srgbClr val="F26B38"/>
                </a:solidFill>
                <a:latin typeface="Calibri" pitchFamily="34" charset="0"/>
                <a:ea typeface="Calibri" pitchFamily="34" charset="-122"/>
                <a:cs typeface="Calibri" pitchFamily="34" charset="-120"/>
              </a:rPr>
              <a:t>SETTINGS · COMMUNICATION</a:t>
            </a:r>
            <a:endParaRPr lang="en-US" sz="1100" dirty="0"/>
          </a:p>
        </p:txBody>
      </p:sp>
      <p:sp>
        <p:nvSpPr>
          <p:cNvPr id="4" name="Text 2"/>
          <p:cNvSpPr/>
          <p:nvPr/>
        </p:nvSpPr>
        <p:spPr>
          <a:xfrm>
            <a:off x="640080" y="594360"/>
            <a:ext cx="10789920" cy="777240"/>
          </a:xfrm>
          <a:prstGeom prst="rect">
            <a:avLst/>
          </a:prstGeom>
          <a:noFill/>
          <a:ln/>
        </p:spPr>
        <p:txBody>
          <a:bodyPr wrap="square" lIns="0" tIns="0" rIns="0" bIns="0" rtlCol="0" anchor="ctr"/>
          <a:lstStyle/>
          <a:p>
            <a:pPr indent="0" marL="0">
              <a:buNone/>
            </a:pPr>
            <a:r>
              <a:rPr lang="en-US" sz="3000" b="1" dirty="0">
                <a:solidFill>
                  <a:srgbClr val="0F2742"/>
                </a:solidFill>
                <a:latin typeface="Calibri" pitchFamily="34" charset="0"/>
                <a:ea typeface="Calibri" pitchFamily="34" charset="-122"/>
                <a:cs typeface="Calibri" pitchFamily="34" charset="-120"/>
              </a:rPr>
              <a:t>Connect WhatsApp for order alerts</a:t>
            </a:r>
            <a:endParaRPr lang="en-US" sz="3000" dirty="0"/>
          </a:p>
        </p:txBody>
      </p:sp>
      <p:sp>
        <p:nvSpPr>
          <p:cNvPr id="5" name="Shape 3"/>
          <p:cNvSpPr/>
          <p:nvPr/>
        </p:nvSpPr>
        <p:spPr>
          <a:xfrm>
            <a:off x="502920" y="1645920"/>
            <a:ext cx="6492240" cy="3291840"/>
          </a:xfrm>
          <a:prstGeom prst="rect">
            <a:avLst/>
          </a:prstGeom>
          <a:solidFill>
            <a:srgbClr val="FFFFFF"/>
          </a:solidFill>
          <a:ln w="9525">
            <a:solidFill>
              <a:srgbClr val="E2E8F0"/>
            </a:solidFill>
            <a:prstDash val="solid"/>
          </a:ln>
          <a:effectLst>
            <a:outerShdw sx="100000" sy="100000" kx="0" ky="0" algn="bl" rotWithShape="0" blurRad="152400" dist="38100" dir="5400000">
              <a:srgbClr val="000000">
                <a:alpha val="18000"/>
              </a:srgbClr>
            </a:outerShdw>
          </a:effectLst>
        </p:spPr>
      </p:sp>
      <p:pic>
        <p:nvPicPr>
          <p:cNvPr id="6" name="Image 0" descr="C:\Users\Lenovo\OneDrive - Xavica Primary\Desktop\Seller Store\.deck-qa\seller-img\imagee.png">    </p:cNvPr>
          <p:cNvPicPr>
            <a:picLocks noChangeAspect="1"/>
          </p:cNvPicPr>
          <p:nvPr/>
        </p:nvPicPr>
        <p:blipFill>
          <a:blip r:embed="rId1"/>
          <a:srcRect l="0" r="0" t="0" b="0"/>
          <a:stretch/>
        </p:blipFill>
        <p:spPr>
          <a:xfrm>
            <a:off x="548640" y="1691640"/>
            <a:ext cx="6400800" cy="3200400"/>
          </a:xfrm>
          <a:prstGeom prst="rect">
            <a:avLst/>
          </a:prstGeom>
        </p:spPr>
      </p:pic>
      <p:sp>
        <p:nvSpPr>
          <p:cNvPr id="7" name="Shape 4"/>
          <p:cNvSpPr/>
          <p:nvPr/>
        </p:nvSpPr>
        <p:spPr>
          <a:xfrm>
            <a:off x="7178040" y="1691640"/>
            <a:ext cx="4526280" cy="3200400"/>
          </a:xfrm>
          <a:prstGeom prst="rect">
            <a:avLst/>
          </a:prstGeom>
          <a:solidFill>
            <a:srgbClr val="FFFFFF"/>
          </a:solidFill>
          <a:ln w="9525">
            <a:solidFill>
              <a:srgbClr val="E2E8F0"/>
            </a:solidFill>
            <a:prstDash val="solid"/>
          </a:ln>
          <a:effectLst>
            <a:outerShdw sx="100000" sy="100000" kx="0" ky="0" algn="bl" rotWithShape="0" blurRad="101600" dist="25400" dir="5400000">
              <a:srgbClr val="000000">
                <a:alpha val="6000"/>
              </a:srgbClr>
            </a:outerShdw>
          </a:effectLst>
        </p:spPr>
      </p:sp>
      <p:sp>
        <p:nvSpPr>
          <p:cNvPr id="8" name="Shape 5"/>
          <p:cNvSpPr/>
          <p:nvPr/>
        </p:nvSpPr>
        <p:spPr>
          <a:xfrm>
            <a:off x="7178040" y="1691640"/>
            <a:ext cx="73152" cy="3200400"/>
          </a:xfrm>
          <a:prstGeom prst="rect">
            <a:avLst/>
          </a:prstGeom>
          <a:solidFill>
            <a:srgbClr val="1F8A4C"/>
          </a:solidFill>
          <a:ln w="12700">
            <a:solidFill>
              <a:srgbClr val="1F8A4C"/>
            </a:solidFill>
            <a:prstDash val="solid"/>
          </a:ln>
        </p:spPr>
      </p:sp>
      <p:sp>
        <p:nvSpPr>
          <p:cNvPr id="9" name="Text 6"/>
          <p:cNvSpPr/>
          <p:nvPr/>
        </p:nvSpPr>
        <p:spPr>
          <a:xfrm>
            <a:off x="7406640" y="1856232"/>
            <a:ext cx="4206240" cy="365760"/>
          </a:xfrm>
          <a:prstGeom prst="rect">
            <a:avLst/>
          </a:prstGeom>
          <a:noFill/>
          <a:ln/>
        </p:spPr>
        <p:txBody>
          <a:bodyPr wrap="square" lIns="0" tIns="0" rIns="0" bIns="0" rtlCol="0" anchor="ctr"/>
          <a:lstStyle/>
          <a:p>
            <a:pPr indent="0" marL="0">
              <a:buNone/>
            </a:pPr>
            <a:r>
              <a:rPr lang="en-US" sz="1500" b="1" dirty="0">
                <a:solidFill>
                  <a:srgbClr val="0F2742"/>
                </a:solidFill>
                <a:latin typeface="Calibri" pitchFamily="34" charset="0"/>
                <a:ea typeface="Calibri" pitchFamily="34" charset="-122"/>
                <a:cs typeface="Calibri" pitchFamily="34" charset="-120"/>
              </a:rPr>
              <a:t>How to connect</a:t>
            </a:r>
            <a:endParaRPr lang="en-US" sz="1500" dirty="0"/>
          </a:p>
        </p:txBody>
      </p:sp>
      <p:sp>
        <p:nvSpPr>
          <p:cNvPr id="10" name="Text 7"/>
          <p:cNvSpPr/>
          <p:nvPr/>
        </p:nvSpPr>
        <p:spPr>
          <a:xfrm>
            <a:off x="7406640" y="2286000"/>
            <a:ext cx="4160520" cy="2468880"/>
          </a:xfrm>
          <a:prstGeom prst="rect">
            <a:avLst/>
          </a:prstGeom>
          <a:noFill/>
          <a:ln/>
        </p:spPr>
        <p:txBody>
          <a:bodyPr wrap="square" rtlCol="0" anchor="t"/>
          <a:lstStyle/>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Go to Settings → Communication Settings</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Enter 10-digit WhatsApp number</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Click Send Code</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Enter verification code from WhatsApp</a:t>
            </a:r>
            <a:endParaRPr lang="en-US" sz="1150" dirty="0"/>
          </a:p>
          <a:p>
            <a:pPr marL="342900" indent="-342900">
              <a:spcAft>
                <a:spcPts val="300"/>
              </a:spcAft>
              <a:buSzPct val="100000"/>
              <a:buChar char="•"/>
            </a:pPr>
            <a:r>
              <a:rPr lang="en-US" sz="1150" dirty="0">
                <a:solidFill>
                  <a:srgbClr val="1A2332"/>
                </a:solidFill>
                <a:latin typeface="Calibri" pitchFamily="34" charset="0"/>
                <a:ea typeface="Calibri" pitchFamily="34" charset="-122"/>
                <a:cs typeface="Calibri" pitchFamily="34" charset="-120"/>
              </a:rPr>
              <a:t>Click Save</a:t>
            </a:r>
            <a:endParaRPr lang="en-US" sz="1150" dirty="0"/>
          </a:p>
        </p:txBody>
      </p:sp>
      <p:sp>
        <p:nvSpPr>
          <p:cNvPr id="11" name="Shape 8"/>
          <p:cNvSpPr/>
          <p:nvPr/>
        </p:nvSpPr>
        <p:spPr>
          <a:xfrm>
            <a:off x="548640" y="5029200"/>
            <a:ext cx="11109960" cy="1325880"/>
          </a:xfrm>
          <a:prstGeom prst="rect">
            <a:avLst/>
          </a:prstGeom>
          <a:solidFill>
            <a:srgbClr val="FFF6EC"/>
          </a:solidFill>
          <a:ln w="12700">
            <a:solidFill>
              <a:srgbClr val="F26B38"/>
            </a:solidFill>
            <a:prstDash val="solid"/>
          </a:ln>
        </p:spPr>
      </p:sp>
      <p:sp>
        <p:nvSpPr>
          <p:cNvPr id="12" name="Shape 9"/>
          <p:cNvSpPr/>
          <p:nvPr/>
        </p:nvSpPr>
        <p:spPr>
          <a:xfrm>
            <a:off x="548640" y="5029200"/>
            <a:ext cx="73152" cy="1325880"/>
          </a:xfrm>
          <a:prstGeom prst="rect">
            <a:avLst/>
          </a:prstGeom>
          <a:solidFill>
            <a:srgbClr val="F26B38"/>
          </a:solidFill>
          <a:ln w="12700">
            <a:solidFill>
              <a:srgbClr val="F26B38"/>
            </a:solidFill>
            <a:prstDash val="solid"/>
          </a:ln>
        </p:spPr>
      </p:sp>
      <p:sp>
        <p:nvSpPr>
          <p:cNvPr id="13" name="Text 10"/>
          <p:cNvSpPr/>
          <p:nvPr/>
        </p:nvSpPr>
        <p:spPr>
          <a:xfrm>
            <a:off x="777240" y="5138928"/>
            <a:ext cx="10789920" cy="292608"/>
          </a:xfrm>
          <a:prstGeom prst="rect">
            <a:avLst/>
          </a:prstGeom>
          <a:noFill/>
          <a:ln/>
        </p:spPr>
        <p:txBody>
          <a:bodyPr wrap="square" lIns="0" tIns="0" rIns="0" bIns="0" rtlCol="0" anchor="ctr"/>
          <a:lstStyle/>
          <a:p>
            <a:pPr indent="0" marL="0">
              <a:buNone/>
            </a:pPr>
            <a:r>
              <a:rPr lang="en-US" sz="1200" b="1" spc="100" kern="0" dirty="0">
                <a:solidFill>
                  <a:srgbClr val="C84A1F"/>
                </a:solidFill>
                <a:latin typeface="Calibri" pitchFamily="34" charset="0"/>
                <a:ea typeface="Calibri" pitchFamily="34" charset="-122"/>
                <a:cs typeface="Calibri" pitchFamily="34" charset="-120"/>
              </a:rPr>
              <a:t>Why WhatsApp for ops, not just email</a:t>
            </a:r>
            <a:endParaRPr lang="en-US" sz="1200" dirty="0"/>
          </a:p>
        </p:txBody>
      </p:sp>
      <p:sp>
        <p:nvSpPr>
          <p:cNvPr id="14" name="Text 11"/>
          <p:cNvSpPr/>
          <p:nvPr/>
        </p:nvSpPr>
        <p:spPr>
          <a:xfrm>
            <a:off x="777240" y="5440680"/>
            <a:ext cx="10789920" cy="822960"/>
          </a:xfrm>
          <a:prstGeom prst="rect">
            <a:avLst/>
          </a:prstGeom>
          <a:noFill/>
          <a:ln/>
        </p:spPr>
        <p:txBody>
          <a:bodyPr wrap="square" lIns="0" tIns="0" rIns="0" bIns="0" rtlCol="0" anchor="ctr"/>
          <a:lstStyle/>
          <a:p>
            <a:pPr indent="0" marL="0">
              <a:spcAft>
                <a:spcPts val="300"/>
              </a:spcAft>
              <a:buNone/>
            </a:pPr>
            <a:r>
              <a:rPr lang="en-US" sz="1200" dirty="0">
                <a:solidFill>
                  <a:srgbClr val="1A2332"/>
                </a:solidFill>
                <a:latin typeface="Calibri" pitchFamily="34" charset="0"/>
                <a:ea typeface="Calibri" pitchFamily="34" charset="-122"/>
                <a:cs typeface="Calibri" pitchFamily="34" charset="-120"/>
              </a:rPr>
              <a:t>Most distributors operate from mobile. New-order alerts, confirmations, and cancellations are pushed to WhatsApp so the seller (or their dispatch person) sees them in real time — no need to keep the portal open.</a:t>
            </a:r>
            <a:endParaRPr lang="en-US" sz="1200" dirty="0"/>
          </a:p>
        </p:txBody>
      </p:sp>
      <p:sp>
        <p:nvSpPr>
          <p:cNvPr id="15" name="Shape 12"/>
          <p:cNvSpPr/>
          <p:nvPr/>
        </p:nvSpPr>
        <p:spPr>
          <a:xfrm>
            <a:off x="0" y="6565392"/>
            <a:ext cx="12191695" cy="292608"/>
          </a:xfrm>
          <a:prstGeom prst="rect">
            <a:avLst/>
          </a:prstGeom>
          <a:solidFill>
            <a:srgbClr val="0F2742"/>
          </a:solidFill>
          <a:ln w="12700">
            <a:solidFill>
              <a:srgbClr val="0F2742"/>
            </a:solidFill>
            <a:prstDash val="solid"/>
          </a:ln>
        </p:spPr>
      </p:sp>
      <p:sp>
        <p:nvSpPr>
          <p:cNvPr id="16" name="Text 13"/>
          <p:cNvSpPr/>
          <p:nvPr/>
        </p:nvSpPr>
        <p:spPr>
          <a:xfrm>
            <a:off x="457200" y="6583680"/>
            <a:ext cx="731520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Qwipo Seller Store · Seller Training Guide · v1.1 · Internal Use</a:t>
            </a:r>
            <a:endParaRPr lang="en-US" sz="900" dirty="0"/>
          </a:p>
        </p:txBody>
      </p:sp>
      <p:sp>
        <p:nvSpPr>
          <p:cNvPr id="17" name="Text 14"/>
          <p:cNvSpPr/>
          <p:nvPr/>
        </p:nvSpPr>
        <p:spPr>
          <a:xfrm>
            <a:off x="10820095" y="6583680"/>
            <a:ext cx="914400" cy="256032"/>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31 / 33</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2742"/>
          </a:solidFill>
          <a:ln w="12700">
            <a:solidFill>
              <a:srgbClr val="0F2742"/>
            </a:solidFill>
            <a:prstDash val="solid"/>
          </a:ln>
        </p:spPr>
      </p:sp>
      <p:sp>
        <p:nvSpPr>
          <p:cNvPr id="3" name="Text 1"/>
          <p:cNvSpPr/>
          <p:nvPr/>
        </p:nvSpPr>
        <p:spPr>
          <a:xfrm>
            <a:off x="640080" y="320040"/>
            <a:ext cx="10058400" cy="320040"/>
          </a:xfrm>
          <a:prstGeom prst="rect">
            <a:avLst/>
          </a:prstGeom>
          <a:noFill/>
          <a:ln/>
        </p:spPr>
        <p:txBody>
          <a:bodyPr wrap="square" rtlCol="0" anchor="ctr"/>
          <a:lstStyle/>
          <a:p>
            <a:pPr indent="0" marL="0">
              <a:buNone/>
            </a:pPr>
            <a:r>
              <a:rPr lang="en-US" sz="1100" b="1" spc="400" kern="0" dirty="0">
                <a:solidFill>
                  <a:srgbClr val="F26B38"/>
                </a:solidFill>
                <a:latin typeface="Calibri" pitchFamily="34" charset="0"/>
                <a:ea typeface="Calibri" pitchFamily="34" charset="-122"/>
                <a:cs typeface="Calibri" pitchFamily="34" charset="-120"/>
              </a:rPr>
              <a:t>QUICK TROUBLESHOOTING</a:t>
            </a:r>
            <a:endParaRPr lang="en-US" sz="1100" dirty="0"/>
          </a:p>
        </p:txBody>
      </p:sp>
      <p:sp>
        <p:nvSpPr>
          <p:cNvPr id="4" name="Text 2"/>
          <p:cNvSpPr/>
          <p:nvPr/>
        </p:nvSpPr>
        <p:spPr>
          <a:xfrm>
            <a:off x="640080" y="594360"/>
            <a:ext cx="10789920" cy="777240"/>
          </a:xfrm>
          <a:prstGeom prst="rect">
            <a:avLst/>
          </a:prstGeom>
          <a:noFill/>
          <a:ln/>
        </p:spPr>
        <p:txBody>
          <a:bodyPr wrap="square" lIns="0" tIns="0" rIns="0" bIns="0" rtlCol="0" anchor="ctr"/>
          <a:lstStyle/>
          <a:p>
            <a:pPr indent="0" marL="0">
              <a:buNone/>
            </a:pPr>
            <a:r>
              <a:rPr lang="en-US" sz="3000" b="1" dirty="0">
                <a:solidFill>
                  <a:srgbClr val="0F2742"/>
                </a:solidFill>
                <a:latin typeface="Calibri" pitchFamily="34" charset="0"/>
                <a:ea typeface="Calibri" pitchFamily="34" charset="-122"/>
                <a:cs typeface="Calibri" pitchFamily="34" charset="-120"/>
              </a:rPr>
              <a:t>Common issues and how to fix them</a:t>
            </a:r>
            <a:endParaRPr lang="en-US" sz="3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109960" cy="914400"/>
        </p:xfrm>
        <a:graphic>
          <a:graphicData uri="http://schemas.openxmlformats.org/drawingml/2006/table">
            <a:tbl>
              <a:tblPr/>
              <a:tblGrid>
                <a:gridCol w="4114800"/>
                <a:gridCol w="699516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Problem</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74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Fix</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742"/>
                    </a:solidFill>
                  </a:tcPr>
                </a:tc>
              </a:tr>
              <a:tr h="365760">
                <a:tc>
                  <a:txBody>
                    <a:bodyPr/>
                    <a:lstStyle/>
                    <a:p>
                      <a:pPr indent="0" marL="0">
                        <a:buNone/>
                      </a:pPr>
                      <a:r>
                        <a:rPr lang="en-US" sz="1100" b="1" dirty="0">
                          <a:solidFill>
                            <a:srgbClr val="0F2742"/>
                          </a:solidFill>
                          <a:latin typeface="Calibri" pitchFamily="34" charset="0"/>
                          <a:ea typeface="Calibri" pitchFamily="34" charset="-122"/>
                          <a:cs typeface="Calibri" pitchFamily="34" charset="-120"/>
                        </a:rPr>
                        <a:t>Import fails immediately</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A2332"/>
                          </a:solidFill>
                          <a:latin typeface="Calibri" pitchFamily="34" charset="0"/>
                          <a:ea typeface="Calibri" pitchFamily="34" charset="-122"/>
                          <a:cs typeface="Calibri" pitchFamily="34" charset="-120"/>
                        </a:rPr>
                        <a:t>File must be .xlsx — not CSV or XLS</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F2742"/>
                          </a:solidFill>
                          <a:latin typeface="Calibri" pitchFamily="34" charset="0"/>
                          <a:ea typeface="Calibri" pitchFamily="34" charset="-122"/>
                          <a:cs typeface="Calibri" pitchFamily="34" charset="-120"/>
                        </a:rPr>
                        <a:t>All rows show manufacturer mismatch</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A2332"/>
                          </a:solidFill>
                          <a:latin typeface="Calibri" pitchFamily="34" charset="0"/>
                          <a:ea typeface="Calibri" pitchFamily="34" charset="-122"/>
                          <a:cs typeface="Calibri" pitchFamily="34" charset="-120"/>
                        </a:rPr>
                        <a:t>Copy exact Company name from Super Admin portal</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F2742"/>
                          </a:solidFill>
                          <a:latin typeface="Calibri" pitchFamily="34" charset="0"/>
                          <a:ea typeface="Calibri" pitchFamily="34" charset="-122"/>
                          <a:cs typeface="Calibri" pitchFamily="34" charset="-120"/>
                        </a:rPr>
                        <a:t>Short description errors</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A2332"/>
                          </a:solidFill>
                          <a:latin typeface="Calibri" pitchFamily="34" charset="0"/>
                          <a:ea typeface="Calibri" pitchFamily="34" charset="-122"/>
                          <a:cs typeface="Calibri" pitchFamily="34" charset="-120"/>
                        </a:rPr>
                        <a:t>Add 10+ characters — copy group name as filler</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F2742"/>
                          </a:solidFill>
                          <a:latin typeface="Calibri" pitchFamily="34" charset="0"/>
                          <a:ea typeface="Calibri" pitchFamily="34" charset="-122"/>
                          <a:cs typeface="Calibri" pitchFamily="34" charset="-120"/>
                        </a:rPr>
                        <a:t>Still erroring after re-upload</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A2332"/>
                          </a:solidFill>
                          <a:latin typeface="Calibri" pitchFamily="34" charset="0"/>
                          <a:ea typeface="Calibri" pitchFamily="34" charset="-122"/>
                          <a:cs typeface="Calibri" pitchFamily="34" charset="-120"/>
                        </a:rPr>
                        <a:t>Re-download fresh error report; check a different column</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F2742"/>
                          </a:solidFill>
                          <a:latin typeface="Calibri" pitchFamily="34" charset="0"/>
                          <a:ea typeface="Calibri" pitchFamily="34" charset="-122"/>
                          <a:cs typeface="Calibri" pitchFamily="34" charset="-120"/>
                        </a:rPr>
                        <a:t>SKUs show Non-compliant after import</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A2332"/>
                          </a:solidFill>
                          <a:latin typeface="Calibri" pitchFamily="34" charset="0"/>
                          <a:ea typeface="Calibri" pitchFamily="34" charset="-122"/>
                          <a:cs typeface="Calibri" pitchFamily="34" charset="-120"/>
                        </a:rPr>
                        <a:t>Images are missing — run the image upload pipeline</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F2742"/>
                          </a:solidFill>
                          <a:latin typeface="Calibri" pitchFamily="34" charset="0"/>
                          <a:ea typeface="Calibri" pitchFamily="34" charset="-122"/>
                          <a:cs typeface="Calibri" pitchFamily="34" charset="-120"/>
                        </a:rPr>
                        <a:t>Cannot log in</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A2332"/>
                          </a:solidFill>
                          <a:latin typeface="Calibri" pitchFamily="34" charset="0"/>
                          <a:ea typeface="Calibri" pitchFamily="34" charset="-122"/>
                          <a:cs typeface="Calibri" pitchFamily="34" charset="-120"/>
                        </a:rPr>
                        <a:t>Verify mobile number with Super Admin; OTP any 6 digits on test</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F2742"/>
                          </a:solidFill>
                          <a:latin typeface="Calibri" pitchFamily="34" charset="0"/>
                          <a:ea typeface="Calibri" pitchFamily="34" charset="-122"/>
                          <a:cs typeface="Calibri" pitchFamily="34" charset="-120"/>
                        </a:rPr>
                        <a:t>Orders not appearing</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A2332"/>
                          </a:solidFill>
                          <a:latin typeface="Calibri" pitchFamily="34" charset="0"/>
                          <a:ea typeface="Calibri" pitchFamily="34" charset="-122"/>
                          <a:cs typeface="Calibri" pitchFamily="34" charset="-120"/>
                        </a:rPr>
                        <a:t>Check Super Admin has completed Serviceability setup</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F2742"/>
                          </a:solidFill>
                          <a:latin typeface="Calibri" pitchFamily="34" charset="0"/>
                          <a:ea typeface="Calibri" pitchFamily="34" charset="-122"/>
                          <a:cs typeface="Calibri" pitchFamily="34" charset="-120"/>
                        </a:rPr>
                        <a:t>QPS not applying</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A2332"/>
                          </a:solidFill>
                          <a:latin typeface="Calibri" pitchFamily="34" charset="0"/>
                          <a:ea typeface="Calibri" pitchFamily="34" charset="-122"/>
                          <a:cs typeface="Calibri" pitchFamily="34" charset="-120"/>
                        </a:rPr>
                        <a:t>Verify Active status and order date inside validity window</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F2742"/>
                          </a:solidFill>
                          <a:latin typeface="Calibri" pitchFamily="34" charset="0"/>
                          <a:ea typeface="Calibri" pitchFamily="34" charset="-122"/>
                          <a:cs typeface="Calibri" pitchFamily="34" charset="-120"/>
                        </a:rPr>
                        <a:t>WhatsApp not getting alerts</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A2332"/>
                          </a:solidFill>
                          <a:latin typeface="Calibri" pitchFamily="34" charset="0"/>
                          <a:ea typeface="Calibri" pitchFamily="34" charset="-122"/>
                          <a:cs typeface="Calibri" pitchFamily="34" charset="-120"/>
                        </a:rPr>
                        <a:t>Number must be registered with WhatsApp / Business</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F2742"/>
                          </a:solidFill>
                          <a:latin typeface="Calibri" pitchFamily="34" charset="0"/>
                          <a:ea typeface="Calibri" pitchFamily="34" charset="-122"/>
                          <a:cs typeface="Calibri" pitchFamily="34" charset="-120"/>
                        </a:rPr>
                        <a:t>Warehouse address wrong</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A2332"/>
                          </a:solidFill>
                          <a:latin typeface="Calibri" pitchFamily="34" charset="0"/>
                          <a:ea typeface="Calibri" pitchFamily="34" charset="-122"/>
                          <a:cs typeface="Calibri" pitchFamily="34" charset="-120"/>
                        </a:rPr>
                        <a:t>Cannot edit — contact Super Admin for backend correction</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6" name="Shape 3"/>
          <p:cNvSpPr/>
          <p:nvPr/>
        </p:nvSpPr>
        <p:spPr>
          <a:xfrm>
            <a:off x="0" y="6565392"/>
            <a:ext cx="12191695" cy="292608"/>
          </a:xfrm>
          <a:prstGeom prst="rect">
            <a:avLst/>
          </a:prstGeom>
          <a:solidFill>
            <a:srgbClr val="0F2742"/>
          </a:solidFill>
          <a:ln w="12700">
            <a:solidFill>
              <a:srgbClr val="0F2742"/>
            </a:solidFill>
            <a:prstDash val="solid"/>
          </a:ln>
        </p:spPr>
      </p:sp>
      <p:sp>
        <p:nvSpPr>
          <p:cNvPr id="7" name="Text 4"/>
          <p:cNvSpPr/>
          <p:nvPr/>
        </p:nvSpPr>
        <p:spPr>
          <a:xfrm>
            <a:off x="457200" y="6583680"/>
            <a:ext cx="731520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Qwipo Seller Store · Seller Training Guide · v1.1 · Internal Use</a:t>
            </a:r>
            <a:endParaRPr lang="en-US" sz="900" dirty="0"/>
          </a:p>
        </p:txBody>
      </p:sp>
      <p:sp>
        <p:nvSpPr>
          <p:cNvPr id="8" name="Text 5"/>
          <p:cNvSpPr/>
          <p:nvPr/>
        </p:nvSpPr>
        <p:spPr>
          <a:xfrm>
            <a:off x="10820095" y="6583680"/>
            <a:ext cx="914400" cy="256032"/>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32 / 33</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2742"/>
        </a:solidFill>
      </p:bgPr>
    </p:bg>
    <p:spTree>
      <p:nvGrpSpPr>
        <p:cNvPr id="1" name=""/>
        <p:cNvGrpSpPr/>
        <p:nvPr/>
      </p:nvGrpSpPr>
      <p:grpSpPr>
        <a:xfrm>
          <a:off x="0" y="0"/>
          <a:ext cx="0" cy="0"/>
          <a:chOff x="0" y="0"/>
          <a:chExt cx="0" cy="0"/>
        </a:xfrm>
      </p:grpSpPr>
      <p:sp>
        <p:nvSpPr>
          <p:cNvPr id="2" name="Shape 0"/>
          <p:cNvSpPr/>
          <p:nvPr/>
        </p:nvSpPr>
        <p:spPr>
          <a:xfrm>
            <a:off x="11871655" y="0"/>
            <a:ext cx="320040" cy="6858000"/>
          </a:xfrm>
          <a:prstGeom prst="rect">
            <a:avLst/>
          </a:prstGeom>
          <a:solidFill>
            <a:srgbClr val="F26B38"/>
          </a:solidFill>
          <a:ln w="12700">
            <a:solidFill>
              <a:srgbClr val="F26B38"/>
            </a:solidFill>
            <a:prstDash val="solid"/>
          </a:ln>
        </p:spPr>
      </p:sp>
      <p:sp>
        <p:nvSpPr>
          <p:cNvPr id="3" name="Shape 1"/>
          <p:cNvSpPr/>
          <p:nvPr/>
        </p:nvSpPr>
        <p:spPr>
          <a:xfrm>
            <a:off x="548640" y="914400"/>
            <a:ext cx="457200" cy="64008"/>
          </a:xfrm>
          <a:prstGeom prst="rect">
            <a:avLst/>
          </a:prstGeom>
          <a:solidFill>
            <a:srgbClr val="F26B38"/>
          </a:solidFill>
          <a:ln w="12700">
            <a:solidFill>
              <a:srgbClr val="F26B38"/>
            </a:solidFill>
            <a:prstDash val="solid"/>
          </a:ln>
        </p:spPr>
      </p:sp>
      <p:sp>
        <p:nvSpPr>
          <p:cNvPr id="4" name="Text 2"/>
          <p:cNvSpPr/>
          <p:nvPr/>
        </p:nvSpPr>
        <p:spPr>
          <a:xfrm>
            <a:off x="548640" y="1051560"/>
            <a:ext cx="7315200" cy="365760"/>
          </a:xfrm>
          <a:prstGeom prst="rect">
            <a:avLst/>
          </a:prstGeom>
          <a:noFill/>
          <a:ln/>
        </p:spPr>
        <p:txBody>
          <a:bodyPr wrap="square" rtlCol="0" anchor="ctr"/>
          <a:lstStyle/>
          <a:p>
            <a:pPr indent="0" marL="0">
              <a:buNone/>
            </a:pPr>
            <a:r>
              <a:rPr lang="en-US" sz="1300" b="1" spc="600" kern="0" dirty="0">
                <a:solidFill>
                  <a:srgbClr val="F26B38"/>
                </a:solidFill>
                <a:latin typeface="Calibri" pitchFamily="34" charset="0"/>
                <a:ea typeface="Calibri" pitchFamily="34" charset="-122"/>
                <a:cs typeface="Calibri" pitchFamily="34" charset="-120"/>
              </a:rPr>
              <a:t>RECAP</a:t>
            </a:r>
            <a:endParaRPr lang="en-US" sz="1300" dirty="0"/>
          </a:p>
        </p:txBody>
      </p:sp>
      <p:sp>
        <p:nvSpPr>
          <p:cNvPr id="5" name="Text 3"/>
          <p:cNvSpPr/>
          <p:nvPr/>
        </p:nvSpPr>
        <p:spPr>
          <a:xfrm>
            <a:off x="548640" y="1463040"/>
            <a:ext cx="1097280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Six things every seller-trainer should leave with</a:t>
            </a:r>
            <a:endParaRPr lang="en-US" sz="2800" dirty="0"/>
          </a:p>
        </p:txBody>
      </p:sp>
      <p:sp>
        <p:nvSpPr>
          <p:cNvPr id="6" name="Shape 4"/>
          <p:cNvSpPr/>
          <p:nvPr/>
        </p:nvSpPr>
        <p:spPr>
          <a:xfrm>
            <a:off x="548640" y="2377440"/>
            <a:ext cx="365760" cy="365760"/>
          </a:xfrm>
          <a:prstGeom prst="ellipse">
            <a:avLst/>
          </a:prstGeom>
          <a:solidFill>
            <a:srgbClr val="F26B38"/>
          </a:solidFill>
          <a:ln w="12700">
            <a:solidFill>
              <a:srgbClr val="F26B38"/>
            </a:solidFill>
            <a:prstDash val="solid"/>
          </a:ln>
        </p:spPr>
      </p:sp>
      <p:sp>
        <p:nvSpPr>
          <p:cNvPr id="7" name="Text 5"/>
          <p:cNvSpPr/>
          <p:nvPr/>
        </p:nvSpPr>
        <p:spPr>
          <a:xfrm>
            <a:off x="548640" y="23774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051560" y="2377440"/>
            <a:ext cx="1051560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The Seller Portal depends on Super Admin setup. Companies, Brands, Serviceability — all must exist first.</a:t>
            </a:r>
            <a:endParaRPr lang="en-US" sz="1400" dirty="0"/>
          </a:p>
        </p:txBody>
      </p:sp>
      <p:sp>
        <p:nvSpPr>
          <p:cNvPr id="9" name="Shape 7"/>
          <p:cNvSpPr/>
          <p:nvPr/>
        </p:nvSpPr>
        <p:spPr>
          <a:xfrm>
            <a:off x="548640" y="2971800"/>
            <a:ext cx="365760" cy="365760"/>
          </a:xfrm>
          <a:prstGeom prst="ellipse">
            <a:avLst/>
          </a:prstGeom>
          <a:solidFill>
            <a:srgbClr val="F26B38"/>
          </a:solidFill>
          <a:ln w="12700">
            <a:solidFill>
              <a:srgbClr val="F26B38"/>
            </a:solidFill>
            <a:prstDash val="solid"/>
          </a:ln>
        </p:spPr>
      </p:sp>
      <p:sp>
        <p:nvSpPr>
          <p:cNvPr id="10" name="Text 8"/>
          <p:cNvSpPr/>
          <p:nvPr/>
        </p:nvSpPr>
        <p:spPr>
          <a:xfrm>
            <a:off x="548640" y="29718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051560" y="2971800"/>
            <a:ext cx="1051560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Manufacturer in the SKU file must EXACTLY equal a Company name. Even a dot or trailing space fails the row.</a:t>
            </a:r>
            <a:endParaRPr lang="en-US" sz="1400" dirty="0"/>
          </a:p>
        </p:txBody>
      </p:sp>
      <p:sp>
        <p:nvSpPr>
          <p:cNvPr id="12" name="Shape 10"/>
          <p:cNvSpPr/>
          <p:nvPr/>
        </p:nvSpPr>
        <p:spPr>
          <a:xfrm>
            <a:off x="548640" y="3566160"/>
            <a:ext cx="365760" cy="365760"/>
          </a:xfrm>
          <a:prstGeom prst="ellipse">
            <a:avLst/>
          </a:prstGeom>
          <a:solidFill>
            <a:srgbClr val="F26B38"/>
          </a:solidFill>
          <a:ln w="12700">
            <a:solidFill>
              <a:srgbClr val="F26B38"/>
            </a:solidFill>
            <a:prstDash val="solid"/>
          </a:ln>
        </p:spPr>
      </p:sp>
      <p:sp>
        <p:nvSpPr>
          <p:cNvPr id="13" name="Text 11"/>
          <p:cNvSpPr/>
          <p:nvPr/>
        </p:nvSpPr>
        <p:spPr>
          <a:xfrm>
            <a:off x="548640" y="35661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051560" y="3566160"/>
            <a:ext cx="1051560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Only 4 units are accepted by ONDC: Gram, Kilogram, Litre, Millilitre. Everything else needs the Gram workaround.</a:t>
            </a:r>
            <a:endParaRPr lang="en-US" sz="1400" dirty="0"/>
          </a:p>
        </p:txBody>
      </p:sp>
      <p:sp>
        <p:nvSpPr>
          <p:cNvPr id="15" name="Shape 13"/>
          <p:cNvSpPr/>
          <p:nvPr/>
        </p:nvSpPr>
        <p:spPr>
          <a:xfrm>
            <a:off x="548640" y="4160520"/>
            <a:ext cx="365760" cy="365760"/>
          </a:xfrm>
          <a:prstGeom prst="ellipse">
            <a:avLst/>
          </a:prstGeom>
          <a:solidFill>
            <a:srgbClr val="F26B38"/>
          </a:solidFill>
          <a:ln w="12700">
            <a:solidFill>
              <a:srgbClr val="F26B38"/>
            </a:solidFill>
            <a:prstDash val="solid"/>
          </a:ln>
        </p:spPr>
      </p:sp>
      <p:sp>
        <p:nvSpPr>
          <p:cNvPr id="16" name="Text 14"/>
          <p:cNvSpPr/>
          <p:nvPr/>
        </p:nvSpPr>
        <p:spPr>
          <a:xfrm>
            <a:off x="548640" y="41605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051560" y="4160520"/>
            <a:ext cx="1051560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SKUs go live only when the image upload pipeline runs and ONDC Compliance flips to Compliant.</a:t>
            </a:r>
            <a:endParaRPr lang="en-US" sz="1400" dirty="0"/>
          </a:p>
        </p:txBody>
      </p:sp>
      <p:sp>
        <p:nvSpPr>
          <p:cNvPr id="18" name="Shape 16"/>
          <p:cNvSpPr/>
          <p:nvPr/>
        </p:nvSpPr>
        <p:spPr>
          <a:xfrm>
            <a:off x="548640" y="4754880"/>
            <a:ext cx="365760" cy="365760"/>
          </a:xfrm>
          <a:prstGeom prst="ellipse">
            <a:avLst/>
          </a:prstGeom>
          <a:solidFill>
            <a:srgbClr val="F26B38"/>
          </a:solidFill>
          <a:ln w="12700">
            <a:solidFill>
              <a:srgbClr val="F26B38"/>
            </a:solidFill>
            <a:prstDash val="solid"/>
          </a:ln>
        </p:spPr>
      </p:sp>
      <p:sp>
        <p:nvSpPr>
          <p:cNvPr id="19" name="Text 17"/>
          <p:cNvSpPr/>
          <p:nvPr/>
        </p:nvSpPr>
        <p:spPr>
          <a:xfrm>
            <a:off x="548640" y="47548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1051560" y="4754880"/>
            <a:ext cx="1051560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The seller's address Lat/Long becomes the warehouse. It's locked after creation — confirm before saving.</a:t>
            </a:r>
            <a:endParaRPr lang="en-US" sz="1400" dirty="0"/>
          </a:p>
        </p:txBody>
      </p:sp>
      <p:sp>
        <p:nvSpPr>
          <p:cNvPr id="21" name="Shape 19"/>
          <p:cNvSpPr/>
          <p:nvPr/>
        </p:nvSpPr>
        <p:spPr>
          <a:xfrm>
            <a:off x="548640" y="5349240"/>
            <a:ext cx="365760" cy="365760"/>
          </a:xfrm>
          <a:prstGeom prst="ellipse">
            <a:avLst/>
          </a:prstGeom>
          <a:solidFill>
            <a:srgbClr val="F26B38"/>
          </a:solidFill>
          <a:ln w="12700">
            <a:solidFill>
              <a:srgbClr val="F26B38"/>
            </a:solidFill>
            <a:prstDash val="solid"/>
          </a:ln>
        </p:spPr>
      </p:sp>
      <p:sp>
        <p:nvSpPr>
          <p:cNvPr id="22" name="Text 20"/>
          <p:cNvSpPr/>
          <p:nvPr/>
        </p:nvSpPr>
        <p:spPr>
          <a:xfrm>
            <a:off x="548640" y="53492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3" name="Text 21"/>
          <p:cNvSpPr/>
          <p:nvPr/>
        </p:nvSpPr>
        <p:spPr>
          <a:xfrm>
            <a:off x="1051560" y="5349240"/>
            <a:ext cx="1051560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WhatsApp number unlocks real-time alerts. Without it, the seller has to keep refreshing the portal.</a:t>
            </a:r>
            <a:endParaRPr lang="en-US" sz="1400" dirty="0"/>
          </a:p>
        </p:txBody>
      </p:sp>
      <p:sp>
        <p:nvSpPr>
          <p:cNvPr id="24" name="Text 22"/>
          <p:cNvSpPr/>
          <p:nvPr/>
        </p:nvSpPr>
        <p:spPr>
          <a:xfrm>
            <a:off x="548640" y="5943600"/>
            <a:ext cx="10972800" cy="365760"/>
          </a:xfrm>
          <a:prstGeom prst="rect">
            <a:avLst/>
          </a:prstGeom>
          <a:noFill/>
          <a:ln/>
        </p:spPr>
        <p:txBody>
          <a:bodyPr wrap="square" lIns="0" tIns="0" rIns="0" bIns="0" rtlCol="0" anchor="ctr"/>
          <a:lstStyle/>
          <a:p>
            <a:pPr indent="0" marL="0">
              <a:buNone/>
            </a:pPr>
            <a:r>
              <a:rPr lang="en-US" sz="1100" i="1" dirty="0">
                <a:solidFill>
                  <a:srgbClr val="C9D6E5"/>
                </a:solidFill>
                <a:latin typeface="Calibri" pitchFamily="34" charset="0"/>
                <a:ea typeface="Calibri" pitchFamily="34" charset="-122"/>
                <a:cs typeface="Calibri" pitchFamily="34" charset="-120"/>
              </a:rPr>
              <a:t>For Super Admin setup (Company, Seller, Serviceability), see the Super Admin User Guide deck.</a:t>
            </a:r>
            <a:endParaRPr lang="en-US" sz="1100" dirty="0"/>
          </a:p>
        </p:txBody>
      </p:sp>
      <p:sp>
        <p:nvSpPr>
          <p:cNvPr id="25" name="Shape 23"/>
          <p:cNvSpPr/>
          <p:nvPr/>
        </p:nvSpPr>
        <p:spPr>
          <a:xfrm>
            <a:off x="0" y="6565392"/>
            <a:ext cx="12191695" cy="292608"/>
          </a:xfrm>
          <a:prstGeom prst="rect">
            <a:avLst/>
          </a:prstGeom>
          <a:solidFill>
            <a:srgbClr val="0F2742"/>
          </a:solidFill>
          <a:ln w="12700">
            <a:solidFill>
              <a:srgbClr val="0F2742"/>
            </a:solidFill>
            <a:prstDash val="solid"/>
          </a:ln>
        </p:spPr>
      </p:sp>
      <p:sp>
        <p:nvSpPr>
          <p:cNvPr id="26" name="Text 24"/>
          <p:cNvSpPr/>
          <p:nvPr/>
        </p:nvSpPr>
        <p:spPr>
          <a:xfrm>
            <a:off x="457200" y="6583680"/>
            <a:ext cx="731520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Qwipo Seller Store · Seller Training Guide · v1.1 · Internal Use</a:t>
            </a:r>
            <a:endParaRPr lang="en-US" sz="900" dirty="0"/>
          </a:p>
        </p:txBody>
      </p:sp>
      <p:sp>
        <p:nvSpPr>
          <p:cNvPr id="27" name="Text 25"/>
          <p:cNvSpPr/>
          <p:nvPr/>
        </p:nvSpPr>
        <p:spPr>
          <a:xfrm>
            <a:off x="10820095" y="6583680"/>
            <a:ext cx="914400" cy="256032"/>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33 / 33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Qwipo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Qwipo Seller Store — Seller Training Guide</dc:title>
  <dc:subject>PptxGenJS Presentation</dc:subject>
  <dc:creator>Qwipo</dc:creator>
  <cp:lastModifiedBy>Qwipo</cp:lastModifiedBy>
  <cp:revision>1</cp:revision>
  <dcterms:created xsi:type="dcterms:W3CDTF">2026-06-01T10:12:34Z</dcterms:created>
  <dcterms:modified xsi:type="dcterms:W3CDTF">2026-06-01T10:12:34Z</dcterms:modified>
</cp:coreProperties>
</file>