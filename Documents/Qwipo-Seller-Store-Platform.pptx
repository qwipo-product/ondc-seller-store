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Digital order share</c:v>
                </c:pt>
              </c:strCache>
            </c:strRef>
          </c:tx>
          <c:spPr>
            <a:solidFill>
              <a:srgbClr val="7C3AED"/>
            </a:solidFill>
            <a:effectLst/>
          </c:spPr>
          <c:invertIfNegative val="0"/>
          <c:dLbls>
            <c:numFmt formatCode="#,##0" sourceLinked="0"/>
            <c:txPr>
              <a:bodyPr/>
              <a:lstStyle/>
              <a:p>
                <a:pPr>
                  <a:defRPr b="1" i="0" strike="noStrike" sz="10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Month 1</c:v>
                  </c:pt>
                  <c:pt idx="1">
                    <c:v>Month 2</c:v>
                  </c:pt>
                  <c:pt idx="2">
                    <c:v>Month 3</c:v>
                  </c:pt>
                  <c:pt idx="3">
                    <c:v>Month 4</c:v>
                  </c:pt>
                  <c:pt idx="4">
                    <c:v>Month 5</c:v>
                  </c:pt>
                </c:lvl>
              </c:multiLvlStrCache>
            </c:multiLvlStrRef>
          </c:cat>
          <c:val>
            <c:numRef>
              <c:f>Sheet1!$B$2:$B$6</c:f>
              <c:numCache>
                <c:formatCode>General</c:formatCode>
                <c:ptCount val="5"/>
                <c:pt idx="0">
                  <c:v>15</c:v>
                </c:pt>
                <c:pt idx="1">
                  <c:v>34</c:v>
                </c:pt>
                <c:pt idx="2">
                  <c:v>52</c:v>
                </c:pt>
                <c:pt idx="3">
                  <c:v>68</c:v>
                </c:pt>
                <c:pt idx="4">
                  <c:v>80</c:v>
                </c:pt>
              </c:numCache>
            </c:numRef>
          </c:val>
        </c:ser>
        <c:dLbls>
          <c:numFmt formatCode="#,##0" sourceLinked="0"/>
          <c:txPr>
            <a:bodyPr/>
            <a:lstStyle/>
            <a:p>
              <a:pPr>
                <a:defRPr b="1" i="0" strike="noStrike" sz="1000" u="none">
                  <a:solidFill>
                    <a:srgbClr val="1E293B"/>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EF1F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majorUnit val="25"/>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Qwipo Seller Store is a digital commerce and distribution enablement platform purpose-built for FMCG/CPG brands, their distributors and retailers. Today I'll show how the platform takes a manufacturer like ITC or HUL from distributor onboarding all the way to delivery and customer notification — with ONDC, logistics and WhatsApp built in. Everything shown is on the live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challenges show up in nearly every FMCG distribution network. They aren't technology problems in isolation — they compound. Slow onboarding delays catalog, a messy catalog breaks orders, no territory control creates channel conflict, and a fragmented stack means no end-to-end visibility. Qwipo was designed to solve all six in one connected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its core, Qwipo is a single layer that sits between the brands at the top and the retailers at the bottom. Manufacturers' master data flows in; the platform handles catalog, serviceability, orders and offers; an integration layer connects DMS, ONDC, logistics and WhatsApp; and distributors serve beat-mapped retailers with last-mile delivery. One platform replaces a stack of disconnected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Onboarding is where most distribution platforms lose weeks. In Qwipo the Super Admin creates a seller in four short steps — identity, business details, brand assignment, and activate. Mobile-number OTP means no password setup. Choosing 'All brands' for a company auto-includes any future brands. The distributor can sign in and transact the same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Serviceability is configured per company, down to the pincode and beat. The May-2026 update introduced beat-wise serviceability: each company can have many beats, and every beat carries a name, a delivery day, and an optional GeoJSON polygon. The table you see drives automatic matching of retailers to the correct distributor and delivery day — no manual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ONDC is a first-class connector. Once configured, any distributor is onboarded to the open network, their catalog is published with ONDC validation already applied, and orders sync in real time — buyer-side orders land directly in the Orders queue and fulfilment updates flow back. The connector card shows it live, syncing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Logistics is wired in through a connector just like ONDC. Distributors can fulfil via their own beat delivery, manual/self delivery, or integrated 3PL partners. Whatever the mode, the order moves through a clear workflow — confirmed, assigned, dispatched, tracked in transit, and confirmed delivered — with status visible to the brand, distributor and retailer the whole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Catalog is the other classic bottleneck. Qwipo offers three ways to build it: bulk Excel/CSV import with a validation report that flags ONDC issues before you commit; Central Catalog Sync that pulls pre-validated SKUs from Qwipo's 50,000-plus verified master catalog; and manual entry for full control. The screen shows the bulk stock-and-price flow — download, edit offline, re-upload.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brands already run a DMS. Rather than re-keying everything, Qwipo's connector pulls masters, pricing, stock and schemes directly from the DMS on a per-seller schedule. SKUs are created automatically, inventory stays in sync, and the catalog is instantly ONDC-ready. The result is one source of truth with almost no manual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Territory intelligence is where Qwipo is genuinely differentiated for FMCG. Brands can map retailers into beats, tie each customer to the right distributor and company, tag and segment them, set independent company-wise coverage, and enforce it with geo-fencing and GeoJSON polygons. This is how you stop two distributors fighting over the same kirana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territory engine in action. Distributors upload GeoJSON polygons describing their zones. When a retailer's location is known, the matching engine determines which polygon contains them and assigns them to exactly one distributor — along with the right beat and delivery day. Overlaps are detected, so no two distributors can claim the same retailer.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Orders is the operational heart. Whether an order comes from ONDC, a marketplace or directly, it flows into one queue with a clear pipeline — new, confirmed, processing, shipped, delivered, with a rejected branch. The team accepts, confirms, modifies, ships or cancels from here, and every order opens to a full detail view with line items, taxes and quantity-pricing savings.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handover is deliberately simple. A confirmed order goes one of two ways — the distributor delivers it themselves through their beat or fleet, or it's assigned to an integrated 3PL partner that auto-creates the shipment. Both paths converge into the same tracking and delivery-confirmation flow, so regardless of who delivers, everyone sees live status through to proof of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WhatsApp is how Indian retail actually communicates, so commerce happens there. The platform pushes new-order, out-for-delivery, delivered and delay notifications automatically, and supports two-way messaging with both retailers and distributors. There's nothing to install — which is why adoption is so high. The mock on the right shows the real notification flow for a sample ITC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Behind the notifications is a simple automation model: business events on the left — a new order, a status change, an out-for-delivery, a detected delay — feed an automation engine that fans out to the right channels: WhatsApp, SMS, email and in-app alerts. Templates are configured once in Communication settings and then everything runs automatically and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it all together: a brand's data flows in, a distributor is onboarded, the catalog is created, retailers are mapped by territory, orders are placed across channels, logistics is assigned, delivery happens, and the customer is notified — all on one platform with one data model and no hand-offs between disconnected systems. That continuous flow is the entire value proposition in a single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outcomes map directly back to the challenges from slide two. Onboarding drops from days to minutes, catalog digitisation becomes a single import, territory rules remove distributor conflict, operations get more efficient, ONDC is ready out of the box, logistics is fully visible, retailers are served on the right beat and day, and WhatsApp gives zero-install reach. Every benefit is something we just demonstrated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Qwipo over a generic e-commerce or a custom build? Because it's built for FMCG distribution specifically — ONDC-ready, FMCG-native workflows, rapid deployment, territory intelligence, logistics integrations, enterprise scale, and WhatsApp commerce. These aren't add-ons; they're the foundation. That's what lets a brand like ITC or HUL digitise an entire distributor network quickly and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are illustrative — they show the shape of the impact, not a guarantee. Onboarding in under ten minutes, a 50,000-SKU verified catalog to draw from, roughly 80% less manual catalog work, and ONDC-ready from day one. The chart shows the typical ramp in digital-order share after go-live, and the panel lists the operational gains in processing speed, governance, visibility and engagement.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To summarise: Qwipo Seller Store takes an FMCG brand's entire distribution network digital — onboarding, catalog, territory, orders, logistics and WhatsApp — on one ONDC-ready platform. I'd love to set up a working session with your distribution and digital teams to map this to your network. Reach us at the details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7.png"/><Relationship Id="rId10" Type="http://schemas.openxmlformats.org/officeDocument/2006/relationships/image" Target="../media/image-3-10.png"/><Relationship Id="rId11" Type="http://schemas.openxmlformats.org/officeDocument/2006/relationships/image" Target="../media/image-3-7.png"/><Relationship Id="rId12" Type="http://schemas.openxmlformats.org/officeDocument/2006/relationships/image" Target="../media/image-3-12.png"/><Relationship Id="rId13" Type="http://schemas.openxmlformats.org/officeDocument/2006/relationships/slideLayout" Target="../slideLayouts/slideLayout1.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1.png"/><Relationship Id="rId3" Type="http://schemas.openxmlformats.org/officeDocument/2006/relationships/image" Target="../media/image-4-1.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1.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3.png"/><Relationship Id="rId6" Type="http://schemas.openxmlformats.org/officeDocument/2006/relationships/image" Target="../media/image-6-6.png"/><Relationship Id="rId7" Type="http://schemas.openxmlformats.org/officeDocument/2006/relationships/image" Target="../media/image-6-3.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2.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2.png"/><Relationship Id="rId5" Type="http://schemas.openxmlformats.org/officeDocument/2006/relationships/image" Target="../media/image-9-5.png"/><Relationship Id="rId6" Type="http://schemas.openxmlformats.org/officeDocument/2006/relationships/image" Target="../media/image-9-2.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slideLayout" Target="../slideLayouts/slideLayout1.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image" Target="../media/image-11-1.png"/><Relationship Id="rId4" Type="http://schemas.openxmlformats.org/officeDocument/2006/relationships/image" Target="../media/image-11-1.png"/><Relationship Id="rId5" Type="http://schemas.openxmlformats.org/officeDocument/2006/relationships/image" Target="../media/image-11-1.png"/><Relationship Id="rId6" Type="http://schemas.openxmlformats.org/officeDocument/2006/relationships/image" Target="../media/image-11-1.png"/><Relationship Id="rId7" Type="http://schemas.openxmlformats.org/officeDocument/2006/relationships/image" Target="../media/image-11-1.png"/><Relationship Id="rId8" Type="http://schemas.openxmlformats.org/officeDocument/2006/relationships/image" Target="../media/image-11-1.png"/><Relationship Id="rId9" Type="http://schemas.openxmlformats.org/officeDocument/2006/relationships/image" Target="../media/image-11-1.png"/><Relationship Id="rId10" Type="http://schemas.openxmlformats.org/officeDocument/2006/relationships/image" Target="../media/image-11-1.png"/><Relationship Id="rId11" Type="http://schemas.openxmlformats.org/officeDocument/2006/relationships/image" Target="../media/image-11-1.png"/><Relationship Id="rId12" Type="http://schemas.openxmlformats.org/officeDocument/2006/relationships/image" Target="../media/image-11-1.png"/><Relationship Id="rId13" Type="http://schemas.openxmlformats.org/officeDocument/2006/relationships/slideLayout" Target="../slideLayouts/slideLayout1.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2.png"/><Relationship Id="rId5" Type="http://schemas.openxmlformats.org/officeDocument/2006/relationships/image" Target="../media/image-12-5.png"/><Relationship Id="rId6" Type="http://schemas.openxmlformats.org/officeDocument/2006/relationships/image" Target="../media/image-12-2.png"/><Relationship Id="rId7" Type="http://schemas.openxmlformats.org/officeDocument/2006/relationships/image" Target="../media/image-12-7.png"/><Relationship Id="rId8" Type="http://schemas.openxmlformats.org/officeDocument/2006/relationships/image" Target="../media/image-12-2.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2.png"/><Relationship Id="rId6" Type="http://schemas.openxmlformats.org/officeDocument/2006/relationships/image" Target="../media/image-13-2.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2.png"/><Relationship Id="rId10" Type="http://schemas.openxmlformats.org/officeDocument/2006/relationships/image" Target="../media/image-13-2.png"/><Relationship Id="rId11" Type="http://schemas.openxmlformats.org/officeDocument/2006/relationships/image" Target="../media/image-13-2.png"/><Relationship Id="rId12" Type="http://schemas.openxmlformats.org/officeDocument/2006/relationships/slideLayout" Target="../slideLayouts/slideLayout1.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6.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slideLayout" Target="../slideLayouts/slideLayout1.xml"/><Relationship Id="rId1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3.png"/><Relationship Id="rId6" Type="http://schemas.openxmlformats.org/officeDocument/2006/relationships/image" Target="../media/image-16-6.png"/><Relationship Id="rId7" Type="http://schemas.openxmlformats.org/officeDocument/2006/relationships/image" Target="../media/image-16-3.png"/><Relationship Id="rId8" Type="http://schemas.openxmlformats.org/officeDocument/2006/relationships/image" Target="../media/image-16-8.png"/><Relationship Id="rId9" Type="http://schemas.openxmlformats.org/officeDocument/2006/relationships/image" Target="../media/image-16-3.png"/><Relationship Id="rId10" Type="http://schemas.openxmlformats.org/officeDocument/2006/relationships/image" Target="../media/image-16-10.png"/><Relationship Id="rId11" Type="http://schemas.openxmlformats.org/officeDocument/2006/relationships/image" Target="../media/image-16-3.png"/><Relationship Id="rId12" Type="http://schemas.openxmlformats.org/officeDocument/2006/relationships/image" Target="../media/image-16-12.png"/><Relationship Id="rId13" Type="http://schemas.openxmlformats.org/officeDocument/2006/relationships/image" Target="../media/image-16-3.png"/><Relationship Id="rId14" Type="http://schemas.openxmlformats.org/officeDocument/2006/relationships/image" Target="../media/image-16-14.png"/><Relationship Id="rId15" Type="http://schemas.openxmlformats.org/officeDocument/2006/relationships/image" Target="../media/image-16-3.png"/><Relationship Id="rId16" Type="http://schemas.openxmlformats.org/officeDocument/2006/relationships/image" Target="../media/image-16-16.png"/><Relationship Id="rId17" Type="http://schemas.openxmlformats.org/officeDocument/2006/relationships/slideLayout" Target="../slideLayouts/slideLayout1.xml"/><Relationship Id="rId1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1.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1.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9-1.png"/><Relationship Id="rId3" Type="http://schemas.openxmlformats.org/officeDocument/2006/relationships/image" Target="../media/image-19-1.png"/><Relationship Id="rId4" Type="http://schemas.openxmlformats.org/officeDocument/2006/relationships/image" Target="../media/image-19-1.png"/><Relationship Id="rId5" Type="http://schemas.openxmlformats.org/officeDocument/2006/relationships/image" Target="../media/image-19-1.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502920"/>
            <a:ext cx="420624" cy="420624"/>
          </a:xfrm>
          <a:prstGeom prst="roundRect">
            <a:avLst>
              <a:gd name="adj" fmla="val 28000"/>
            </a:avLst>
          </a:prstGeom>
          <a:solidFill>
            <a:srgbClr val="7C3AED"/>
          </a:solidFill>
          <a:ln/>
        </p:spPr>
      </p:sp>
      <p:sp>
        <p:nvSpPr>
          <p:cNvPr id="3" name="Text 1"/>
          <p:cNvSpPr/>
          <p:nvPr/>
        </p:nvSpPr>
        <p:spPr>
          <a:xfrm>
            <a:off x="640080" y="493776"/>
            <a:ext cx="420624" cy="420624"/>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Q</a:t>
            </a:r>
            <a:endParaRPr lang="en-US" sz="2200" dirty="0"/>
          </a:p>
        </p:txBody>
      </p:sp>
      <p:sp>
        <p:nvSpPr>
          <p:cNvPr id="4" name="Text 2"/>
          <p:cNvSpPr/>
          <p:nvPr/>
        </p:nvSpPr>
        <p:spPr>
          <a:xfrm>
            <a:off x="1170432" y="457200"/>
            <a:ext cx="2194560" cy="512064"/>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Qwipo</a:t>
            </a:r>
            <a:endParaRPr lang="en-US" sz="2200" dirty="0"/>
          </a:p>
        </p:txBody>
      </p:sp>
      <p:sp>
        <p:nvSpPr>
          <p:cNvPr id="5" name="Text 3"/>
          <p:cNvSpPr/>
          <p:nvPr/>
        </p:nvSpPr>
        <p:spPr>
          <a:xfrm>
            <a:off x="658368" y="1874520"/>
            <a:ext cx="6035040" cy="274320"/>
          </a:xfrm>
          <a:prstGeom prst="rect">
            <a:avLst/>
          </a:prstGeom>
          <a:noFill/>
          <a:ln/>
        </p:spPr>
        <p:txBody>
          <a:bodyPr wrap="square" lIns="0" tIns="0" rIns="0" bIns="0" rtlCol="0" anchor="ctr"/>
          <a:lstStyle/>
          <a:p>
            <a:pPr indent="0" marL="0">
              <a:buNone/>
            </a:pPr>
            <a:r>
              <a:rPr lang="en-US" sz="1200" b="1" spc="200" kern="0" dirty="0">
                <a:solidFill>
                  <a:srgbClr val="C4B5FD"/>
                </a:solidFill>
                <a:latin typeface="Trebuchet MS" pitchFamily="34" charset="0"/>
                <a:ea typeface="Trebuchet MS" pitchFamily="34" charset="-122"/>
                <a:cs typeface="Trebuchet MS" pitchFamily="34" charset="-120"/>
              </a:rPr>
              <a:t>DIGITAL COMMERCE &amp; DISTRIBUTION ENABLEMENT PLATFORM</a:t>
            </a:r>
            <a:endParaRPr lang="en-US" sz="1200" dirty="0"/>
          </a:p>
        </p:txBody>
      </p:sp>
      <p:sp>
        <p:nvSpPr>
          <p:cNvPr id="6" name="Text 4"/>
          <p:cNvSpPr/>
          <p:nvPr/>
        </p:nvSpPr>
        <p:spPr>
          <a:xfrm>
            <a:off x="621792" y="2194560"/>
            <a:ext cx="6126480" cy="1691640"/>
          </a:xfrm>
          <a:prstGeom prst="rect">
            <a:avLst/>
          </a:prstGeom>
          <a:noFill/>
          <a:ln/>
        </p:spPr>
        <p:txBody>
          <a:bodyPr wrap="square" lIns="0" tIns="0" rIns="0" bIns="0" rtlCol="0" anchor="ctr"/>
          <a:lstStyle/>
          <a:p>
            <a:pPr indent="0" marL="0">
              <a:lnSpc>
                <a:spcPct val="98000"/>
              </a:lnSpc>
              <a:buNone/>
            </a:pPr>
            <a:r>
              <a:rPr lang="en-US" sz="4600" b="1" dirty="0">
                <a:solidFill>
                  <a:srgbClr val="FFFFFF"/>
                </a:solidFill>
                <a:latin typeface="Trebuchet MS" pitchFamily="34" charset="0"/>
                <a:ea typeface="Trebuchet MS" pitchFamily="34" charset="-122"/>
                <a:cs typeface="Trebuchet MS" pitchFamily="34" charset="-120"/>
              </a:rPr>
              <a:t>Qwipo Seller</a:t>
            </a:r>
            <a:endParaRPr lang="en-US" sz="4600" dirty="0"/>
          </a:p>
          <a:p>
            <a:pPr indent="0" marL="0">
              <a:lnSpc>
                <a:spcPct val="98000"/>
              </a:lnSpc>
              <a:buNone/>
            </a:pPr>
            <a:r>
              <a:rPr lang="en-US" sz="4600" b="1" dirty="0">
                <a:solidFill>
                  <a:srgbClr val="FFFFFF"/>
                </a:solidFill>
                <a:latin typeface="Trebuchet MS" pitchFamily="34" charset="0"/>
                <a:ea typeface="Trebuchet MS" pitchFamily="34" charset="-122"/>
                <a:cs typeface="Trebuchet MS" pitchFamily="34" charset="-120"/>
              </a:rPr>
              <a:t>Store Platform</a:t>
            </a:r>
            <a:endParaRPr lang="en-US" sz="4600" dirty="0"/>
          </a:p>
        </p:txBody>
      </p:sp>
      <p:sp>
        <p:nvSpPr>
          <p:cNvPr id="7" name="Text 5"/>
          <p:cNvSpPr/>
          <p:nvPr/>
        </p:nvSpPr>
        <p:spPr>
          <a:xfrm>
            <a:off x="658368" y="3977640"/>
            <a:ext cx="5852160" cy="640080"/>
          </a:xfrm>
          <a:prstGeom prst="rect">
            <a:avLst/>
          </a:prstGeom>
          <a:noFill/>
          <a:ln/>
        </p:spPr>
        <p:txBody>
          <a:bodyPr wrap="square" lIns="0" tIns="0" rIns="0" bIns="0" rtlCol="0" anchor="ctr"/>
          <a:lstStyle/>
          <a:p>
            <a:pPr indent="0" marL="0">
              <a:lnSpc>
                <a:spcPct val="105000"/>
              </a:lnSpc>
              <a:buNone/>
            </a:pPr>
            <a:r>
              <a:rPr lang="en-US" sz="1600" dirty="0">
                <a:solidFill>
                  <a:srgbClr val="DBE2F0"/>
                </a:solidFill>
                <a:latin typeface="Calibri" pitchFamily="34" charset="0"/>
                <a:ea typeface="Calibri" pitchFamily="34" charset="-122"/>
                <a:cs typeface="Calibri" pitchFamily="34" charset="-120"/>
              </a:rPr>
              <a:t>Empowering Brands, Distributors &amp; Retailers through Digital Commerce</a:t>
            </a:r>
            <a:endParaRPr lang="en-US" sz="1600" dirty="0"/>
          </a:p>
        </p:txBody>
      </p:sp>
      <p:sp>
        <p:nvSpPr>
          <p:cNvPr id="8" name="Shape 6"/>
          <p:cNvSpPr/>
          <p:nvPr/>
        </p:nvSpPr>
        <p:spPr>
          <a:xfrm>
            <a:off x="658368" y="4892040"/>
            <a:ext cx="1783080" cy="841248"/>
          </a:xfrm>
          <a:prstGeom prst="roundRect">
            <a:avLst>
              <a:gd name="adj" fmla="val 10870"/>
            </a:avLst>
          </a:prstGeom>
          <a:solidFill>
            <a:srgbClr val="FFFFFF">
              <a:alpha val="12000"/>
            </a:srgbClr>
          </a:solidFill>
          <a:ln w="12700">
            <a:solidFill>
              <a:srgbClr val="8B7FD6"/>
            </a:solidFill>
            <a:prstDash val="solid"/>
          </a:ln>
        </p:spPr>
      </p:sp>
      <p:sp>
        <p:nvSpPr>
          <p:cNvPr id="9" name="Text 7"/>
          <p:cNvSpPr/>
          <p:nvPr/>
        </p:nvSpPr>
        <p:spPr>
          <a:xfrm>
            <a:off x="658368" y="4992624"/>
            <a:ext cx="1783080" cy="384048"/>
          </a:xfrm>
          <a:prstGeom prst="rect">
            <a:avLst/>
          </a:prstGeom>
          <a:noFill/>
          <a:ln/>
        </p:spPr>
        <p:txBody>
          <a:bodyPr wrap="square" lIns="0" tIns="0" rIns="0" bIns="0" rtlCol="0" anchor="ctr"/>
          <a:lstStyle/>
          <a:p>
            <a:pPr algn="ctr" indent="0" marL="0">
              <a:buNone/>
            </a:pPr>
            <a:r>
              <a:rPr lang="en-US" sz="2300" b="1" dirty="0">
                <a:solidFill>
                  <a:srgbClr val="FFFFFF"/>
                </a:solidFill>
                <a:latin typeface="Trebuchet MS" pitchFamily="34" charset="0"/>
                <a:ea typeface="Trebuchet MS" pitchFamily="34" charset="-122"/>
                <a:cs typeface="Trebuchet MS" pitchFamily="34" charset="-120"/>
              </a:rPr>
              <a:t>500+</a:t>
            </a:r>
            <a:endParaRPr lang="en-US" sz="2300" dirty="0"/>
          </a:p>
        </p:txBody>
      </p:sp>
      <p:sp>
        <p:nvSpPr>
          <p:cNvPr id="10" name="Text 8"/>
          <p:cNvSpPr/>
          <p:nvPr/>
        </p:nvSpPr>
        <p:spPr>
          <a:xfrm>
            <a:off x="658368" y="5394960"/>
            <a:ext cx="1783080" cy="274320"/>
          </a:xfrm>
          <a:prstGeom prst="rect">
            <a:avLst/>
          </a:prstGeom>
          <a:noFill/>
          <a:ln/>
        </p:spPr>
        <p:txBody>
          <a:bodyPr wrap="square" lIns="0" tIns="0" rIns="0" bIns="0" rtlCol="0" anchor="ctr"/>
          <a:lstStyle/>
          <a:p>
            <a:pPr algn="ctr" indent="0" marL="0">
              <a:buNone/>
            </a:pPr>
            <a:r>
              <a:rPr lang="en-US" sz="1100" dirty="0">
                <a:solidFill>
                  <a:srgbClr val="C4B5FD"/>
                </a:solidFill>
                <a:latin typeface="Calibri" pitchFamily="34" charset="0"/>
                <a:ea typeface="Calibri" pitchFamily="34" charset="-122"/>
                <a:cs typeface="Calibri" pitchFamily="34" charset="-120"/>
              </a:rPr>
              <a:t>Brands</a:t>
            </a:r>
            <a:endParaRPr lang="en-US" sz="1100" dirty="0"/>
          </a:p>
        </p:txBody>
      </p:sp>
      <p:sp>
        <p:nvSpPr>
          <p:cNvPr id="11" name="Shape 9"/>
          <p:cNvSpPr/>
          <p:nvPr/>
        </p:nvSpPr>
        <p:spPr>
          <a:xfrm>
            <a:off x="2642616" y="4892040"/>
            <a:ext cx="1783080" cy="841248"/>
          </a:xfrm>
          <a:prstGeom prst="roundRect">
            <a:avLst>
              <a:gd name="adj" fmla="val 10870"/>
            </a:avLst>
          </a:prstGeom>
          <a:solidFill>
            <a:srgbClr val="FFFFFF">
              <a:alpha val="12000"/>
            </a:srgbClr>
          </a:solidFill>
          <a:ln w="12700">
            <a:solidFill>
              <a:srgbClr val="8B7FD6"/>
            </a:solidFill>
            <a:prstDash val="solid"/>
          </a:ln>
        </p:spPr>
      </p:sp>
      <p:sp>
        <p:nvSpPr>
          <p:cNvPr id="12" name="Text 10"/>
          <p:cNvSpPr/>
          <p:nvPr/>
        </p:nvSpPr>
        <p:spPr>
          <a:xfrm>
            <a:off x="2642616" y="4992624"/>
            <a:ext cx="1783080" cy="384048"/>
          </a:xfrm>
          <a:prstGeom prst="rect">
            <a:avLst/>
          </a:prstGeom>
          <a:noFill/>
          <a:ln/>
        </p:spPr>
        <p:txBody>
          <a:bodyPr wrap="square" lIns="0" tIns="0" rIns="0" bIns="0" rtlCol="0" anchor="ctr"/>
          <a:lstStyle/>
          <a:p>
            <a:pPr algn="ctr" indent="0" marL="0">
              <a:buNone/>
            </a:pPr>
            <a:r>
              <a:rPr lang="en-US" sz="2300" b="1" dirty="0">
                <a:solidFill>
                  <a:srgbClr val="FFFFFF"/>
                </a:solidFill>
                <a:latin typeface="Trebuchet MS" pitchFamily="34" charset="0"/>
                <a:ea typeface="Trebuchet MS" pitchFamily="34" charset="-122"/>
                <a:cs typeface="Trebuchet MS" pitchFamily="34" charset="-120"/>
              </a:rPr>
              <a:t>50K+</a:t>
            </a:r>
            <a:endParaRPr lang="en-US" sz="2300" dirty="0"/>
          </a:p>
        </p:txBody>
      </p:sp>
      <p:sp>
        <p:nvSpPr>
          <p:cNvPr id="13" name="Text 11"/>
          <p:cNvSpPr/>
          <p:nvPr/>
        </p:nvSpPr>
        <p:spPr>
          <a:xfrm>
            <a:off x="2642616" y="5394960"/>
            <a:ext cx="1783080" cy="274320"/>
          </a:xfrm>
          <a:prstGeom prst="rect">
            <a:avLst/>
          </a:prstGeom>
          <a:noFill/>
          <a:ln/>
        </p:spPr>
        <p:txBody>
          <a:bodyPr wrap="square" lIns="0" tIns="0" rIns="0" bIns="0" rtlCol="0" anchor="ctr"/>
          <a:lstStyle/>
          <a:p>
            <a:pPr algn="ctr" indent="0" marL="0">
              <a:buNone/>
            </a:pPr>
            <a:r>
              <a:rPr lang="en-US" sz="1100" dirty="0">
                <a:solidFill>
                  <a:srgbClr val="C4B5FD"/>
                </a:solidFill>
                <a:latin typeface="Calibri" pitchFamily="34" charset="0"/>
                <a:ea typeface="Calibri" pitchFamily="34" charset="-122"/>
                <a:cs typeface="Calibri" pitchFamily="34" charset="-120"/>
              </a:rPr>
              <a:t>Verified SKUs</a:t>
            </a:r>
            <a:endParaRPr lang="en-US" sz="1100" dirty="0"/>
          </a:p>
        </p:txBody>
      </p:sp>
      <p:sp>
        <p:nvSpPr>
          <p:cNvPr id="14" name="Shape 12"/>
          <p:cNvSpPr/>
          <p:nvPr/>
        </p:nvSpPr>
        <p:spPr>
          <a:xfrm>
            <a:off x="4626864" y="4892040"/>
            <a:ext cx="1783080" cy="841248"/>
          </a:xfrm>
          <a:prstGeom prst="roundRect">
            <a:avLst>
              <a:gd name="adj" fmla="val 10870"/>
            </a:avLst>
          </a:prstGeom>
          <a:solidFill>
            <a:srgbClr val="FFFFFF">
              <a:alpha val="12000"/>
            </a:srgbClr>
          </a:solidFill>
          <a:ln w="12700">
            <a:solidFill>
              <a:srgbClr val="8B7FD6"/>
            </a:solidFill>
            <a:prstDash val="solid"/>
          </a:ln>
        </p:spPr>
      </p:sp>
      <p:sp>
        <p:nvSpPr>
          <p:cNvPr id="15" name="Text 13"/>
          <p:cNvSpPr/>
          <p:nvPr/>
        </p:nvSpPr>
        <p:spPr>
          <a:xfrm>
            <a:off x="4626864" y="4992624"/>
            <a:ext cx="1783080" cy="384048"/>
          </a:xfrm>
          <a:prstGeom prst="rect">
            <a:avLst/>
          </a:prstGeom>
          <a:noFill/>
          <a:ln/>
        </p:spPr>
        <p:txBody>
          <a:bodyPr wrap="square" lIns="0" tIns="0" rIns="0" bIns="0" rtlCol="0" anchor="ctr"/>
          <a:lstStyle/>
          <a:p>
            <a:pPr algn="ctr" indent="0" marL="0">
              <a:buNone/>
            </a:pPr>
            <a:r>
              <a:rPr lang="en-US" sz="2300" b="1" dirty="0">
                <a:solidFill>
                  <a:srgbClr val="FFFFFF"/>
                </a:solidFill>
                <a:latin typeface="Trebuchet MS" pitchFamily="34" charset="0"/>
                <a:ea typeface="Trebuchet MS" pitchFamily="34" charset="-122"/>
                <a:cs typeface="Trebuchet MS" pitchFamily="34" charset="-120"/>
              </a:rPr>
              <a:t>100%</a:t>
            </a:r>
            <a:endParaRPr lang="en-US" sz="2300" dirty="0"/>
          </a:p>
        </p:txBody>
      </p:sp>
      <p:sp>
        <p:nvSpPr>
          <p:cNvPr id="16" name="Text 14"/>
          <p:cNvSpPr/>
          <p:nvPr/>
        </p:nvSpPr>
        <p:spPr>
          <a:xfrm>
            <a:off x="4626864" y="5394960"/>
            <a:ext cx="1783080" cy="274320"/>
          </a:xfrm>
          <a:prstGeom prst="rect">
            <a:avLst/>
          </a:prstGeom>
          <a:noFill/>
          <a:ln/>
        </p:spPr>
        <p:txBody>
          <a:bodyPr wrap="square" lIns="0" tIns="0" rIns="0" bIns="0" rtlCol="0" anchor="ctr"/>
          <a:lstStyle/>
          <a:p>
            <a:pPr algn="ctr" indent="0" marL="0">
              <a:buNone/>
            </a:pPr>
            <a:r>
              <a:rPr lang="en-US" sz="1100" dirty="0">
                <a:solidFill>
                  <a:srgbClr val="C4B5FD"/>
                </a:solidFill>
                <a:latin typeface="Calibri" pitchFamily="34" charset="0"/>
                <a:ea typeface="Calibri" pitchFamily="34" charset="-122"/>
                <a:cs typeface="Calibri" pitchFamily="34" charset="-120"/>
              </a:rPr>
              <a:t>ONDC-Ready</a:t>
            </a:r>
            <a:endParaRPr lang="en-US" sz="1100" dirty="0"/>
          </a:p>
        </p:txBody>
      </p:sp>
      <p:sp>
        <p:nvSpPr>
          <p:cNvPr id="17" name="Shape 15"/>
          <p:cNvSpPr/>
          <p:nvPr/>
        </p:nvSpPr>
        <p:spPr>
          <a:xfrm>
            <a:off x="7086600" y="1600200"/>
            <a:ext cx="4617720" cy="3657600"/>
          </a:xfrm>
          <a:prstGeom prst="rect">
            <a:avLst/>
          </a:prstGeom>
          <a:solidFill>
            <a:srgbClr val="FFFFFF"/>
          </a:solidFill>
          <a:ln w="12700">
            <a:solidFill>
              <a:srgbClr val="E2E8F0"/>
            </a:solidFill>
            <a:prstDash val="solid"/>
          </a:ln>
          <a:effectLst>
            <a:outerShdw sx="100000" sy="100000" kx="0" ky="0" algn="bl" rotWithShape="0" blurRad="114300" dist="38100" dir="5400000">
              <a:srgbClr val="1E293B">
                <a:alpha val="18000"/>
              </a:srgbClr>
            </a:outerShdw>
          </a:effectLst>
        </p:spPr>
      </p:sp>
      <p:sp>
        <p:nvSpPr>
          <p:cNvPr id="18" name="Shape 16"/>
          <p:cNvSpPr/>
          <p:nvPr/>
        </p:nvSpPr>
        <p:spPr>
          <a:xfrm>
            <a:off x="7086600" y="1600200"/>
            <a:ext cx="4617720" cy="237744"/>
          </a:xfrm>
          <a:prstGeom prst="rect">
            <a:avLst/>
          </a:prstGeom>
          <a:solidFill>
            <a:srgbClr val="F1F5F9"/>
          </a:solidFill>
          <a:ln/>
        </p:spPr>
      </p:sp>
      <p:sp>
        <p:nvSpPr>
          <p:cNvPr id="19" name="Shape 17"/>
          <p:cNvSpPr/>
          <p:nvPr/>
        </p:nvSpPr>
        <p:spPr>
          <a:xfrm>
            <a:off x="7086600" y="1837944"/>
            <a:ext cx="4617720" cy="10973"/>
          </a:xfrm>
          <a:prstGeom prst="rect">
            <a:avLst/>
          </a:prstGeom>
          <a:solidFill>
            <a:srgbClr val="E2E8F0"/>
          </a:solidFill>
          <a:ln/>
        </p:spPr>
      </p:sp>
      <p:sp>
        <p:nvSpPr>
          <p:cNvPr id="20" name="Shape 18"/>
          <p:cNvSpPr/>
          <p:nvPr/>
        </p:nvSpPr>
        <p:spPr>
          <a:xfrm>
            <a:off x="7232904" y="1687068"/>
            <a:ext cx="64008" cy="64008"/>
          </a:xfrm>
          <a:prstGeom prst="ellipse">
            <a:avLst/>
          </a:prstGeom>
          <a:solidFill>
            <a:srgbClr val="F87171"/>
          </a:solidFill>
          <a:ln/>
        </p:spPr>
      </p:sp>
      <p:sp>
        <p:nvSpPr>
          <p:cNvPr id="21" name="Shape 19"/>
          <p:cNvSpPr/>
          <p:nvPr/>
        </p:nvSpPr>
        <p:spPr>
          <a:xfrm>
            <a:off x="7370064" y="1687068"/>
            <a:ext cx="64008" cy="64008"/>
          </a:xfrm>
          <a:prstGeom prst="ellipse">
            <a:avLst/>
          </a:prstGeom>
          <a:solidFill>
            <a:srgbClr val="FBBF24"/>
          </a:solidFill>
          <a:ln/>
        </p:spPr>
      </p:sp>
      <p:sp>
        <p:nvSpPr>
          <p:cNvPr id="22" name="Shape 20"/>
          <p:cNvSpPr/>
          <p:nvPr/>
        </p:nvSpPr>
        <p:spPr>
          <a:xfrm>
            <a:off x="7507224" y="1687068"/>
            <a:ext cx="64008" cy="64008"/>
          </a:xfrm>
          <a:prstGeom prst="ellipse">
            <a:avLst/>
          </a:prstGeom>
          <a:solidFill>
            <a:srgbClr val="34D399"/>
          </a:solidFill>
          <a:ln/>
        </p:spPr>
      </p:sp>
      <p:pic>
        <p:nvPicPr>
          <p:cNvPr id="23" name="Image 0" descr="C:\Users\Lenovo\AppData\Local\Temp\qwipo-deck\assets\login.png">    </p:cNvPr>
          <p:cNvPicPr>
            <a:picLocks noChangeAspect="1"/>
          </p:cNvPicPr>
          <p:nvPr/>
        </p:nvPicPr>
        <p:blipFill>
          <a:blip r:embed="rId2"/>
          <a:stretch>
            <a:fillRect/>
          </a:stretch>
        </p:blipFill>
        <p:spPr>
          <a:xfrm>
            <a:off x="7123176" y="2127695"/>
            <a:ext cx="4544568" cy="2840355"/>
          </a:xfrm>
          <a:prstGeom prst="rect">
            <a:avLst/>
          </a:prstGeom>
        </p:spPr>
      </p:pic>
      <p:sp>
        <p:nvSpPr>
          <p:cNvPr id="24" name="Text 21"/>
          <p:cNvSpPr/>
          <p:nvPr/>
        </p:nvSpPr>
        <p:spPr>
          <a:xfrm>
            <a:off x="7086600" y="5349240"/>
            <a:ext cx="4617720" cy="274320"/>
          </a:xfrm>
          <a:prstGeom prst="rect">
            <a:avLst/>
          </a:prstGeom>
          <a:noFill/>
          <a:ln/>
        </p:spPr>
        <p:txBody>
          <a:bodyPr wrap="square" lIns="0" tIns="0" rIns="0" bIns="0" rtlCol="0" anchor="ctr"/>
          <a:lstStyle/>
          <a:p>
            <a:pPr algn="ctr" indent="0" marL="0">
              <a:buNone/>
            </a:pPr>
            <a:r>
              <a:rPr lang="en-US" sz="1050" i="1" dirty="0">
                <a:solidFill>
                  <a:srgbClr val="AEB8D6"/>
                </a:solidFill>
                <a:latin typeface="Calibri" pitchFamily="34" charset="0"/>
                <a:ea typeface="Calibri" pitchFamily="34" charset="-122"/>
                <a:cs typeface="Calibri" pitchFamily="34" charset="-120"/>
              </a:rPr>
              <a:t>Live Phase-1 build  ·  Built for FMCG / CPG distribution networks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Trebuchet MS" pitchFamily="34" charset="0"/>
                <a:ea typeface="Trebuchet MS" pitchFamily="34" charset="-122"/>
                <a:cs typeface="Trebuchet MS" pitchFamily="34" charset="-120"/>
              </a:rPr>
              <a:t>THE PROBLEM</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Trebuchet MS" pitchFamily="34" charset="0"/>
                <a:ea typeface="Trebuchet MS" pitchFamily="34" charset="-122"/>
                <a:cs typeface="Trebuchet MS" pitchFamily="34" charset="-120"/>
              </a:rPr>
              <a:t>Why FMCG distribution still struggles to go digital</a:t>
            </a:r>
            <a:endParaRPr lang="en-US" sz="2900" dirty="0"/>
          </a:p>
        </p:txBody>
      </p:sp>
      <p:sp>
        <p:nvSpPr>
          <p:cNvPr id="4" name="Text 2"/>
          <p:cNvSpPr/>
          <p:nvPr/>
        </p:nvSpPr>
        <p:spPr>
          <a:xfrm>
            <a:off x="548640" y="1335024"/>
            <a:ext cx="11064240" cy="36576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Brands and distributors face the same recurring friction across every market they serve.</a:t>
            </a:r>
            <a:endParaRPr lang="en-US" sz="1350" dirty="0"/>
          </a:p>
        </p:txBody>
      </p:sp>
      <p:sp>
        <p:nvSpPr>
          <p:cNvPr id="5" name="Shape 3"/>
          <p:cNvSpPr/>
          <p:nvPr/>
        </p:nvSpPr>
        <p:spPr>
          <a:xfrm>
            <a:off x="548640" y="1874520"/>
            <a:ext cx="3456432" cy="1792224"/>
          </a:xfrm>
          <a:prstGeom prst="roundRect">
            <a:avLst>
              <a:gd name="adj" fmla="val 4592"/>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6" name="Shape 4"/>
          <p:cNvSpPr/>
          <p:nvPr/>
        </p:nvSpPr>
        <p:spPr>
          <a:xfrm>
            <a:off x="786384" y="2112264"/>
            <a:ext cx="566928" cy="566928"/>
          </a:xfrm>
          <a:prstGeom prst="roundRect">
            <a:avLst>
              <a:gd name="adj" fmla="val 26000"/>
            </a:avLst>
          </a:prstGeom>
          <a:solidFill>
            <a:srgbClr val="E11D48"/>
          </a:solidFill>
          <a:ln/>
        </p:spPr>
      </p:sp>
      <p:pic>
        <p:nvPicPr>
          <p:cNvPr id="7" name="Image 0" descr="C:\Users\Lenovo\AppData\Local\Temp\qwipo-deck\assets\ic_FaUserPlus_w.png">    </p:cNvPr>
          <p:cNvPicPr>
            <a:picLocks noChangeAspect="1"/>
          </p:cNvPicPr>
          <p:nvPr/>
        </p:nvPicPr>
        <p:blipFill>
          <a:blip r:embed="rId1"/>
          <a:stretch>
            <a:fillRect/>
          </a:stretch>
        </p:blipFill>
        <p:spPr>
          <a:xfrm>
            <a:off x="916777" y="2242657"/>
            <a:ext cx="306141" cy="306141"/>
          </a:xfrm>
          <a:prstGeom prst="rect">
            <a:avLst/>
          </a:prstGeom>
        </p:spPr>
      </p:pic>
      <p:sp>
        <p:nvSpPr>
          <p:cNvPr id="8" name="Text 5"/>
          <p:cNvSpPr/>
          <p:nvPr/>
        </p:nvSpPr>
        <p:spPr>
          <a:xfrm>
            <a:off x="1481328" y="2093976"/>
            <a:ext cx="2359152" cy="603504"/>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Distributor onboarding complexity</a:t>
            </a:r>
            <a:endParaRPr lang="en-US" sz="1350" dirty="0"/>
          </a:p>
        </p:txBody>
      </p:sp>
      <p:sp>
        <p:nvSpPr>
          <p:cNvPr id="9" name="Text 6"/>
          <p:cNvSpPr/>
          <p:nvPr/>
        </p:nvSpPr>
        <p:spPr>
          <a:xfrm>
            <a:off x="795528" y="2770632"/>
            <a:ext cx="2980944" cy="749808"/>
          </a:xfrm>
          <a:prstGeom prst="rect">
            <a:avLst/>
          </a:prstGeom>
          <a:noFill/>
          <a:ln/>
        </p:spPr>
        <p:txBody>
          <a:bodyPr wrap="square" lIns="0" tIns="0" rIns="0" bIns="0" rtlCol="0" anchor="t"/>
          <a:lstStyle/>
          <a:p>
            <a:pPr indent="0" marL="0">
              <a:lnSpc>
                <a:spcPct val="103000"/>
              </a:lnSpc>
              <a:buNone/>
            </a:pPr>
            <a:r>
              <a:rPr lang="en-US" sz="1100" dirty="0">
                <a:solidFill>
                  <a:srgbClr val="334155"/>
                </a:solidFill>
                <a:latin typeface="Calibri" pitchFamily="34" charset="0"/>
                <a:ea typeface="Calibri" pitchFamily="34" charset="-122"/>
                <a:cs typeface="Calibri" pitchFamily="34" charset="-120"/>
              </a:rPr>
              <a:t>Slow, manual, paper-heavy setup delays time-to-market for every new distributor.</a:t>
            </a:r>
            <a:endParaRPr lang="en-US" sz="1100" dirty="0"/>
          </a:p>
        </p:txBody>
      </p:sp>
      <p:sp>
        <p:nvSpPr>
          <p:cNvPr id="10" name="Shape 7"/>
          <p:cNvSpPr/>
          <p:nvPr/>
        </p:nvSpPr>
        <p:spPr>
          <a:xfrm>
            <a:off x="4361688" y="1874520"/>
            <a:ext cx="3456432" cy="1792224"/>
          </a:xfrm>
          <a:prstGeom prst="roundRect">
            <a:avLst>
              <a:gd name="adj" fmla="val 4592"/>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11" name="Shape 8"/>
          <p:cNvSpPr/>
          <p:nvPr/>
        </p:nvSpPr>
        <p:spPr>
          <a:xfrm>
            <a:off x="4599432" y="2112264"/>
            <a:ext cx="566928" cy="566928"/>
          </a:xfrm>
          <a:prstGeom prst="roundRect">
            <a:avLst>
              <a:gd name="adj" fmla="val 26000"/>
            </a:avLst>
          </a:prstGeom>
          <a:solidFill>
            <a:srgbClr val="E11D48"/>
          </a:solidFill>
          <a:ln/>
        </p:spPr>
      </p:sp>
      <p:pic>
        <p:nvPicPr>
          <p:cNvPr id="12" name="Image 1" descr="C:\Users\Lenovo\AppData\Local\Temp\qwipo-deck\assets\ic_FaBoxOpen_w.png">    </p:cNvPr>
          <p:cNvPicPr>
            <a:picLocks noChangeAspect="1"/>
          </p:cNvPicPr>
          <p:nvPr/>
        </p:nvPicPr>
        <p:blipFill>
          <a:blip r:embed="rId2"/>
          <a:stretch>
            <a:fillRect/>
          </a:stretch>
        </p:blipFill>
        <p:spPr>
          <a:xfrm>
            <a:off x="4729825" y="2242657"/>
            <a:ext cx="306141" cy="306141"/>
          </a:xfrm>
          <a:prstGeom prst="rect">
            <a:avLst/>
          </a:prstGeom>
        </p:spPr>
      </p:pic>
      <p:sp>
        <p:nvSpPr>
          <p:cNvPr id="13" name="Text 9"/>
          <p:cNvSpPr/>
          <p:nvPr/>
        </p:nvSpPr>
        <p:spPr>
          <a:xfrm>
            <a:off x="5294376" y="2093976"/>
            <a:ext cx="2359152" cy="603504"/>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Product catalog chaos</a:t>
            </a:r>
            <a:endParaRPr lang="en-US" sz="1350" dirty="0"/>
          </a:p>
        </p:txBody>
      </p:sp>
      <p:sp>
        <p:nvSpPr>
          <p:cNvPr id="14" name="Text 10"/>
          <p:cNvSpPr/>
          <p:nvPr/>
        </p:nvSpPr>
        <p:spPr>
          <a:xfrm>
            <a:off x="4608576" y="2770632"/>
            <a:ext cx="2980944" cy="749808"/>
          </a:xfrm>
          <a:prstGeom prst="rect">
            <a:avLst/>
          </a:prstGeom>
          <a:noFill/>
          <a:ln/>
        </p:spPr>
        <p:txBody>
          <a:bodyPr wrap="square" lIns="0" tIns="0" rIns="0" bIns="0" rtlCol="0" anchor="t"/>
          <a:lstStyle/>
          <a:p>
            <a:pPr indent="0" marL="0">
              <a:lnSpc>
                <a:spcPct val="103000"/>
              </a:lnSpc>
              <a:buNone/>
            </a:pPr>
            <a:r>
              <a:rPr lang="en-US" sz="1100" dirty="0">
                <a:solidFill>
                  <a:srgbClr val="334155"/>
                </a:solidFill>
                <a:latin typeface="Calibri" pitchFamily="34" charset="0"/>
                <a:ea typeface="Calibri" pitchFamily="34" charset="-122"/>
                <a:cs typeface="Calibri" pitchFamily="34" charset="-120"/>
              </a:rPr>
              <a:t>Inconsistent SKUs, missing attributes and no single source of truth across the network.</a:t>
            </a:r>
            <a:endParaRPr lang="en-US" sz="1100" dirty="0"/>
          </a:p>
        </p:txBody>
      </p:sp>
      <p:sp>
        <p:nvSpPr>
          <p:cNvPr id="15" name="Shape 11"/>
          <p:cNvSpPr/>
          <p:nvPr/>
        </p:nvSpPr>
        <p:spPr>
          <a:xfrm>
            <a:off x="8174736" y="1874520"/>
            <a:ext cx="3456432" cy="1792224"/>
          </a:xfrm>
          <a:prstGeom prst="roundRect">
            <a:avLst>
              <a:gd name="adj" fmla="val 4592"/>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16" name="Shape 12"/>
          <p:cNvSpPr/>
          <p:nvPr/>
        </p:nvSpPr>
        <p:spPr>
          <a:xfrm>
            <a:off x="8412480" y="2112264"/>
            <a:ext cx="566928" cy="566928"/>
          </a:xfrm>
          <a:prstGeom prst="roundRect">
            <a:avLst>
              <a:gd name="adj" fmla="val 26000"/>
            </a:avLst>
          </a:prstGeom>
          <a:solidFill>
            <a:srgbClr val="E11D48"/>
          </a:solidFill>
          <a:ln/>
        </p:spPr>
      </p:sp>
      <p:pic>
        <p:nvPicPr>
          <p:cNvPr id="17" name="Image 2" descr="C:\Users\Lenovo\AppData\Local\Temp\qwipo-deck\assets\ic_FaMapMarkedAlt_w.png">    </p:cNvPr>
          <p:cNvPicPr>
            <a:picLocks noChangeAspect="1"/>
          </p:cNvPicPr>
          <p:nvPr/>
        </p:nvPicPr>
        <p:blipFill>
          <a:blip r:embed="rId3"/>
          <a:stretch>
            <a:fillRect/>
          </a:stretch>
        </p:blipFill>
        <p:spPr>
          <a:xfrm>
            <a:off x="8542873" y="2242657"/>
            <a:ext cx="306141" cy="306141"/>
          </a:xfrm>
          <a:prstGeom prst="rect">
            <a:avLst/>
          </a:prstGeom>
        </p:spPr>
      </p:pic>
      <p:sp>
        <p:nvSpPr>
          <p:cNvPr id="18" name="Text 13"/>
          <p:cNvSpPr/>
          <p:nvPr/>
        </p:nvSpPr>
        <p:spPr>
          <a:xfrm>
            <a:off x="9107424" y="2093976"/>
            <a:ext cx="2359152" cy="603504"/>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Territory conflicts</a:t>
            </a:r>
            <a:endParaRPr lang="en-US" sz="1350" dirty="0"/>
          </a:p>
        </p:txBody>
      </p:sp>
      <p:sp>
        <p:nvSpPr>
          <p:cNvPr id="19" name="Text 14"/>
          <p:cNvSpPr/>
          <p:nvPr/>
        </p:nvSpPr>
        <p:spPr>
          <a:xfrm>
            <a:off x="8421624" y="2770632"/>
            <a:ext cx="2980944" cy="749808"/>
          </a:xfrm>
          <a:prstGeom prst="rect">
            <a:avLst/>
          </a:prstGeom>
          <a:noFill/>
          <a:ln/>
        </p:spPr>
        <p:txBody>
          <a:bodyPr wrap="square" lIns="0" tIns="0" rIns="0" bIns="0" rtlCol="0" anchor="t"/>
          <a:lstStyle/>
          <a:p>
            <a:pPr indent="0" marL="0">
              <a:lnSpc>
                <a:spcPct val="103000"/>
              </a:lnSpc>
              <a:buNone/>
            </a:pPr>
            <a:r>
              <a:rPr lang="en-US" sz="1100" dirty="0">
                <a:solidFill>
                  <a:srgbClr val="334155"/>
                </a:solidFill>
                <a:latin typeface="Calibri" pitchFamily="34" charset="0"/>
                <a:ea typeface="Calibri" pitchFamily="34" charset="-122"/>
                <a:cs typeface="Calibri" pitchFamily="34" charset="-120"/>
              </a:rPr>
              <a:t>Overlapping coverage means distributors compete for the same retailers.</a:t>
            </a:r>
            <a:endParaRPr lang="en-US" sz="1100" dirty="0"/>
          </a:p>
        </p:txBody>
      </p:sp>
      <p:sp>
        <p:nvSpPr>
          <p:cNvPr id="20" name="Shape 15"/>
          <p:cNvSpPr/>
          <p:nvPr/>
        </p:nvSpPr>
        <p:spPr>
          <a:xfrm>
            <a:off x="548640" y="3977640"/>
            <a:ext cx="3456432" cy="1792224"/>
          </a:xfrm>
          <a:prstGeom prst="roundRect">
            <a:avLst>
              <a:gd name="adj" fmla="val 4592"/>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21" name="Shape 16"/>
          <p:cNvSpPr/>
          <p:nvPr/>
        </p:nvSpPr>
        <p:spPr>
          <a:xfrm>
            <a:off x="786384" y="4215384"/>
            <a:ext cx="566928" cy="566928"/>
          </a:xfrm>
          <a:prstGeom prst="roundRect">
            <a:avLst>
              <a:gd name="adj" fmla="val 26000"/>
            </a:avLst>
          </a:prstGeom>
          <a:solidFill>
            <a:srgbClr val="E11D48"/>
          </a:solidFill>
          <a:ln/>
        </p:spPr>
      </p:sp>
      <p:pic>
        <p:nvPicPr>
          <p:cNvPr id="22" name="Image 3" descr="C:\Users\Lenovo\AppData\Local\Temp\qwipo-deck\assets\ic_FaRegClock_w.png">    </p:cNvPr>
          <p:cNvPicPr>
            <a:picLocks noChangeAspect="1"/>
          </p:cNvPicPr>
          <p:nvPr/>
        </p:nvPicPr>
        <p:blipFill>
          <a:blip r:embed="rId4"/>
          <a:stretch>
            <a:fillRect/>
          </a:stretch>
        </p:blipFill>
        <p:spPr>
          <a:xfrm>
            <a:off x="916777" y="4345777"/>
            <a:ext cx="306141" cy="306141"/>
          </a:xfrm>
          <a:prstGeom prst="rect">
            <a:avLst/>
          </a:prstGeom>
        </p:spPr>
      </p:pic>
      <p:sp>
        <p:nvSpPr>
          <p:cNvPr id="23" name="Text 17"/>
          <p:cNvSpPr/>
          <p:nvPr/>
        </p:nvSpPr>
        <p:spPr>
          <a:xfrm>
            <a:off x="1481328" y="4197096"/>
            <a:ext cx="2359152" cy="603504"/>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Order processing inefficiency</a:t>
            </a:r>
            <a:endParaRPr lang="en-US" sz="1350" dirty="0"/>
          </a:p>
        </p:txBody>
      </p:sp>
      <p:sp>
        <p:nvSpPr>
          <p:cNvPr id="24" name="Text 18"/>
          <p:cNvSpPr/>
          <p:nvPr/>
        </p:nvSpPr>
        <p:spPr>
          <a:xfrm>
            <a:off x="795528" y="4873752"/>
            <a:ext cx="2980944" cy="749808"/>
          </a:xfrm>
          <a:prstGeom prst="rect">
            <a:avLst/>
          </a:prstGeom>
          <a:noFill/>
          <a:ln/>
        </p:spPr>
        <p:txBody>
          <a:bodyPr wrap="square" lIns="0" tIns="0" rIns="0" bIns="0" rtlCol="0" anchor="t"/>
          <a:lstStyle/>
          <a:p>
            <a:pPr indent="0" marL="0">
              <a:lnSpc>
                <a:spcPct val="103000"/>
              </a:lnSpc>
              <a:buNone/>
            </a:pPr>
            <a:r>
              <a:rPr lang="en-US" sz="1100" dirty="0">
                <a:solidFill>
                  <a:srgbClr val="334155"/>
                </a:solidFill>
                <a:latin typeface="Calibri" pitchFamily="34" charset="0"/>
                <a:ea typeface="Calibri" pitchFamily="34" charset="-122"/>
                <a:cs typeface="Calibri" pitchFamily="34" charset="-120"/>
              </a:rPr>
              <a:t>Calls, spreadsheets and WhatsApp screenshots create errors and delays.</a:t>
            </a:r>
            <a:endParaRPr lang="en-US" sz="1100" dirty="0"/>
          </a:p>
        </p:txBody>
      </p:sp>
      <p:sp>
        <p:nvSpPr>
          <p:cNvPr id="25" name="Shape 19"/>
          <p:cNvSpPr/>
          <p:nvPr/>
        </p:nvSpPr>
        <p:spPr>
          <a:xfrm>
            <a:off x="4361688" y="3977640"/>
            <a:ext cx="3456432" cy="1792224"/>
          </a:xfrm>
          <a:prstGeom prst="roundRect">
            <a:avLst>
              <a:gd name="adj" fmla="val 4592"/>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26" name="Shape 20"/>
          <p:cNvSpPr/>
          <p:nvPr/>
        </p:nvSpPr>
        <p:spPr>
          <a:xfrm>
            <a:off x="4599432" y="4215384"/>
            <a:ext cx="566928" cy="566928"/>
          </a:xfrm>
          <a:prstGeom prst="roundRect">
            <a:avLst>
              <a:gd name="adj" fmla="val 26000"/>
            </a:avLst>
          </a:prstGeom>
          <a:solidFill>
            <a:srgbClr val="E11D48"/>
          </a:solidFill>
          <a:ln/>
        </p:spPr>
      </p:sp>
      <p:pic>
        <p:nvPicPr>
          <p:cNvPr id="27" name="Image 4" descr="C:\Users\Lenovo\AppData\Local\Temp\qwipo-deck\assets\ic_FaTruck_w.png">    </p:cNvPr>
          <p:cNvPicPr>
            <a:picLocks noChangeAspect="1"/>
          </p:cNvPicPr>
          <p:nvPr/>
        </p:nvPicPr>
        <p:blipFill>
          <a:blip r:embed="rId5"/>
          <a:stretch>
            <a:fillRect/>
          </a:stretch>
        </p:blipFill>
        <p:spPr>
          <a:xfrm>
            <a:off x="4729825" y="4345777"/>
            <a:ext cx="306141" cy="306141"/>
          </a:xfrm>
          <a:prstGeom prst="rect">
            <a:avLst/>
          </a:prstGeom>
        </p:spPr>
      </p:pic>
      <p:sp>
        <p:nvSpPr>
          <p:cNvPr id="28" name="Text 21"/>
          <p:cNvSpPr/>
          <p:nvPr/>
        </p:nvSpPr>
        <p:spPr>
          <a:xfrm>
            <a:off x="5294376" y="4197096"/>
            <a:ext cx="2359152" cy="603504"/>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No logistics visibility</a:t>
            </a:r>
            <a:endParaRPr lang="en-US" sz="1350" dirty="0"/>
          </a:p>
        </p:txBody>
      </p:sp>
      <p:sp>
        <p:nvSpPr>
          <p:cNvPr id="29" name="Text 22"/>
          <p:cNvSpPr/>
          <p:nvPr/>
        </p:nvSpPr>
        <p:spPr>
          <a:xfrm>
            <a:off x="4608576" y="4873752"/>
            <a:ext cx="2980944" cy="749808"/>
          </a:xfrm>
          <a:prstGeom prst="rect">
            <a:avLst/>
          </a:prstGeom>
          <a:noFill/>
          <a:ln/>
        </p:spPr>
        <p:txBody>
          <a:bodyPr wrap="square" lIns="0" tIns="0" rIns="0" bIns="0" rtlCol="0" anchor="t"/>
          <a:lstStyle/>
          <a:p>
            <a:pPr indent="0" marL="0">
              <a:lnSpc>
                <a:spcPct val="103000"/>
              </a:lnSpc>
              <a:buNone/>
            </a:pPr>
            <a:r>
              <a:rPr lang="en-US" sz="1100" dirty="0">
                <a:solidFill>
                  <a:srgbClr val="334155"/>
                </a:solidFill>
                <a:latin typeface="Calibri" pitchFamily="34" charset="0"/>
                <a:ea typeface="Calibri" pitchFamily="34" charset="-122"/>
                <a:cs typeface="Calibri" pitchFamily="34" charset="-120"/>
              </a:rPr>
              <a:t>Once an order ships, brands and retailers lose sight of fulfilment status.</a:t>
            </a:r>
            <a:endParaRPr lang="en-US" sz="1100" dirty="0"/>
          </a:p>
        </p:txBody>
      </p:sp>
      <p:sp>
        <p:nvSpPr>
          <p:cNvPr id="30" name="Shape 23"/>
          <p:cNvSpPr/>
          <p:nvPr/>
        </p:nvSpPr>
        <p:spPr>
          <a:xfrm>
            <a:off x="8174736" y="3977640"/>
            <a:ext cx="3456432" cy="1792224"/>
          </a:xfrm>
          <a:prstGeom prst="roundRect">
            <a:avLst>
              <a:gd name="adj" fmla="val 4592"/>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31" name="Shape 24"/>
          <p:cNvSpPr/>
          <p:nvPr/>
        </p:nvSpPr>
        <p:spPr>
          <a:xfrm>
            <a:off x="8412480" y="4215384"/>
            <a:ext cx="566928" cy="566928"/>
          </a:xfrm>
          <a:prstGeom prst="roundRect">
            <a:avLst>
              <a:gd name="adj" fmla="val 26000"/>
            </a:avLst>
          </a:prstGeom>
          <a:solidFill>
            <a:srgbClr val="E11D48"/>
          </a:solidFill>
          <a:ln/>
        </p:spPr>
      </p:sp>
      <p:pic>
        <p:nvPicPr>
          <p:cNvPr id="32" name="Image 5" descr="C:\Users\Lenovo\AppData\Local\Temp\qwipo-deck\assets\ic_FaPuzzlePiece_w.png">    </p:cNvPr>
          <p:cNvPicPr>
            <a:picLocks noChangeAspect="1"/>
          </p:cNvPicPr>
          <p:nvPr/>
        </p:nvPicPr>
        <p:blipFill>
          <a:blip r:embed="rId6"/>
          <a:stretch>
            <a:fillRect/>
          </a:stretch>
        </p:blipFill>
        <p:spPr>
          <a:xfrm>
            <a:off x="8542873" y="4345777"/>
            <a:ext cx="306141" cy="306141"/>
          </a:xfrm>
          <a:prstGeom prst="rect">
            <a:avLst/>
          </a:prstGeom>
        </p:spPr>
      </p:pic>
      <p:sp>
        <p:nvSpPr>
          <p:cNvPr id="33" name="Text 25"/>
          <p:cNvSpPr/>
          <p:nvPr/>
        </p:nvSpPr>
        <p:spPr>
          <a:xfrm>
            <a:off x="9107424" y="4197096"/>
            <a:ext cx="2359152" cy="603504"/>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Fragmented commerce stack</a:t>
            </a:r>
            <a:endParaRPr lang="en-US" sz="1350" dirty="0"/>
          </a:p>
        </p:txBody>
      </p:sp>
      <p:sp>
        <p:nvSpPr>
          <p:cNvPr id="34" name="Text 26"/>
          <p:cNvSpPr/>
          <p:nvPr/>
        </p:nvSpPr>
        <p:spPr>
          <a:xfrm>
            <a:off x="8421624" y="4873752"/>
            <a:ext cx="2980944" cy="749808"/>
          </a:xfrm>
          <a:prstGeom prst="rect">
            <a:avLst/>
          </a:prstGeom>
          <a:noFill/>
          <a:ln/>
        </p:spPr>
        <p:txBody>
          <a:bodyPr wrap="square" lIns="0" tIns="0" rIns="0" bIns="0" rtlCol="0" anchor="t"/>
          <a:lstStyle/>
          <a:p>
            <a:pPr indent="0" marL="0">
              <a:lnSpc>
                <a:spcPct val="103000"/>
              </a:lnSpc>
              <a:buNone/>
            </a:pPr>
            <a:r>
              <a:rPr lang="en-US" sz="1100" dirty="0">
                <a:solidFill>
                  <a:srgbClr val="334155"/>
                </a:solidFill>
                <a:latin typeface="Calibri" pitchFamily="34" charset="0"/>
                <a:ea typeface="Calibri" pitchFamily="34" charset="-122"/>
                <a:cs typeface="Calibri" pitchFamily="34" charset="-120"/>
              </a:rPr>
              <a:t>DMS, marketplaces, logistics and messaging live in disconnected silos.</a:t>
            </a:r>
            <a:endParaRPr lang="en-US" sz="1100" dirty="0"/>
          </a:p>
        </p:txBody>
      </p:sp>
      <p:sp>
        <p:nvSpPr>
          <p:cNvPr id="35" name="Text 27"/>
          <p:cNvSpPr/>
          <p:nvPr/>
        </p:nvSpPr>
        <p:spPr>
          <a:xfrm>
            <a:off x="548640" y="6437376"/>
            <a:ext cx="5486400" cy="274320"/>
          </a:xfrm>
          <a:prstGeom prst="rect">
            <a:avLst/>
          </a:prstGeom>
          <a:noFill/>
          <a:ln/>
        </p:spPr>
        <p:txBody>
          <a:bodyPr wrap="square" lIns="0" tIns="0" rIns="0" bIns="0" rtlCol="0" anchor="ctr"/>
          <a:lstStyle/>
          <a:p>
            <a:pPr indent="0" marL="0">
              <a:buNone/>
            </a:pPr>
            <a:r>
              <a:rPr lang="en-US" sz="900" b="1" dirty="0">
                <a:solidFill>
                  <a:srgbClr val="7C3AED"/>
                </a:solidFill>
                <a:latin typeface="Calibri" pitchFamily="34" charset="0"/>
                <a:ea typeface="Calibri" pitchFamily="34" charset="-122"/>
                <a:cs typeface="Calibri" pitchFamily="34" charset="-120"/>
              </a:rPr>
              <a:t>Qwipo</a:t>
            </a:r>
            <a:pPr indent="0" marL="0">
              <a:buNone/>
            </a:pPr>
            <a:r>
              <a:rPr lang="en-US" sz="900" dirty="0">
                <a:solidFill>
                  <a:srgbClr val="94A3B8"/>
                </a:solidFill>
                <a:latin typeface="Calibri" pitchFamily="34" charset="0"/>
                <a:ea typeface="Calibri" pitchFamily="34" charset="-122"/>
                <a:cs typeface="Calibri" pitchFamily="34" charset="-120"/>
              </a:rPr>
              <a:t>   Seller Store Platform</a:t>
            </a:r>
            <a:endParaRPr lang="en-US" sz="900" dirty="0"/>
          </a:p>
        </p:txBody>
      </p:sp>
      <p:sp>
        <p:nvSpPr>
          <p:cNvPr id="36" name="Text 28"/>
          <p:cNvSpPr/>
          <p:nvPr/>
        </p:nvSpPr>
        <p:spPr>
          <a:xfrm>
            <a:off x="9966960" y="6437376"/>
            <a:ext cx="1673352"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02 / 20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Trebuchet MS" pitchFamily="34" charset="0"/>
                <a:ea typeface="Trebuchet MS" pitchFamily="34" charset="-122"/>
                <a:cs typeface="Trebuchet MS" pitchFamily="34" charset="-120"/>
              </a:rPr>
              <a:t>PLATFORM OVERVIEW</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Trebuchet MS" pitchFamily="34" charset="0"/>
                <a:ea typeface="Trebuchet MS" pitchFamily="34" charset="-122"/>
                <a:cs typeface="Trebuchet MS" pitchFamily="34" charset="-120"/>
              </a:rPr>
              <a:t>One platform, the entire distribution value chain</a:t>
            </a:r>
            <a:endParaRPr lang="en-US" sz="2900" dirty="0"/>
          </a:p>
        </p:txBody>
      </p:sp>
      <p:sp>
        <p:nvSpPr>
          <p:cNvPr id="4" name="Text 2"/>
          <p:cNvSpPr/>
          <p:nvPr/>
        </p:nvSpPr>
        <p:spPr>
          <a:xfrm>
            <a:off x="548640" y="1517904"/>
            <a:ext cx="5029200" cy="914400"/>
          </a:xfrm>
          <a:prstGeom prst="rect">
            <a:avLst/>
          </a:prstGeom>
          <a:noFill/>
          <a:ln/>
        </p:spPr>
        <p:txBody>
          <a:bodyPr wrap="square" lIns="0" tIns="0" rIns="0" bIns="0" rtlCol="0" anchor="t"/>
          <a:lstStyle/>
          <a:p>
            <a:pPr indent="0" marL="0">
              <a:lnSpc>
                <a:spcPct val="106000"/>
              </a:lnSpc>
              <a:buNone/>
            </a:pPr>
            <a:r>
              <a:rPr lang="en-US" sz="1350" dirty="0">
                <a:solidFill>
                  <a:srgbClr val="334155"/>
                </a:solidFill>
                <a:latin typeface="Calibri" pitchFamily="34" charset="0"/>
                <a:ea typeface="Calibri" pitchFamily="34" charset="-122"/>
                <a:cs typeface="Calibri" pitchFamily="34" charset="-120"/>
              </a:rPr>
              <a:t>Qwipo Seller Store connects manufacturers, distributors and retailers on a single ONDC-ready commerce layer — with logistics and WhatsApp built in.</a:t>
            </a:r>
            <a:endParaRPr lang="en-US" sz="1350" dirty="0"/>
          </a:p>
        </p:txBody>
      </p:sp>
      <p:sp>
        <p:nvSpPr>
          <p:cNvPr id="5" name="Shape 3"/>
          <p:cNvSpPr/>
          <p:nvPr/>
        </p:nvSpPr>
        <p:spPr>
          <a:xfrm>
            <a:off x="548640" y="2542032"/>
            <a:ext cx="457200" cy="457200"/>
          </a:xfrm>
          <a:prstGeom prst="roundRect">
            <a:avLst>
              <a:gd name="adj" fmla="val 26000"/>
            </a:avLst>
          </a:prstGeom>
          <a:solidFill>
            <a:srgbClr val="2563EB"/>
          </a:solidFill>
          <a:ln/>
        </p:spPr>
      </p:sp>
      <p:pic>
        <p:nvPicPr>
          <p:cNvPr id="6" name="Image 0" descr="C:\Users\Lenovo\AppData\Local\Temp\qwipo-deck\assets\ic_FaStore_w.png">    </p:cNvPr>
          <p:cNvPicPr>
            <a:picLocks noChangeAspect="1"/>
          </p:cNvPicPr>
          <p:nvPr/>
        </p:nvPicPr>
        <p:blipFill>
          <a:blip r:embed="rId1"/>
          <a:stretch>
            <a:fillRect/>
          </a:stretch>
        </p:blipFill>
        <p:spPr>
          <a:xfrm>
            <a:off x="653796" y="2647188"/>
            <a:ext cx="246888" cy="246888"/>
          </a:xfrm>
          <a:prstGeom prst="rect">
            <a:avLst/>
          </a:prstGeom>
        </p:spPr>
      </p:pic>
      <p:sp>
        <p:nvSpPr>
          <p:cNvPr id="7" name="Text 4"/>
          <p:cNvSpPr/>
          <p:nvPr/>
        </p:nvSpPr>
        <p:spPr>
          <a:xfrm>
            <a:off x="1133856" y="2505456"/>
            <a:ext cx="4526280" cy="27432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End-to-end seller enablement</a:t>
            </a:r>
            <a:endParaRPr lang="en-US" sz="1250" dirty="0"/>
          </a:p>
        </p:txBody>
      </p:sp>
      <p:sp>
        <p:nvSpPr>
          <p:cNvPr id="8" name="Text 5"/>
          <p:cNvSpPr/>
          <p:nvPr/>
        </p:nvSpPr>
        <p:spPr>
          <a:xfrm>
            <a:off x="1133856" y="2779776"/>
            <a:ext cx="4526280" cy="29260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Onboard, catalog, price, sell, fulfil — in one console.</a:t>
            </a:r>
            <a:endParaRPr lang="en-US" sz="1050" dirty="0"/>
          </a:p>
        </p:txBody>
      </p:sp>
      <p:sp>
        <p:nvSpPr>
          <p:cNvPr id="9" name="Shape 6"/>
          <p:cNvSpPr/>
          <p:nvPr/>
        </p:nvSpPr>
        <p:spPr>
          <a:xfrm>
            <a:off x="548640" y="3310128"/>
            <a:ext cx="457200" cy="457200"/>
          </a:xfrm>
          <a:prstGeom prst="roundRect">
            <a:avLst>
              <a:gd name="adj" fmla="val 26000"/>
            </a:avLst>
          </a:prstGeom>
          <a:solidFill>
            <a:srgbClr val="2563EB"/>
          </a:solidFill>
          <a:ln/>
        </p:spPr>
      </p:sp>
      <p:pic>
        <p:nvPicPr>
          <p:cNvPr id="10" name="Image 1" descr="C:\Users\Lenovo\AppData\Local\Temp\qwipo-deck\assets\ic_FaNetworkWired_w.png">    </p:cNvPr>
          <p:cNvPicPr>
            <a:picLocks noChangeAspect="1"/>
          </p:cNvPicPr>
          <p:nvPr/>
        </p:nvPicPr>
        <p:blipFill>
          <a:blip r:embed="rId2"/>
          <a:stretch>
            <a:fillRect/>
          </a:stretch>
        </p:blipFill>
        <p:spPr>
          <a:xfrm>
            <a:off x="653796" y="3415284"/>
            <a:ext cx="246888" cy="246888"/>
          </a:xfrm>
          <a:prstGeom prst="rect">
            <a:avLst/>
          </a:prstGeom>
        </p:spPr>
      </p:pic>
      <p:sp>
        <p:nvSpPr>
          <p:cNvPr id="11" name="Text 7"/>
          <p:cNvSpPr/>
          <p:nvPr/>
        </p:nvSpPr>
        <p:spPr>
          <a:xfrm>
            <a:off x="1133856" y="3273552"/>
            <a:ext cx="4526280" cy="27432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ONDC-ready architecture</a:t>
            </a:r>
            <a:endParaRPr lang="en-US" sz="1250" dirty="0"/>
          </a:p>
        </p:txBody>
      </p:sp>
      <p:sp>
        <p:nvSpPr>
          <p:cNvPr id="12" name="Text 8"/>
          <p:cNvSpPr/>
          <p:nvPr/>
        </p:nvSpPr>
        <p:spPr>
          <a:xfrm>
            <a:off x="1133856" y="3547872"/>
            <a:ext cx="4526280" cy="29260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Publish catalog and sync orders on the open network.</a:t>
            </a:r>
            <a:endParaRPr lang="en-US" sz="1050" dirty="0"/>
          </a:p>
        </p:txBody>
      </p:sp>
      <p:sp>
        <p:nvSpPr>
          <p:cNvPr id="13" name="Shape 9"/>
          <p:cNvSpPr/>
          <p:nvPr/>
        </p:nvSpPr>
        <p:spPr>
          <a:xfrm>
            <a:off x="548640" y="4078224"/>
            <a:ext cx="457200" cy="457200"/>
          </a:xfrm>
          <a:prstGeom prst="roundRect">
            <a:avLst>
              <a:gd name="adj" fmla="val 26000"/>
            </a:avLst>
          </a:prstGeom>
          <a:solidFill>
            <a:srgbClr val="2563EB"/>
          </a:solidFill>
          <a:ln/>
        </p:spPr>
      </p:sp>
      <p:pic>
        <p:nvPicPr>
          <p:cNvPr id="14" name="Image 2" descr="C:\Users\Lenovo\AppData\Local\Temp\qwipo-deck\assets\ic_FaUsers_w.png">    </p:cNvPr>
          <p:cNvPicPr>
            <a:picLocks noChangeAspect="1"/>
          </p:cNvPicPr>
          <p:nvPr/>
        </p:nvPicPr>
        <p:blipFill>
          <a:blip r:embed="rId3"/>
          <a:stretch>
            <a:fillRect/>
          </a:stretch>
        </p:blipFill>
        <p:spPr>
          <a:xfrm>
            <a:off x="653796" y="4183380"/>
            <a:ext cx="246888" cy="246888"/>
          </a:xfrm>
          <a:prstGeom prst="rect">
            <a:avLst/>
          </a:prstGeom>
        </p:spPr>
      </p:pic>
      <p:sp>
        <p:nvSpPr>
          <p:cNvPr id="15" name="Text 10"/>
          <p:cNvSpPr/>
          <p:nvPr/>
        </p:nvSpPr>
        <p:spPr>
          <a:xfrm>
            <a:off x="1133856" y="4041648"/>
            <a:ext cx="4526280" cy="27432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Distributor &amp; retailer ecosystem</a:t>
            </a:r>
            <a:endParaRPr lang="en-US" sz="1250" dirty="0"/>
          </a:p>
        </p:txBody>
      </p:sp>
      <p:sp>
        <p:nvSpPr>
          <p:cNvPr id="16" name="Text 11"/>
          <p:cNvSpPr/>
          <p:nvPr/>
        </p:nvSpPr>
        <p:spPr>
          <a:xfrm>
            <a:off x="1133856" y="4315968"/>
            <a:ext cx="4526280" cy="29260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Manage the full network and its relationships.</a:t>
            </a:r>
            <a:endParaRPr lang="en-US" sz="1050" dirty="0"/>
          </a:p>
        </p:txBody>
      </p:sp>
      <p:sp>
        <p:nvSpPr>
          <p:cNvPr id="17" name="Shape 12"/>
          <p:cNvSpPr/>
          <p:nvPr/>
        </p:nvSpPr>
        <p:spPr>
          <a:xfrm>
            <a:off x="548640" y="4846320"/>
            <a:ext cx="457200" cy="457200"/>
          </a:xfrm>
          <a:prstGeom prst="roundRect">
            <a:avLst>
              <a:gd name="adj" fmla="val 26000"/>
            </a:avLst>
          </a:prstGeom>
          <a:solidFill>
            <a:srgbClr val="2563EB"/>
          </a:solidFill>
          <a:ln/>
        </p:spPr>
      </p:sp>
      <p:pic>
        <p:nvPicPr>
          <p:cNvPr id="18" name="Image 3" descr="C:\Users\Lenovo\AppData\Local\Temp\qwipo-deck\assets\ic_FaTruck_w.png">    </p:cNvPr>
          <p:cNvPicPr>
            <a:picLocks noChangeAspect="1"/>
          </p:cNvPicPr>
          <p:nvPr/>
        </p:nvPicPr>
        <p:blipFill>
          <a:blip r:embed="rId4"/>
          <a:stretch>
            <a:fillRect/>
          </a:stretch>
        </p:blipFill>
        <p:spPr>
          <a:xfrm>
            <a:off x="653796" y="4951476"/>
            <a:ext cx="246888" cy="246888"/>
          </a:xfrm>
          <a:prstGeom prst="rect">
            <a:avLst/>
          </a:prstGeom>
        </p:spPr>
      </p:pic>
      <p:sp>
        <p:nvSpPr>
          <p:cNvPr id="19" name="Text 13"/>
          <p:cNvSpPr/>
          <p:nvPr/>
        </p:nvSpPr>
        <p:spPr>
          <a:xfrm>
            <a:off x="1133856" y="4809744"/>
            <a:ext cx="4526280" cy="27432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Logistics integration</a:t>
            </a:r>
            <a:endParaRPr lang="en-US" sz="1250" dirty="0"/>
          </a:p>
        </p:txBody>
      </p:sp>
      <p:sp>
        <p:nvSpPr>
          <p:cNvPr id="20" name="Text 14"/>
          <p:cNvSpPr/>
          <p:nvPr/>
        </p:nvSpPr>
        <p:spPr>
          <a:xfrm>
            <a:off x="1133856" y="5084064"/>
            <a:ext cx="4526280" cy="29260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Assign partners and track every shipment.</a:t>
            </a:r>
            <a:endParaRPr lang="en-US" sz="1050" dirty="0"/>
          </a:p>
        </p:txBody>
      </p:sp>
      <p:sp>
        <p:nvSpPr>
          <p:cNvPr id="21" name="Shape 15"/>
          <p:cNvSpPr/>
          <p:nvPr/>
        </p:nvSpPr>
        <p:spPr>
          <a:xfrm>
            <a:off x="548640" y="5614416"/>
            <a:ext cx="457200" cy="457200"/>
          </a:xfrm>
          <a:prstGeom prst="roundRect">
            <a:avLst>
              <a:gd name="adj" fmla="val 26000"/>
            </a:avLst>
          </a:prstGeom>
          <a:solidFill>
            <a:srgbClr val="2563EB"/>
          </a:solidFill>
          <a:ln/>
        </p:spPr>
      </p:sp>
      <p:pic>
        <p:nvPicPr>
          <p:cNvPr id="22" name="Image 4" descr="C:\Users\Lenovo\AppData\Local\Temp\qwipo-deck\assets\ic_FaWhatsapp_w.png">    </p:cNvPr>
          <p:cNvPicPr>
            <a:picLocks noChangeAspect="1"/>
          </p:cNvPicPr>
          <p:nvPr/>
        </p:nvPicPr>
        <p:blipFill>
          <a:blip r:embed="rId5"/>
          <a:stretch>
            <a:fillRect/>
          </a:stretch>
        </p:blipFill>
        <p:spPr>
          <a:xfrm>
            <a:off x="653796" y="5719572"/>
            <a:ext cx="246888" cy="246888"/>
          </a:xfrm>
          <a:prstGeom prst="rect">
            <a:avLst/>
          </a:prstGeom>
        </p:spPr>
      </p:pic>
      <p:sp>
        <p:nvSpPr>
          <p:cNvPr id="23" name="Text 16"/>
          <p:cNvSpPr/>
          <p:nvPr/>
        </p:nvSpPr>
        <p:spPr>
          <a:xfrm>
            <a:off x="1133856" y="5577840"/>
            <a:ext cx="4526280" cy="27432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WhatsApp-enabled commerce</a:t>
            </a:r>
            <a:endParaRPr lang="en-US" sz="1250" dirty="0"/>
          </a:p>
        </p:txBody>
      </p:sp>
      <p:sp>
        <p:nvSpPr>
          <p:cNvPr id="24" name="Text 17"/>
          <p:cNvSpPr/>
          <p:nvPr/>
        </p:nvSpPr>
        <p:spPr>
          <a:xfrm>
            <a:off x="1133856" y="5852160"/>
            <a:ext cx="4526280" cy="29260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Notify and engage retailers where they already are.</a:t>
            </a:r>
            <a:endParaRPr lang="en-US" sz="1050" dirty="0"/>
          </a:p>
        </p:txBody>
      </p:sp>
      <p:sp>
        <p:nvSpPr>
          <p:cNvPr id="25" name="Shape 18"/>
          <p:cNvSpPr/>
          <p:nvPr/>
        </p:nvSpPr>
        <p:spPr>
          <a:xfrm>
            <a:off x="6080760" y="1627632"/>
            <a:ext cx="5532120" cy="950976"/>
          </a:xfrm>
          <a:prstGeom prst="roundRect">
            <a:avLst>
              <a:gd name="adj" fmla="val 9615"/>
            </a:avLst>
          </a:prstGeom>
          <a:solidFill>
            <a:srgbClr val="EEF2FF"/>
          </a:solidFill>
          <a:ln w="13970">
            <a:solidFill>
              <a:srgbClr val="4338CA"/>
            </a:solidFill>
            <a:prstDash val="solid"/>
          </a:ln>
          <a:effectLst>
            <a:outerShdw sx="100000" sy="100000" kx="0" ky="0" algn="bl" rotWithShape="0" blurRad="88900" dist="25400" dir="5400000">
              <a:srgbClr val="334155">
                <a:alpha val="12000"/>
              </a:srgbClr>
            </a:outerShdw>
          </a:effectLst>
        </p:spPr>
      </p:sp>
      <p:sp>
        <p:nvSpPr>
          <p:cNvPr id="26" name="Shape 19"/>
          <p:cNvSpPr/>
          <p:nvPr/>
        </p:nvSpPr>
        <p:spPr>
          <a:xfrm>
            <a:off x="6355080" y="1819656"/>
            <a:ext cx="566928" cy="566928"/>
          </a:xfrm>
          <a:prstGeom prst="roundRect">
            <a:avLst>
              <a:gd name="adj" fmla="val 26000"/>
            </a:avLst>
          </a:prstGeom>
          <a:solidFill>
            <a:srgbClr val="4338CA"/>
          </a:solidFill>
          <a:ln/>
        </p:spPr>
      </p:sp>
      <p:pic>
        <p:nvPicPr>
          <p:cNvPr id="27" name="Image 5" descr="C:\Users\Lenovo\AppData\Local\Temp\qwipo-deck\assets\ic_FaIndustry_w.png">    </p:cNvPr>
          <p:cNvPicPr>
            <a:picLocks noChangeAspect="1"/>
          </p:cNvPicPr>
          <p:nvPr/>
        </p:nvPicPr>
        <p:blipFill>
          <a:blip r:embed="rId6"/>
          <a:stretch>
            <a:fillRect/>
          </a:stretch>
        </p:blipFill>
        <p:spPr>
          <a:xfrm>
            <a:off x="6485473" y="1950049"/>
            <a:ext cx="306141" cy="306141"/>
          </a:xfrm>
          <a:prstGeom prst="rect">
            <a:avLst/>
          </a:prstGeom>
        </p:spPr>
      </p:pic>
      <p:sp>
        <p:nvSpPr>
          <p:cNvPr id="28" name="Text 20"/>
          <p:cNvSpPr/>
          <p:nvPr/>
        </p:nvSpPr>
        <p:spPr>
          <a:xfrm>
            <a:off x="7104888" y="1810512"/>
            <a:ext cx="4343400" cy="329184"/>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Brands &amp; Manufacturers</a:t>
            </a:r>
            <a:endParaRPr lang="en-US" sz="1500" dirty="0"/>
          </a:p>
        </p:txBody>
      </p:sp>
      <p:sp>
        <p:nvSpPr>
          <p:cNvPr id="29" name="Text 21"/>
          <p:cNvSpPr/>
          <p:nvPr/>
        </p:nvSpPr>
        <p:spPr>
          <a:xfrm>
            <a:off x="7104888" y="2139696"/>
            <a:ext cx="4343400" cy="29260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ITC · HUL · Nestlé · Marico …</a:t>
            </a:r>
            <a:endParaRPr lang="en-US" sz="1100" dirty="0"/>
          </a:p>
        </p:txBody>
      </p:sp>
      <p:pic>
        <p:nvPicPr>
          <p:cNvPr id="30" name="Image 6" descr="C:\Users\Lenovo\AppData\Local\Temp\qwipo-deck\assets\ic_FaArrowRight_c.png">    </p:cNvPr>
          <p:cNvPicPr>
            <a:picLocks noChangeAspect="1"/>
          </p:cNvPicPr>
          <p:nvPr/>
        </p:nvPicPr>
        <p:blipFill>
          <a:blip r:embed="rId7"/>
          <a:stretch>
            <a:fillRect/>
          </a:stretch>
        </p:blipFill>
        <p:spPr>
          <a:xfrm rot="5400000">
            <a:off x="8709660" y="2596896"/>
            <a:ext cx="274320" cy="274320"/>
          </a:xfrm>
          <a:prstGeom prst="rect">
            <a:avLst/>
          </a:prstGeom>
        </p:spPr>
      </p:pic>
      <p:sp>
        <p:nvSpPr>
          <p:cNvPr id="31" name="Shape 22"/>
          <p:cNvSpPr/>
          <p:nvPr/>
        </p:nvSpPr>
        <p:spPr>
          <a:xfrm>
            <a:off x="6080760" y="2889504"/>
            <a:ext cx="5532120" cy="950976"/>
          </a:xfrm>
          <a:prstGeom prst="roundRect">
            <a:avLst>
              <a:gd name="adj" fmla="val 9615"/>
            </a:avLst>
          </a:prstGeom>
          <a:solidFill>
            <a:srgbClr val="7C3AED"/>
          </a:solidFill>
          <a:ln w="12700">
            <a:solidFill>
              <a:srgbClr val="6D28D9"/>
            </a:solidFill>
            <a:prstDash val="solid"/>
          </a:ln>
          <a:effectLst>
            <a:outerShdw sx="100000" sy="100000" kx="0" ky="0" algn="bl" rotWithShape="0" blurRad="114300" dist="38100" dir="5400000">
              <a:srgbClr val="1E293B">
                <a:alpha val="18000"/>
              </a:srgbClr>
            </a:outerShdw>
          </a:effectLst>
        </p:spPr>
      </p:sp>
      <p:sp>
        <p:nvSpPr>
          <p:cNvPr id="32" name="Shape 23"/>
          <p:cNvSpPr/>
          <p:nvPr/>
        </p:nvSpPr>
        <p:spPr>
          <a:xfrm>
            <a:off x="6355080" y="3081528"/>
            <a:ext cx="566928" cy="566928"/>
          </a:xfrm>
          <a:prstGeom prst="roundRect">
            <a:avLst>
              <a:gd name="adj" fmla="val 26000"/>
            </a:avLst>
          </a:prstGeom>
          <a:solidFill>
            <a:srgbClr val="5B21B6"/>
          </a:solidFill>
          <a:ln/>
        </p:spPr>
      </p:sp>
      <p:pic>
        <p:nvPicPr>
          <p:cNvPr id="33" name="Image 7" descr="C:\Users\Lenovo\AppData\Local\Temp\qwipo-deck\assets\ic_FaThLarge_w.png">    </p:cNvPr>
          <p:cNvPicPr>
            <a:picLocks noChangeAspect="1"/>
          </p:cNvPicPr>
          <p:nvPr/>
        </p:nvPicPr>
        <p:blipFill>
          <a:blip r:embed="rId8"/>
          <a:stretch>
            <a:fillRect/>
          </a:stretch>
        </p:blipFill>
        <p:spPr>
          <a:xfrm>
            <a:off x="6485473" y="3211921"/>
            <a:ext cx="306141" cy="306141"/>
          </a:xfrm>
          <a:prstGeom prst="rect">
            <a:avLst/>
          </a:prstGeom>
        </p:spPr>
      </p:pic>
      <p:sp>
        <p:nvSpPr>
          <p:cNvPr id="34" name="Text 24"/>
          <p:cNvSpPr/>
          <p:nvPr/>
        </p:nvSpPr>
        <p:spPr>
          <a:xfrm>
            <a:off x="7104888" y="3072384"/>
            <a:ext cx="4343400" cy="329184"/>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Qwipo Seller Store Platform</a:t>
            </a:r>
            <a:endParaRPr lang="en-US" sz="1500" dirty="0"/>
          </a:p>
        </p:txBody>
      </p:sp>
      <p:sp>
        <p:nvSpPr>
          <p:cNvPr id="35" name="Text 25"/>
          <p:cNvSpPr/>
          <p:nvPr/>
        </p:nvSpPr>
        <p:spPr>
          <a:xfrm>
            <a:off x="7104888" y="3401568"/>
            <a:ext cx="4343400" cy="292608"/>
          </a:xfrm>
          <a:prstGeom prst="rect">
            <a:avLst/>
          </a:prstGeom>
          <a:noFill/>
          <a:ln/>
        </p:spPr>
        <p:txBody>
          <a:bodyPr wrap="square" lIns="0" tIns="0" rIns="0" bIns="0" rtlCol="0" anchor="ctr"/>
          <a:lstStyle/>
          <a:p>
            <a:pPr indent="0" marL="0">
              <a:buNone/>
            </a:pPr>
            <a:r>
              <a:rPr lang="en-US" sz="1100" dirty="0">
                <a:solidFill>
                  <a:srgbClr val="E9E2FB"/>
                </a:solidFill>
                <a:latin typeface="Calibri" pitchFamily="34" charset="0"/>
                <a:ea typeface="Calibri" pitchFamily="34" charset="-122"/>
                <a:cs typeface="Calibri" pitchFamily="34" charset="-120"/>
              </a:rPr>
              <a:t>Catalog · Serviceability · Orders · Offers</a:t>
            </a:r>
            <a:endParaRPr lang="en-US" sz="1100" dirty="0"/>
          </a:p>
        </p:txBody>
      </p:sp>
      <p:pic>
        <p:nvPicPr>
          <p:cNvPr id="36" name="Image 8" descr="C:\Users\Lenovo\AppData\Local\Temp\qwipo-deck\assets\ic_FaArrowRight_c.png">    </p:cNvPr>
          <p:cNvPicPr>
            <a:picLocks noChangeAspect="1"/>
          </p:cNvPicPr>
          <p:nvPr/>
        </p:nvPicPr>
        <p:blipFill>
          <a:blip r:embed="rId9"/>
          <a:stretch>
            <a:fillRect/>
          </a:stretch>
        </p:blipFill>
        <p:spPr>
          <a:xfrm rot="5400000">
            <a:off x="8709660" y="3858768"/>
            <a:ext cx="274320" cy="274320"/>
          </a:xfrm>
          <a:prstGeom prst="rect">
            <a:avLst/>
          </a:prstGeom>
        </p:spPr>
      </p:pic>
      <p:sp>
        <p:nvSpPr>
          <p:cNvPr id="37" name="Shape 26"/>
          <p:cNvSpPr/>
          <p:nvPr/>
        </p:nvSpPr>
        <p:spPr>
          <a:xfrm>
            <a:off x="6080760" y="4151376"/>
            <a:ext cx="5532120" cy="950976"/>
          </a:xfrm>
          <a:prstGeom prst="roundRect">
            <a:avLst>
              <a:gd name="adj" fmla="val 9615"/>
            </a:avLst>
          </a:prstGeom>
          <a:solidFill>
            <a:srgbClr val="ECFEFF"/>
          </a:solidFill>
          <a:ln w="13970">
            <a:solidFill>
              <a:srgbClr val="0D9488"/>
            </a:solidFill>
            <a:prstDash val="solid"/>
          </a:ln>
          <a:effectLst>
            <a:outerShdw sx="100000" sy="100000" kx="0" ky="0" algn="bl" rotWithShape="0" blurRad="88900" dist="25400" dir="5400000">
              <a:srgbClr val="334155">
                <a:alpha val="12000"/>
              </a:srgbClr>
            </a:outerShdw>
          </a:effectLst>
        </p:spPr>
      </p:sp>
      <p:sp>
        <p:nvSpPr>
          <p:cNvPr id="38" name="Shape 27"/>
          <p:cNvSpPr/>
          <p:nvPr/>
        </p:nvSpPr>
        <p:spPr>
          <a:xfrm>
            <a:off x="6355080" y="4343400"/>
            <a:ext cx="566928" cy="566928"/>
          </a:xfrm>
          <a:prstGeom prst="roundRect">
            <a:avLst>
              <a:gd name="adj" fmla="val 26000"/>
            </a:avLst>
          </a:prstGeom>
          <a:solidFill>
            <a:srgbClr val="0D9488"/>
          </a:solidFill>
          <a:ln/>
        </p:spPr>
      </p:sp>
      <p:pic>
        <p:nvPicPr>
          <p:cNvPr id="39" name="Image 9" descr="C:\Users\Lenovo\AppData\Local\Temp\qwipo-deck\assets\ic_FaPlug_w.png">    </p:cNvPr>
          <p:cNvPicPr>
            <a:picLocks noChangeAspect="1"/>
          </p:cNvPicPr>
          <p:nvPr/>
        </p:nvPicPr>
        <p:blipFill>
          <a:blip r:embed="rId10"/>
          <a:stretch>
            <a:fillRect/>
          </a:stretch>
        </p:blipFill>
        <p:spPr>
          <a:xfrm>
            <a:off x="6485473" y="4473793"/>
            <a:ext cx="306141" cy="306141"/>
          </a:xfrm>
          <a:prstGeom prst="rect">
            <a:avLst/>
          </a:prstGeom>
        </p:spPr>
      </p:pic>
      <p:sp>
        <p:nvSpPr>
          <p:cNvPr id="40" name="Text 28"/>
          <p:cNvSpPr/>
          <p:nvPr/>
        </p:nvSpPr>
        <p:spPr>
          <a:xfrm>
            <a:off x="7104888" y="4334256"/>
            <a:ext cx="4343400" cy="329184"/>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Integration Layer</a:t>
            </a:r>
            <a:endParaRPr lang="en-US" sz="1500" dirty="0"/>
          </a:p>
        </p:txBody>
      </p:sp>
      <p:sp>
        <p:nvSpPr>
          <p:cNvPr id="41" name="Text 29"/>
          <p:cNvSpPr/>
          <p:nvPr/>
        </p:nvSpPr>
        <p:spPr>
          <a:xfrm>
            <a:off x="7104888" y="4663440"/>
            <a:ext cx="4343400" cy="29260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DMS · ONDC · Logistics · WhatsApp</a:t>
            </a:r>
            <a:endParaRPr lang="en-US" sz="1100" dirty="0"/>
          </a:p>
        </p:txBody>
      </p:sp>
      <p:pic>
        <p:nvPicPr>
          <p:cNvPr id="42" name="Image 10" descr="C:\Users\Lenovo\AppData\Local\Temp\qwipo-deck\assets\ic_FaArrowRight_c.png">    </p:cNvPr>
          <p:cNvPicPr>
            <a:picLocks noChangeAspect="1"/>
          </p:cNvPicPr>
          <p:nvPr/>
        </p:nvPicPr>
        <p:blipFill>
          <a:blip r:embed="rId11"/>
          <a:stretch>
            <a:fillRect/>
          </a:stretch>
        </p:blipFill>
        <p:spPr>
          <a:xfrm rot="5400000">
            <a:off x="8709660" y="5120640"/>
            <a:ext cx="274320" cy="274320"/>
          </a:xfrm>
          <a:prstGeom prst="rect">
            <a:avLst/>
          </a:prstGeom>
        </p:spPr>
      </p:pic>
      <p:sp>
        <p:nvSpPr>
          <p:cNvPr id="43" name="Shape 30"/>
          <p:cNvSpPr/>
          <p:nvPr/>
        </p:nvSpPr>
        <p:spPr>
          <a:xfrm>
            <a:off x="6080760" y="5413248"/>
            <a:ext cx="5532120" cy="950976"/>
          </a:xfrm>
          <a:prstGeom prst="roundRect">
            <a:avLst>
              <a:gd name="adj" fmla="val 9615"/>
            </a:avLst>
          </a:prstGeom>
          <a:solidFill>
            <a:srgbClr val="EFF6FF"/>
          </a:solidFill>
          <a:ln w="13970">
            <a:solidFill>
              <a:srgbClr val="2563EB"/>
            </a:solidFill>
            <a:prstDash val="solid"/>
          </a:ln>
          <a:effectLst>
            <a:outerShdw sx="100000" sy="100000" kx="0" ky="0" algn="bl" rotWithShape="0" blurRad="88900" dist="25400" dir="5400000">
              <a:srgbClr val="334155">
                <a:alpha val="12000"/>
              </a:srgbClr>
            </a:outerShdw>
          </a:effectLst>
        </p:spPr>
      </p:sp>
      <p:sp>
        <p:nvSpPr>
          <p:cNvPr id="44" name="Shape 31"/>
          <p:cNvSpPr/>
          <p:nvPr/>
        </p:nvSpPr>
        <p:spPr>
          <a:xfrm>
            <a:off x="6355080" y="5605272"/>
            <a:ext cx="566928" cy="566928"/>
          </a:xfrm>
          <a:prstGeom prst="roundRect">
            <a:avLst>
              <a:gd name="adj" fmla="val 26000"/>
            </a:avLst>
          </a:prstGeom>
          <a:solidFill>
            <a:srgbClr val="2563EB"/>
          </a:solidFill>
          <a:ln/>
        </p:spPr>
      </p:sp>
      <p:pic>
        <p:nvPicPr>
          <p:cNvPr id="45" name="Image 11" descr="C:\Users\Lenovo\AppData\Local\Temp\qwipo-deck\assets\ic_FaShoppingCart_w.png">    </p:cNvPr>
          <p:cNvPicPr>
            <a:picLocks noChangeAspect="1"/>
          </p:cNvPicPr>
          <p:nvPr/>
        </p:nvPicPr>
        <p:blipFill>
          <a:blip r:embed="rId12"/>
          <a:stretch>
            <a:fillRect/>
          </a:stretch>
        </p:blipFill>
        <p:spPr>
          <a:xfrm>
            <a:off x="6485473" y="5735665"/>
            <a:ext cx="306141" cy="306141"/>
          </a:xfrm>
          <a:prstGeom prst="rect">
            <a:avLst/>
          </a:prstGeom>
        </p:spPr>
      </p:pic>
      <p:sp>
        <p:nvSpPr>
          <p:cNvPr id="46" name="Text 32"/>
          <p:cNvSpPr/>
          <p:nvPr/>
        </p:nvSpPr>
        <p:spPr>
          <a:xfrm>
            <a:off x="7104888" y="5596128"/>
            <a:ext cx="4343400" cy="329184"/>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Distributors → Retailers</a:t>
            </a:r>
            <a:endParaRPr lang="en-US" sz="1500" dirty="0"/>
          </a:p>
        </p:txBody>
      </p:sp>
      <p:sp>
        <p:nvSpPr>
          <p:cNvPr id="47" name="Text 33"/>
          <p:cNvSpPr/>
          <p:nvPr/>
        </p:nvSpPr>
        <p:spPr>
          <a:xfrm>
            <a:off x="7104888" y="5925312"/>
            <a:ext cx="4343400" cy="29260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Beat-mapped coverage · Last-mile delivery</a:t>
            </a:r>
            <a:endParaRPr lang="en-US" sz="1100" dirty="0"/>
          </a:p>
        </p:txBody>
      </p:sp>
      <p:sp>
        <p:nvSpPr>
          <p:cNvPr id="48" name="Text 34"/>
          <p:cNvSpPr/>
          <p:nvPr/>
        </p:nvSpPr>
        <p:spPr>
          <a:xfrm>
            <a:off x="548640" y="6437376"/>
            <a:ext cx="5486400" cy="274320"/>
          </a:xfrm>
          <a:prstGeom prst="rect">
            <a:avLst/>
          </a:prstGeom>
          <a:noFill/>
          <a:ln/>
        </p:spPr>
        <p:txBody>
          <a:bodyPr wrap="square" lIns="0" tIns="0" rIns="0" bIns="0" rtlCol="0" anchor="ctr"/>
          <a:lstStyle/>
          <a:p>
            <a:pPr indent="0" marL="0">
              <a:buNone/>
            </a:pPr>
            <a:r>
              <a:rPr lang="en-US" sz="900" b="1" dirty="0">
                <a:solidFill>
                  <a:srgbClr val="7C3AED"/>
                </a:solidFill>
                <a:latin typeface="Calibri" pitchFamily="34" charset="0"/>
                <a:ea typeface="Calibri" pitchFamily="34" charset="-122"/>
                <a:cs typeface="Calibri" pitchFamily="34" charset="-120"/>
              </a:rPr>
              <a:t>Qwipo</a:t>
            </a:r>
            <a:pPr indent="0" marL="0">
              <a:buNone/>
            </a:pPr>
            <a:r>
              <a:rPr lang="en-US" sz="900" dirty="0">
                <a:solidFill>
                  <a:srgbClr val="94A3B8"/>
                </a:solidFill>
                <a:latin typeface="Calibri" pitchFamily="34" charset="0"/>
                <a:ea typeface="Calibri" pitchFamily="34" charset="-122"/>
                <a:cs typeface="Calibri" pitchFamily="34" charset="-120"/>
              </a:rPr>
              <a:t>   Seller Store Platform</a:t>
            </a:r>
            <a:endParaRPr lang="en-US" sz="900" dirty="0"/>
          </a:p>
        </p:txBody>
      </p:sp>
      <p:sp>
        <p:nvSpPr>
          <p:cNvPr id="49" name="Text 35"/>
          <p:cNvSpPr/>
          <p:nvPr/>
        </p:nvSpPr>
        <p:spPr>
          <a:xfrm>
            <a:off x="9966960" y="6437376"/>
            <a:ext cx="1673352"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03 / 20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Trebuchet MS" pitchFamily="34" charset="0"/>
                <a:ea typeface="Trebuchet MS" pitchFamily="34" charset="-122"/>
                <a:cs typeface="Trebuchet MS" pitchFamily="34" charset="-120"/>
              </a:rPr>
              <a:t>FEATURE · ONBOARDING</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Trebuchet MS" pitchFamily="34" charset="0"/>
                <a:ea typeface="Trebuchet MS" pitchFamily="34" charset="-122"/>
                <a:cs typeface="Trebuchet MS" pitchFamily="34" charset="-120"/>
              </a:rPr>
              <a:t>Onboard a distributor in minutes, not weeks</a:t>
            </a:r>
            <a:endParaRPr lang="en-US" sz="2900" dirty="0"/>
          </a:p>
        </p:txBody>
      </p:sp>
      <p:sp>
        <p:nvSpPr>
          <p:cNvPr id="4" name="Shape 2"/>
          <p:cNvSpPr/>
          <p:nvPr/>
        </p:nvSpPr>
        <p:spPr>
          <a:xfrm>
            <a:off x="548640" y="1572768"/>
            <a:ext cx="384048" cy="384048"/>
          </a:xfrm>
          <a:prstGeom prst="ellipse">
            <a:avLst/>
          </a:prstGeom>
          <a:solidFill>
            <a:srgbClr val="7C3AED"/>
          </a:solidFill>
          <a:ln/>
        </p:spPr>
      </p:sp>
      <p:sp>
        <p:nvSpPr>
          <p:cNvPr id="5" name="Text 3"/>
          <p:cNvSpPr/>
          <p:nvPr/>
        </p:nvSpPr>
        <p:spPr>
          <a:xfrm>
            <a:off x="548640" y="1572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1</a:t>
            </a:r>
            <a:endParaRPr lang="en-US" sz="1500" dirty="0"/>
          </a:p>
        </p:txBody>
      </p:sp>
      <p:sp>
        <p:nvSpPr>
          <p:cNvPr id="6" name="Text 4"/>
          <p:cNvSpPr/>
          <p:nvPr/>
        </p:nvSpPr>
        <p:spPr>
          <a:xfrm>
            <a:off x="1042416" y="1554480"/>
            <a:ext cx="1901952" cy="420624"/>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Create seller</a:t>
            </a:r>
            <a:endParaRPr lang="en-US" sz="1300" dirty="0"/>
          </a:p>
        </p:txBody>
      </p:sp>
      <p:sp>
        <p:nvSpPr>
          <p:cNvPr id="7" name="Text 5"/>
          <p:cNvSpPr/>
          <p:nvPr/>
        </p:nvSpPr>
        <p:spPr>
          <a:xfrm>
            <a:off x="566928" y="2048256"/>
            <a:ext cx="2395728" cy="457200"/>
          </a:xfrm>
          <a:prstGeom prst="rect">
            <a:avLst/>
          </a:prstGeom>
          <a:noFill/>
          <a:ln/>
        </p:spPr>
        <p:txBody>
          <a:bodyPr wrap="square" lIns="0" tIns="0" rIns="0" bIns="0" rtlCol="0" anchor="t"/>
          <a:lstStyle/>
          <a:p>
            <a:pPr indent="0" marL="0">
              <a:lnSpc>
                <a:spcPct val="100000"/>
              </a:lnSpc>
              <a:buNone/>
            </a:pPr>
            <a:r>
              <a:rPr lang="en-US" sz="1000" dirty="0">
                <a:solidFill>
                  <a:srgbClr val="64748B"/>
                </a:solidFill>
                <a:latin typeface="Calibri" pitchFamily="34" charset="0"/>
                <a:ea typeface="Calibri" pitchFamily="34" charset="-122"/>
                <a:cs typeface="Calibri" pitchFamily="34" charset="-120"/>
              </a:rPr>
              <a:t>Name, mobile, business name</a:t>
            </a:r>
            <a:endParaRPr lang="en-US" sz="1000" dirty="0"/>
          </a:p>
        </p:txBody>
      </p:sp>
      <p:pic>
        <p:nvPicPr>
          <p:cNvPr id="8" name="Image 0" descr="C:\Users\Lenovo\AppData\Local\Temp\qwipo-deck\assets\ic_FaArrowRight_c.png">    </p:cNvPr>
          <p:cNvPicPr>
            <a:picLocks noChangeAspect="1"/>
          </p:cNvPicPr>
          <p:nvPr/>
        </p:nvPicPr>
        <p:blipFill>
          <a:blip r:embed="rId1"/>
          <a:stretch>
            <a:fillRect/>
          </a:stretch>
        </p:blipFill>
        <p:spPr>
          <a:xfrm>
            <a:off x="2980944" y="1627632"/>
            <a:ext cx="274320" cy="274320"/>
          </a:xfrm>
          <a:prstGeom prst="rect">
            <a:avLst/>
          </a:prstGeom>
        </p:spPr>
      </p:pic>
      <p:sp>
        <p:nvSpPr>
          <p:cNvPr id="9" name="Shape 6"/>
          <p:cNvSpPr/>
          <p:nvPr/>
        </p:nvSpPr>
        <p:spPr>
          <a:xfrm>
            <a:off x="3291840" y="1572768"/>
            <a:ext cx="384048" cy="384048"/>
          </a:xfrm>
          <a:prstGeom prst="ellipse">
            <a:avLst/>
          </a:prstGeom>
          <a:solidFill>
            <a:srgbClr val="7C3AED"/>
          </a:solidFill>
          <a:ln/>
        </p:spPr>
      </p:sp>
      <p:sp>
        <p:nvSpPr>
          <p:cNvPr id="10" name="Text 7"/>
          <p:cNvSpPr/>
          <p:nvPr/>
        </p:nvSpPr>
        <p:spPr>
          <a:xfrm>
            <a:off x="3291840" y="1572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2</a:t>
            </a:r>
            <a:endParaRPr lang="en-US" sz="1500" dirty="0"/>
          </a:p>
        </p:txBody>
      </p:sp>
      <p:sp>
        <p:nvSpPr>
          <p:cNvPr id="11" name="Text 8"/>
          <p:cNvSpPr/>
          <p:nvPr/>
        </p:nvSpPr>
        <p:spPr>
          <a:xfrm>
            <a:off x="3785616" y="1554480"/>
            <a:ext cx="1901952" cy="420624"/>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Business details</a:t>
            </a:r>
            <a:endParaRPr lang="en-US" sz="1300" dirty="0"/>
          </a:p>
        </p:txBody>
      </p:sp>
      <p:sp>
        <p:nvSpPr>
          <p:cNvPr id="12" name="Text 9"/>
          <p:cNvSpPr/>
          <p:nvPr/>
        </p:nvSpPr>
        <p:spPr>
          <a:xfrm>
            <a:off x="3310128" y="2048256"/>
            <a:ext cx="2395728" cy="457200"/>
          </a:xfrm>
          <a:prstGeom prst="rect">
            <a:avLst/>
          </a:prstGeom>
          <a:noFill/>
          <a:ln/>
        </p:spPr>
        <p:txBody>
          <a:bodyPr wrap="square" lIns="0" tIns="0" rIns="0" bIns="0" rtlCol="0" anchor="t"/>
          <a:lstStyle/>
          <a:p>
            <a:pPr indent="0" marL="0">
              <a:lnSpc>
                <a:spcPct val="100000"/>
              </a:lnSpc>
              <a:buNone/>
            </a:pPr>
            <a:r>
              <a:rPr lang="en-US" sz="1000" dirty="0">
                <a:solidFill>
                  <a:srgbClr val="64748B"/>
                </a:solidFill>
                <a:latin typeface="Calibri" pitchFamily="34" charset="0"/>
                <a:ea typeface="Calibri" pitchFamily="34" charset="-122"/>
                <a:cs typeface="Calibri" pitchFamily="34" charset="-120"/>
              </a:rPr>
              <a:t>Address, profile, OTP login</a:t>
            </a:r>
            <a:endParaRPr lang="en-US" sz="1000" dirty="0"/>
          </a:p>
        </p:txBody>
      </p:sp>
      <p:pic>
        <p:nvPicPr>
          <p:cNvPr id="13" name="Image 1" descr="C:\Users\Lenovo\AppData\Local\Temp\qwipo-deck\assets\ic_FaArrowRight_c.png">    </p:cNvPr>
          <p:cNvPicPr>
            <a:picLocks noChangeAspect="1"/>
          </p:cNvPicPr>
          <p:nvPr/>
        </p:nvPicPr>
        <p:blipFill>
          <a:blip r:embed="rId2"/>
          <a:stretch>
            <a:fillRect/>
          </a:stretch>
        </p:blipFill>
        <p:spPr>
          <a:xfrm>
            <a:off x="5724144" y="1627632"/>
            <a:ext cx="274320" cy="274320"/>
          </a:xfrm>
          <a:prstGeom prst="rect">
            <a:avLst/>
          </a:prstGeom>
        </p:spPr>
      </p:pic>
      <p:sp>
        <p:nvSpPr>
          <p:cNvPr id="14" name="Shape 10"/>
          <p:cNvSpPr/>
          <p:nvPr/>
        </p:nvSpPr>
        <p:spPr>
          <a:xfrm>
            <a:off x="6035040" y="1572768"/>
            <a:ext cx="384048" cy="384048"/>
          </a:xfrm>
          <a:prstGeom prst="ellipse">
            <a:avLst/>
          </a:prstGeom>
          <a:solidFill>
            <a:srgbClr val="7C3AED"/>
          </a:solidFill>
          <a:ln/>
        </p:spPr>
      </p:sp>
      <p:sp>
        <p:nvSpPr>
          <p:cNvPr id="15" name="Text 11"/>
          <p:cNvSpPr/>
          <p:nvPr/>
        </p:nvSpPr>
        <p:spPr>
          <a:xfrm>
            <a:off x="6035040" y="1572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3</a:t>
            </a:r>
            <a:endParaRPr lang="en-US" sz="1500" dirty="0"/>
          </a:p>
        </p:txBody>
      </p:sp>
      <p:sp>
        <p:nvSpPr>
          <p:cNvPr id="16" name="Text 12"/>
          <p:cNvSpPr/>
          <p:nvPr/>
        </p:nvSpPr>
        <p:spPr>
          <a:xfrm>
            <a:off x="6528816" y="1554480"/>
            <a:ext cx="1901952" cy="420624"/>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Assign brands</a:t>
            </a:r>
            <a:endParaRPr lang="en-US" sz="1300" dirty="0"/>
          </a:p>
        </p:txBody>
      </p:sp>
      <p:sp>
        <p:nvSpPr>
          <p:cNvPr id="17" name="Text 13"/>
          <p:cNvSpPr/>
          <p:nvPr/>
        </p:nvSpPr>
        <p:spPr>
          <a:xfrm>
            <a:off x="6053328" y="2048256"/>
            <a:ext cx="2395728" cy="457200"/>
          </a:xfrm>
          <a:prstGeom prst="rect">
            <a:avLst/>
          </a:prstGeom>
          <a:noFill/>
          <a:ln/>
        </p:spPr>
        <p:txBody>
          <a:bodyPr wrap="square" lIns="0" tIns="0" rIns="0" bIns="0" rtlCol="0" anchor="t"/>
          <a:lstStyle/>
          <a:p>
            <a:pPr indent="0" marL="0">
              <a:lnSpc>
                <a:spcPct val="100000"/>
              </a:lnSpc>
              <a:buNone/>
            </a:pPr>
            <a:r>
              <a:rPr lang="en-US" sz="1000" dirty="0">
                <a:solidFill>
                  <a:srgbClr val="64748B"/>
                </a:solidFill>
                <a:latin typeface="Calibri" pitchFamily="34" charset="0"/>
                <a:ea typeface="Calibri" pitchFamily="34" charset="-122"/>
                <a:cs typeface="Calibri" pitchFamily="34" charset="-120"/>
              </a:rPr>
              <a:t>Companies + specific or all brands</a:t>
            </a:r>
            <a:endParaRPr lang="en-US" sz="1000" dirty="0"/>
          </a:p>
        </p:txBody>
      </p:sp>
      <p:pic>
        <p:nvPicPr>
          <p:cNvPr id="18" name="Image 2" descr="C:\Users\Lenovo\AppData\Local\Temp\qwipo-deck\assets\ic_FaArrowRight_c.png">    </p:cNvPr>
          <p:cNvPicPr>
            <a:picLocks noChangeAspect="1"/>
          </p:cNvPicPr>
          <p:nvPr/>
        </p:nvPicPr>
        <p:blipFill>
          <a:blip r:embed="rId3"/>
          <a:stretch>
            <a:fillRect/>
          </a:stretch>
        </p:blipFill>
        <p:spPr>
          <a:xfrm>
            <a:off x="8467344" y="1627632"/>
            <a:ext cx="274320" cy="274320"/>
          </a:xfrm>
          <a:prstGeom prst="rect">
            <a:avLst/>
          </a:prstGeom>
        </p:spPr>
      </p:pic>
      <p:sp>
        <p:nvSpPr>
          <p:cNvPr id="19" name="Shape 14"/>
          <p:cNvSpPr/>
          <p:nvPr/>
        </p:nvSpPr>
        <p:spPr>
          <a:xfrm>
            <a:off x="8778240" y="1572768"/>
            <a:ext cx="384048" cy="384048"/>
          </a:xfrm>
          <a:prstGeom prst="ellipse">
            <a:avLst/>
          </a:prstGeom>
          <a:solidFill>
            <a:srgbClr val="7C3AED"/>
          </a:solidFill>
          <a:ln/>
        </p:spPr>
      </p:sp>
      <p:sp>
        <p:nvSpPr>
          <p:cNvPr id="20" name="Text 15"/>
          <p:cNvSpPr/>
          <p:nvPr/>
        </p:nvSpPr>
        <p:spPr>
          <a:xfrm>
            <a:off x="8778240" y="1572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4</a:t>
            </a:r>
            <a:endParaRPr lang="en-US" sz="1500" dirty="0"/>
          </a:p>
        </p:txBody>
      </p:sp>
      <p:sp>
        <p:nvSpPr>
          <p:cNvPr id="21" name="Text 16"/>
          <p:cNvSpPr/>
          <p:nvPr/>
        </p:nvSpPr>
        <p:spPr>
          <a:xfrm>
            <a:off x="9272016" y="1554480"/>
            <a:ext cx="1901952" cy="420624"/>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Activate</a:t>
            </a:r>
            <a:endParaRPr lang="en-US" sz="1300" dirty="0"/>
          </a:p>
        </p:txBody>
      </p:sp>
      <p:sp>
        <p:nvSpPr>
          <p:cNvPr id="22" name="Text 17"/>
          <p:cNvSpPr/>
          <p:nvPr/>
        </p:nvSpPr>
        <p:spPr>
          <a:xfrm>
            <a:off x="8796528" y="2048256"/>
            <a:ext cx="2395728" cy="457200"/>
          </a:xfrm>
          <a:prstGeom prst="rect">
            <a:avLst/>
          </a:prstGeom>
          <a:noFill/>
          <a:ln/>
        </p:spPr>
        <p:txBody>
          <a:bodyPr wrap="square" lIns="0" tIns="0" rIns="0" bIns="0" rtlCol="0" anchor="t"/>
          <a:lstStyle/>
          <a:p>
            <a:pPr indent="0" marL="0">
              <a:lnSpc>
                <a:spcPct val="100000"/>
              </a:lnSpc>
              <a:buNone/>
            </a:pPr>
            <a:r>
              <a:rPr lang="en-US" sz="1000" dirty="0">
                <a:solidFill>
                  <a:srgbClr val="64748B"/>
                </a:solidFill>
                <a:latin typeface="Calibri" pitchFamily="34" charset="0"/>
                <a:ea typeface="Calibri" pitchFamily="34" charset="-122"/>
                <a:cs typeface="Calibri" pitchFamily="34" charset="-120"/>
              </a:rPr>
              <a:t>Live &amp; sign-in ready instantly</a:t>
            </a:r>
            <a:endParaRPr lang="en-US" sz="1000" dirty="0"/>
          </a:p>
        </p:txBody>
      </p:sp>
      <p:sp>
        <p:nvSpPr>
          <p:cNvPr id="23" name="Text 18"/>
          <p:cNvSpPr/>
          <p:nvPr/>
        </p:nvSpPr>
        <p:spPr>
          <a:xfrm>
            <a:off x="548640" y="2788920"/>
            <a:ext cx="5394960" cy="274320"/>
          </a:xfrm>
          <a:prstGeom prst="rect">
            <a:avLst/>
          </a:prstGeom>
          <a:noFill/>
          <a:ln/>
        </p:spPr>
        <p:txBody>
          <a:bodyPr wrap="square" lIns="0" tIns="0" rIns="0" bIns="0" rtlCol="0" anchor="ctr"/>
          <a:lstStyle/>
          <a:p>
            <a:pPr indent="0" marL="0">
              <a:buNone/>
            </a:pPr>
            <a:r>
              <a:rPr lang="en-US" sz="1100" b="1" spc="120" kern="0" dirty="0">
                <a:solidFill>
                  <a:srgbClr val="7C3AED"/>
                </a:solidFill>
                <a:latin typeface="Trebuchet MS" pitchFamily="34" charset="0"/>
                <a:ea typeface="Trebuchet MS" pitchFamily="34" charset="-122"/>
                <a:cs typeface="Trebuchet MS" pitchFamily="34" charset="-120"/>
              </a:rPr>
              <a:t>WHAT THE SUPER ADMIN CAPTURES</a:t>
            </a:r>
            <a:endParaRPr lang="en-US" sz="1100" dirty="0"/>
          </a:p>
        </p:txBody>
      </p:sp>
      <p:sp>
        <p:nvSpPr>
          <p:cNvPr id="24" name="Text 19"/>
          <p:cNvSpPr/>
          <p:nvPr/>
        </p:nvSpPr>
        <p:spPr>
          <a:xfrm>
            <a:off x="566928" y="3127248"/>
            <a:ext cx="5349240" cy="1828800"/>
          </a:xfrm>
          <a:prstGeom prst="rect">
            <a:avLst/>
          </a:prstGeom>
          <a:noFill/>
          <a:ln/>
        </p:spPr>
        <p:txBody>
          <a:bodyPr wrap="square" lIns="0" tIns="0" rIns="0" bIns="0" rtlCol="0" anchor="t"/>
          <a:lstStyle/>
          <a:p>
            <a:pPr marL="177800" indent="-177800">
              <a:lnSpc>
                <a:spcPct val="102000"/>
              </a:lnSpc>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Profile photo, full name and mobile number (OTP-based login)</a:t>
            </a:r>
            <a:endParaRPr lang="en-US" sz="1150" dirty="0"/>
          </a:p>
          <a:p>
            <a:pPr marL="177800" indent="-177800">
              <a:lnSpc>
                <a:spcPct val="102000"/>
              </a:lnSpc>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Business / trading name and full address</a:t>
            </a:r>
            <a:endParaRPr lang="en-US" sz="1150" dirty="0"/>
          </a:p>
          <a:p>
            <a:pPr marL="177800" indent="-177800">
              <a:lnSpc>
                <a:spcPct val="102000"/>
              </a:lnSpc>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Companies the distributor carries — ITC, HUL, Nestlé and more</a:t>
            </a:r>
            <a:endParaRPr lang="en-US" sz="1150" dirty="0"/>
          </a:p>
          <a:p>
            <a:pPr marL="177800" indent="-177800">
              <a:lnSpc>
                <a:spcPct val="102000"/>
              </a:lnSpc>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Specific brands per company, or “All brands” to auto-include future ones</a:t>
            </a:r>
            <a:endParaRPr lang="en-US" sz="1150" dirty="0"/>
          </a:p>
          <a:p>
            <a:pPr marL="177800" indent="-177800">
              <a:lnSpc>
                <a:spcPct val="102000"/>
              </a:lnSpc>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Active-by-default status toggle for instant go-live</a:t>
            </a:r>
            <a:endParaRPr lang="en-US" sz="1150" dirty="0"/>
          </a:p>
        </p:txBody>
      </p:sp>
      <p:sp>
        <p:nvSpPr>
          <p:cNvPr id="25" name="Shape 20"/>
          <p:cNvSpPr/>
          <p:nvPr/>
        </p:nvSpPr>
        <p:spPr>
          <a:xfrm>
            <a:off x="548640" y="5074920"/>
            <a:ext cx="5349240" cy="1097280"/>
          </a:xfrm>
          <a:prstGeom prst="roundRect">
            <a:avLst>
              <a:gd name="adj" fmla="val 6667"/>
            </a:avLst>
          </a:prstGeom>
          <a:solidFill>
            <a:srgbClr val="F3EEFE"/>
          </a:solidFill>
          <a:ln w="12700">
            <a:solidFill>
              <a:srgbClr val="DDD0FB"/>
            </a:solidFill>
            <a:prstDash val="solid"/>
          </a:ln>
        </p:spPr>
      </p:sp>
      <p:sp>
        <p:nvSpPr>
          <p:cNvPr id="26" name="Shape 21"/>
          <p:cNvSpPr/>
          <p:nvPr/>
        </p:nvSpPr>
        <p:spPr>
          <a:xfrm>
            <a:off x="548640" y="5184648"/>
            <a:ext cx="64008" cy="877824"/>
          </a:xfrm>
          <a:prstGeom prst="rect">
            <a:avLst/>
          </a:prstGeom>
          <a:solidFill>
            <a:srgbClr val="7C3AED"/>
          </a:solidFill>
          <a:ln/>
        </p:spPr>
      </p:sp>
      <p:sp>
        <p:nvSpPr>
          <p:cNvPr id="27" name="Text 22"/>
          <p:cNvSpPr/>
          <p:nvPr/>
        </p:nvSpPr>
        <p:spPr>
          <a:xfrm>
            <a:off x="786384" y="5212080"/>
            <a:ext cx="4892040" cy="219456"/>
          </a:xfrm>
          <a:prstGeom prst="rect">
            <a:avLst/>
          </a:prstGeom>
          <a:noFill/>
          <a:ln/>
        </p:spPr>
        <p:txBody>
          <a:bodyPr wrap="square" lIns="0" tIns="0" rIns="0" bIns="0" rtlCol="0" anchor="ctr"/>
          <a:lstStyle/>
          <a:p>
            <a:pPr indent="0" marL="0">
              <a:buNone/>
            </a:pPr>
            <a:r>
              <a:rPr lang="en-US" sz="1000" b="1" spc="200" kern="0" dirty="0">
                <a:solidFill>
                  <a:srgbClr val="7C3AED"/>
                </a:solidFill>
                <a:latin typeface="Trebuchet MS" pitchFamily="34" charset="0"/>
                <a:ea typeface="Trebuchet MS" pitchFamily="34" charset="-122"/>
                <a:cs typeface="Trebuchet MS" pitchFamily="34" charset="-120"/>
              </a:rPr>
              <a:t>BUSINESS BENEFIT</a:t>
            </a:r>
            <a:endParaRPr lang="en-US" sz="1000" dirty="0"/>
          </a:p>
        </p:txBody>
      </p:sp>
      <p:sp>
        <p:nvSpPr>
          <p:cNvPr id="28" name="Text 23"/>
          <p:cNvSpPr/>
          <p:nvPr/>
        </p:nvSpPr>
        <p:spPr>
          <a:xfrm>
            <a:off x="786384" y="5458968"/>
            <a:ext cx="4892040" cy="594360"/>
          </a:xfrm>
          <a:prstGeom prst="rect">
            <a:avLst/>
          </a:prstGeom>
          <a:noFill/>
          <a:ln/>
        </p:spPr>
        <p:txBody>
          <a:bodyPr wrap="square" lIns="0" tIns="0" rIns="0" bIns="0" rtlCol="0" anchor="t"/>
          <a:lstStyle/>
          <a:p>
            <a:pPr indent="0" marL="0">
              <a:lnSpc>
                <a:spcPct val="104000"/>
              </a:lnSpc>
              <a:buNone/>
            </a:pPr>
            <a:r>
              <a:rPr lang="en-US" sz="1150" dirty="0">
                <a:solidFill>
                  <a:srgbClr val="1E293B"/>
                </a:solidFill>
                <a:latin typeface="Calibri" pitchFamily="34" charset="0"/>
                <a:ea typeface="Calibri" pitchFamily="34" charset="-122"/>
                <a:cs typeface="Calibri" pitchFamily="34" charset="-120"/>
              </a:rPr>
              <a:t>New distributors are live and transacting the same day. A guided, single-form flow removes back-and-forth and shrinks onboarding from weeks of paperwork to a few minutes.</a:t>
            </a:r>
            <a:endParaRPr lang="en-US" sz="1150" dirty="0"/>
          </a:p>
        </p:txBody>
      </p:sp>
      <p:sp>
        <p:nvSpPr>
          <p:cNvPr id="29" name="Shape 24"/>
          <p:cNvSpPr/>
          <p:nvPr/>
        </p:nvSpPr>
        <p:spPr>
          <a:xfrm>
            <a:off x="6126480" y="2788920"/>
            <a:ext cx="5532120" cy="3383280"/>
          </a:xfrm>
          <a:prstGeom prst="rect">
            <a:avLst/>
          </a:prstGeom>
          <a:solidFill>
            <a:srgbClr val="FFFFFF"/>
          </a:solidFill>
          <a:ln w="12700">
            <a:solidFill>
              <a:srgbClr val="E2E8F0"/>
            </a:solidFill>
            <a:prstDash val="solid"/>
          </a:ln>
          <a:effectLst>
            <a:outerShdw sx="100000" sy="100000" kx="0" ky="0" algn="bl" rotWithShape="0" blurRad="114300" dist="38100" dir="5400000">
              <a:srgbClr val="1E293B">
                <a:alpha val="18000"/>
              </a:srgbClr>
            </a:outerShdw>
          </a:effectLst>
        </p:spPr>
      </p:sp>
      <p:sp>
        <p:nvSpPr>
          <p:cNvPr id="30" name="Shape 25"/>
          <p:cNvSpPr/>
          <p:nvPr/>
        </p:nvSpPr>
        <p:spPr>
          <a:xfrm>
            <a:off x="6126480" y="2788920"/>
            <a:ext cx="5532120" cy="237744"/>
          </a:xfrm>
          <a:prstGeom prst="rect">
            <a:avLst/>
          </a:prstGeom>
          <a:solidFill>
            <a:srgbClr val="F1F5F9"/>
          </a:solidFill>
          <a:ln/>
        </p:spPr>
      </p:sp>
      <p:sp>
        <p:nvSpPr>
          <p:cNvPr id="31" name="Shape 26"/>
          <p:cNvSpPr/>
          <p:nvPr/>
        </p:nvSpPr>
        <p:spPr>
          <a:xfrm>
            <a:off x="6126480" y="3026664"/>
            <a:ext cx="5532120" cy="10973"/>
          </a:xfrm>
          <a:prstGeom prst="rect">
            <a:avLst/>
          </a:prstGeom>
          <a:solidFill>
            <a:srgbClr val="E2E8F0"/>
          </a:solidFill>
          <a:ln/>
        </p:spPr>
      </p:sp>
      <p:sp>
        <p:nvSpPr>
          <p:cNvPr id="32" name="Shape 27"/>
          <p:cNvSpPr/>
          <p:nvPr/>
        </p:nvSpPr>
        <p:spPr>
          <a:xfrm>
            <a:off x="6272784" y="2875788"/>
            <a:ext cx="64008" cy="64008"/>
          </a:xfrm>
          <a:prstGeom prst="ellipse">
            <a:avLst/>
          </a:prstGeom>
          <a:solidFill>
            <a:srgbClr val="F87171"/>
          </a:solidFill>
          <a:ln/>
        </p:spPr>
      </p:sp>
      <p:sp>
        <p:nvSpPr>
          <p:cNvPr id="33" name="Shape 28"/>
          <p:cNvSpPr/>
          <p:nvPr/>
        </p:nvSpPr>
        <p:spPr>
          <a:xfrm>
            <a:off x="6409944" y="2875788"/>
            <a:ext cx="64008" cy="64008"/>
          </a:xfrm>
          <a:prstGeom prst="ellipse">
            <a:avLst/>
          </a:prstGeom>
          <a:solidFill>
            <a:srgbClr val="FBBF24"/>
          </a:solidFill>
          <a:ln/>
        </p:spPr>
      </p:sp>
      <p:sp>
        <p:nvSpPr>
          <p:cNvPr id="34" name="Shape 29"/>
          <p:cNvSpPr/>
          <p:nvPr/>
        </p:nvSpPr>
        <p:spPr>
          <a:xfrm>
            <a:off x="6547104" y="2875788"/>
            <a:ext cx="64008" cy="64008"/>
          </a:xfrm>
          <a:prstGeom prst="ellipse">
            <a:avLst/>
          </a:prstGeom>
          <a:solidFill>
            <a:srgbClr val="34D399"/>
          </a:solidFill>
          <a:ln/>
        </p:spPr>
      </p:sp>
      <p:pic>
        <p:nvPicPr>
          <p:cNvPr id="35" name="Image 3" descr="C:\Users\Lenovo\AppData\Local\Temp\qwipo-deck\assets\seller-form.png">    </p:cNvPr>
          <p:cNvPicPr>
            <a:picLocks noChangeAspect="1"/>
          </p:cNvPicPr>
          <p:nvPr/>
        </p:nvPicPr>
        <p:blipFill>
          <a:blip r:embed="rId4"/>
          <a:stretch>
            <a:fillRect/>
          </a:stretch>
        </p:blipFill>
        <p:spPr>
          <a:xfrm>
            <a:off x="6420002" y="3054096"/>
            <a:ext cx="4945075" cy="3090672"/>
          </a:xfrm>
          <a:prstGeom prst="rect">
            <a:avLst/>
          </a:prstGeom>
        </p:spPr>
      </p:pic>
      <p:sp>
        <p:nvSpPr>
          <p:cNvPr id="36" name="Text 30"/>
          <p:cNvSpPr/>
          <p:nvPr/>
        </p:nvSpPr>
        <p:spPr>
          <a:xfrm>
            <a:off x="548640" y="6437376"/>
            <a:ext cx="5486400" cy="274320"/>
          </a:xfrm>
          <a:prstGeom prst="rect">
            <a:avLst/>
          </a:prstGeom>
          <a:noFill/>
          <a:ln/>
        </p:spPr>
        <p:txBody>
          <a:bodyPr wrap="square" lIns="0" tIns="0" rIns="0" bIns="0" rtlCol="0" anchor="ctr"/>
          <a:lstStyle/>
          <a:p>
            <a:pPr indent="0" marL="0">
              <a:buNone/>
            </a:pPr>
            <a:r>
              <a:rPr lang="en-US" sz="900" b="1" dirty="0">
                <a:solidFill>
                  <a:srgbClr val="7C3AED"/>
                </a:solidFill>
                <a:latin typeface="Calibri" pitchFamily="34" charset="0"/>
                <a:ea typeface="Calibri" pitchFamily="34" charset="-122"/>
                <a:cs typeface="Calibri" pitchFamily="34" charset="-120"/>
              </a:rPr>
              <a:t>Qwipo</a:t>
            </a:r>
            <a:pPr indent="0" marL="0">
              <a:buNone/>
            </a:pPr>
            <a:r>
              <a:rPr lang="en-US" sz="900" dirty="0">
                <a:solidFill>
                  <a:srgbClr val="94A3B8"/>
                </a:solidFill>
                <a:latin typeface="Calibri" pitchFamily="34" charset="0"/>
                <a:ea typeface="Calibri" pitchFamily="34" charset="-122"/>
                <a:cs typeface="Calibri" pitchFamily="34" charset="-120"/>
              </a:rPr>
              <a:t>   Seller Store Platform</a:t>
            </a:r>
            <a:endParaRPr lang="en-US" sz="900" dirty="0"/>
          </a:p>
        </p:txBody>
      </p:sp>
      <p:sp>
        <p:nvSpPr>
          <p:cNvPr id="37" name="Text 31"/>
          <p:cNvSpPr/>
          <p:nvPr/>
        </p:nvSpPr>
        <p:spPr>
          <a:xfrm>
            <a:off x="9966960" y="6437376"/>
            <a:ext cx="1673352"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04 / 20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Trebuchet MS" pitchFamily="34" charset="0"/>
                <a:ea typeface="Trebuchet MS" pitchFamily="34" charset="-122"/>
                <a:cs typeface="Trebuchet MS" pitchFamily="34" charset="-120"/>
              </a:rPr>
              <a:t>FEATURE · SERVICEABILITY</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Trebuchet MS" pitchFamily="34" charset="0"/>
                <a:ea typeface="Trebuchet MS" pitchFamily="34" charset="-122"/>
                <a:cs typeface="Trebuchet MS" pitchFamily="34" charset="-120"/>
              </a:rPr>
              <a:t>Define exactly where every company can deliver</a:t>
            </a:r>
            <a:endParaRPr lang="en-US" sz="2900" dirty="0"/>
          </a:p>
        </p:txBody>
      </p:sp>
      <p:sp>
        <p:nvSpPr>
          <p:cNvPr id="4" name="Shape 2"/>
          <p:cNvSpPr/>
          <p:nvPr/>
        </p:nvSpPr>
        <p:spPr>
          <a:xfrm>
            <a:off x="548640" y="1627632"/>
            <a:ext cx="1078992" cy="457200"/>
          </a:xfrm>
          <a:prstGeom prst="roundRect">
            <a:avLst>
              <a:gd name="adj" fmla="val 50000"/>
            </a:avLst>
          </a:prstGeom>
          <a:solidFill>
            <a:srgbClr val="EFF4FE"/>
          </a:solidFill>
          <a:ln w="12700">
            <a:solidFill>
              <a:srgbClr val="C7DAFB"/>
            </a:solidFill>
            <a:prstDash val="solid"/>
          </a:ln>
        </p:spPr>
      </p:sp>
      <p:sp>
        <p:nvSpPr>
          <p:cNvPr id="5" name="Text 3"/>
          <p:cNvSpPr/>
          <p:nvPr/>
        </p:nvSpPr>
        <p:spPr>
          <a:xfrm>
            <a:off x="548640" y="1627632"/>
            <a:ext cx="1078992" cy="457200"/>
          </a:xfrm>
          <a:prstGeom prst="rect">
            <a:avLst/>
          </a:prstGeom>
          <a:noFill/>
          <a:ln/>
        </p:spPr>
        <p:txBody>
          <a:bodyPr wrap="square" lIns="0" tIns="0" rIns="0" bIns="0" rtlCol="0" anchor="ctr"/>
          <a:lstStyle/>
          <a:p>
            <a:pPr algn="ctr" indent="0" marL="0">
              <a:buNone/>
            </a:pPr>
            <a:r>
              <a:rPr lang="en-US" sz="1200" b="1" dirty="0">
                <a:solidFill>
                  <a:srgbClr val="1D4ED8"/>
                </a:solidFill>
                <a:latin typeface="Trebuchet MS" pitchFamily="34" charset="0"/>
                <a:ea typeface="Trebuchet MS" pitchFamily="34" charset="-122"/>
                <a:cs typeface="Trebuchet MS" pitchFamily="34" charset="-120"/>
              </a:rPr>
              <a:t>State</a:t>
            </a:r>
            <a:endParaRPr lang="en-US" sz="1200" dirty="0"/>
          </a:p>
        </p:txBody>
      </p:sp>
      <p:pic>
        <p:nvPicPr>
          <p:cNvPr id="6" name="Image 0" descr="C:\Users\Lenovo\AppData\Local\Temp\qwipo-deck\assets\ic_FaArrowRight_c.png">    </p:cNvPr>
          <p:cNvPicPr>
            <a:picLocks noChangeAspect="1"/>
          </p:cNvPicPr>
          <p:nvPr/>
        </p:nvPicPr>
        <p:blipFill>
          <a:blip r:embed="rId1"/>
          <a:stretch>
            <a:fillRect/>
          </a:stretch>
        </p:blipFill>
        <p:spPr>
          <a:xfrm>
            <a:off x="1645920" y="1691640"/>
            <a:ext cx="246888" cy="246888"/>
          </a:xfrm>
          <a:prstGeom prst="rect">
            <a:avLst/>
          </a:prstGeom>
        </p:spPr>
      </p:pic>
      <p:sp>
        <p:nvSpPr>
          <p:cNvPr id="7" name="Shape 4"/>
          <p:cNvSpPr/>
          <p:nvPr/>
        </p:nvSpPr>
        <p:spPr>
          <a:xfrm>
            <a:off x="2020824" y="1627632"/>
            <a:ext cx="1078992" cy="457200"/>
          </a:xfrm>
          <a:prstGeom prst="roundRect">
            <a:avLst>
              <a:gd name="adj" fmla="val 50000"/>
            </a:avLst>
          </a:prstGeom>
          <a:solidFill>
            <a:srgbClr val="EFF4FE"/>
          </a:solidFill>
          <a:ln w="12700">
            <a:solidFill>
              <a:srgbClr val="C7DAFB"/>
            </a:solidFill>
            <a:prstDash val="solid"/>
          </a:ln>
        </p:spPr>
      </p:sp>
      <p:sp>
        <p:nvSpPr>
          <p:cNvPr id="8" name="Text 5"/>
          <p:cNvSpPr/>
          <p:nvPr/>
        </p:nvSpPr>
        <p:spPr>
          <a:xfrm>
            <a:off x="2020824" y="1627632"/>
            <a:ext cx="1078992" cy="457200"/>
          </a:xfrm>
          <a:prstGeom prst="rect">
            <a:avLst/>
          </a:prstGeom>
          <a:noFill/>
          <a:ln/>
        </p:spPr>
        <p:txBody>
          <a:bodyPr wrap="square" lIns="0" tIns="0" rIns="0" bIns="0" rtlCol="0" anchor="ctr"/>
          <a:lstStyle/>
          <a:p>
            <a:pPr algn="ctr" indent="0" marL="0">
              <a:buNone/>
            </a:pPr>
            <a:r>
              <a:rPr lang="en-US" sz="1200" b="1" dirty="0">
                <a:solidFill>
                  <a:srgbClr val="1D4ED8"/>
                </a:solidFill>
                <a:latin typeface="Trebuchet MS" pitchFamily="34" charset="0"/>
                <a:ea typeface="Trebuchet MS" pitchFamily="34" charset="-122"/>
                <a:cs typeface="Trebuchet MS" pitchFamily="34" charset="-120"/>
              </a:rPr>
              <a:t>City</a:t>
            </a:r>
            <a:endParaRPr lang="en-US" sz="1200" dirty="0"/>
          </a:p>
        </p:txBody>
      </p:sp>
      <p:pic>
        <p:nvPicPr>
          <p:cNvPr id="9" name="Image 1" descr="C:\Users\Lenovo\AppData\Local\Temp\qwipo-deck\assets\ic_FaArrowRight_c.png">    </p:cNvPr>
          <p:cNvPicPr>
            <a:picLocks noChangeAspect="1"/>
          </p:cNvPicPr>
          <p:nvPr/>
        </p:nvPicPr>
        <p:blipFill>
          <a:blip r:embed="rId2"/>
          <a:stretch>
            <a:fillRect/>
          </a:stretch>
        </p:blipFill>
        <p:spPr>
          <a:xfrm>
            <a:off x="3118104" y="1691640"/>
            <a:ext cx="246888" cy="246888"/>
          </a:xfrm>
          <a:prstGeom prst="rect">
            <a:avLst/>
          </a:prstGeom>
        </p:spPr>
      </p:pic>
      <p:sp>
        <p:nvSpPr>
          <p:cNvPr id="10" name="Shape 6"/>
          <p:cNvSpPr/>
          <p:nvPr/>
        </p:nvSpPr>
        <p:spPr>
          <a:xfrm>
            <a:off x="3493008" y="1627632"/>
            <a:ext cx="1078992" cy="457200"/>
          </a:xfrm>
          <a:prstGeom prst="roundRect">
            <a:avLst>
              <a:gd name="adj" fmla="val 50000"/>
            </a:avLst>
          </a:prstGeom>
          <a:solidFill>
            <a:srgbClr val="EFF4FE"/>
          </a:solidFill>
          <a:ln w="12700">
            <a:solidFill>
              <a:srgbClr val="C7DAFB"/>
            </a:solidFill>
            <a:prstDash val="solid"/>
          </a:ln>
        </p:spPr>
      </p:sp>
      <p:sp>
        <p:nvSpPr>
          <p:cNvPr id="11" name="Text 7"/>
          <p:cNvSpPr/>
          <p:nvPr/>
        </p:nvSpPr>
        <p:spPr>
          <a:xfrm>
            <a:off x="3493008" y="1627632"/>
            <a:ext cx="1078992" cy="457200"/>
          </a:xfrm>
          <a:prstGeom prst="rect">
            <a:avLst/>
          </a:prstGeom>
          <a:noFill/>
          <a:ln/>
        </p:spPr>
        <p:txBody>
          <a:bodyPr wrap="square" lIns="0" tIns="0" rIns="0" bIns="0" rtlCol="0" anchor="ctr"/>
          <a:lstStyle/>
          <a:p>
            <a:pPr algn="ctr" indent="0" marL="0">
              <a:buNone/>
            </a:pPr>
            <a:r>
              <a:rPr lang="en-US" sz="1200" b="1" dirty="0">
                <a:solidFill>
                  <a:srgbClr val="1D4ED8"/>
                </a:solidFill>
                <a:latin typeface="Trebuchet MS" pitchFamily="34" charset="0"/>
                <a:ea typeface="Trebuchet MS" pitchFamily="34" charset="-122"/>
                <a:cs typeface="Trebuchet MS" pitchFamily="34" charset="-120"/>
              </a:rPr>
              <a:t>Pincode</a:t>
            </a:r>
            <a:endParaRPr lang="en-US" sz="1200" dirty="0"/>
          </a:p>
        </p:txBody>
      </p:sp>
      <p:pic>
        <p:nvPicPr>
          <p:cNvPr id="12" name="Image 2" descr="C:\Users\Lenovo\AppData\Local\Temp\qwipo-deck\assets\ic_FaArrowRight_c.png">    </p:cNvPr>
          <p:cNvPicPr>
            <a:picLocks noChangeAspect="1"/>
          </p:cNvPicPr>
          <p:nvPr/>
        </p:nvPicPr>
        <p:blipFill>
          <a:blip r:embed="rId3"/>
          <a:stretch>
            <a:fillRect/>
          </a:stretch>
        </p:blipFill>
        <p:spPr>
          <a:xfrm>
            <a:off x="4590288" y="1691640"/>
            <a:ext cx="246888" cy="246888"/>
          </a:xfrm>
          <a:prstGeom prst="rect">
            <a:avLst/>
          </a:prstGeom>
        </p:spPr>
      </p:pic>
      <p:sp>
        <p:nvSpPr>
          <p:cNvPr id="13" name="Shape 8"/>
          <p:cNvSpPr/>
          <p:nvPr/>
        </p:nvSpPr>
        <p:spPr>
          <a:xfrm>
            <a:off x="4965192" y="1627632"/>
            <a:ext cx="1078992" cy="457200"/>
          </a:xfrm>
          <a:prstGeom prst="roundRect">
            <a:avLst>
              <a:gd name="adj" fmla="val 50000"/>
            </a:avLst>
          </a:prstGeom>
          <a:solidFill>
            <a:srgbClr val="7C3AED"/>
          </a:solidFill>
          <a:ln w="12700">
            <a:solidFill>
              <a:srgbClr val="7C3AED"/>
            </a:solidFill>
            <a:prstDash val="solid"/>
          </a:ln>
        </p:spPr>
      </p:sp>
      <p:sp>
        <p:nvSpPr>
          <p:cNvPr id="14" name="Text 9"/>
          <p:cNvSpPr/>
          <p:nvPr/>
        </p:nvSpPr>
        <p:spPr>
          <a:xfrm>
            <a:off x="4965192" y="1627632"/>
            <a:ext cx="1078992"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Beat</a:t>
            </a:r>
            <a:endParaRPr lang="en-US" sz="1200" dirty="0"/>
          </a:p>
        </p:txBody>
      </p:sp>
      <p:sp>
        <p:nvSpPr>
          <p:cNvPr id="15" name="Text 10"/>
          <p:cNvSpPr/>
          <p:nvPr/>
        </p:nvSpPr>
        <p:spPr>
          <a:xfrm>
            <a:off x="566928" y="2331720"/>
            <a:ext cx="5349240" cy="2011680"/>
          </a:xfrm>
          <a:prstGeom prst="rect">
            <a:avLst/>
          </a:prstGeom>
          <a:noFill/>
          <a:ln/>
        </p:spPr>
        <p:txBody>
          <a:bodyPr wrap="square" lIns="0" tIns="0" rIns="0" bIns="0" rtlCol="0" anchor="t"/>
          <a:lstStyle/>
          <a:p>
            <a:pPr marL="177800" indent="-177800">
              <a:lnSpc>
                <a:spcPct val="102000"/>
              </a:lnSpc>
              <a:spcAft>
                <a:spcPts val="700"/>
              </a:spcAft>
              <a:buSzPct val="100000"/>
              <a:buChar char="•"/>
            </a:pPr>
            <a:r>
              <a:rPr lang="en-US" sz="1200" dirty="0">
                <a:solidFill>
                  <a:srgbClr val="334155"/>
                </a:solidFill>
                <a:latin typeface="Calibri" pitchFamily="34" charset="0"/>
                <a:ea typeface="Calibri" pitchFamily="34" charset="-122"/>
                <a:cs typeface="Calibri" pitchFamily="34" charset="-120"/>
              </a:rPr>
              <a:t>State, city and pincode-level serviceability control</a:t>
            </a:r>
            <a:endParaRPr lang="en-US" sz="1200" dirty="0"/>
          </a:p>
          <a:p>
            <a:pPr marL="177800" indent="-177800">
              <a:lnSpc>
                <a:spcPct val="102000"/>
              </a:lnSpc>
              <a:spcAft>
                <a:spcPts val="700"/>
              </a:spcAft>
              <a:buSzPct val="100000"/>
              <a:buChar char="•"/>
            </a:pPr>
            <a:r>
              <a:rPr lang="en-US" sz="1200" dirty="0">
                <a:solidFill>
                  <a:srgbClr val="334155"/>
                </a:solidFill>
                <a:latin typeface="Calibri" pitchFamily="34" charset="0"/>
                <a:ea typeface="Calibri" pitchFamily="34" charset="-122"/>
                <a:cs typeface="Calibri" pitchFamily="34" charset="-120"/>
              </a:rPr>
              <a:t>Company-level configuration — each manufacturer's zone is set independently</a:t>
            </a:r>
            <a:endParaRPr lang="en-US" sz="1200" dirty="0"/>
          </a:p>
          <a:p>
            <a:pPr marL="177800" indent="-177800">
              <a:lnSpc>
                <a:spcPct val="102000"/>
              </a:lnSpc>
              <a:spcAft>
                <a:spcPts val="700"/>
              </a:spcAft>
              <a:buSzPct val="100000"/>
              <a:buChar char="•"/>
            </a:pPr>
            <a:r>
              <a:rPr lang="en-US" sz="1200" dirty="0">
                <a:solidFill>
                  <a:srgbClr val="334155"/>
                </a:solidFill>
                <a:latin typeface="Calibri" pitchFamily="34" charset="0"/>
                <a:ea typeface="Calibri" pitchFamily="34" charset="-122"/>
                <a:cs typeface="Calibri" pitchFamily="34" charset="-120"/>
              </a:rPr>
              <a:t>Multiple beats per company, each with a Beat Name and Delivery Day (Mon–Sun / Next Day)</a:t>
            </a:r>
            <a:endParaRPr lang="en-US" sz="1200" dirty="0"/>
          </a:p>
          <a:p>
            <a:pPr marL="177800" indent="-177800">
              <a:lnSpc>
                <a:spcPct val="102000"/>
              </a:lnSpc>
              <a:spcAft>
                <a:spcPts val="700"/>
              </a:spcAft>
              <a:buSzPct val="100000"/>
              <a:buChar char="•"/>
            </a:pPr>
            <a:r>
              <a:rPr lang="en-US" sz="1200" dirty="0">
                <a:solidFill>
                  <a:srgbClr val="334155"/>
                </a:solidFill>
                <a:latin typeface="Calibri" pitchFamily="34" charset="0"/>
                <a:ea typeface="Calibri" pitchFamily="34" charset="-122"/>
                <a:cs typeface="Calibri" pitchFamily="34" charset="-120"/>
              </a:rPr>
              <a:t>Optional GeoJSON polygon per beat for precise geo-matching</a:t>
            </a:r>
            <a:endParaRPr lang="en-US" sz="1200" dirty="0"/>
          </a:p>
          <a:p>
            <a:pPr marL="177800" indent="-177800">
              <a:lnSpc>
                <a:spcPct val="102000"/>
              </a:lnSpc>
              <a:spcAft>
                <a:spcPts val="700"/>
              </a:spcAft>
              <a:buSzPct val="100000"/>
              <a:buChar char="•"/>
            </a:pPr>
            <a:r>
              <a:rPr lang="en-US" sz="1200" dirty="0">
                <a:solidFill>
                  <a:srgbClr val="334155"/>
                </a:solidFill>
                <a:latin typeface="Calibri" pitchFamily="34" charset="0"/>
                <a:ea typeface="Calibri" pitchFamily="34" charset="-122"/>
                <a:cs typeface="Calibri" pitchFamily="34" charset="-120"/>
              </a:rPr>
              <a:t>Distributor coverage and territory boundaries managed in one table</a:t>
            </a:r>
            <a:endParaRPr lang="en-US" sz="1200" dirty="0"/>
          </a:p>
        </p:txBody>
      </p:sp>
      <p:sp>
        <p:nvSpPr>
          <p:cNvPr id="16" name="Shape 11"/>
          <p:cNvSpPr/>
          <p:nvPr/>
        </p:nvSpPr>
        <p:spPr>
          <a:xfrm>
            <a:off x="548640" y="4443984"/>
            <a:ext cx="5349240" cy="1143000"/>
          </a:xfrm>
          <a:prstGeom prst="roundRect">
            <a:avLst>
              <a:gd name="adj" fmla="val 6400"/>
            </a:avLst>
          </a:prstGeom>
          <a:solidFill>
            <a:srgbClr val="F3EEFE"/>
          </a:solidFill>
          <a:ln w="12700">
            <a:solidFill>
              <a:srgbClr val="DDD0FB"/>
            </a:solidFill>
            <a:prstDash val="solid"/>
          </a:ln>
        </p:spPr>
      </p:sp>
      <p:sp>
        <p:nvSpPr>
          <p:cNvPr id="17" name="Shape 12"/>
          <p:cNvSpPr/>
          <p:nvPr/>
        </p:nvSpPr>
        <p:spPr>
          <a:xfrm>
            <a:off x="548640" y="4553712"/>
            <a:ext cx="64008" cy="923544"/>
          </a:xfrm>
          <a:prstGeom prst="rect">
            <a:avLst/>
          </a:prstGeom>
          <a:solidFill>
            <a:srgbClr val="7C3AED"/>
          </a:solidFill>
          <a:ln/>
        </p:spPr>
      </p:sp>
      <p:sp>
        <p:nvSpPr>
          <p:cNvPr id="18" name="Text 13"/>
          <p:cNvSpPr/>
          <p:nvPr/>
        </p:nvSpPr>
        <p:spPr>
          <a:xfrm>
            <a:off x="786384" y="4581144"/>
            <a:ext cx="4892040" cy="219456"/>
          </a:xfrm>
          <a:prstGeom prst="rect">
            <a:avLst/>
          </a:prstGeom>
          <a:noFill/>
          <a:ln/>
        </p:spPr>
        <p:txBody>
          <a:bodyPr wrap="square" lIns="0" tIns="0" rIns="0" bIns="0" rtlCol="0" anchor="ctr"/>
          <a:lstStyle/>
          <a:p>
            <a:pPr indent="0" marL="0">
              <a:buNone/>
            </a:pPr>
            <a:r>
              <a:rPr lang="en-US" sz="1000" b="1" spc="200" kern="0" dirty="0">
                <a:solidFill>
                  <a:srgbClr val="7C3AED"/>
                </a:solidFill>
                <a:latin typeface="Trebuchet MS" pitchFamily="34" charset="0"/>
                <a:ea typeface="Trebuchet MS" pitchFamily="34" charset="-122"/>
                <a:cs typeface="Trebuchet MS" pitchFamily="34" charset="-120"/>
              </a:rPr>
              <a:t>BUSINESS BENEFIT</a:t>
            </a:r>
            <a:endParaRPr lang="en-US" sz="1000" dirty="0"/>
          </a:p>
        </p:txBody>
      </p:sp>
      <p:sp>
        <p:nvSpPr>
          <p:cNvPr id="19" name="Text 14"/>
          <p:cNvSpPr/>
          <p:nvPr/>
        </p:nvSpPr>
        <p:spPr>
          <a:xfrm>
            <a:off x="786384" y="4828032"/>
            <a:ext cx="4892040" cy="640080"/>
          </a:xfrm>
          <a:prstGeom prst="rect">
            <a:avLst/>
          </a:prstGeom>
          <a:noFill/>
          <a:ln/>
        </p:spPr>
        <p:txBody>
          <a:bodyPr wrap="square" lIns="0" tIns="0" rIns="0" bIns="0" rtlCol="0" anchor="t"/>
          <a:lstStyle/>
          <a:p>
            <a:pPr indent="0" marL="0">
              <a:lnSpc>
                <a:spcPct val="104000"/>
              </a:lnSpc>
              <a:buNone/>
            </a:pPr>
            <a:r>
              <a:rPr lang="en-US" sz="1150" dirty="0">
                <a:solidFill>
                  <a:srgbClr val="1E293B"/>
                </a:solidFill>
                <a:latin typeface="Calibri" pitchFamily="34" charset="0"/>
                <a:ea typeface="Calibri" pitchFamily="34" charset="-122"/>
                <a:cs typeface="Calibri" pitchFamily="34" charset="-120"/>
              </a:rPr>
              <a:t>Brands control precisely which areas each distributor serves — preventing overlap and ensuring every retailer is matched to the right distributor and delivery day automatically.</a:t>
            </a:r>
            <a:endParaRPr lang="en-US" sz="1150" dirty="0"/>
          </a:p>
        </p:txBody>
      </p:sp>
      <p:sp>
        <p:nvSpPr>
          <p:cNvPr id="20" name="Shape 15"/>
          <p:cNvSpPr/>
          <p:nvPr/>
        </p:nvSpPr>
        <p:spPr>
          <a:xfrm>
            <a:off x="6172200" y="1783080"/>
            <a:ext cx="5440680" cy="2057400"/>
          </a:xfrm>
          <a:prstGeom prst="rect">
            <a:avLst/>
          </a:prstGeom>
          <a:solidFill>
            <a:srgbClr val="FFFFFF"/>
          </a:solidFill>
          <a:ln w="12700">
            <a:solidFill>
              <a:srgbClr val="E2E8F0"/>
            </a:solidFill>
            <a:prstDash val="solid"/>
          </a:ln>
          <a:effectLst>
            <a:outerShdw sx="100000" sy="100000" kx="0" ky="0" algn="bl" rotWithShape="0" blurRad="114300" dist="38100" dir="5400000">
              <a:srgbClr val="1E293B">
                <a:alpha val="18000"/>
              </a:srgbClr>
            </a:outerShdw>
          </a:effectLst>
        </p:spPr>
      </p:sp>
      <p:sp>
        <p:nvSpPr>
          <p:cNvPr id="21" name="Shape 16"/>
          <p:cNvSpPr/>
          <p:nvPr/>
        </p:nvSpPr>
        <p:spPr>
          <a:xfrm>
            <a:off x="6172200" y="1783080"/>
            <a:ext cx="5440680" cy="237744"/>
          </a:xfrm>
          <a:prstGeom prst="rect">
            <a:avLst/>
          </a:prstGeom>
          <a:solidFill>
            <a:srgbClr val="F1F5F9"/>
          </a:solidFill>
          <a:ln/>
        </p:spPr>
      </p:sp>
      <p:sp>
        <p:nvSpPr>
          <p:cNvPr id="22" name="Shape 17"/>
          <p:cNvSpPr/>
          <p:nvPr/>
        </p:nvSpPr>
        <p:spPr>
          <a:xfrm>
            <a:off x="6172200" y="2020824"/>
            <a:ext cx="5440680" cy="10973"/>
          </a:xfrm>
          <a:prstGeom prst="rect">
            <a:avLst/>
          </a:prstGeom>
          <a:solidFill>
            <a:srgbClr val="E2E8F0"/>
          </a:solidFill>
          <a:ln/>
        </p:spPr>
      </p:sp>
      <p:sp>
        <p:nvSpPr>
          <p:cNvPr id="23" name="Shape 18"/>
          <p:cNvSpPr/>
          <p:nvPr/>
        </p:nvSpPr>
        <p:spPr>
          <a:xfrm>
            <a:off x="6318504" y="1869948"/>
            <a:ext cx="64008" cy="64008"/>
          </a:xfrm>
          <a:prstGeom prst="ellipse">
            <a:avLst/>
          </a:prstGeom>
          <a:solidFill>
            <a:srgbClr val="F87171"/>
          </a:solidFill>
          <a:ln/>
        </p:spPr>
      </p:sp>
      <p:sp>
        <p:nvSpPr>
          <p:cNvPr id="24" name="Shape 19"/>
          <p:cNvSpPr/>
          <p:nvPr/>
        </p:nvSpPr>
        <p:spPr>
          <a:xfrm>
            <a:off x="6455664" y="1869948"/>
            <a:ext cx="64008" cy="64008"/>
          </a:xfrm>
          <a:prstGeom prst="ellipse">
            <a:avLst/>
          </a:prstGeom>
          <a:solidFill>
            <a:srgbClr val="FBBF24"/>
          </a:solidFill>
          <a:ln/>
        </p:spPr>
      </p:sp>
      <p:sp>
        <p:nvSpPr>
          <p:cNvPr id="25" name="Shape 20"/>
          <p:cNvSpPr/>
          <p:nvPr/>
        </p:nvSpPr>
        <p:spPr>
          <a:xfrm>
            <a:off x="6592824" y="1869948"/>
            <a:ext cx="64008" cy="64008"/>
          </a:xfrm>
          <a:prstGeom prst="ellipse">
            <a:avLst/>
          </a:prstGeom>
          <a:solidFill>
            <a:srgbClr val="34D399"/>
          </a:solidFill>
          <a:ln/>
        </p:spPr>
      </p:sp>
      <p:pic>
        <p:nvPicPr>
          <p:cNvPr id="26" name="Image 3" descr="C:\Users\Lenovo\AppData\Local\Temp\qwipo-deck\assets\serviceability.png">    </p:cNvPr>
          <p:cNvPicPr>
            <a:picLocks noChangeAspect="1"/>
          </p:cNvPicPr>
          <p:nvPr/>
        </p:nvPicPr>
        <p:blipFill>
          <a:blip r:embed="rId4"/>
          <a:stretch>
            <a:fillRect/>
          </a:stretch>
        </p:blipFill>
        <p:spPr>
          <a:xfrm>
            <a:off x="6208776" y="2054701"/>
            <a:ext cx="5367528" cy="1751902"/>
          </a:xfrm>
          <a:prstGeom prst="rect">
            <a:avLst/>
          </a:prstGeom>
        </p:spPr>
      </p:pic>
      <p:sp>
        <p:nvSpPr>
          <p:cNvPr id="27" name="Text 21"/>
          <p:cNvSpPr/>
          <p:nvPr/>
        </p:nvSpPr>
        <p:spPr>
          <a:xfrm>
            <a:off x="6172200" y="3867912"/>
            <a:ext cx="5440680" cy="256032"/>
          </a:xfrm>
          <a:prstGeom prst="rect">
            <a:avLst/>
          </a:prstGeom>
          <a:noFill/>
          <a:ln/>
        </p:spPr>
        <p:txBody>
          <a:bodyPr wrap="square" lIns="0" tIns="0" rIns="0" bIns="0" rtlCol="0" anchor="ctr"/>
          <a:lstStyle/>
          <a:p>
            <a:pPr indent="0" marL="0">
              <a:buNone/>
            </a:pPr>
            <a:r>
              <a:rPr lang="en-US" sz="1050" b="1" spc="150" kern="0" dirty="0">
                <a:solidFill>
                  <a:srgbClr val="7C3AED"/>
                </a:solidFill>
                <a:latin typeface="Trebuchet MS" pitchFamily="34" charset="0"/>
                <a:ea typeface="Trebuchet MS" pitchFamily="34" charset="-122"/>
                <a:cs typeface="Trebuchet MS" pitchFamily="34" charset="-120"/>
              </a:rPr>
              <a:t>BEAT-WISE SERVICEABILITY</a:t>
            </a:r>
            <a:endParaRPr lang="en-US" sz="1050" dirty="0"/>
          </a:p>
        </p:txBody>
      </p:sp>
      <p:sp>
        <p:nvSpPr>
          <p:cNvPr id="28" name="Shape 22"/>
          <p:cNvSpPr/>
          <p:nvPr/>
        </p:nvSpPr>
        <p:spPr>
          <a:xfrm>
            <a:off x="6172200" y="4160520"/>
            <a:ext cx="1691640" cy="457200"/>
          </a:xfrm>
          <a:prstGeom prst="rect">
            <a:avLst/>
          </a:prstGeom>
          <a:solidFill>
            <a:srgbClr val="F1F5F9"/>
          </a:solidFill>
          <a:ln w="9525">
            <a:solidFill>
              <a:srgbClr val="E2E8F0"/>
            </a:solidFill>
            <a:prstDash val="solid"/>
          </a:ln>
        </p:spPr>
      </p:sp>
      <p:sp>
        <p:nvSpPr>
          <p:cNvPr id="29" name="Text 23"/>
          <p:cNvSpPr/>
          <p:nvPr/>
        </p:nvSpPr>
        <p:spPr>
          <a:xfrm>
            <a:off x="6245352" y="4160520"/>
            <a:ext cx="1581912" cy="457200"/>
          </a:xfrm>
          <a:prstGeom prst="rect">
            <a:avLst/>
          </a:prstGeom>
          <a:noFill/>
          <a:ln/>
        </p:spPr>
        <p:txBody>
          <a:bodyPr wrap="square" lIns="0" tIns="0" rIns="0" bIns="0" rtlCol="0" anchor="ctr"/>
          <a:lstStyle/>
          <a:p>
            <a:pPr indent="0" marL="0">
              <a:buNone/>
            </a:pPr>
            <a:r>
              <a:rPr lang="en-US" sz="950" b="1" dirty="0">
                <a:solidFill>
                  <a:srgbClr val="0F172A"/>
                </a:solidFill>
                <a:latin typeface="Trebuchet MS" pitchFamily="34" charset="0"/>
                <a:ea typeface="Trebuchet MS" pitchFamily="34" charset="-122"/>
                <a:cs typeface="Trebuchet MS" pitchFamily="34" charset="-120"/>
              </a:rPr>
              <a:t>Company</a:t>
            </a:r>
            <a:endParaRPr lang="en-US" sz="950" dirty="0"/>
          </a:p>
        </p:txBody>
      </p:sp>
      <p:sp>
        <p:nvSpPr>
          <p:cNvPr id="30" name="Shape 24"/>
          <p:cNvSpPr/>
          <p:nvPr/>
        </p:nvSpPr>
        <p:spPr>
          <a:xfrm>
            <a:off x="7863840" y="4160520"/>
            <a:ext cx="1143000" cy="457200"/>
          </a:xfrm>
          <a:prstGeom prst="rect">
            <a:avLst/>
          </a:prstGeom>
          <a:solidFill>
            <a:srgbClr val="F1F5F9"/>
          </a:solidFill>
          <a:ln w="9525">
            <a:solidFill>
              <a:srgbClr val="E2E8F0"/>
            </a:solidFill>
            <a:prstDash val="solid"/>
          </a:ln>
        </p:spPr>
      </p:sp>
      <p:sp>
        <p:nvSpPr>
          <p:cNvPr id="31" name="Text 25"/>
          <p:cNvSpPr/>
          <p:nvPr/>
        </p:nvSpPr>
        <p:spPr>
          <a:xfrm>
            <a:off x="7936992" y="4160520"/>
            <a:ext cx="1033272" cy="457200"/>
          </a:xfrm>
          <a:prstGeom prst="rect">
            <a:avLst/>
          </a:prstGeom>
          <a:noFill/>
          <a:ln/>
        </p:spPr>
        <p:txBody>
          <a:bodyPr wrap="square" lIns="0" tIns="0" rIns="0" bIns="0" rtlCol="0" anchor="ctr"/>
          <a:lstStyle/>
          <a:p>
            <a:pPr indent="0" marL="0">
              <a:buNone/>
            </a:pPr>
            <a:r>
              <a:rPr lang="en-US" sz="950" b="1" dirty="0">
                <a:solidFill>
                  <a:srgbClr val="0F172A"/>
                </a:solidFill>
                <a:latin typeface="Trebuchet MS" pitchFamily="34" charset="0"/>
                <a:ea typeface="Trebuchet MS" pitchFamily="34" charset="-122"/>
                <a:cs typeface="Trebuchet MS" pitchFamily="34" charset="-120"/>
              </a:rPr>
              <a:t>Beat</a:t>
            </a:r>
            <a:endParaRPr lang="en-US" sz="950" dirty="0"/>
          </a:p>
        </p:txBody>
      </p:sp>
      <p:sp>
        <p:nvSpPr>
          <p:cNvPr id="32" name="Shape 26"/>
          <p:cNvSpPr/>
          <p:nvPr/>
        </p:nvSpPr>
        <p:spPr>
          <a:xfrm>
            <a:off x="9006840" y="4160520"/>
            <a:ext cx="1417320" cy="457200"/>
          </a:xfrm>
          <a:prstGeom prst="rect">
            <a:avLst/>
          </a:prstGeom>
          <a:solidFill>
            <a:srgbClr val="F1F5F9"/>
          </a:solidFill>
          <a:ln w="9525">
            <a:solidFill>
              <a:srgbClr val="E2E8F0"/>
            </a:solidFill>
            <a:prstDash val="solid"/>
          </a:ln>
        </p:spPr>
      </p:sp>
      <p:sp>
        <p:nvSpPr>
          <p:cNvPr id="33" name="Text 27"/>
          <p:cNvSpPr/>
          <p:nvPr/>
        </p:nvSpPr>
        <p:spPr>
          <a:xfrm>
            <a:off x="9079992" y="4160520"/>
            <a:ext cx="1307592" cy="457200"/>
          </a:xfrm>
          <a:prstGeom prst="rect">
            <a:avLst/>
          </a:prstGeom>
          <a:noFill/>
          <a:ln/>
        </p:spPr>
        <p:txBody>
          <a:bodyPr wrap="square" lIns="0" tIns="0" rIns="0" bIns="0" rtlCol="0" anchor="ctr"/>
          <a:lstStyle/>
          <a:p>
            <a:pPr indent="0" marL="0">
              <a:buNone/>
            </a:pPr>
            <a:r>
              <a:rPr lang="en-US" sz="950" b="1" dirty="0">
                <a:solidFill>
                  <a:srgbClr val="0F172A"/>
                </a:solidFill>
                <a:latin typeface="Trebuchet MS" pitchFamily="34" charset="0"/>
                <a:ea typeface="Trebuchet MS" pitchFamily="34" charset="-122"/>
                <a:cs typeface="Trebuchet MS" pitchFamily="34" charset="-120"/>
              </a:rPr>
              <a:t>Delivery Day</a:t>
            </a:r>
            <a:endParaRPr lang="en-US" sz="950" dirty="0"/>
          </a:p>
        </p:txBody>
      </p:sp>
      <p:sp>
        <p:nvSpPr>
          <p:cNvPr id="34" name="Shape 28"/>
          <p:cNvSpPr/>
          <p:nvPr/>
        </p:nvSpPr>
        <p:spPr>
          <a:xfrm>
            <a:off x="10424160" y="4160520"/>
            <a:ext cx="1188720" cy="457200"/>
          </a:xfrm>
          <a:prstGeom prst="rect">
            <a:avLst/>
          </a:prstGeom>
          <a:solidFill>
            <a:srgbClr val="F1F5F9"/>
          </a:solidFill>
          <a:ln w="9525">
            <a:solidFill>
              <a:srgbClr val="E2E8F0"/>
            </a:solidFill>
            <a:prstDash val="solid"/>
          </a:ln>
        </p:spPr>
      </p:sp>
      <p:sp>
        <p:nvSpPr>
          <p:cNvPr id="35" name="Text 29"/>
          <p:cNvSpPr/>
          <p:nvPr/>
        </p:nvSpPr>
        <p:spPr>
          <a:xfrm>
            <a:off x="10497312" y="4160520"/>
            <a:ext cx="1078992" cy="457200"/>
          </a:xfrm>
          <a:prstGeom prst="rect">
            <a:avLst/>
          </a:prstGeom>
          <a:noFill/>
          <a:ln/>
        </p:spPr>
        <p:txBody>
          <a:bodyPr wrap="square" lIns="0" tIns="0" rIns="0" bIns="0" rtlCol="0" anchor="ctr"/>
          <a:lstStyle/>
          <a:p>
            <a:pPr indent="0" marL="0">
              <a:buNone/>
            </a:pPr>
            <a:r>
              <a:rPr lang="en-US" sz="950" b="1" dirty="0">
                <a:solidFill>
                  <a:srgbClr val="0F172A"/>
                </a:solidFill>
                <a:latin typeface="Trebuchet MS" pitchFamily="34" charset="0"/>
                <a:ea typeface="Trebuchet MS" pitchFamily="34" charset="-122"/>
                <a:cs typeface="Trebuchet MS" pitchFamily="34" charset="-120"/>
              </a:rPr>
              <a:t>Polygon</a:t>
            </a:r>
            <a:endParaRPr lang="en-US" sz="950" dirty="0"/>
          </a:p>
        </p:txBody>
      </p:sp>
      <p:sp>
        <p:nvSpPr>
          <p:cNvPr id="36" name="Shape 30"/>
          <p:cNvSpPr/>
          <p:nvPr/>
        </p:nvSpPr>
        <p:spPr>
          <a:xfrm>
            <a:off x="6172200" y="4617720"/>
            <a:ext cx="1691640" cy="457200"/>
          </a:xfrm>
          <a:prstGeom prst="rect">
            <a:avLst/>
          </a:prstGeom>
          <a:solidFill>
            <a:srgbClr val="FFFFFF"/>
          </a:solidFill>
          <a:ln w="9525">
            <a:solidFill>
              <a:srgbClr val="E2E8F0"/>
            </a:solidFill>
            <a:prstDash val="solid"/>
          </a:ln>
        </p:spPr>
      </p:sp>
      <p:sp>
        <p:nvSpPr>
          <p:cNvPr id="37" name="Text 31"/>
          <p:cNvSpPr/>
          <p:nvPr/>
        </p:nvSpPr>
        <p:spPr>
          <a:xfrm>
            <a:off x="6245352" y="4617720"/>
            <a:ext cx="1581912"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ITC Limited</a:t>
            </a:r>
            <a:endParaRPr lang="en-US" sz="1000" dirty="0"/>
          </a:p>
        </p:txBody>
      </p:sp>
      <p:sp>
        <p:nvSpPr>
          <p:cNvPr id="38" name="Shape 32"/>
          <p:cNvSpPr/>
          <p:nvPr/>
        </p:nvSpPr>
        <p:spPr>
          <a:xfrm>
            <a:off x="7863840" y="4617720"/>
            <a:ext cx="1143000" cy="457200"/>
          </a:xfrm>
          <a:prstGeom prst="rect">
            <a:avLst/>
          </a:prstGeom>
          <a:solidFill>
            <a:srgbClr val="FFFFFF"/>
          </a:solidFill>
          <a:ln w="9525">
            <a:solidFill>
              <a:srgbClr val="E2E8F0"/>
            </a:solidFill>
            <a:prstDash val="solid"/>
          </a:ln>
        </p:spPr>
      </p:sp>
      <p:sp>
        <p:nvSpPr>
          <p:cNvPr id="39" name="Text 33"/>
          <p:cNvSpPr/>
          <p:nvPr/>
        </p:nvSpPr>
        <p:spPr>
          <a:xfrm>
            <a:off x="7936992" y="4617720"/>
            <a:ext cx="1033272"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KPHB 4</a:t>
            </a:r>
            <a:endParaRPr lang="en-US" sz="1000" dirty="0"/>
          </a:p>
        </p:txBody>
      </p:sp>
      <p:sp>
        <p:nvSpPr>
          <p:cNvPr id="40" name="Shape 34"/>
          <p:cNvSpPr/>
          <p:nvPr/>
        </p:nvSpPr>
        <p:spPr>
          <a:xfrm>
            <a:off x="9006840" y="4617720"/>
            <a:ext cx="1417320" cy="457200"/>
          </a:xfrm>
          <a:prstGeom prst="rect">
            <a:avLst/>
          </a:prstGeom>
          <a:solidFill>
            <a:srgbClr val="FFFFFF"/>
          </a:solidFill>
          <a:ln w="9525">
            <a:solidFill>
              <a:srgbClr val="E2E8F0"/>
            </a:solidFill>
            <a:prstDash val="solid"/>
          </a:ln>
        </p:spPr>
      </p:sp>
      <p:sp>
        <p:nvSpPr>
          <p:cNvPr id="41" name="Text 35"/>
          <p:cNvSpPr/>
          <p:nvPr/>
        </p:nvSpPr>
        <p:spPr>
          <a:xfrm>
            <a:off x="9079992" y="4617720"/>
            <a:ext cx="1307592"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Monday</a:t>
            </a:r>
            <a:endParaRPr lang="en-US" sz="1000" dirty="0"/>
          </a:p>
        </p:txBody>
      </p:sp>
      <p:sp>
        <p:nvSpPr>
          <p:cNvPr id="42" name="Shape 36"/>
          <p:cNvSpPr/>
          <p:nvPr/>
        </p:nvSpPr>
        <p:spPr>
          <a:xfrm>
            <a:off x="10424160" y="4617720"/>
            <a:ext cx="1188720" cy="457200"/>
          </a:xfrm>
          <a:prstGeom prst="rect">
            <a:avLst/>
          </a:prstGeom>
          <a:solidFill>
            <a:srgbClr val="FFFFFF"/>
          </a:solidFill>
          <a:ln w="9525">
            <a:solidFill>
              <a:srgbClr val="E2E8F0"/>
            </a:solidFill>
            <a:prstDash val="solid"/>
          </a:ln>
        </p:spPr>
      </p:sp>
      <p:sp>
        <p:nvSpPr>
          <p:cNvPr id="43" name="Text 37"/>
          <p:cNvSpPr/>
          <p:nvPr/>
        </p:nvSpPr>
        <p:spPr>
          <a:xfrm>
            <a:off x="10497312" y="4617720"/>
            <a:ext cx="1078992"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GeoJSON</a:t>
            </a:r>
            <a:endParaRPr lang="en-US" sz="1000" dirty="0"/>
          </a:p>
        </p:txBody>
      </p:sp>
      <p:sp>
        <p:nvSpPr>
          <p:cNvPr id="44" name="Shape 38"/>
          <p:cNvSpPr/>
          <p:nvPr/>
        </p:nvSpPr>
        <p:spPr>
          <a:xfrm>
            <a:off x="6172200" y="5074920"/>
            <a:ext cx="1691640" cy="457200"/>
          </a:xfrm>
          <a:prstGeom prst="rect">
            <a:avLst/>
          </a:prstGeom>
          <a:solidFill>
            <a:srgbClr val="FFFFFF"/>
          </a:solidFill>
          <a:ln w="9525">
            <a:solidFill>
              <a:srgbClr val="E2E8F0"/>
            </a:solidFill>
            <a:prstDash val="solid"/>
          </a:ln>
        </p:spPr>
      </p:sp>
      <p:sp>
        <p:nvSpPr>
          <p:cNvPr id="45" name="Text 39"/>
          <p:cNvSpPr/>
          <p:nvPr/>
        </p:nvSpPr>
        <p:spPr>
          <a:xfrm>
            <a:off x="6245352" y="5074920"/>
            <a:ext cx="1581912"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HUL</a:t>
            </a:r>
            <a:endParaRPr lang="en-US" sz="1000" dirty="0"/>
          </a:p>
        </p:txBody>
      </p:sp>
      <p:sp>
        <p:nvSpPr>
          <p:cNvPr id="46" name="Shape 40"/>
          <p:cNvSpPr/>
          <p:nvPr/>
        </p:nvSpPr>
        <p:spPr>
          <a:xfrm>
            <a:off x="7863840" y="5074920"/>
            <a:ext cx="1143000" cy="457200"/>
          </a:xfrm>
          <a:prstGeom prst="rect">
            <a:avLst/>
          </a:prstGeom>
          <a:solidFill>
            <a:srgbClr val="FFFFFF"/>
          </a:solidFill>
          <a:ln w="9525">
            <a:solidFill>
              <a:srgbClr val="E2E8F0"/>
            </a:solidFill>
            <a:prstDash val="solid"/>
          </a:ln>
        </p:spPr>
      </p:sp>
      <p:sp>
        <p:nvSpPr>
          <p:cNvPr id="47" name="Text 41"/>
          <p:cNvSpPr/>
          <p:nvPr/>
        </p:nvSpPr>
        <p:spPr>
          <a:xfrm>
            <a:off x="7936992" y="5074920"/>
            <a:ext cx="1033272"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Madhapur</a:t>
            </a:r>
            <a:endParaRPr lang="en-US" sz="1000" dirty="0"/>
          </a:p>
        </p:txBody>
      </p:sp>
      <p:sp>
        <p:nvSpPr>
          <p:cNvPr id="48" name="Shape 42"/>
          <p:cNvSpPr/>
          <p:nvPr/>
        </p:nvSpPr>
        <p:spPr>
          <a:xfrm>
            <a:off x="9006840" y="5074920"/>
            <a:ext cx="1417320" cy="457200"/>
          </a:xfrm>
          <a:prstGeom prst="rect">
            <a:avLst/>
          </a:prstGeom>
          <a:solidFill>
            <a:srgbClr val="FFFFFF"/>
          </a:solidFill>
          <a:ln w="9525">
            <a:solidFill>
              <a:srgbClr val="E2E8F0"/>
            </a:solidFill>
            <a:prstDash val="solid"/>
          </a:ln>
        </p:spPr>
      </p:sp>
      <p:sp>
        <p:nvSpPr>
          <p:cNvPr id="49" name="Text 43"/>
          <p:cNvSpPr/>
          <p:nvPr/>
        </p:nvSpPr>
        <p:spPr>
          <a:xfrm>
            <a:off x="9079992" y="5074920"/>
            <a:ext cx="1307592"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Wednesday</a:t>
            </a:r>
            <a:endParaRPr lang="en-US" sz="1000" dirty="0"/>
          </a:p>
        </p:txBody>
      </p:sp>
      <p:sp>
        <p:nvSpPr>
          <p:cNvPr id="50" name="Shape 44"/>
          <p:cNvSpPr/>
          <p:nvPr/>
        </p:nvSpPr>
        <p:spPr>
          <a:xfrm>
            <a:off x="10424160" y="5074920"/>
            <a:ext cx="1188720" cy="457200"/>
          </a:xfrm>
          <a:prstGeom prst="rect">
            <a:avLst/>
          </a:prstGeom>
          <a:solidFill>
            <a:srgbClr val="FFFFFF"/>
          </a:solidFill>
          <a:ln w="9525">
            <a:solidFill>
              <a:srgbClr val="E2E8F0"/>
            </a:solidFill>
            <a:prstDash val="solid"/>
          </a:ln>
        </p:spPr>
      </p:sp>
      <p:sp>
        <p:nvSpPr>
          <p:cNvPr id="51" name="Text 45"/>
          <p:cNvSpPr/>
          <p:nvPr/>
        </p:nvSpPr>
        <p:spPr>
          <a:xfrm>
            <a:off x="10497312" y="5074920"/>
            <a:ext cx="1078992"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GeoJSON</a:t>
            </a:r>
            <a:endParaRPr lang="en-US" sz="1000" dirty="0"/>
          </a:p>
        </p:txBody>
      </p:sp>
      <p:sp>
        <p:nvSpPr>
          <p:cNvPr id="52" name="Shape 46"/>
          <p:cNvSpPr/>
          <p:nvPr/>
        </p:nvSpPr>
        <p:spPr>
          <a:xfrm>
            <a:off x="6172200" y="5532120"/>
            <a:ext cx="1691640" cy="457200"/>
          </a:xfrm>
          <a:prstGeom prst="rect">
            <a:avLst/>
          </a:prstGeom>
          <a:solidFill>
            <a:srgbClr val="FFFFFF"/>
          </a:solidFill>
          <a:ln w="9525">
            <a:solidFill>
              <a:srgbClr val="E2E8F0"/>
            </a:solidFill>
            <a:prstDash val="solid"/>
          </a:ln>
        </p:spPr>
      </p:sp>
      <p:sp>
        <p:nvSpPr>
          <p:cNvPr id="53" name="Text 47"/>
          <p:cNvSpPr/>
          <p:nvPr/>
        </p:nvSpPr>
        <p:spPr>
          <a:xfrm>
            <a:off x="6245352" y="5532120"/>
            <a:ext cx="1581912"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Gemini Edibles</a:t>
            </a:r>
            <a:endParaRPr lang="en-US" sz="1000" dirty="0"/>
          </a:p>
        </p:txBody>
      </p:sp>
      <p:sp>
        <p:nvSpPr>
          <p:cNvPr id="54" name="Shape 48"/>
          <p:cNvSpPr/>
          <p:nvPr/>
        </p:nvSpPr>
        <p:spPr>
          <a:xfrm>
            <a:off x="7863840" y="5532120"/>
            <a:ext cx="1143000" cy="457200"/>
          </a:xfrm>
          <a:prstGeom prst="rect">
            <a:avLst/>
          </a:prstGeom>
          <a:solidFill>
            <a:srgbClr val="FFFFFF"/>
          </a:solidFill>
          <a:ln w="9525">
            <a:solidFill>
              <a:srgbClr val="E2E8F0"/>
            </a:solidFill>
            <a:prstDash val="solid"/>
          </a:ln>
        </p:spPr>
      </p:sp>
      <p:sp>
        <p:nvSpPr>
          <p:cNvPr id="55" name="Text 49"/>
          <p:cNvSpPr/>
          <p:nvPr/>
        </p:nvSpPr>
        <p:spPr>
          <a:xfrm>
            <a:off x="7936992" y="5532120"/>
            <a:ext cx="1033272"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Kondapur</a:t>
            </a:r>
            <a:endParaRPr lang="en-US" sz="1000" dirty="0"/>
          </a:p>
        </p:txBody>
      </p:sp>
      <p:sp>
        <p:nvSpPr>
          <p:cNvPr id="56" name="Shape 50"/>
          <p:cNvSpPr/>
          <p:nvPr/>
        </p:nvSpPr>
        <p:spPr>
          <a:xfrm>
            <a:off x="9006840" y="5532120"/>
            <a:ext cx="1417320" cy="457200"/>
          </a:xfrm>
          <a:prstGeom prst="rect">
            <a:avLst/>
          </a:prstGeom>
          <a:solidFill>
            <a:srgbClr val="FFFFFF"/>
          </a:solidFill>
          <a:ln w="9525">
            <a:solidFill>
              <a:srgbClr val="E2E8F0"/>
            </a:solidFill>
            <a:prstDash val="solid"/>
          </a:ln>
        </p:spPr>
      </p:sp>
      <p:sp>
        <p:nvSpPr>
          <p:cNvPr id="57" name="Text 51"/>
          <p:cNvSpPr/>
          <p:nvPr/>
        </p:nvSpPr>
        <p:spPr>
          <a:xfrm>
            <a:off x="9079992" y="5532120"/>
            <a:ext cx="1307592"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Next Day</a:t>
            </a:r>
            <a:endParaRPr lang="en-US" sz="1000" dirty="0"/>
          </a:p>
        </p:txBody>
      </p:sp>
      <p:sp>
        <p:nvSpPr>
          <p:cNvPr id="58" name="Shape 52"/>
          <p:cNvSpPr/>
          <p:nvPr/>
        </p:nvSpPr>
        <p:spPr>
          <a:xfrm>
            <a:off x="10424160" y="5532120"/>
            <a:ext cx="1188720" cy="457200"/>
          </a:xfrm>
          <a:prstGeom prst="rect">
            <a:avLst/>
          </a:prstGeom>
          <a:solidFill>
            <a:srgbClr val="FFFFFF"/>
          </a:solidFill>
          <a:ln w="9525">
            <a:solidFill>
              <a:srgbClr val="E2E8F0"/>
            </a:solidFill>
            <a:prstDash val="solid"/>
          </a:ln>
        </p:spPr>
      </p:sp>
      <p:sp>
        <p:nvSpPr>
          <p:cNvPr id="59" name="Text 53"/>
          <p:cNvSpPr/>
          <p:nvPr/>
        </p:nvSpPr>
        <p:spPr>
          <a:xfrm>
            <a:off x="10497312" y="5532120"/>
            <a:ext cx="1078992"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GeoJSON</a:t>
            </a:r>
            <a:endParaRPr lang="en-US" sz="1000" dirty="0"/>
          </a:p>
        </p:txBody>
      </p:sp>
      <p:sp>
        <p:nvSpPr>
          <p:cNvPr id="60" name="Text 54"/>
          <p:cNvSpPr/>
          <p:nvPr/>
        </p:nvSpPr>
        <p:spPr>
          <a:xfrm>
            <a:off x="548640" y="6437376"/>
            <a:ext cx="5486400" cy="274320"/>
          </a:xfrm>
          <a:prstGeom prst="rect">
            <a:avLst/>
          </a:prstGeom>
          <a:noFill/>
          <a:ln/>
        </p:spPr>
        <p:txBody>
          <a:bodyPr wrap="square" lIns="0" tIns="0" rIns="0" bIns="0" rtlCol="0" anchor="ctr"/>
          <a:lstStyle/>
          <a:p>
            <a:pPr indent="0" marL="0">
              <a:buNone/>
            </a:pPr>
            <a:r>
              <a:rPr lang="en-US" sz="900" b="1" dirty="0">
                <a:solidFill>
                  <a:srgbClr val="7C3AED"/>
                </a:solidFill>
                <a:latin typeface="Calibri" pitchFamily="34" charset="0"/>
                <a:ea typeface="Calibri" pitchFamily="34" charset="-122"/>
                <a:cs typeface="Calibri" pitchFamily="34" charset="-120"/>
              </a:rPr>
              <a:t>Qwipo</a:t>
            </a:r>
            <a:pPr indent="0" marL="0">
              <a:buNone/>
            </a:pPr>
            <a:r>
              <a:rPr lang="en-US" sz="900" dirty="0">
                <a:solidFill>
                  <a:srgbClr val="94A3B8"/>
                </a:solidFill>
                <a:latin typeface="Calibri" pitchFamily="34" charset="0"/>
                <a:ea typeface="Calibri" pitchFamily="34" charset="-122"/>
                <a:cs typeface="Calibri" pitchFamily="34" charset="-120"/>
              </a:rPr>
              <a:t>   Seller Store Platform</a:t>
            </a:r>
            <a:endParaRPr lang="en-US" sz="900" dirty="0"/>
          </a:p>
        </p:txBody>
      </p:sp>
      <p:sp>
        <p:nvSpPr>
          <p:cNvPr id="61" name="Text 55"/>
          <p:cNvSpPr/>
          <p:nvPr/>
        </p:nvSpPr>
        <p:spPr>
          <a:xfrm>
            <a:off x="9966960" y="6437376"/>
            <a:ext cx="1673352"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05 / 20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Trebuchet MS" pitchFamily="34" charset="0"/>
                <a:ea typeface="Trebuchet MS" pitchFamily="34" charset="-122"/>
                <a:cs typeface="Trebuchet MS" pitchFamily="34" charset="-120"/>
              </a:rPr>
              <a:t>FEATURE · ONDC</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Trebuchet MS" pitchFamily="34" charset="0"/>
                <a:ea typeface="Trebuchet MS" pitchFamily="34" charset="-122"/>
                <a:cs typeface="Trebuchet MS" pitchFamily="34" charset="-120"/>
              </a:rPr>
              <a:t>Plug distributors into the open network — instantly</a:t>
            </a:r>
            <a:endParaRPr lang="en-US" sz="2900" dirty="0"/>
          </a:p>
        </p:txBody>
      </p:sp>
      <p:sp>
        <p:nvSpPr>
          <p:cNvPr id="4" name="Text 2"/>
          <p:cNvSpPr/>
          <p:nvPr/>
        </p:nvSpPr>
        <p:spPr>
          <a:xfrm>
            <a:off x="566928" y="1627632"/>
            <a:ext cx="5440680" cy="2011680"/>
          </a:xfrm>
          <a:prstGeom prst="rect">
            <a:avLst/>
          </a:prstGeom>
          <a:noFill/>
          <a:ln/>
        </p:spPr>
        <p:txBody>
          <a:bodyPr wrap="square" lIns="0" tIns="0" rIns="0" bIns="0" rtlCol="0" anchor="t"/>
          <a:lstStyle/>
          <a:p>
            <a:pPr marL="177800" indent="-177800">
              <a:lnSpc>
                <a:spcPct val="102000"/>
              </a:lnSpc>
              <a:spcAft>
                <a:spcPts val="700"/>
              </a:spcAft>
              <a:buSzPct val="100000"/>
              <a:buChar char="•"/>
            </a:pPr>
            <a:r>
              <a:rPr lang="en-US" sz="1200" dirty="0">
                <a:solidFill>
                  <a:srgbClr val="334155"/>
                </a:solidFill>
                <a:latin typeface="Calibri" pitchFamily="34" charset="0"/>
                <a:ea typeface="Calibri" pitchFamily="34" charset="-122"/>
                <a:cs typeface="Calibri" pitchFamily="34" charset="-120"/>
              </a:rPr>
              <a:t>ONDC Connector setup with a single, managed configuration</a:t>
            </a:r>
            <a:endParaRPr lang="en-US" sz="1200" dirty="0"/>
          </a:p>
          <a:p>
            <a:pPr marL="177800" indent="-177800">
              <a:lnSpc>
                <a:spcPct val="102000"/>
              </a:lnSpc>
              <a:spcAft>
                <a:spcPts val="700"/>
              </a:spcAft>
              <a:buSzPct val="100000"/>
              <a:buChar char="•"/>
            </a:pPr>
            <a:r>
              <a:rPr lang="en-US" sz="1200" dirty="0">
                <a:solidFill>
                  <a:srgbClr val="334155"/>
                </a:solidFill>
                <a:latin typeface="Calibri" pitchFamily="34" charset="0"/>
                <a:ea typeface="Calibri" pitchFamily="34" charset="-122"/>
                <a:cs typeface="Calibri" pitchFamily="34" charset="-120"/>
              </a:rPr>
              <a:t>Onboard any seller to ONDC without custom integration work</a:t>
            </a:r>
            <a:endParaRPr lang="en-US" sz="1200" dirty="0"/>
          </a:p>
          <a:p>
            <a:pPr marL="177800" indent="-177800">
              <a:lnSpc>
                <a:spcPct val="102000"/>
              </a:lnSpc>
              <a:spcAft>
                <a:spcPts val="700"/>
              </a:spcAft>
              <a:buSzPct val="100000"/>
              <a:buChar char="•"/>
            </a:pPr>
            <a:r>
              <a:rPr lang="en-US" sz="1200" dirty="0">
                <a:solidFill>
                  <a:srgbClr val="334155"/>
                </a:solidFill>
                <a:latin typeface="Calibri" pitchFamily="34" charset="0"/>
                <a:ea typeface="Calibri" pitchFamily="34" charset="-122"/>
                <a:cs typeface="Calibri" pitchFamily="34" charset="-120"/>
              </a:rPr>
              <a:t>Publish the seller's catalog to the network, pre-validated for ONDC rules</a:t>
            </a:r>
            <a:endParaRPr lang="en-US" sz="1200" dirty="0"/>
          </a:p>
          <a:p>
            <a:pPr marL="177800" indent="-177800">
              <a:lnSpc>
                <a:spcPct val="102000"/>
              </a:lnSpc>
              <a:spcAft>
                <a:spcPts val="700"/>
              </a:spcAft>
              <a:buSzPct val="100000"/>
              <a:buChar char="•"/>
            </a:pPr>
            <a:r>
              <a:rPr lang="en-US" sz="1200" dirty="0">
                <a:solidFill>
                  <a:srgbClr val="334155"/>
                </a:solidFill>
                <a:latin typeface="Calibri" pitchFamily="34" charset="0"/>
                <a:ea typeface="Calibri" pitchFamily="34" charset="-122"/>
                <a:cs typeface="Calibri" pitchFamily="34" charset="-120"/>
              </a:rPr>
              <a:t>Real-time order synchronisation — buyer-side orders route straight into Orders</a:t>
            </a:r>
            <a:endParaRPr lang="en-US" sz="1200" dirty="0"/>
          </a:p>
          <a:p>
            <a:pPr marL="177800" indent="-177800">
              <a:lnSpc>
                <a:spcPct val="102000"/>
              </a:lnSpc>
              <a:spcAft>
                <a:spcPts val="700"/>
              </a:spcAft>
              <a:buSzPct val="100000"/>
              <a:buChar char="•"/>
            </a:pPr>
            <a:r>
              <a:rPr lang="en-US" sz="1200" dirty="0">
                <a:solidFill>
                  <a:srgbClr val="334155"/>
                </a:solidFill>
                <a:latin typeface="Calibri" pitchFamily="34" charset="0"/>
                <a:ea typeface="Calibri" pitchFamily="34" charset="-122"/>
                <a:cs typeface="Calibri" pitchFamily="34" charset="-120"/>
              </a:rPr>
              <a:t>Fulfilment and status updates flow back to the network automatically</a:t>
            </a:r>
            <a:endParaRPr lang="en-US" sz="1200" dirty="0"/>
          </a:p>
        </p:txBody>
      </p:sp>
      <p:sp>
        <p:nvSpPr>
          <p:cNvPr id="5" name="Shape 3"/>
          <p:cNvSpPr/>
          <p:nvPr/>
        </p:nvSpPr>
        <p:spPr>
          <a:xfrm>
            <a:off x="548640" y="3703320"/>
            <a:ext cx="5440680" cy="1097280"/>
          </a:xfrm>
          <a:prstGeom prst="roundRect">
            <a:avLst>
              <a:gd name="adj" fmla="val 6667"/>
            </a:avLst>
          </a:prstGeom>
          <a:solidFill>
            <a:srgbClr val="F3EEFE"/>
          </a:solidFill>
          <a:ln w="12700">
            <a:solidFill>
              <a:srgbClr val="DDD0FB"/>
            </a:solidFill>
            <a:prstDash val="solid"/>
          </a:ln>
        </p:spPr>
      </p:sp>
      <p:sp>
        <p:nvSpPr>
          <p:cNvPr id="6" name="Shape 4"/>
          <p:cNvSpPr/>
          <p:nvPr/>
        </p:nvSpPr>
        <p:spPr>
          <a:xfrm>
            <a:off x="548640" y="3813048"/>
            <a:ext cx="64008" cy="877824"/>
          </a:xfrm>
          <a:prstGeom prst="rect">
            <a:avLst/>
          </a:prstGeom>
          <a:solidFill>
            <a:srgbClr val="7C3AED"/>
          </a:solidFill>
          <a:ln/>
        </p:spPr>
      </p:sp>
      <p:sp>
        <p:nvSpPr>
          <p:cNvPr id="7" name="Text 5"/>
          <p:cNvSpPr/>
          <p:nvPr/>
        </p:nvSpPr>
        <p:spPr>
          <a:xfrm>
            <a:off x="786384" y="3840480"/>
            <a:ext cx="4983480" cy="219456"/>
          </a:xfrm>
          <a:prstGeom prst="rect">
            <a:avLst/>
          </a:prstGeom>
          <a:noFill/>
          <a:ln/>
        </p:spPr>
        <p:txBody>
          <a:bodyPr wrap="square" lIns="0" tIns="0" rIns="0" bIns="0" rtlCol="0" anchor="ctr"/>
          <a:lstStyle/>
          <a:p>
            <a:pPr indent="0" marL="0">
              <a:buNone/>
            </a:pPr>
            <a:r>
              <a:rPr lang="en-US" sz="1000" b="1" spc="200" kern="0" dirty="0">
                <a:solidFill>
                  <a:srgbClr val="7C3AED"/>
                </a:solidFill>
                <a:latin typeface="Trebuchet MS" pitchFamily="34" charset="0"/>
                <a:ea typeface="Trebuchet MS" pitchFamily="34" charset="-122"/>
                <a:cs typeface="Trebuchet MS" pitchFamily="34" charset="-120"/>
              </a:rPr>
              <a:t>BUSINESS BENEFIT</a:t>
            </a:r>
            <a:endParaRPr lang="en-US" sz="1000" dirty="0"/>
          </a:p>
        </p:txBody>
      </p:sp>
      <p:sp>
        <p:nvSpPr>
          <p:cNvPr id="8" name="Text 6"/>
          <p:cNvSpPr/>
          <p:nvPr/>
        </p:nvSpPr>
        <p:spPr>
          <a:xfrm>
            <a:off x="786384" y="4087368"/>
            <a:ext cx="4983480" cy="594360"/>
          </a:xfrm>
          <a:prstGeom prst="rect">
            <a:avLst/>
          </a:prstGeom>
          <a:noFill/>
          <a:ln/>
        </p:spPr>
        <p:txBody>
          <a:bodyPr wrap="square" lIns="0" tIns="0" rIns="0" bIns="0" rtlCol="0" anchor="t"/>
          <a:lstStyle/>
          <a:p>
            <a:pPr indent="0" marL="0">
              <a:lnSpc>
                <a:spcPct val="104000"/>
              </a:lnSpc>
              <a:buNone/>
            </a:pPr>
            <a:r>
              <a:rPr lang="en-US" sz="1150" dirty="0">
                <a:solidFill>
                  <a:srgbClr val="1E293B"/>
                </a:solidFill>
                <a:latin typeface="Calibri" pitchFamily="34" charset="0"/>
                <a:ea typeface="Calibri" pitchFamily="34" charset="-122"/>
                <a:cs typeface="Calibri" pitchFamily="34" charset="-120"/>
              </a:rPr>
              <a:t>Distributors reach millions of ONDC buyers without building anything. Qwipo handles catalog publishing, order routing and fulfilment updates — turning every distributor into a digital seller out of the box.</a:t>
            </a:r>
            <a:endParaRPr lang="en-US" sz="1150" dirty="0"/>
          </a:p>
        </p:txBody>
      </p:sp>
      <p:sp>
        <p:nvSpPr>
          <p:cNvPr id="9" name="Shape 7"/>
          <p:cNvSpPr/>
          <p:nvPr/>
        </p:nvSpPr>
        <p:spPr>
          <a:xfrm>
            <a:off x="6126480" y="1627632"/>
            <a:ext cx="5532120" cy="2286000"/>
          </a:xfrm>
          <a:prstGeom prst="rect">
            <a:avLst/>
          </a:prstGeom>
          <a:solidFill>
            <a:srgbClr val="FFFFFF"/>
          </a:solidFill>
          <a:ln w="12700">
            <a:solidFill>
              <a:srgbClr val="E2E8F0"/>
            </a:solidFill>
            <a:prstDash val="solid"/>
          </a:ln>
          <a:effectLst>
            <a:outerShdw sx="100000" sy="100000" kx="0" ky="0" algn="bl" rotWithShape="0" blurRad="114300" dist="38100" dir="5400000">
              <a:srgbClr val="1E293B">
                <a:alpha val="18000"/>
              </a:srgbClr>
            </a:outerShdw>
          </a:effectLst>
        </p:spPr>
      </p:sp>
      <p:sp>
        <p:nvSpPr>
          <p:cNvPr id="10" name="Shape 8"/>
          <p:cNvSpPr/>
          <p:nvPr/>
        </p:nvSpPr>
        <p:spPr>
          <a:xfrm>
            <a:off x="6126480" y="1627632"/>
            <a:ext cx="5532120" cy="237744"/>
          </a:xfrm>
          <a:prstGeom prst="rect">
            <a:avLst/>
          </a:prstGeom>
          <a:solidFill>
            <a:srgbClr val="F1F5F9"/>
          </a:solidFill>
          <a:ln/>
        </p:spPr>
      </p:sp>
      <p:sp>
        <p:nvSpPr>
          <p:cNvPr id="11" name="Shape 9"/>
          <p:cNvSpPr/>
          <p:nvPr/>
        </p:nvSpPr>
        <p:spPr>
          <a:xfrm>
            <a:off x="6126480" y="1865376"/>
            <a:ext cx="5532120" cy="10973"/>
          </a:xfrm>
          <a:prstGeom prst="rect">
            <a:avLst/>
          </a:prstGeom>
          <a:solidFill>
            <a:srgbClr val="E2E8F0"/>
          </a:solidFill>
          <a:ln/>
        </p:spPr>
      </p:sp>
      <p:sp>
        <p:nvSpPr>
          <p:cNvPr id="12" name="Shape 10"/>
          <p:cNvSpPr/>
          <p:nvPr/>
        </p:nvSpPr>
        <p:spPr>
          <a:xfrm>
            <a:off x="6272784" y="1714500"/>
            <a:ext cx="64008" cy="64008"/>
          </a:xfrm>
          <a:prstGeom prst="ellipse">
            <a:avLst/>
          </a:prstGeom>
          <a:solidFill>
            <a:srgbClr val="F87171"/>
          </a:solidFill>
          <a:ln/>
        </p:spPr>
      </p:sp>
      <p:sp>
        <p:nvSpPr>
          <p:cNvPr id="13" name="Shape 11"/>
          <p:cNvSpPr/>
          <p:nvPr/>
        </p:nvSpPr>
        <p:spPr>
          <a:xfrm>
            <a:off x="6409944" y="1714500"/>
            <a:ext cx="64008" cy="64008"/>
          </a:xfrm>
          <a:prstGeom prst="ellipse">
            <a:avLst/>
          </a:prstGeom>
          <a:solidFill>
            <a:srgbClr val="FBBF24"/>
          </a:solidFill>
          <a:ln/>
        </p:spPr>
      </p:sp>
      <p:sp>
        <p:nvSpPr>
          <p:cNvPr id="14" name="Shape 12"/>
          <p:cNvSpPr/>
          <p:nvPr/>
        </p:nvSpPr>
        <p:spPr>
          <a:xfrm>
            <a:off x="6547104" y="1714500"/>
            <a:ext cx="64008" cy="64008"/>
          </a:xfrm>
          <a:prstGeom prst="ellipse">
            <a:avLst/>
          </a:prstGeom>
          <a:solidFill>
            <a:srgbClr val="34D399"/>
          </a:solidFill>
          <a:ln/>
        </p:spPr>
      </p:sp>
      <p:pic>
        <p:nvPicPr>
          <p:cNvPr id="15" name="Image 0" descr="C:\Users\Lenovo\AppData\Local\Temp\qwipo-deck\assets\connectors.png">    </p:cNvPr>
          <p:cNvPicPr>
            <a:picLocks noChangeAspect="1"/>
          </p:cNvPicPr>
          <p:nvPr/>
        </p:nvPicPr>
        <p:blipFill>
          <a:blip r:embed="rId1"/>
          <a:stretch>
            <a:fillRect/>
          </a:stretch>
        </p:blipFill>
        <p:spPr>
          <a:xfrm>
            <a:off x="6163056" y="1998631"/>
            <a:ext cx="5458968" cy="1781747"/>
          </a:xfrm>
          <a:prstGeom prst="rect">
            <a:avLst/>
          </a:prstGeom>
        </p:spPr>
      </p:pic>
      <p:sp>
        <p:nvSpPr>
          <p:cNvPr id="16" name="Shape 13"/>
          <p:cNvSpPr/>
          <p:nvPr/>
        </p:nvSpPr>
        <p:spPr>
          <a:xfrm>
            <a:off x="548640" y="5074920"/>
            <a:ext cx="2542032" cy="1005840"/>
          </a:xfrm>
          <a:prstGeom prst="roundRect">
            <a:avLst>
              <a:gd name="adj" fmla="val 8182"/>
            </a:avLst>
          </a:prstGeom>
          <a:solidFill>
            <a:srgbClr val="F8FAFC"/>
          </a:solidFill>
          <a:ln w="12700">
            <a:solidFill>
              <a:srgbClr val="E2E8F0"/>
            </a:solidFill>
            <a:prstDash val="solid"/>
          </a:ln>
        </p:spPr>
      </p:sp>
      <p:sp>
        <p:nvSpPr>
          <p:cNvPr id="17" name="Shape 14"/>
          <p:cNvSpPr/>
          <p:nvPr/>
        </p:nvSpPr>
        <p:spPr>
          <a:xfrm>
            <a:off x="749808" y="5349240"/>
            <a:ext cx="457200" cy="457200"/>
          </a:xfrm>
          <a:prstGeom prst="roundRect">
            <a:avLst>
              <a:gd name="adj" fmla="val 26000"/>
            </a:avLst>
          </a:prstGeom>
          <a:solidFill>
            <a:srgbClr val="2563EB"/>
          </a:solidFill>
          <a:ln/>
        </p:spPr>
      </p:sp>
      <p:pic>
        <p:nvPicPr>
          <p:cNvPr id="18" name="Image 1" descr="C:\Users\Lenovo\AppData\Local\Temp\qwipo-deck\assets\ic_FaPlug_w.png">    </p:cNvPr>
          <p:cNvPicPr>
            <a:picLocks noChangeAspect="1"/>
          </p:cNvPicPr>
          <p:nvPr/>
        </p:nvPicPr>
        <p:blipFill>
          <a:blip r:embed="rId2"/>
          <a:stretch>
            <a:fillRect/>
          </a:stretch>
        </p:blipFill>
        <p:spPr>
          <a:xfrm>
            <a:off x="854964" y="5454396"/>
            <a:ext cx="246888" cy="246888"/>
          </a:xfrm>
          <a:prstGeom prst="rect">
            <a:avLst/>
          </a:prstGeom>
        </p:spPr>
      </p:pic>
      <p:sp>
        <p:nvSpPr>
          <p:cNvPr id="19" name="Text 15"/>
          <p:cNvSpPr/>
          <p:nvPr/>
        </p:nvSpPr>
        <p:spPr>
          <a:xfrm>
            <a:off x="1316736" y="5294376"/>
            <a:ext cx="1627632" cy="292608"/>
          </a:xfrm>
          <a:prstGeom prst="rect">
            <a:avLst/>
          </a:prstGeom>
          <a:noFill/>
          <a:ln/>
        </p:spPr>
        <p:txBody>
          <a:bodyPr wrap="square" lIns="0" tIns="0" rIns="0" bIns="0" rtlCol="0" anchor="ctr"/>
          <a:lstStyle/>
          <a:p>
            <a:pPr indent="0" marL="0">
              <a:buNone/>
            </a:pPr>
            <a:r>
              <a:rPr lang="en-US" sz="1200" b="1" dirty="0">
                <a:solidFill>
                  <a:srgbClr val="0F172A"/>
                </a:solidFill>
                <a:latin typeface="Trebuchet MS" pitchFamily="34" charset="0"/>
                <a:ea typeface="Trebuchet MS" pitchFamily="34" charset="-122"/>
                <a:cs typeface="Trebuchet MS" pitchFamily="34" charset="-120"/>
              </a:rPr>
              <a:t>Configure</a:t>
            </a:r>
            <a:endParaRPr lang="en-US" sz="1200" dirty="0"/>
          </a:p>
        </p:txBody>
      </p:sp>
      <p:sp>
        <p:nvSpPr>
          <p:cNvPr id="20" name="Text 16"/>
          <p:cNvSpPr/>
          <p:nvPr/>
        </p:nvSpPr>
        <p:spPr>
          <a:xfrm>
            <a:off x="1316736" y="5586984"/>
            <a:ext cx="1627632" cy="3657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ONDC connector</a:t>
            </a:r>
            <a:endParaRPr lang="en-US" sz="1000" dirty="0"/>
          </a:p>
        </p:txBody>
      </p:sp>
      <p:pic>
        <p:nvPicPr>
          <p:cNvPr id="21" name="Image 2" descr="C:\Users\Lenovo\AppData\Local\Temp\qwipo-deck\assets\ic_FaArrowRight_c.png">    </p:cNvPr>
          <p:cNvPicPr>
            <a:picLocks noChangeAspect="1"/>
          </p:cNvPicPr>
          <p:nvPr/>
        </p:nvPicPr>
        <p:blipFill>
          <a:blip r:embed="rId3"/>
          <a:stretch>
            <a:fillRect/>
          </a:stretch>
        </p:blipFill>
        <p:spPr>
          <a:xfrm>
            <a:off x="3182112" y="5440680"/>
            <a:ext cx="274320" cy="274320"/>
          </a:xfrm>
          <a:prstGeom prst="rect">
            <a:avLst/>
          </a:prstGeom>
        </p:spPr>
      </p:pic>
      <p:sp>
        <p:nvSpPr>
          <p:cNvPr id="22" name="Shape 17"/>
          <p:cNvSpPr/>
          <p:nvPr/>
        </p:nvSpPr>
        <p:spPr>
          <a:xfrm>
            <a:off x="3547872" y="5074920"/>
            <a:ext cx="2542032" cy="1005840"/>
          </a:xfrm>
          <a:prstGeom prst="roundRect">
            <a:avLst>
              <a:gd name="adj" fmla="val 8182"/>
            </a:avLst>
          </a:prstGeom>
          <a:solidFill>
            <a:srgbClr val="F8FAFC"/>
          </a:solidFill>
          <a:ln w="12700">
            <a:solidFill>
              <a:srgbClr val="E2E8F0"/>
            </a:solidFill>
            <a:prstDash val="solid"/>
          </a:ln>
        </p:spPr>
      </p:sp>
      <p:sp>
        <p:nvSpPr>
          <p:cNvPr id="23" name="Shape 18"/>
          <p:cNvSpPr/>
          <p:nvPr/>
        </p:nvSpPr>
        <p:spPr>
          <a:xfrm>
            <a:off x="3749040" y="5349240"/>
            <a:ext cx="457200" cy="457200"/>
          </a:xfrm>
          <a:prstGeom prst="roundRect">
            <a:avLst>
              <a:gd name="adj" fmla="val 26000"/>
            </a:avLst>
          </a:prstGeom>
          <a:solidFill>
            <a:srgbClr val="2563EB"/>
          </a:solidFill>
          <a:ln/>
        </p:spPr>
      </p:sp>
      <p:pic>
        <p:nvPicPr>
          <p:cNvPr id="24" name="Image 3" descr="C:\Users\Lenovo\AppData\Local\Temp\qwipo-deck\assets\ic_FaUserPlus_w.png">    </p:cNvPr>
          <p:cNvPicPr>
            <a:picLocks noChangeAspect="1"/>
          </p:cNvPicPr>
          <p:nvPr/>
        </p:nvPicPr>
        <p:blipFill>
          <a:blip r:embed="rId4"/>
          <a:stretch>
            <a:fillRect/>
          </a:stretch>
        </p:blipFill>
        <p:spPr>
          <a:xfrm>
            <a:off x="3854196" y="5454396"/>
            <a:ext cx="246888" cy="246888"/>
          </a:xfrm>
          <a:prstGeom prst="rect">
            <a:avLst/>
          </a:prstGeom>
        </p:spPr>
      </p:pic>
      <p:sp>
        <p:nvSpPr>
          <p:cNvPr id="25" name="Text 19"/>
          <p:cNvSpPr/>
          <p:nvPr/>
        </p:nvSpPr>
        <p:spPr>
          <a:xfrm>
            <a:off x="4315968" y="5294376"/>
            <a:ext cx="1627632" cy="292608"/>
          </a:xfrm>
          <a:prstGeom prst="rect">
            <a:avLst/>
          </a:prstGeom>
          <a:noFill/>
          <a:ln/>
        </p:spPr>
        <p:txBody>
          <a:bodyPr wrap="square" lIns="0" tIns="0" rIns="0" bIns="0" rtlCol="0" anchor="ctr"/>
          <a:lstStyle/>
          <a:p>
            <a:pPr indent="0" marL="0">
              <a:buNone/>
            </a:pPr>
            <a:r>
              <a:rPr lang="en-US" sz="1200" b="1" dirty="0">
                <a:solidFill>
                  <a:srgbClr val="0F172A"/>
                </a:solidFill>
                <a:latin typeface="Trebuchet MS" pitchFamily="34" charset="0"/>
                <a:ea typeface="Trebuchet MS" pitchFamily="34" charset="-122"/>
                <a:cs typeface="Trebuchet MS" pitchFamily="34" charset="-120"/>
              </a:rPr>
              <a:t>Onboard seller</a:t>
            </a:r>
            <a:endParaRPr lang="en-US" sz="1200" dirty="0"/>
          </a:p>
        </p:txBody>
      </p:sp>
      <p:sp>
        <p:nvSpPr>
          <p:cNvPr id="26" name="Text 20"/>
          <p:cNvSpPr/>
          <p:nvPr/>
        </p:nvSpPr>
        <p:spPr>
          <a:xfrm>
            <a:off x="4315968" y="5586984"/>
            <a:ext cx="1627632" cy="3657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Map to network</a:t>
            </a:r>
            <a:endParaRPr lang="en-US" sz="1000" dirty="0"/>
          </a:p>
        </p:txBody>
      </p:sp>
      <p:pic>
        <p:nvPicPr>
          <p:cNvPr id="27" name="Image 4" descr="C:\Users\Lenovo\AppData\Local\Temp\qwipo-deck\assets\ic_FaArrowRight_c.png">    </p:cNvPr>
          <p:cNvPicPr>
            <a:picLocks noChangeAspect="1"/>
          </p:cNvPicPr>
          <p:nvPr/>
        </p:nvPicPr>
        <p:blipFill>
          <a:blip r:embed="rId5"/>
          <a:stretch>
            <a:fillRect/>
          </a:stretch>
        </p:blipFill>
        <p:spPr>
          <a:xfrm>
            <a:off x="6181344" y="5440680"/>
            <a:ext cx="274320" cy="274320"/>
          </a:xfrm>
          <a:prstGeom prst="rect">
            <a:avLst/>
          </a:prstGeom>
        </p:spPr>
      </p:pic>
      <p:sp>
        <p:nvSpPr>
          <p:cNvPr id="28" name="Shape 21"/>
          <p:cNvSpPr/>
          <p:nvPr/>
        </p:nvSpPr>
        <p:spPr>
          <a:xfrm>
            <a:off x="6547104" y="5074920"/>
            <a:ext cx="2542032" cy="1005840"/>
          </a:xfrm>
          <a:prstGeom prst="roundRect">
            <a:avLst>
              <a:gd name="adj" fmla="val 8182"/>
            </a:avLst>
          </a:prstGeom>
          <a:solidFill>
            <a:srgbClr val="F8FAFC"/>
          </a:solidFill>
          <a:ln w="12700">
            <a:solidFill>
              <a:srgbClr val="E2E8F0"/>
            </a:solidFill>
            <a:prstDash val="solid"/>
          </a:ln>
        </p:spPr>
      </p:sp>
      <p:sp>
        <p:nvSpPr>
          <p:cNvPr id="29" name="Shape 22"/>
          <p:cNvSpPr/>
          <p:nvPr/>
        </p:nvSpPr>
        <p:spPr>
          <a:xfrm>
            <a:off x="6748272" y="5349240"/>
            <a:ext cx="457200" cy="457200"/>
          </a:xfrm>
          <a:prstGeom prst="roundRect">
            <a:avLst>
              <a:gd name="adj" fmla="val 26000"/>
            </a:avLst>
          </a:prstGeom>
          <a:solidFill>
            <a:srgbClr val="2563EB"/>
          </a:solidFill>
          <a:ln/>
        </p:spPr>
      </p:sp>
      <p:pic>
        <p:nvPicPr>
          <p:cNvPr id="30" name="Image 5" descr="C:\Users\Lenovo\AppData\Local\Temp\qwipo-deck\assets\ic_FaUpload_w.png">    </p:cNvPr>
          <p:cNvPicPr>
            <a:picLocks noChangeAspect="1"/>
          </p:cNvPicPr>
          <p:nvPr/>
        </p:nvPicPr>
        <p:blipFill>
          <a:blip r:embed="rId6"/>
          <a:stretch>
            <a:fillRect/>
          </a:stretch>
        </p:blipFill>
        <p:spPr>
          <a:xfrm>
            <a:off x="6853428" y="5454396"/>
            <a:ext cx="246888" cy="246888"/>
          </a:xfrm>
          <a:prstGeom prst="rect">
            <a:avLst/>
          </a:prstGeom>
        </p:spPr>
      </p:pic>
      <p:sp>
        <p:nvSpPr>
          <p:cNvPr id="31" name="Text 23"/>
          <p:cNvSpPr/>
          <p:nvPr/>
        </p:nvSpPr>
        <p:spPr>
          <a:xfrm>
            <a:off x="7315200" y="5294376"/>
            <a:ext cx="1627632" cy="292608"/>
          </a:xfrm>
          <a:prstGeom prst="rect">
            <a:avLst/>
          </a:prstGeom>
          <a:noFill/>
          <a:ln/>
        </p:spPr>
        <p:txBody>
          <a:bodyPr wrap="square" lIns="0" tIns="0" rIns="0" bIns="0" rtlCol="0" anchor="ctr"/>
          <a:lstStyle/>
          <a:p>
            <a:pPr indent="0" marL="0">
              <a:buNone/>
            </a:pPr>
            <a:r>
              <a:rPr lang="en-US" sz="1200" b="1" dirty="0">
                <a:solidFill>
                  <a:srgbClr val="0F172A"/>
                </a:solidFill>
                <a:latin typeface="Trebuchet MS" pitchFamily="34" charset="0"/>
                <a:ea typeface="Trebuchet MS" pitchFamily="34" charset="-122"/>
                <a:cs typeface="Trebuchet MS" pitchFamily="34" charset="-120"/>
              </a:rPr>
              <a:t>Publish catalog</a:t>
            </a:r>
            <a:endParaRPr lang="en-US" sz="1200" dirty="0"/>
          </a:p>
        </p:txBody>
      </p:sp>
      <p:sp>
        <p:nvSpPr>
          <p:cNvPr id="32" name="Text 24"/>
          <p:cNvSpPr/>
          <p:nvPr/>
        </p:nvSpPr>
        <p:spPr>
          <a:xfrm>
            <a:off x="7315200" y="5586984"/>
            <a:ext cx="1627632" cy="3657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Pre-validated SKUs</a:t>
            </a:r>
            <a:endParaRPr lang="en-US" sz="1000" dirty="0"/>
          </a:p>
        </p:txBody>
      </p:sp>
      <p:pic>
        <p:nvPicPr>
          <p:cNvPr id="33" name="Image 6" descr="C:\Users\Lenovo\AppData\Local\Temp\qwipo-deck\assets\ic_FaArrowRight_c.png">    </p:cNvPr>
          <p:cNvPicPr>
            <a:picLocks noChangeAspect="1"/>
          </p:cNvPicPr>
          <p:nvPr/>
        </p:nvPicPr>
        <p:blipFill>
          <a:blip r:embed="rId7"/>
          <a:stretch>
            <a:fillRect/>
          </a:stretch>
        </p:blipFill>
        <p:spPr>
          <a:xfrm>
            <a:off x="9180576" y="5440680"/>
            <a:ext cx="274320" cy="274320"/>
          </a:xfrm>
          <a:prstGeom prst="rect">
            <a:avLst/>
          </a:prstGeom>
        </p:spPr>
      </p:pic>
      <p:sp>
        <p:nvSpPr>
          <p:cNvPr id="34" name="Shape 25"/>
          <p:cNvSpPr/>
          <p:nvPr/>
        </p:nvSpPr>
        <p:spPr>
          <a:xfrm>
            <a:off x="9546336" y="5074920"/>
            <a:ext cx="2542032" cy="1005840"/>
          </a:xfrm>
          <a:prstGeom prst="roundRect">
            <a:avLst>
              <a:gd name="adj" fmla="val 8182"/>
            </a:avLst>
          </a:prstGeom>
          <a:solidFill>
            <a:srgbClr val="F8FAFC"/>
          </a:solidFill>
          <a:ln w="12700">
            <a:solidFill>
              <a:srgbClr val="E2E8F0"/>
            </a:solidFill>
            <a:prstDash val="solid"/>
          </a:ln>
        </p:spPr>
      </p:sp>
      <p:sp>
        <p:nvSpPr>
          <p:cNvPr id="35" name="Shape 26"/>
          <p:cNvSpPr/>
          <p:nvPr/>
        </p:nvSpPr>
        <p:spPr>
          <a:xfrm>
            <a:off x="9747504" y="5349240"/>
            <a:ext cx="457200" cy="457200"/>
          </a:xfrm>
          <a:prstGeom prst="roundRect">
            <a:avLst>
              <a:gd name="adj" fmla="val 26000"/>
            </a:avLst>
          </a:prstGeom>
          <a:solidFill>
            <a:srgbClr val="2563EB"/>
          </a:solidFill>
          <a:ln/>
        </p:spPr>
      </p:sp>
      <p:pic>
        <p:nvPicPr>
          <p:cNvPr id="36" name="Image 7" descr="C:\Users\Lenovo\AppData\Local\Temp\qwipo-deck\assets\ic_FaSyncAlt_w.png">    </p:cNvPr>
          <p:cNvPicPr>
            <a:picLocks noChangeAspect="1"/>
          </p:cNvPicPr>
          <p:nvPr/>
        </p:nvPicPr>
        <p:blipFill>
          <a:blip r:embed="rId8"/>
          <a:stretch>
            <a:fillRect/>
          </a:stretch>
        </p:blipFill>
        <p:spPr>
          <a:xfrm>
            <a:off x="9852660" y="5454396"/>
            <a:ext cx="246888" cy="246888"/>
          </a:xfrm>
          <a:prstGeom prst="rect">
            <a:avLst/>
          </a:prstGeom>
        </p:spPr>
      </p:pic>
      <p:sp>
        <p:nvSpPr>
          <p:cNvPr id="37" name="Text 27"/>
          <p:cNvSpPr/>
          <p:nvPr/>
        </p:nvSpPr>
        <p:spPr>
          <a:xfrm>
            <a:off x="10314432" y="5294376"/>
            <a:ext cx="1627632" cy="292608"/>
          </a:xfrm>
          <a:prstGeom prst="rect">
            <a:avLst/>
          </a:prstGeom>
          <a:noFill/>
          <a:ln/>
        </p:spPr>
        <p:txBody>
          <a:bodyPr wrap="square" lIns="0" tIns="0" rIns="0" bIns="0" rtlCol="0" anchor="ctr"/>
          <a:lstStyle/>
          <a:p>
            <a:pPr indent="0" marL="0">
              <a:buNone/>
            </a:pPr>
            <a:r>
              <a:rPr lang="en-US" sz="1200" b="1" dirty="0">
                <a:solidFill>
                  <a:srgbClr val="0F172A"/>
                </a:solidFill>
                <a:latin typeface="Trebuchet MS" pitchFamily="34" charset="0"/>
                <a:ea typeface="Trebuchet MS" pitchFamily="34" charset="-122"/>
                <a:cs typeface="Trebuchet MS" pitchFamily="34" charset="-120"/>
              </a:rPr>
              <a:t>Sync orders</a:t>
            </a:r>
            <a:endParaRPr lang="en-US" sz="1200" dirty="0"/>
          </a:p>
        </p:txBody>
      </p:sp>
      <p:sp>
        <p:nvSpPr>
          <p:cNvPr id="38" name="Text 28"/>
          <p:cNvSpPr/>
          <p:nvPr/>
        </p:nvSpPr>
        <p:spPr>
          <a:xfrm>
            <a:off x="10314432" y="5586984"/>
            <a:ext cx="1627632" cy="3657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Real-time, two-way</a:t>
            </a:r>
            <a:endParaRPr lang="en-US" sz="1000" dirty="0"/>
          </a:p>
        </p:txBody>
      </p:sp>
      <p:sp>
        <p:nvSpPr>
          <p:cNvPr id="39" name="Text 29"/>
          <p:cNvSpPr/>
          <p:nvPr/>
        </p:nvSpPr>
        <p:spPr>
          <a:xfrm>
            <a:off x="548640" y="6437376"/>
            <a:ext cx="5486400" cy="274320"/>
          </a:xfrm>
          <a:prstGeom prst="rect">
            <a:avLst/>
          </a:prstGeom>
          <a:noFill/>
          <a:ln/>
        </p:spPr>
        <p:txBody>
          <a:bodyPr wrap="square" lIns="0" tIns="0" rIns="0" bIns="0" rtlCol="0" anchor="ctr"/>
          <a:lstStyle/>
          <a:p>
            <a:pPr indent="0" marL="0">
              <a:buNone/>
            </a:pPr>
            <a:r>
              <a:rPr lang="en-US" sz="900" b="1" dirty="0">
                <a:solidFill>
                  <a:srgbClr val="7C3AED"/>
                </a:solidFill>
                <a:latin typeface="Calibri" pitchFamily="34" charset="0"/>
                <a:ea typeface="Calibri" pitchFamily="34" charset="-122"/>
                <a:cs typeface="Calibri" pitchFamily="34" charset="-120"/>
              </a:rPr>
              <a:t>Qwipo</a:t>
            </a:r>
            <a:pPr indent="0" marL="0">
              <a:buNone/>
            </a:pPr>
            <a:r>
              <a:rPr lang="en-US" sz="900" dirty="0">
                <a:solidFill>
                  <a:srgbClr val="94A3B8"/>
                </a:solidFill>
                <a:latin typeface="Calibri" pitchFamily="34" charset="0"/>
                <a:ea typeface="Calibri" pitchFamily="34" charset="-122"/>
                <a:cs typeface="Calibri" pitchFamily="34" charset="-120"/>
              </a:rPr>
              <a:t>   Seller Store Platform</a:t>
            </a:r>
            <a:endParaRPr lang="en-US" sz="900" dirty="0"/>
          </a:p>
        </p:txBody>
      </p:sp>
      <p:sp>
        <p:nvSpPr>
          <p:cNvPr id="40" name="Text 30"/>
          <p:cNvSpPr/>
          <p:nvPr/>
        </p:nvSpPr>
        <p:spPr>
          <a:xfrm>
            <a:off x="9966960" y="6437376"/>
            <a:ext cx="1673352"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06 / 20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Trebuchet MS" pitchFamily="34" charset="0"/>
                <a:ea typeface="Trebuchet MS" pitchFamily="34" charset="-122"/>
                <a:cs typeface="Trebuchet MS" pitchFamily="34" charset="-120"/>
              </a:rPr>
              <a:t>FEATURE · LOGISTICS</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Trebuchet MS" pitchFamily="34" charset="0"/>
                <a:ea typeface="Trebuchet MS" pitchFamily="34" charset="-122"/>
                <a:cs typeface="Trebuchet MS" pitchFamily="34" charset="-120"/>
              </a:rPr>
              <a:t>Connected fulfilment with full delivery visibility</a:t>
            </a:r>
            <a:endParaRPr lang="en-US" sz="2900" dirty="0"/>
          </a:p>
        </p:txBody>
      </p:sp>
      <p:sp>
        <p:nvSpPr>
          <p:cNvPr id="4" name="Text 2"/>
          <p:cNvSpPr/>
          <p:nvPr/>
        </p:nvSpPr>
        <p:spPr>
          <a:xfrm>
            <a:off x="566928" y="1627632"/>
            <a:ext cx="5394960" cy="1554480"/>
          </a:xfrm>
          <a:prstGeom prst="rect">
            <a:avLst/>
          </a:prstGeom>
          <a:noFill/>
          <a:ln/>
        </p:spPr>
        <p:txBody>
          <a:bodyPr wrap="square" lIns="0" tIns="0" rIns="0" bIns="0" rtlCol="0" anchor="t"/>
          <a:lstStyle/>
          <a:p>
            <a:pPr marL="177800" indent="-177800">
              <a:lnSpc>
                <a:spcPct val="102000"/>
              </a:lnSpc>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Logistics connector configuration in the seller console</a:t>
            </a:r>
            <a:endParaRPr lang="en-US" sz="1250" dirty="0"/>
          </a:p>
          <a:p>
            <a:pPr marL="177800" indent="-177800">
              <a:lnSpc>
                <a:spcPct val="102000"/>
              </a:lnSpc>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Delivery-partner integrations alongside in-house / manual delivery</a:t>
            </a:r>
            <a:endParaRPr lang="en-US" sz="1250" dirty="0"/>
          </a:p>
          <a:p>
            <a:pPr marL="177800" indent="-177800">
              <a:lnSpc>
                <a:spcPct val="102000"/>
              </a:lnSpc>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Order-to-fulfilment workflow with clear handover points</a:t>
            </a:r>
            <a:endParaRPr lang="en-US" sz="1250" dirty="0"/>
          </a:p>
          <a:p>
            <a:pPr marL="177800" indent="-177800">
              <a:lnSpc>
                <a:spcPct val="102000"/>
              </a:lnSpc>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Live tracking and delivery status for brand, distributor and retailer</a:t>
            </a:r>
            <a:endParaRPr lang="en-US" sz="1250" dirty="0"/>
          </a:p>
        </p:txBody>
      </p:sp>
      <p:sp>
        <p:nvSpPr>
          <p:cNvPr id="5" name="Shape 3"/>
          <p:cNvSpPr/>
          <p:nvPr/>
        </p:nvSpPr>
        <p:spPr>
          <a:xfrm>
            <a:off x="548640" y="3246120"/>
            <a:ext cx="5394960" cy="1143000"/>
          </a:xfrm>
          <a:prstGeom prst="roundRect">
            <a:avLst>
              <a:gd name="adj" fmla="val 6400"/>
            </a:avLst>
          </a:prstGeom>
          <a:solidFill>
            <a:srgbClr val="F3EEFE"/>
          </a:solidFill>
          <a:ln w="12700">
            <a:solidFill>
              <a:srgbClr val="DDD0FB"/>
            </a:solidFill>
            <a:prstDash val="solid"/>
          </a:ln>
        </p:spPr>
      </p:sp>
      <p:sp>
        <p:nvSpPr>
          <p:cNvPr id="6" name="Shape 4"/>
          <p:cNvSpPr/>
          <p:nvPr/>
        </p:nvSpPr>
        <p:spPr>
          <a:xfrm>
            <a:off x="548640" y="3355848"/>
            <a:ext cx="64008" cy="923544"/>
          </a:xfrm>
          <a:prstGeom prst="rect">
            <a:avLst/>
          </a:prstGeom>
          <a:solidFill>
            <a:srgbClr val="7C3AED"/>
          </a:solidFill>
          <a:ln/>
        </p:spPr>
      </p:sp>
      <p:sp>
        <p:nvSpPr>
          <p:cNvPr id="7" name="Text 5"/>
          <p:cNvSpPr/>
          <p:nvPr/>
        </p:nvSpPr>
        <p:spPr>
          <a:xfrm>
            <a:off x="786384" y="3383280"/>
            <a:ext cx="4937760" cy="219456"/>
          </a:xfrm>
          <a:prstGeom prst="rect">
            <a:avLst/>
          </a:prstGeom>
          <a:noFill/>
          <a:ln/>
        </p:spPr>
        <p:txBody>
          <a:bodyPr wrap="square" lIns="0" tIns="0" rIns="0" bIns="0" rtlCol="0" anchor="ctr"/>
          <a:lstStyle/>
          <a:p>
            <a:pPr indent="0" marL="0">
              <a:buNone/>
            </a:pPr>
            <a:r>
              <a:rPr lang="en-US" sz="1000" b="1" spc="200" kern="0" dirty="0">
                <a:solidFill>
                  <a:srgbClr val="7C3AED"/>
                </a:solidFill>
                <a:latin typeface="Trebuchet MS" pitchFamily="34" charset="0"/>
                <a:ea typeface="Trebuchet MS" pitchFamily="34" charset="-122"/>
                <a:cs typeface="Trebuchet MS" pitchFamily="34" charset="-120"/>
              </a:rPr>
              <a:t>BUSINESS BENEFIT</a:t>
            </a:r>
            <a:endParaRPr lang="en-US" sz="1000" dirty="0"/>
          </a:p>
        </p:txBody>
      </p:sp>
      <p:sp>
        <p:nvSpPr>
          <p:cNvPr id="8" name="Text 6"/>
          <p:cNvSpPr/>
          <p:nvPr/>
        </p:nvSpPr>
        <p:spPr>
          <a:xfrm>
            <a:off x="786384" y="3630168"/>
            <a:ext cx="4937760" cy="640080"/>
          </a:xfrm>
          <a:prstGeom prst="rect">
            <a:avLst/>
          </a:prstGeom>
          <a:noFill/>
          <a:ln/>
        </p:spPr>
        <p:txBody>
          <a:bodyPr wrap="square" lIns="0" tIns="0" rIns="0" bIns="0" rtlCol="0" anchor="t"/>
          <a:lstStyle/>
          <a:p>
            <a:pPr indent="0" marL="0">
              <a:lnSpc>
                <a:spcPct val="104000"/>
              </a:lnSpc>
              <a:buNone/>
            </a:pPr>
            <a:r>
              <a:rPr lang="en-US" sz="1150" dirty="0">
                <a:solidFill>
                  <a:srgbClr val="1E293B"/>
                </a:solidFill>
                <a:latin typeface="Calibri" pitchFamily="34" charset="0"/>
                <a:ea typeface="Calibri" pitchFamily="34" charset="-122"/>
                <a:cs typeface="Calibri" pitchFamily="34" charset="-120"/>
              </a:rPr>
              <a:t>No more blind spots after dispatch. Every shipment — manual or 3PL — is tracked to delivery, so brands and retailers always know where an order is and when it will arrive.</a:t>
            </a:r>
            <a:endParaRPr lang="en-US" sz="1150" dirty="0"/>
          </a:p>
        </p:txBody>
      </p:sp>
      <p:sp>
        <p:nvSpPr>
          <p:cNvPr id="9" name="Text 7"/>
          <p:cNvSpPr/>
          <p:nvPr/>
        </p:nvSpPr>
        <p:spPr>
          <a:xfrm>
            <a:off x="548640" y="4617720"/>
            <a:ext cx="5394960" cy="256032"/>
          </a:xfrm>
          <a:prstGeom prst="rect">
            <a:avLst/>
          </a:prstGeom>
          <a:noFill/>
          <a:ln/>
        </p:spPr>
        <p:txBody>
          <a:bodyPr wrap="square" lIns="0" tIns="0" rIns="0" bIns="0" rtlCol="0" anchor="ctr"/>
          <a:lstStyle/>
          <a:p>
            <a:pPr indent="0" marL="0">
              <a:buNone/>
            </a:pPr>
            <a:r>
              <a:rPr lang="en-US" sz="1050" b="1" spc="150" kern="0" dirty="0">
                <a:solidFill>
                  <a:srgbClr val="7C3AED"/>
                </a:solidFill>
                <a:latin typeface="Trebuchet MS" pitchFamily="34" charset="0"/>
                <a:ea typeface="Trebuchet MS" pitchFamily="34" charset="-122"/>
                <a:cs typeface="Trebuchet MS" pitchFamily="34" charset="-120"/>
              </a:rPr>
              <a:t>DELIVERY MODES</a:t>
            </a:r>
            <a:endParaRPr lang="en-US" sz="1050" dirty="0"/>
          </a:p>
        </p:txBody>
      </p:sp>
      <p:sp>
        <p:nvSpPr>
          <p:cNvPr id="10" name="Shape 8"/>
          <p:cNvSpPr/>
          <p:nvPr/>
        </p:nvSpPr>
        <p:spPr>
          <a:xfrm>
            <a:off x="548640" y="4919472"/>
            <a:ext cx="1691640" cy="868680"/>
          </a:xfrm>
          <a:prstGeom prst="roundRect">
            <a:avLst>
              <a:gd name="adj" fmla="val 9474"/>
            </a:avLst>
          </a:prstGeom>
          <a:solidFill>
            <a:srgbClr val="F8FAFC"/>
          </a:solidFill>
          <a:ln w="12700">
            <a:solidFill>
              <a:srgbClr val="E2E8F0"/>
            </a:solidFill>
            <a:prstDash val="solid"/>
          </a:ln>
        </p:spPr>
      </p:sp>
      <p:sp>
        <p:nvSpPr>
          <p:cNvPr id="11" name="Shape 9"/>
          <p:cNvSpPr/>
          <p:nvPr/>
        </p:nvSpPr>
        <p:spPr>
          <a:xfrm>
            <a:off x="694944" y="5084064"/>
            <a:ext cx="530352" cy="530352"/>
          </a:xfrm>
          <a:prstGeom prst="roundRect">
            <a:avLst>
              <a:gd name="adj" fmla="val 26000"/>
            </a:avLst>
          </a:prstGeom>
          <a:solidFill>
            <a:srgbClr val="0D9488"/>
          </a:solidFill>
          <a:ln/>
        </p:spPr>
      </p:sp>
      <p:pic>
        <p:nvPicPr>
          <p:cNvPr id="12" name="Image 0" descr="C:\Users\Lenovo\AppData\Local\Temp\qwipo-deck\assets\ic_FaStore_w.png">    </p:cNvPr>
          <p:cNvPicPr>
            <a:picLocks noChangeAspect="1"/>
          </p:cNvPicPr>
          <p:nvPr/>
        </p:nvPicPr>
        <p:blipFill>
          <a:blip r:embed="rId1"/>
          <a:stretch>
            <a:fillRect/>
          </a:stretch>
        </p:blipFill>
        <p:spPr>
          <a:xfrm>
            <a:off x="816925" y="5206045"/>
            <a:ext cx="286390" cy="286390"/>
          </a:xfrm>
          <a:prstGeom prst="rect">
            <a:avLst/>
          </a:prstGeom>
        </p:spPr>
      </p:pic>
      <p:sp>
        <p:nvSpPr>
          <p:cNvPr id="13" name="Text 10"/>
          <p:cNvSpPr/>
          <p:nvPr/>
        </p:nvSpPr>
        <p:spPr>
          <a:xfrm>
            <a:off x="1298448" y="4919472"/>
            <a:ext cx="868680" cy="868680"/>
          </a:xfrm>
          <a:prstGeom prst="rect">
            <a:avLst/>
          </a:prstGeom>
          <a:noFill/>
          <a:ln/>
        </p:spPr>
        <p:txBody>
          <a:bodyPr wrap="square" lIns="0" tIns="0" rIns="0" bIns="0" rtlCol="0" anchor="ctr"/>
          <a:lstStyle/>
          <a:p>
            <a:pPr indent="0" marL="0">
              <a:buNone/>
            </a:pPr>
            <a:r>
              <a:rPr lang="en-US" sz="1150" b="1" dirty="0">
                <a:solidFill>
                  <a:srgbClr val="0F172A"/>
                </a:solidFill>
                <a:latin typeface="Trebuchet MS" pitchFamily="34" charset="0"/>
                <a:ea typeface="Trebuchet MS" pitchFamily="34" charset="-122"/>
                <a:cs typeface="Trebuchet MS" pitchFamily="34" charset="-120"/>
              </a:rPr>
              <a:t>Beat delivery</a:t>
            </a:r>
            <a:endParaRPr lang="en-US" sz="1150" dirty="0"/>
          </a:p>
        </p:txBody>
      </p:sp>
      <p:sp>
        <p:nvSpPr>
          <p:cNvPr id="14" name="Shape 11"/>
          <p:cNvSpPr/>
          <p:nvPr/>
        </p:nvSpPr>
        <p:spPr>
          <a:xfrm>
            <a:off x="2340864" y="4919472"/>
            <a:ext cx="1691640" cy="868680"/>
          </a:xfrm>
          <a:prstGeom prst="roundRect">
            <a:avLst>
              <a:gd name="adj" fmla="val 9474"/>
            </a:avLst>
          </a:prstGeom>
          <a:solidFill>
            <a:srgbClr val="F8FAFC"/>
          </a:solidFill>
          <a:ln w="12700">
            <a:solidFill>
              <a:srgbClr val="E2E8F0"/>
            </a:solidFill>
            <a:prstDash val="solid"/>
          </a:ln>
        </p:spPr>
      </p:sp>
      <p:sp>
        <p:nvSpPr>
          <p:cNvPr id="15" name="Shape 12"/>
          <p:cNvSpPr/>
          <p:nvPr/>
        </p:nvSpPr>
        <p:spPr>
          <a:xfrm>
            <a:off x="2487168" y="5084064"/>
            <a:ext cx="530352" cy="530352"/>
          </a:xfrm>
          <a:prstGeom prst="roundRect">
            <a:avLst>
              <a:gd name="adj" fmla="val 26000"/>
            </a:avLst>
          </a:prstGeom>
          <a:solidFill>
            <a:srgbClr val="0D9488"/>
          </a:solidFill>
          <a:ln/>
        </p:spPr>
      </p:sp>
      <p:pic>
        <p:nvPicPr>
          <p:cNvPr id="16" name="Image 1" descr="C:\Users\Lenovo\AppData\Local\Temp\qwipo-deck\assets\ic_FaHandshake_w.png">    </p:cNvPr>
          <p:cNvPicPr>
            <a:picLocks noChangeAspect="1"/>
          </p:cNvPicPr>
          <p:nvPr/>
        </p:nvPicPr>
        <p:blipFill>
          <a:blip r:embed="rId2"/>
          <a:stretch>
            <a:fillRect/>
          </a:stretch>
        </p:blipFill>
        <p:spPr>
          <a:xfrm>
            <a:off x="2609149" y="5206045"/>
            <a:ext cx="286390" cy="286390"/>
          </a:xfrm>
          <a:prstGeom prst="rect">
            <a:avLst/>
          </a:prstGeom>
        </p:spPr>
      </p:pic>
      <p:sp>
        <p:nvSpPr>
          <p:cNvPr id="17" name="Text 13"/>
          <p:cNvSpPr/>
          <p:nvPr/>
        </p:nvSpPr>
        <p:spPr>
          <a:xfrm>
            <a:off x="3090672" y="4919472"/>
            <a:ext cx="868680" cy="868680"/>
          </a:xfrm>
          <a:prstGeom prst="rect">
            <a:avLst/>
          </a:prstGeom>
          <a:noFill/>
          <a:ln/>
        </p:spPr>
        <p:txBody>
          <a:bodyPr wrap="square" lIns="0" tIns="0" rIns="0" bIns="0" rtlCol="0" anchor="ctr"/>
          <a:lstStyle/>
          <a:p>
            <a:pPr indent="0" marL="0">
              <a:buNone/>
            </a:pPr>
            <a:r>
              <a:rPr lang="en-US" sz="1150" b="1" dirty="0">
                <a:solidFill>
                  <a:srgbClr val="0F172A"/>
                </a:solidFill>
                <a:latin typeface="Trebuchet MS" pitchFamily="34" charset="0"/>
                <a:ea typeface="Trebuchet MS" pitchFamily="34" charset="-122"/>
                <a:cs typeface="Trebuchet MS" pitchFamily="34" charset="-120"/>
              </a:rPr>
              <a:t>Manual / self</a:t>
            </a:r>
            <a:endParaRPr lang="en-US" sz="1150" dirty="0"/>
          </a:p>
        </p:txBody>
      </p:sp>
      <p:sp>
        <p:nvSpPr>
          <p:cNvPr id="18" name="Shape 14"/>
          <p:cNvSpPr/>
          <p:nvPr/>
        </p:nvSpPr>
        <p:spPr>
          <a:xfrm>
            <a:off x="4133088" y="4919472"/>
            <a:ext cx="1691640" cy="868680"/>
          </a:xfrm>
          <a:prstGeom prst="roundRect">
            <a:avLst>
              <a:gd name="adj" fmla="val 9474"/>
            </a:avLst>
          </a:prstGeom>
          <a:solidFill>
            <a:srgbClr val="F8FAFC"/>
          </a:solidFill>
          <a:ln w="12700">
            <a:solidFill>
              <a:srgbClr val="E2E8F0"/>
            </a:solidFill>
            <a:prstDash val="solid"/>
          </a:ln>
        </p:spPr>
      </p:sp>
      <p:sp>
        <p:nvSpPr>
          <p:cNvPr id="19" name="Shape 15"/>
          <p:cNvSpPr/>
          <p:nvPr/>
        </p:nvSpPr>
        <p:spPr>
          <a:xfrm>
            <a:off x="4279392" y="5084064"/>
            <a:ext cx="530352" cy="530352"/>
          </a:xfrm>
          <a:prstGeom prst="roundRect">
            <a:avLst>
              <a:gd name="adj" fmla="val 26000"/>
            </a:avLst>
          </a:prstGeom>
          <a:solidFill>
            <a:srgbClr val="0D9488"/>
          </a:solidFill>
          <a:ln/>
        </p:spPr>
      </p:sp>
      <p:pic>
        <p:nvPicPr>
          <p:cNvPr id="20" name="Image 2" descr="C:\Users\Lenovo\AppData\Local\Temp\qwipo-deck\assets\ic_FaTruck_w.png">    </p:cNvPr>
          <p:cNvPicPr>
            <a:picLocks noChangeAspect="1"/>
          </p:cNvPicPr>
          <p:nvPr/>
        </p:nvPicPr>
        <p:blipFill>
          <a:blip r:embed="rId3"/>
          <a:stretch>
            <a:fillRect/>
          </a:stretch>
        </p:blipFill>
        <p:spPr>
          <a:xfrm>
            <a:off x="4401373" y="5206045"/>
            <a:ext cx="286390" cy="286390"/>
          </a:xfrm>
          <a:prstGeom prst="rect">
            <a:avLst/>
          </a:prstGeom>
        </p:spPr>
      </p:pic>
      <p:sp>
        <p:nvSpPr>
          <p:cNvPr id="21" name="Text 16"/>
          <p:cNvSpPr/>
          <p:nvPr/>
        </p:nvSpPr>
        <p:spPr>
          <a:xfrm>
            <a:off x="4882896" y="4919472"/>
            <a:ext cx="868680" cy="868680"/>
          </a:xfrm>
          <a:prstGeom prst="rect">
            <a:avLst/>
          </a:prstGeom>
          <a:noFill/>
          <a:ln/>
        </p:spPr>
        <p:txBody>
          <a:bodyPr wrap="square" lIns="0" tIns="0" rIns="0" bIns="0" rtlCol="0" anchor="ctr"/>
          <a:lstStyle/>
          <a:p>
            <a:pPr indent="0" marL="0">
              <a:buNone/>
            </a:pPr>
            <a:r>
              <a:rPr lang="en-US" sz="1150" b="1" dirty="0">
                <a:solidFill>
                  <a:srgbClr val="0F172A"/>
                </a:solidFill>
                <a:latin typeface="Trebuchet MS" pitchFamily="34" charset="0"/>
                <a:ea typeface="Trebuchet MS" pitchFamily="34" charset="-122"/>
                <a:cs typeface="Trebuchet MS" pitchFamily="34" charset="-120"/>
              </a:rPr>
              <a:t>3PL partners</a:t>
            </a:r>
            <a:endParaRPr lang="en-US" sz="1150" dirty="0"/>
          </a:p>
        </p:txBody>
      </p:sp>
      <p:sp>
        <p:nvSpPr>
          <p:cNvPr id="22" name="Text 17"/>
          <p:cNvSpPr/>
          <p:nvPr/>
        </p:nvSpPr>
        <p:spPr>
          <a:xfrm>
            <a:off x="6355080" y="1627632"/>
            <a:ext cx="5212080" cy="274320"/>
          </a:xfrm>
          <a:prstGeom prst="rect">
            <a:avLst/>
          </a:prstGeom>
          <a:noFill/>
          <a:ln/>
        </p:spPr>
        <p:txBody>
          <a:bodyPr wrap="square" lIns="0" tIns="0" rIns="0" bIns="0" rtlCol="0" anchor="ctr"/>
          <a:lstStyle/>
          <a:p>
            <a:pPr indent="0" marL="0">
              <a:buNone/>
            </a:pPr>
            <a:r>
              <a:rPr lang="en-US" sz="1100" b="1" spc="100" kern="0" dirty="0">
                <a:solidFill>
                  <a:srgbClr val="1D4ED8"/>
                </a:solidFill>
                <a:latin typeface="Trebuchet MS" pitchFamily="34" charset="0"/>
                <a:ea typeface="Trebuchet MS" pitchFamily="34" charset="-122"/>
                <a:cs typeface="Trebuchet MS" pitchFamily="34" charset="-120"/>
              </a:rPr>
              <a:t>ORDER FULFILMENT WORKFLOW</a:t>
            </a:r>
            <a:endParaRPr lang="en-US" sz="1100" dirty="0"/>
          </a:p>
        </p:txBody>
      </p:sp>
      <p:sp>
        <p:nvSpPr>
          <p:cNvPr id="23" name="Shape 18"/>
          <p:cNvSpPr/>
          <p:nvPr/>
        </p:nvSpPr>
        <p:spPr>
          <a:xfrm>
            <a:off x="6355080" y="1993392"/>
            <a:ext cx="5212080" cy="768096"/>
          </a:xfrm>
          <a:prstGeom prst="roundRect">
            <a:avLst>
              <a:gd name="adj" fmla="val 10714"/>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24" name="Shape 19"/>
          <p:cNvSpPr/>
          <p:nvPr/>
        </p:nvSpPr>
        <p:spPr>
          <a:xfrm>
            <a:off x="6519672" y="2148840"/>
            <a:ext cx="457200" cy="457200"/>
          </a:xfrm>
          <a:prstGeom prst="roundRect">
            <a:avLst>
              <a:gd name="adj" fmla="val 26000"/>
            </a:avLst>
          </a:prstGeom>
          <a:solidFill>
            <a:srgbClr val="2563EB"/>
          </a:solidFill>
          <a:ln/>
        </p:spPr>
      </p:sp>
      <p:pic>
        <p:nvPicPr>
          <p:cNvPr id="25" name="Image 3" descr="C:\Users\Lenovo\AppData\Local\Temp\qwipo-deck\assets\ic_FaCheckCircle_w.png">    </p:cNvPr>
          <p:cNvPicPr>
            <a:picLocks noChangeAspect="1"/>
          </p:cNvPicPr>
          <p:nvPr/>
        </p:nvPicPr>
        <p:blipFill>
          <a:blip r:embed="rId4"/>
          <a:stretch>
            <a:fillRect/>
          </a:stretch>
        </p:blipFill>
        <p:spPr>
          <a:xfrm>
            <a:off x="6624828" y="2253996"/>
            <a:ext cx="246888" cy="246888"/>
          </a:xfrm>
          <a:prstGeom prst="rect">
            <a:avLst/>
          </a:prstGeom>
        </p:spPr>
      </p:pic>
      <p:sp>
        <p:nvSpPr>
          <p:cNvPr id="26" name="Text 20"/>
          <p:cNvSpPr/>
          <p:nvPr/>
        </p:nvSpPr>
        <p:spPr>
          <a:xfrm>
            <a:off x="7123176" y="2112264"/>
            <a:ext cx="4297680" cy="27432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Order confirmed</a:t>
            </a:r>
            <a:endParaRPr lang="en-US" sz="1250" dirty="0"/>
          </a:p>
        </p:txBody>
      </p:sp>
      <p:sp>
        <p:nvSpPr>
          <p:cNvPr id="27" name="Text 21"/>
          <p:cNvSpPr/>
          <p:nvPr/>
        </p:nvSpPr>
        <p:spPr>
          <a:xfrm>
            <a:off x="7123176" y="2395728"/>
            <a:ext cx="429768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Ready to fulfil</a:t>
            </a:r>
            <a:endParaRPr lang="en-US" sz="1000" dirty="0"/>
          </a:p>
        </p:txBody>
      </p:sp>
      <p:sp>
        <p:nvSpPr>
          <p:cNvPr id="28" name="Shape 22"/>
          <p:cNvSpPr/>
          <p:nvPr/>
        </p:nvSpPr>
        <p:spPr>
          <a:xfrm>
            <a:off x="6355080" y="2880360"/>
            <a:ext cx="5212080" cy="768096"/>
          </a:xfrm>
          <a:prstGeom prst="roundRect">
            <a:avLst>
              <a:gd name="adj" fmla="val 10714"/>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29" name="Shape 23"/>
          <p:cNvSpPr/>
          <p:nvPr/>
        </p:nvSpPr>
        <p:spPr>
          <a:xfrm>
            <a:off x="6519672" y="3035808"/>
            <a:ext cx="457200" cy="457200"/>
          </a:xfrm>
          <a:prstGeom prst="roundRect">
            <a:avLst>
              <a:gd name="adj" fmla="val 26000"/>
            </a:avLst>
          </a:prstGeom>
          <a:solidFill>
            <a:srgbClr val="2563EB"/>
          </a:solidFill>
          <a:ln/>
        </p:spPr>
      </p:sp>
      <p:pic>
        <p:nvPicPr>
          <p:cNvPr id="30" name="Image 4" descr="C:\Users\Lenovo\AppData\Local\Temp\qwipo-deck\assets\ic_FaHandshake_w.png">    </p:cNvPr>
          <p:cNvPicPr>
            <a:picLocks noChangeAspect="1"/>
          </p:cNvPicPr>
          <p:nvPr/>
        </p:nvPicPr>
        <p:blipFill>
          <a:blip r:embed="rId5"/>
          <a:stretch>
            <a:fillRect/>
          </a:stretch>
        </p:blipFill>
        <p:spPr>
          <a:xfrm>
            <a:off x="6624828" y="3140964"/>
            <a:ext cx="246888" cy="246888"/>
          </a:xfrm>
          <a:prstGeom prst="rect">
            <a:avLst/>
          </a:prstGeom>
        </p:spPr>
      </p:pic>
      <p:sp>
        <p:nvSpPr>
          <p:cNvPr id="31" name="Text 24"/>
          <p:cNvSpPr/>
          <p:nvPr/>
        </p:nvSpPr>
        <p:spPr>
          <a:xfrm>
            <a:off x="7123176" y="2999232"/>
            <a:ext cx="4297680" cy="27432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Assign delivery</a:t>
            </a:r>
            <a:endParaRPr lang="en-US" sz="1250" dirty="0"/>
          </a:p>
        </p:txBody>
      </p:sp>
      <p:sp>
        <p:nvSpPr>
          <p:cNvPr id="32" name="Text 25"/>
          <p:cNvSpPr/>
          <p:nvPr/>
        </p:nvSpPr>
        <p:spPr>
          <a:xfrm>
            <a:off x="7123176" y="3282696"/>
            <a:ext cx="429768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Beat / manual / 3PL partner</a:t>
            </a:r>
            <a:endParaRPr lang="en-US" sz="1000" dirty="0"/>
          </a:p>
        </p:txBody>
      </p:sp>
      <p:sp>
        <p:nvSpPr>
          <p:cNvPr id="33" name="Shape 26"/>
          <p:cNvSpPr/>
          <p:nvPr/>
        </p:nvSpPr>
        <p:spPr>
          <a:xfrm>
            <a:off x="6355080" y="3767328"/>
            <a:ext cx="5212080" cy="768096"/>
          </a:xfrm>
          <a:prstGeom prst="roundRect">
            <a:avLst>
              <a:gd name="adj" fmla="val 10714"/>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34" name="Shape 27"/>
          <p:cNvSpPr/>
          <p:nvPr/>
        </p:nvSpPr>
        <p:spPr>
          <a:xfrm>
            <a:off x="6519672" y="3922776"/>
            <a:ext cx="457200" cy="457200"/>
          </a:xfrm>
          <a:prstGeom prst="roundRect">
            <a:avLst>
              <a:gd name="adj" fmla="val 26000"/>
            </a:avLst>
          </a:prstGeom>
          <a:solidFill>
            <a:srgbClr val="2563EB"/>
          </a:solidFill>
          <a:ln/>
        </p:spPr>
      </p:sp>
      <p:pic>
        <p:nvPicPr>
          <p:cNvPr id="35" name="Image 5" descr="C:\Users\Lenovo\AppData\Local\Temp\qwipo-deck\assets\ic_FaBoxes_w.png">    </p:cNvPr>
          <p:cNvPicPr>
            <a:picLocks noChangeAspect="1"/>
          </p:cNvPicPr>
          <p:nvPr/>
        </p:nvPicPr>
        <p:blipFill>
          <a:blip r:embed="rId6"/>
          <a:stretch>
            <a:fillRect/>
          </a:stretch>
        </p:blipFill>
        <p:spPr>
          <a:xfrm>
            <a:off x="6624828" y="4027932"/>
            <a:ext cx="246888" cy="246888"/>
          </a:xfrm>
          <a:prstGeom prst="rect">
            <a:avLst/>
          </a:prstGeom>
        </p:spPr>
      </p:pic>
      <p:sp>
        <p:nvSpPr>
          <p:cNvPr id="36" name="Text 28"/>
          <p:cNvSpPr/>
          <p:nvPr/>
        </p:nvSpPr>
        <p:spPr>
          <a:xfrm>
            <a:off x="7123176" y="3886200"/>
            <a:ext cx="4297680" cy="27432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Pickup &amp; dispatch</a:t>
            </a:r>
            <a:endParaRPr lang="en-US" sz="1250" dirty="0"/>
          </a:p>
        </p:txBody>
      </p:sp>
      <p:sp>
        <p:nvSpPr>
          <p:cNvPr id="37" name="Text 29"/>
          <p:cNvSpPr/>
          <p:nvPr/>
        </p:nvSpPr>
        <p:spPr>
          <a:xfrm>
            <a:off x="7123176" y="4169664"/>
            <a:ext cx="429768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Shipment created</a:t>
            </a:r>
            <a:endParaRPr lang="en-US" sz="1000" dirty="0"/>
          </a:p>
        </p:txBody>
      </p:sp>
      <p:sp>
        <p:nvSpPr>
          <p:cNvPr id="38" name="Shape 30"/>
          <p:cNvSpPr/>
          <p:nvPr/>
        </p:nvSpPr>
        <p:spPr>
          <a:xfrm>
            <a:off x="6355080" y="4654296"/>
            <a:ext cx="5212080" cy="768096"/>
          </a:xfrm>
          <a:prstGeom prst="roundRect">
            <a:avLst>
              <a:gd name="adj" fmla="val 10714"/>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39" name="Shape 31"/>
          <p:cNvSpPr/>
          <p:nvPr/>
        </p:nvSpPr>
        <p:spPr>
          <a:xfrm>
            <a:off x="6519672" y="4809744"/>
            <a:ext cx="457200" cy="457200"/>
          </a:xfrm>
          <a:prstGeom prst="roundRect">
            <a:avLst>
              <a:gd name="adj" fmla="val 26000"/>
            </a:avLst>
          </a:prstGeom>
          <a:solidFill>
            <a:srgbClr val="2563EB"/>
          </a:solidFill>
          <a:ln/>
        </p:spPr>
      </p:sp>
      <p:pic>
        <p:nvPicPr>
          <p:cNvPr id="40" name="Image 6" descr="C:\Users\Lenovo\AppData\Local\Temp\qwipo-deck\assets\ic_FaSearchLocation_w.png">    </p:cNvPr>
          <p:cNvPicPr>
            <a:picLocks noChangeAspect="1"/>
          </p:cNvPicPr>
          <p:nvPr/>
        </p:nvPicPr>
        <p:blipFill>
          <a:blip r:embed="rId7"/>
          <a:stretch>
            <a:fillRect/>
          </a:stretch>
        </p:blipFill>
        <p:spPr>
          <a:xfrm>
            <a:off x="6624828" y="4914900"/>
            <a:ext cx="246888" cy="246888"/>
          </a:xfrm>
          <a:prstGeom prst="rect">
            <a:avLst/>
          </a:prstGeom>
        </p:spPr>
      </p:pic>
      <p:sp>
        <p:nvSpPr>
          <p:cNvPr id="41" name="Text 32"/>
          <p:cNvSpPr/>
          <p:nvPr/>
        </p:nvSpPr>
        <p:spPr>
          <a:xfrm>
            <a:off x="7123176" y="4773168"/>
            <a:ext cx="4297680" cy="27432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In transit — tracked</a:t>
            </a:r>
            <a:endParaRPr lang="en-US" sz="1250" dirty="0"/>
          </a:p>
        </p:txBody>
      </p:sp>
      <p:sp>
        <p:nvSpPr>
          <p:cNvPr id="42" name="Text 33"/>
          <p:cNvSpPr/>
          <p:nvPr/>
        </p:nvSpPr>
        <p:spPr>
          <a:xfrm>
            <a:off x="7123176" y="5056632"/>
            <a:ext cx="429768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Live status visible to all</a:t>
            </a:r>
            <a:endParaRPr lang="en-US" sz="1000" dirty="0"/>
          </a:p>
        </p:txBody>
      </p:sp>
      <p:sp>
        <p:nvSpPr>
          <p:cNvPr id="43" name="Shape 34"/>
          <p:cNvSpPr/>
          <p:nvPr/>
        </p:nvSpPr>
        <p:spPr>
          <a:xfrm>
            <a:off x="6355080" y="5541264"/>
            <a:ext cx="5212080" cy="768096"/>
          </a:xfrm>
          <a:prstGeom prst="roundRect">
            <a:avLst>
              <a:gd name="adj" fmla="val 10714"/>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44" name="Shape 35"/>
          <p:cNvSpPr/>
          <p:nvPr/>
        </p:nvSpPr>
        <p:spPr>
          <a:xfrm>
            <a:off x="6519672" y="5696712"/>
            <a:ext cx="457200" cy="457200"/>
          </a:xfrm>
          <a:prstGeom prst="roundRect">
            <a:avLst>
              <a:gd name="adj" fmla="val 26000"/>
            </a:avLst>
          </a:prstGeom>
          <a:solidFill>
            <a:srgbClr val="16A34A"/>
          </a:solidFill>
          <a:ln/>
        </p:spPr>
      </p:sp>
      <p:pic>
        <p:nvPicPr>
          <p:cNvPr id="45" name="Image 7" descr="C:\Users\Lenovo\AppData\Local\Temp\qwipo-deck\assets\ic_FaFlagCheckered_w.png">    </p:cNvPr>
          <p:cNvPicPr>
            <a:picLocks noChangeAspect="1"/>
          </p:cNvPicPr>
          <p:nvPr/>
        </p:nvPicPr>
        <p:blipFill>
          <a:blip r:embed="rId8"/>
          <a:stretch>
            <a:fillRect/>
          </a:stretch>
        </p:blipFill>
        <p:spPr>
          <a:xfrm>
            <a:off x="6624828" y="5801868"/>
            <a:ext cx="246888" cy="246888"/>
          </a:xfrm>
          <a:prstGeom prst="rect">
            <a:avLst/>
          </a:prstGeom>
        </p:spPr>
      </p:pic>
      <p:sp>
        <p:nvSpPr>
          <p:cNvPr id="46" name="Text 36"/>
          <p:cNvSpPr/>
          <p:nvPr/>
        </p:nvSpPr>
        <p:spPr>
          <a:xfrm>
            <a:off x="7123176" y="5660136"/>
            <a:ext cx="4297680" cy="27432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Delivered &amp; confirmed</a:t>
            </a:r>
            <a:endParaRPr lang="en-US" sz="1250" dirty="0"/>
          </a:p>
        </p:txBody>
      </p:sp>
      <p:sp>
        <p:nvSpPr>
          <p:cNvPr id="47" name="Text 37"/>
          <p:cNvSpPr/>
          <p:nvPr/>
        </p:nvSpPr>
        <p:spPr>
          <a:xfrm>
            <a:off x="7123176" y="5943600"/>
            <a:ext cx="429768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POD closes the loop</a:t>
            </a:r>
            <a:endParaRPr lang="en-US" sz="1000" dirty="0"/>
          </a:p>
        </p:txBody>
      </p:sp>
      <p:sp>
        <p:nvSpPr>
          <p:cNvPr id="48" name="Text 38"/>
          <p:cNvSpPr/>
          <p:nvPr/>
        </p:nvSpPr>
        <p:spPr>
          <a:xfrm>
            <a:off x="548640" y="6437376"/>
            <a:ext cx="5486400" cy="274320"/>
          </a:xfrm>
          <a:prstGeom prst="rect">
            <a:avLst/>
          </a:prstGeom>
          <a:noFill/>
          <a:ln/>
        </p:spPr>
        <p:txBody>
          <a:bodyPr wrap="square" lIns="0" tIns="0" rIns="0" bIns="0" rtlCol="0" anchor="ctr"/>
          <a:lstStyle/>
          <a:p>
            <a:pPr indent="0" marL="0">
              <a:buNone/>
            </a:pPr>
            <a:r>
              <a:rPr lang="en-US" sz="900" b="1" dirty="0">
                <a:solidFill>
                  <a:srgbClr val="7C3AED"/>
                </a:solidFill>
                <a:latin typeface="Calibri" pitchFamily="34" charset="0"/>
                <a:ea typeface="Calibri" pitchFamily="34" charset="-122"/>
                <a:cs typeface="Calibri" pitchFamily="34" charset="-120"/>
              </a:rPr>
              <a:t>Qwipo</a:t>
            </a:r>
            <a:pPr indent="0" marL="0">
              <a:buNone/>
            </a:pPr>
            <a:r>
              <a:rPr lang="en-US" sz="900" dirty="0">
                <a:solidFill>
                  <a:srgbClr val="94A3B8"/>
                </a:solidFill>
                <a:latin typeface="Calibri" pitchFamily="34" charset="0"/>
                <a:ea typeface="Calibri" pitchFamily="34" charset="-122"/>
                <a:cs typeface="Calibri" pitchFamily="34" charset="-120"/>
              </a:rPr>
              <a:t>   Seller Store Platform</a:t>
            </a:r>
            <a:endParaRPr lang="en-US" sz="900" dirty="0"/>
          </a:p>
        </p:txBody>
      </p:sp>
      <p:sp>
        <p:nvSpPr>
          <p:cNvPr id="49" name="Text 39"/>
          <p:cNvSpPr/>
          <p:nvPr/>
        </p:nvSpPr>
        <p:spPr>
          <a:xfrm>
            <a:off x="9966960" y="6437376"/>
            <a:ext cx="1673352"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07 / 20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Trebuchet MS" pitchFamily="34" charset="0"/>
                <a:ea typeface="Trebuchet MS" pitchFamily="34" charset="-122"/>
                <a:cs typeface="Trebuchet MS" pitchFamily="34" charset="-120"/>
              </a:rPr>
              <a:t>FEATURE · CATALOG</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Trebuchet MS" pitchFamily="34" charset="0"/>
                <a:ea typeface="Trebuchet MS" pitchFamily="34" charset="-122"/>
                <a:cs typeface="Trebuchet MS" pitchFamily="34" charset="-120"/>
              </a:rPr>
              <a:t>Build a verified catalog in hours, not months</a:t>
            </a:r>
            <a:endParaRPr lang="en-US" sz="2900" dirty="0"/>
          </a:p>
        </p:txBody>
      </p:sp>
      <p:sp>
        <p:nvSpPr>
          <p:cNvPr id="4" name="Shape 2"/>
          <p:cNvSpPr/>
          <p:nvPr/>
        </p:nvSpPr>
        <p:spPr>
          <a:xfrm>
            <a:off x="548640" y="1664208"/>
            <a:ext cx="5349240" cy="1078992"/>
          </a:xfrm>
          <a:prstGeom prst="roundRect">
            <a:avLst>
              <a:gd name="adj" fmla="val 7627"/>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5" name="Shape 3"/>
          <p:cNvSpPr/>
          <p:nvPr/>
        </p:nvSpPr>
        <p:spPr>
          <a:xfrm>
            <a:off x="731520" y="1929384"/>
            <a:ext cx="548640" cy="548640"/>
          </a:xfrm>
          <a:prstGeom prst="roundRect">
            <a:avLst>
              <a:gd name="adj" fmla="val 26000"/>
            </a:avLst>
          </a:prstGeom>
          <a:solidFill>
            <a:srgbClr val="16A34A"/>
          </a:solidFill>
          <a:ln/>
        </p:spPr>
      </p:sp>
      <p:pic>
        <p:nvPicPr>
          <p:cNvPr id="6" name="Image 0" descr="C:\Users\Lenovo\AppData\Local\Temp\qwipo-deck\assets\ic_FaFileExcel_w.png">    </p:cNvPr>
          <p:cNvPicPr>
            <a:picLocks noChangeAspect="1"/>
          </p:cNvPicPr>
          <p:nvPr/>
        </p:nvPicPr>
        <p:blipFill>
          <a:blip r:embed="rId1"/>
          <a:stretch>
            <a:fillRect/>
          </a:stretch>
        </p:blipFill>
        <p:spPr>
          <a:xfrm>
            <a:off x="857707" y="2055571"/>
            <a:ext cx="296266" cy="296266"/>
          </a:xfrm>
          <a:prstGeom prst="rect">
            <a:avLst/>
          </a:prstGeom>
        </p:spPr>
      </p:pic>
      <p:sp>
        <p:nvSpPr>
          <p:cNvPr id="7" name="Text 4"/>
          <p:cNvSpPr/>
          <p:nvPr/>
        </p:nvSpPr>
        <p:spPr>
          <a:xfrm>
            <a:off x="1417320" y="1810512"/>
            <a:ext cx="4389120" cy="292608"/>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Bulk Excel / CSV import</a:t>
            </a:r>
            <a:endParaRPr lang="en-US" sz="1350" dirty="0"/>
          </a:p>
        </p:txBody>
      </p:sp>
      <p:sp>
        <p:nvSpPr>
          <p:cNvPr id="8" name="Text 5"/>
          <p:cNvSpPr/>
          <p:nvPr/>
        </p:nvSpPr>
        <p:spPr>
          <a:xfrm>
            <a:off x="1417320" y="2121408"/>
            <a:ext cx="4370832" cy="548640"/>
          </a:xfrm>
          <a:prstGeom prst="rect">
            <a:avLst/>
          </a:prstGeom>
          <a:noFill/>
          <a:ln/>
        </p:spPr>
        <p:txBody>
          <a:bodyPr wrap="square" lIns="0" tIns="0" rIns="0" bIns="0" rtlCol="0" anchor="t"/>
          <a:lstStyle/>
          <a:p>
            <a:pPr indent="0" marL="0">
              <a:lnSpc>
                <a:spcPct val="102000"/>
              </a:lnSpc>
              <a:buNone/>
            </a:pPr>
            <a:r>
              <a:rPr lang="en-US" sz="1080" dirty="0">
                <a:solidFill>
                  <a:srgbClr val="334155"/>
                </a:solidFill>
                <a:latin typeface="Calibri" pitchFamily="34" charset="0"/>
                <a:ea typeface="Calibri" pitchFamily="34" charset="-122"/>
                <a:cs typeface="Calibri" pitchFamily="34" charset="-120"/>
              </a:rPr>
              <a:t>Upload a template to onboard hundreds of SKUs; a validation report flags ONDC errors before commit.</a:t>
            </a:r>
            <a:endParaRPr lang="en-US" sz="1080" dirty="0"/>
          </a:p>
        </p:txBody>
      </p:sp>
      <p:sp>
        <p:nvSpPr>
          <p:cNvPr id="9" name="Shape 6"/>
          <p:cNvSpPr/>
          <p:nvPr/>
        </p:nvSpPr>
        <p:spPr>
          <a:xfrm>
            <a:off x="548640" y="2871216"/>
            <a:ext cx="5349240" cy="1078992"/>
          </a:xfrm>
          <a:prstGeom prst="roundRect">
            <a:avLst>
              <a:gd name="adj" fmla="val 7627"/>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10" name="Shape 7"/>
          <p:cNvSpPr/>
          <p:nvPr/>
        </p:nvSpPr>
        <p:spPr>
          <a:xfrm>
            <a:off x="731520" y="3136392"/>
            <a:ext cx="548640" cy="548640"/>
          </a:xfrm>
          <a:prstGeom prst="roundRect">
            <a:avLst>
              <a:gd name="adj" fmla="val 26000"/>
            </a:avLst>
          </a:prstGeom>
          <a:solidFill>
            <a:srgbClr val="7C3AED"/>
          </a:solidFill>
          <a:ln/>
        </p:spPr>
      </p:sp>
      <p:pic>
        <p:nvPicPr>
          <p:cNvPr id="11" name="Image 1" descr="C:\Users\Lenovo\AppData\Local\Temp\qwipo-deck\assets\ic_FaDatabase_w.png">    </p:cNvPr>
          <p:cNvPicPr>
            <a:picLocks noChangeAspect="1"/>
          </p:cNvPicPr>
          <p:nvPr/>
        </p:nvPicPr>
        <p:blipFill>
          <a:blip r:embed="rId2"/>
          <a:stretch>
            <a:fillRect/>
          </a:stretch>
        </p:blipFill>
        <p:spPr>
          <a:xfrm>
            <a:off x="857707" y="3262579"/>
            <a:ext cx="296266" cy="296266"/>
          </a:xfrm>
          <a:prstGeom prst="rect">
            <a:avLst/>
          </a:prstGeom>
        </p:spPr>
      </p:pic>
      <p:sp>
        <p:nvSpPr>
          <p:cNvPr id="12" name="Text 8"/>
          <p:cNvSpPr/>
          <p:nvPr/>
        </p:nvSpPr>
        <p:spPr>
          <a:xfrm>
            <a:off x="1417320" y="3017520"/>
            <a:ext cx="4389120" cy="292608"/>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Central Catalog Sync</a:t>
            </a:r>
            <a:endParaRPr lang="en-US" sz="1350" dirty="0"/>
          </a:p>
        </p:txBody>
      </p:sp>
      <p:sp>
        <p:nvSpPr>
          <p:cNvPr id="13" name="Text 9"/>
          <p:cNvSpPr/>
          <p:nvPr/>
        </p:nvSpPr>
        <p:spPr>
          <a:xfrm>
            <a:off x="1417320" y="3328416"/>
            <a:ext cx="4370832" cy="548640"/>
          </a:xfrm>
          <a:prstGeom prst="rect">
            <a:avLst/>
          </a:prstGeom>
          <a:noFill/>
          <a:ln/>
        </p:spPr>
        <p:txBody>
          <a:bodyPr wrap="square" lIns="0" tIns="0" rIns="0" bIns="0" rtlCol="0" anchor="t"/>
          <a:lstStyle/>
          <a:p>
            <a:pPr indent="0" marL="0">
              <a:lnSpc>
                <a:spcPct val="102000"/>
              </a:lnSpc>
              <a:buNone/>
            </a:pPr>
            <a:r>
              <a:rPr lang="en-US" sz="1080" dirty="0">
                <a:solidFill>
                  <a:srgbClr val="334155"/>
                </a:solidFill>
                <a:latin typeface="Calibri" pitchFamily="34" charset="0"/>
                <a:ea typeface="Calibri" pitchFamily="34" charset="-122"/>
                <a:cs typeface="Calibri" pitchFamily="34" charset="-120"/>
              </a:rPr>
              <a:t>Pull pre-validated SKUs from Qwipo's master catalog — 50K+ products, 100% verified.</a:t>
            </a:r>
            <a:endParaRPr lang="en-US" sz="1080" dirty="0"/>
          </a:p>
        </p:txBody>
      </p:sp>
      <p:sp>
        <p:nvSpPr>
          <p:cNvPr id="14" name="Shape 10"/>
          <p:cNvSpPr/>
          <p:nvPr/>
        </p:nvSpPr>
        <p:spPr>
          <a:xfrm>
            <a:off x="548640" y="4078224"/>
            <a:ext cx="5349240" cy="1078992"/>
          </a:xfrm>
          <a:prstGeom prst="roundRect">
            <a:avLst>
              <a:gd name="adj" fmla="val 7627"/>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15" name="Shape 11"/>
          <p:cNvSpPr/>
          <p:nvPr/>
        </p:nvSpPr>
        <p:spPr>
          <a:xfrm>
            <a:off x="731520" y="4343400"/>
            <a:ext cx="548640" cy="548640"/>
          </a:xfrm>
          <a:prstGeom prst="roundRect">
            <a:avLst>
              <a:gd name="adj" fmla="val 26000"/>
            </a:avLst>
          </a:prstGeom>
          <a:solidFill>
            <a:srgbClr val="2563EB"/>
          </a:solidFill>
          <a:ln/>
        </p:spPr>
      </p:sp>
      <p:pic>
        <p:nvPicPr>
          <p:cNvPr id="16" name="Image 2" descr="C:\Users\Lenovo\AppData\Local\Temp\qwipo-deck\assets\ic_FaBoxOpen_w.png">    </p:cNvPr>
          <p:cNvPicPr>
            <a:picLocks noChangeAspect="1"/>
          </p:cNvPicPr>
          <p:nvPr/>
        </p:nvPicPr>
        <p:blipFill>
          <a:blip r:embed="rId3"/>
          <a:stretch>
            <a:fillRect/>
          </a:stretch>
        </p:blipFill>
        <p:spPr>
          <a:xfrm>
            <a:off x="857707" y="4469587"/>
            <a:ext cx="296266" cy="296266"/>
          </a:xfrm>
          <a:prstGeom prst="rect">
            <a:avLst/>
          </a:prstGeom>
        </p:spPr>
      </p:pic>
      <p:sp>
        <p:nvSpPr>
          <p:cNvPr id="17" name="Text 12"/>
          <p:cNvSpPr/>
          <p:nvPr/>
        </p:nvSpPr>
        <p:spPr>
          <a:xfrm>
            <a:off x="1417320" y="4224528"/>
            <a:ext cx="4389120" cy="292608"/>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Manual entry</a:t>
            </a:r>
            <a:endParaRPr lang="en-US" sz="1350" dirty="0"/>
          </a:p>
        </p:txBody>
      </p:sp>
      <p:sp>
        <p:nvSpPr>
          <p:cNvPr id="18" name="Text 13"/>
          <p:cNvSpPr/>
          <p:nvPr/>
        </p:nvSpPr>
        <p:spPr>
          <a:xfrm>
            <a:off x="1417320" y="4535424"/>
            <a:ext cx="4370832" cy="548640"/>
          </a:xfrm>
          <a:prstGeom prst="rect">
            <a:avLst/>
          </a:prstGeom>
          <a:noFill/>
          <a:ln/>
        </p:spPr>
        <p:txBody>
          <a:bodyPr wrap="square" lIns="0" tIns="0" rIns="0" bIns="0" rtlCol="0" anchor="t"/>
          <a:lstStyle/>
          <a:p>
            <a:pPr indent="0" marL="0">
              <a:lnSpc>
                <a:spcPct val="102000"/>
              </a:lnSpc>
              <a:buNone/>
            </a:pPr>
            <a:r>
              <a:rPr lang="en-US" sz="1080" dirty="0">
                <a:solidFill>
                  <a:srgbClr val="334155"/>
                </a:solidFill>
                <a:latin typeface="Calibri" pitchFamily="34" charset="0"/>
                <a:ea typeface="Calibri" pitchFamily="34" charset="-122"/>
                <a:cs typeface="Calibri" pitchFamily="34" charset="-120"/>
              </a:rPr>
              <a:t>Full control of identity, pricing, inventory, ONDC fields and media for one-off SKUs.</a:t>
            </a:r>
            <a:endParaRPr lang="en-US" sz="1080" dirty="0"/>
          </a:p>
        </p:txBody>
      </p:sp>
      <p:sp>
        <p:nvSpPr>
          <p:cNvPr id="19" name="Shape 14"/>
          <p:cNvSpPr/>
          <p:nvPr/>
        </p:nvSpPr>
        <p:spPr>
          <a:xfrm>
            <a:off x="548640" y="5358384"/>
            <a:ext cx="5349240" cy="868680"/>
          </a:xfrm>
          <a:prstGeom prst="roundRect">
            <a:avLst>
              <a:gd name="adj" fmla="val 8421"/>
            </a:avLst>
          </a:prstGeom>
          <a:solidFill>
            <a:srgbClr val="F3EEFE"/>
          </a:solidFill>
          <a:ln w="12700">
            <a:solidFill>
              <a:srgbClr val="DDD0FB"/>
            </a:solidFill>
            <a:prstDash val="solid"/>
          </a:ln>
        </p:spPr>
      </p:sp>
      <p:sp>
        <p:nvSpPr>
          <p:cNvPr id="20" name="Shape 15"/>
          <p:cNvSpPr/>
          <p:nvPr/>
        </p:nvSpPr>
        <p:spPr>
          <a:xfrm>
            <a:off x="548640" y="5468112"/>
            <a:ext cx="64008" cy="649224"/>
          </a:xfrm>
          <a:prstGeom prst="rect">
            <a:avLst/>
          </a:prstGeom>
          <a:solidFill>
            <a:srgbClr val="7C3AED"/>
          </a:solidFill>
          <a:ln/>
        </p:spPr>
      </p:sp>
      <p:sp>
        <p:nvSpPr>
          <p:cNvPr id="21" name="Text 16"/>
          <p:cNvSpPr/>
          <p:nvPr/>
        </p:nvSpPr>
        <p:spPr>
          <a:xfrm>
            <a:off x="786384" y="5495544"/>
            <a:ext cx="4892040" cy="219456"/>
          </a:xfrm>
          <a:prstGeom prst="rect">
            <a:avLst/>
          </a:prstGeom>
          <a:noFill/>
          <a:ln/>
        </p:spPr>
        <p:txBody>
          <a:bodyPr wrap="square" lIns="0" tIns="0" rIns="0" bIns="0" rtlCol="0" anchor="ctr"/>
          <a:lstStyle/>
          <a:p>
            <a:pPr indent="0" marL="0">
              <a:buNone/>
            </a:pPr>
            <a:r>
              <a:rPr lang="en-US" sz="1000" b="1" spc="200" kern="0" dirty="0">
                <a:solidFill>
                  <a:srgbClr val="7C3AED"/>
                </a:solidFill>
                <a:latin typeface="Trebuchet MS" pitchFamily="34" charset="0"/>
                <a:ea typeface="Trebuchet MS" pitchFamily="34" charset="-122"/>
                <a:cs typeface="Trebuchet MS" pitchFamily="34" charset="-120"/>
              </a:rPr>
              <a:t>BUSINESS BENEFIT</a:t>
            </a:r>
            <a:endParaRPr lang="en-US" sz="1000" dirty="0"/>
          </a:p>
        </p:txBody>
      </p:sp>
      <p:sp>
        <p:nvSpPr>
          <p:cNvPr id="22" name="Text 17"/>
          <p:cNvSpPr/>
          <p:nvPr/>
        </p:nvSpPr>
        <p:spPr>
          <a:xfrm>
            <a:off x="786384" y="5742432"/>
            <a:ext cx="4892040" cy="365760"/>
          </a:xfrm>
          <a:prstGeom prst="rect">
            <a:avLst/>
          </a:prstGeom>
          <a:noFill/>
          <a:ln/>
        </p:spPr>
        <p:txBody>
          <a:bodyPr wrap="square" lIns="0" tIns="0" rIns="0" bIns="0" rtlCol="0" anchor="t"/>
          <a:lstStyle/>
          <a:p>
            <a:pPr indent="0" marL="0">
              <a:lnSpc>
                <a:spcPct val="104000"/>
              </a:lnSpc>
              <a:buNone/>
            </a:pPr>
            <a:r>
              <a:rPr lang="en-US" sz="1150" dirty="0">
                <a:solidFill>
                  <a:srgbClr val="1E293B"/>
                </a:solidFill>
                <a:latin typeface="Calibri" pitchFamily="34" charset="0"/>
                <a:ea typeface="Calibri" pitchFamily="34" charset="-122"/>
                <a:cs typeface="Calibri" pitchFamily="34" charset="-120"/>
              </a:rPr>
              <a:t>Catalog digitisation stops being a project. Bulk upload and central sync turn weeks of manual data entry into a single, validated import.</a:t>
            </a:r>
            <a:endParaRPr lang="en-US" sz="1150" dirty="0"/>
          </a:p>
        </p:txBody>
      </p:sp>
      <p:sp>
        <p:nvSpPr>
          <p:cNvPr id="23" name="Shape 18"/>
          <p:cNvSpPr/>
          <p:nvPr/>
        </p:nvSpPr>
        <p:spPr>
          <a:xfrm>
            <a:off x="6035040" y="1664208"/>
            <a:ext cx="5623560" cy="4526280"/>
          </a:xfrm>
          <a:prstGeom prst="rect">
            <a:avLst/>
          </a:prstGeom>
          <a:solidFill>
            <a:srgbClr val="FFFFFF"/>
          </a:solidFill>
          <a:ln w="12700">
            <a:solidFill>
              <a:srgbClr val="E2E8F0"/>
            </a:solidFill>
            <a:prstDash val="solid"/>
          </a:ln>
          <a:effectLst>
            <a:outerShdw sx="100000" sy="100000" kx="0" ky="0" algn="bl" rotWithShape="0" blurRad="114300" dist="38100" dir="5400000">
              <a:srgbClr val="1E293B">
                <a:alpha val="18000"/>
              </a:srgbClr>
            </a:outerShdw>
          </a:effectLst>
        </p:spPr>
      </p:sp>
      <p:sp>
        <p:nvSpPr>
          <p:cNvPr id="24" name="Shape 19"/>
          <p:cNvSpPr/>
          <p:nvPr/>
        </p:nvSpPr>
        <p:spPr>
          <a:xfrm>
            <a:off x="6035040" y="1664208"/>
            <a:ext cx="5623560" cy="237744"/>
          </a:xfrm>
          <a:prstGeom prst="rect">
            <a:avLst/>
          </a:prstGeom>
          <a:solidFill>
            <a:srgbClr val="F1F5F9"/>
          </a:solidFill>
          <a:ln/>
        </p:spPr>
      </p:sp>
      <p:sp>
        <p:nvSpPr>
          <p:cNvPr id="25" name="Shape 20"/>
          <p:cNvSpPr/>
          <p:nvPr/>
        </p:nvSpPr>
        <p:spPr>
          <a:xfrm>
            <a:off x="6035040" y="1901952"/>
            <a:ext cx="5623560" cy="10973"/>
          </a:xfrm>
          <a:prstGeom prst="rect">
            <a:avLst/>
          </a:prstGeom>
          <a:solidFill>
            <a:srgbClr val="E2E8F0"/>
          </a:solidFill>
          <a:ln/>
        </p:spPr>
      </p:sp>
      <p:sp>
        <p:nvSpPr>
          <p:cNvPr id="26" name="Shape 21"/>
          <p:cNvSpPr/>
          <p:nvPr/>
        </p:nvSpPr>
        <p:spPr>
          <a:xfrm>
            <a:off x="6181344" y="1751076"/>
            <a:ext cx="64008" cy="64008"/>
          </a:xfrm>
          <a:prstGeom prst="ellipse">
            <a:avLst/>
          </a:prstGeom>
          <a:solidFill>
            <a:srgbClr val="F87171"/>
          </a:solidFill>
          <a:ln/>
        </p:spPr>
      </p:sp>
      <p:sp>
        <p:nvSpPr>
          <p:cNvPr id="27" name="Shape 22"/>
          <p:cNvSpPr/>
          <p:nvPr/>
        </p:nvSpPr>
        <p:spPr>
          <a:xfrm>
            <a:off x="6318504" y="1751076"/>
            <a:ext cx="64008" cy="64008"/>
          </a:xfrm>
          <a:prstGeom prst="ellipse">
            <a:avLst/>
          </a:prstGeom>
          <a:solidFill>
            <a:srgbClr val="FBBF24"/>
          </a:solidFill>
          <a:ln/>
        </p:spPr>
      </p:sp>
      <p:sp>
        <p:nvSpPr>
          <p:cNvPr id="28" name="Shape 23"/>
          <p:cNvSpPr/>
          <p:nvPr/>
        </p:nvSpPr>
        <p:spPr>
          <a:xfrm>
            <a:off x="6455664" y="1751076"/>
            <a:ext cx="64008" cy="64008"/>
          </a:xfrm>
          <a:prstGeom prst="ellipse">
            <a:avLst/>
          </a:prstGeom>
          <a:solidFill>
            <a:srgbClr val="34D399"/>
          </a:solidFill>
          <a:ln/>
        </p:spPr>
      </p:sp>
      <p:pic>
        <p:nvPicPr>
          <p:cNvPr id="29" name="Image 3" descr="C:\Users\Lenovo\AppData\Local\Temp\qwipo-deck\assets\bulk-import.png">    </p:cNvPr>
          <p:cNvPicPr>
            <a:picLocks noChangeAspect="1"/>
          </p:cNvPicPr>
          <p:nvPr/>
        </p:nvPicPr>
        <p:blipFill>
          <a:blip r:embed="rId4"/>
          <a:stretch>
            <a:fillRect/>
          </a:stretch>
        </p:blipFill>
        <p:spPr>
          <a:xfrm>
            <a:off x="6071616" y="2311718"/>
            <a:ext cx="5550408" cy="3469005"/>
          </a:xfrm>
          <a:prstGeom prst="rect">
            <a:avLst/>
          </a:prstGeom>
        </p:spPr>
      </p:pic>
      <p:sp>
        <p:nvSpPr>
          <p:cNvPr id="30" name="Text 24"/>
          <p:cNvSpPr/>
          <p:nvPr/>
        </p:nvSpPr>
        <p:spPr>
          <a:xfrm>
            <a:off x="548640" y="6437376"/>
            <a:ext cx="5486400" cy="274320"/>
          </a:xfrm>
          <a:prstGeom prst="rect">
            <a:avLst/>
          </a:prstGeom>
          <a:noFill/>
          <a:ln/>
        </p:spPr>
        <p:txBody>
          <a:bodyPr wrap="square" lIns="0" tIns="0" rIns="0" bIns="0" rtlCol="0" anchor="ctr"/>
          <a:lstStyle/>
          <a:p>
            <a:pPr indent="0" marL="0">
              <a:buNone/>
            </a:pPr>
            <a:r>
              <a:rPr lang="en-US" sz="900" b="1" dirty="0">
                <a:solidFill>
                  <a:srgbClr val="7C3AED"/>
                </a:solidFill>
                <a:latin typeface="Calibri" pitchFamily="34" charset="0"/>
                <a:ea typeface="Calibri" pitchFamily="34" charset="-122"/>
                <a:cs typeface="Calibri" pitchFamily="34" charset="-120"/>
              </a:rPr>
              <a:t>Qwipo</a:t>
            </a:r>
            <a:pPr indent="0" marL="0">
              <a:buNone/>
            </a:pPr>
            <a:r>
              <a:rPr lang="en-US" sz="900" dirty="0">
                <a:solidFill>
                  <a:srgbClr val="94A3B8"/>
                </a:solidFill>
                <a:latin typeface="Calibri" pitchFamily="34" charset="0"/>
                <a:ea typeface="Calibri" pitchFamily="34" charset="-122"/>
                <a:cs typeface="Calibri" pitchFamily="34" charset="-120"/>
              </a:rPr>
              <a:t>   Seller Store Platform</a:t>
            </a:r>
            <a:endParaRPr lang="en-US" sz="900" dirty="0"/>
          </a:p>
        </p:txBody>
      </p:sp>
      <p:sp>
        <p:nvSpPr>
          <p:cNvPr id="31" name="Text 25"/>
          <p:cNvSpPr/>
          <p:nvPr/>
        </p:nvSpPr>
        <p:spPr>
          <a:xfrm>
            <a:off x="9966960" y="6437376"/>
            <a:ext cx="1673352"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08 / 20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Trebuchet MS" pitchFamily="34" charset="0"/>
                <a:ea typeface="Trebuchet MS" pitchFamily="34" charset="-122"/>
                <a:cs typeface="Trebuchet MS" pitchFamily="34" charset="-120"/>
              </a:rPr>
              <a:t>FEATURE · DMS</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Trebuchet MS" pitchFamily="34" charset="0"/>
                <a:ea typeface="Trebuchet MS" pitchFamily="34" charset="-122"/>
                <a:cs typeface="Trebuchet MS" pitchFamily="34" charset="-120"/>
              </a:rPr>
              <a:t>Sync straight from your Distributor Management System</a:t>
            </a:r>
            <a:endParaRPr lang="en-US" sz="2900" dirty="0"/>
          </a:p>
        </p:txBody>
      </p:sp>
      <p:sp>
        <p:nvSpPr>
          <p:cNvPr id="4" name="Shape 2"/>
          <p:cNvSpPr/>
          <p:nvPr/>
        </p:nvSpPr>
        <p:spPr>
          <a:xfrm>
            <a:off x="640080" y="1828800"/>
            <a:ext cx="2487168" cy="1737360"/>
          </a:xfrm>
          <a:prstGeom prst="roundRect">
            <a:avLst>
              <a:gd name="adj" fmla="val 5263"/>
            </a:avLst>
          </a:prstGeom>
          <a:solidFill>
            <a:srgbClr val="F8FAFC"/>
          </a:solidFill>
          <a:ln w="15875">
            <a:solidFill>
              <a:srgbClr val="4338CA"/>
            </a:solidFill>
            <a:prstDash val="solid"/>
          </a:ln>
          <a:effectLst>
            <a:outerShdw sx="100000" sy="100000" kx="0" ky="0" algn="bl" rotWithShape="0" blurRad="88900" dist="25400" dir="5400000">
              <a:srgbClr val="334155">
                <a:alpha val="12000"/>
              </a:srgbClr>
            </a:outerShdw>
          </a:effectLst>
        </p:spPr>
      </p:sp>
      <p:sp>
        <p:nvSpPr>
          <p:cNvPr id="5" name="Shape 3"/>
          <p:cNvSpPr/>
          <p:nvPr/>
        </p:nvSpPr>
        <p:spPr>
          <a:xfrm>
            <a:off x="1655064" y="1975104"/>
            <a:ext cx="457200" cy="457200"/>
          </a:xfrm>
          <a:prstGeom prst="roundRect">
            <a:avLst>
              <a:gd name="adj" fmla="val 26000"/>
            </a:avLst>
          </a:prstGeom>
          <a:solidFill>
            <a:srgbClr val="4338CA"/>
          </a:solidFill>
          <a:ln/>
        </p:spPr>
      </p:sp>
      <p:pic>
        <p:nvPicPr>
          <p:cNvPr id="6" name="Image 0" descr="C:\Users\Lenovo\AppData\Local\Temp\qwipo-deck\assets\ic_FaDatabase_w.png">    </p:cNvPr>
          <p:cNvPicPr>
            <a:picLocks noChangeAspect="1"/>
          </p:cNvPicPr>
          <p:nvPr/>
        </p:nvPicPr>
        <p:blipFill>
          <a:blip r:embed="rId1"/>
          <a:stretch>
            <a:fillRect/>
          </a:stretch>
        </p:blipFill>
        <p:spPr>
          <a:xfrm>
            <a:off x="1760220" y="2080260"/>
            <a:ext cx="246888" cy="246888"/>
          </a:xfrm>
          <a:prstGeom prst="rect">
            <a:avLst/>
          </a:prstGeom>
        </p:spPr>
      </p:pic>
      <p:sp>
        <p:nvSpPr>
          <p:cNvPr id="7" name="Text 4"/>
          <p:cNvSpPr/>
          <p:nvPr/>
        </p:nvSpPr>
        <p:spPr>
          <a:xfrm>
            <a:off x="694944" y="2487168"/>
            <a:ext cx="2377440" cy="365760"/>
          </a:xfrm>
          <a:prstGeom prst="rect">
            <a:avLst/>
          </a:prstGeom>
          <a:noFill/>
          <a:ln/>
        </p:spPr>
        <p:txBody>
          <a:bodyPr wrap="square" lIns="0" tIns="0" rIns="0" bIns="0" rtlCol="0" anchor="t"/>
          <a:lstStyle/>
          <a:p>
            <a:pPr algn="ctr" indent="0" marL="0">
              <a:buNone/>
            </a:pPr>
            <a:r>
              <a:rPr lang="en-US" sz="1150" b="1" dirty="0">
                <a:solidFill>
                  <a:srgbClr val="0F172A"/>
                </a:solidFill>
                <a:latin typeface="Trebuchet MS" pitchFamily="34" charset="0"/>
                <a:ea typeface="Trebuchet MS" pitchFamily="34" charset="-122"/>
                <a:cs typeface="Trebuchet MS" pitchFamily="34" charset="-120"/>
              </a:rPr>
              <a:t>DMS</a:t>
            </a:r>
            <a:endParaRPr lang="en-US" sz="1150" dirty="0"/>
          </a:p>
        </p:txBody>
      </p:sp>
      <p:sp>
        <p:nvSpPr>
          <p:cNvPr id="8" name="Text 5"/>
          <p:cNvSpPr/>
          <p:nvPr/>
        </p:nvSpPr>
        <p:spPr>
          <a:xfrm>
            <a:off x="713232" y="3108960"/>
            <a:ext cx="2340864" cy="402336"/>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Masters · stock · pricing</a:t>
            </a:r>
            <a:endParaRPr lang="en-US" sz="900" dirty="0"/>
          </a:p>
        </p:txBody>
      </p:sp>
      <p:pic>
        <p:nvPicPr>
          <p:cNvPr id="9" name="Image 1" descr="C:\Users\Lenovo\AppData\Local\Temp\qwipo-deck\assets\ic_FaArrowRight_c.png">    </p:cNvPr>
          <p:cNvPicPr>
            <a:picLocks noChangeAspect="1"/>
          </p:cNvPicPr>
          <p:nvPr/>
        </p:nvPicPr>
        <p:blipFill>
          <a:blip r:embed="rId2"/>
          <a:stretch>
            <a:fillRect/>
          </a:stretch>
        </p:blipFill>
        <p:spPr>
          <a:xfrm>
            <a:off x="3246120" y="2560320"/>
            <a:ext cx="274320" cy="274320"/>
          </a:xfrm>
          <a:prstGeom prst="rect">
            <a:avLst/>
          </a:prstGeom>
        </p:spPr>
      </p:pic>
      <p:sp>
        <p:nvSpPr>
          <p:cNvPr id="10" name="Shape 6"/>
          <p:cNvSpPr/>
          <p:nvPr/>
        </p:nvSpPr>
        <p:spPr>
          <a:xfrm>
            <a:off x="3602736" y="1828800"/>
            <a:ext cx="2487168" cy="1737360"/>
          </a:xfrm>
          <a:prstGeom prst="roundRect">
            <a:avLst>
              <a:gd name="adj" fmla="val 5263"/>
            </a:avLst>
          </a:prstGeom>
          <a:solidFill>
            <a:srgbClr val="F3EEFE"/>
          </a:solidFill>
          <a:ln w="15875">
            <a:solidFill>
              <a:srgbClr val="7C3AED"/>
            </a:solidFill>
            <a:prstDash val="solid"/>
          </a:ln>
          <a:effectLst>
            <a:outerShdw sx="100000" sy="100000" kx="0" ky="0" algn="bl" rotWithShape="0" blurRad="88900" dist="25400" dir="5400000">
              <a:srgbClr val="334155">
                <a:alpha val="12000"/>
              </a:srgbClr>
            </a:outerShdw>
          </a:effectLst>
        </p:spPr>
      </p:sp>
      <p:sp>
        <p:nvSpPr>
          <p:cNvPr id="11" name="Shape 7"/>
          <p:cNvSpPr/>
          <p:nvPr/>
        </p:nvSpPr>
        <p:spPr>
          <a:xfrm>
            <a:off x="4617720" y="1975104"/>
            <a:ext cx="457200" cy="457200"/>
          </a:xfrm>
          <a:prstGeom prst="roundRect">
            <a:avLst>
              <a:gd name="adj" fmla="val 26000"/>
            </a:avLst>
          </a:prstGeom>
          <a:solidFill>
            <a:srgbClr val="7C3AED"/>
          </a:solidFill>
          <a:ln/>
        </p:spPr>
      </p:sp>
      <p:pic>
        <p:nvPicPr>
          <p:cNvPr id="12" name="Image 2" descr="C:\Users\Lenovo\AppData\Local\Temp\qwipo-deck\assets\ic_FaPlug_w.png">    </p:cNvPr>
          <p:cNvPicPr>
            <a:picLocks noChangeAspect="1"/>
          </p:cNvPicPr>
          <p:nvPr/>
        </p:nvPicPr>
        <p:blipFill>
          <a:blip r:embed="rId3"/>
          <a:stretch>
            <a:fillRect/>
          </a:stretch>
        </p:blipFill>
        <p:spPr>
          <a:xfrm>
            <a:off x="4722876" y="2080260"/>
            <a:ext cx="246888" cy="246888"/>
          </a:xfrm>
          <a:prstGeom prst="rect">
            <a:avLst/>
          </a:prstGeom>
        </p:spPr>
      </p:pic>
      <p:sp>
        <p:nvSpPr>
          <p:cNvPr id="13" name="Text 8"/>
          <p:cNvSpPr/>
          <p:nvPr/>
        </p:nvSpPr>
        <p:spPr>
          <a:xfrm>
            <a:off x="3657600" y="2487168"/>
            <a:ext cx="2377440" cy="365760"/>
          </a:xfrm>
          <a:prstGeom prst="rect">
            <a:avLst/>
          </a:prstGeom>
          <a:noFill/>
          <a:ln/>
        </p:spPr>
        <p:txBody>
          <a:bodyPr wrap="square" lIns="0" tIns="0" rIns="0" bIns="0" rtlCol="0" anchor="t"/>
          <a:lstStyle/>
          <a:p>
            <a:pPr algn="ctr" indent="0" marL="0">
              <a:buNone/>
            </a:pPr>
            <a:r>
              <a:rPr lang="en-US" sz="1150" b="1" dirty="0">
                <a:solidFill>
                  <a:srgbClr val="0F172A"/>
                </a:solidFill>
                <a:latin typeface="Trebuchet MS" pitchFamily="34" charset="0"/>
                <a:ea typeface="Trebuchet MS" pitchFamily="34" charset="-122"/>
                <a:cs typeface="Trebuchet MS" pitchFamily="34" charset="-120"/>
              </a:rPr>
              <a:t>Qwipo Connector</a:t>
            </a:r>
            <a:endParaRPr lang="en-US" sz="1150" dirty="0"/>
          </a:p>
        </p:txBody>
      </p:sp>
      <p:sp>
        <p:nvSpPr>
          <p:cNvPr id="14" name="Text 9"/>
          <p:cNvSpPr/>
          <p:nvPr/>
        </p:nvSpPr>
        <p:spPr>
          <a:xfrm>
            <a:off x="3675888" y="3108960"/>
            <a:ext cx="2340864" cy="402336"/>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Per-seller, scheduled sync</a:t>
            </a:r>
            <a:endParaRPr lang="en-US" sz="900" dirty="0"/>
          </a:p>
        </p:txBody>
      </p:sp>
      <p:pic>
        <p:nvPicPr>
          <p:cNvPr id="15" name="Image 3" descr="C:\Users\Lenovo\AppData\Local\Temp\qwipo-deck\assets\ic_FaArrowRight_c.png">    </p:cNvPr>
          <p:cNvPicPr>
            <a:picLocks noChangeAspect="1"/>
          </p:cNvPicPr>
          <p:nvPr/>
        </p:nvPicPr>
        <p:blipFill>
          <a:blip r:embed="rId4"/>
          <a:stretch>
            <a:fillRect/>
          </a:stretch>
        </p:blipFill>
        <p:spPr>
          <a:xfrm>
            <a:off x="6208776" y="2560320"/>
            <a:ext cx="274320" cy="274320"/>
          </a:xfrm>
          <a:prstGeom prst="rect">
            <a:avLst/>
          </a:prstGeom>
        </p:spPr>
      </p:pic>
      <p:sp>
        <p:nvSpPr>
          <p:cNvPr id="16" name="Shape 10"/>
          <p:cNvSpPr/>
          <p:nvPr/>
        </p:nvSpPr>
        <p:spPr>
          <a:xfrm>
            <a:off x="6565392" y="1828800"/>
            <a:ext cx="2487168" cy="1737360"/>
          </a:xfrm>
          <a:prstGeom prst="roundRect">
            <a:avLst>
              <a:gd name="adj" fmla="val 5263"/>
            </a:avLst>
          </a:prstGeom>
          <a:solidFill>
            <a:srgbClr val="F8FAFC"/>
          </a:solidFill>
          <a:ln w="15875">
            <a:solidFill>
              <a:srgbClr val="2563EB"/>
            </a:solidFill>
            <a:prstDash val="solid"/>
          </a:ln>
          <a:effectLst>
            <a:outerShdw sx="100000" sy="100000" kx="0" ky="0" algn="bl" rotWithShape="0" blurRad="88900" dist="25400" dir="5400000">
              <a:srgbClr val="334155">
                <a:alpha val="12000"/>
              </a:srgbClr>
            </a:outerShdw>
          </a:effectLst>
        </p:spPr>
      </p:sp>
      <p:sp>
        <p:nvSpPr>
          <p:cNvPr id="17" name="Shape 11"/>
          <p:cNvSpPr/>
          <p:nvPr/>
        </p:nvSpPr>
        <p:spPr>
          <a:xfrm>
            <a:off x="7580376" y="1975104"/>
            <a:ext cx="457200" cy="457200"/>
          </a:xfrm>
          <a:prstGeom prst="roundRect">
            <a:avLst>
              <a:gd name="adj" fmla="val 26000"/>
            </a:avLst>
          </a:prstGeom>
          <a:solidFill>
            <a:srgbClr val="2563EB"/>
          </a:solidFill>
          <a:ln/>
        </p:spPr>
      </p:sp>
      <p:pic>
        <p:nvPicPr>
          <p:cNvPr id="18" name="Image 4" descr="C:\Users\Lenovo\AppData\Local\Temp\qwipo-deck\assets\ic_FaBoxes_w.png">    </p:cNvPr>
          <p:cNvPicPr>
            <a:picLocks noChangeAspect="1"/>
          </p:cNvPicPr>
          <p:nvPr/>
        </p:nvPicPr>
        <p:blipFill>
          <a:blip r:embed="rId5"/>
          <a:stretch>
            <a:fillRect/>
          </a:stretch>
        </p:blipFill>
        <p:spPr>
          <a:xfrm>
            <a:off x="7685532" y="2080260"/>
            <a:ext cx="246888" cy="246888"/>
          </a:xfrm>
          <a:prstGeom prst="rect">
            <a:avLst/>
          </a:prstGeom>
        </p:spPr>
      </p:pic>
      <p:sp>
        <p:nvSpPr>
          <p:cNvPr id="19" name="Text 12"/>
          <p:cNvSpPr/>
          <p:nvPr/>
        </p:nvSpPr>
        <p:spPr>
          <a:xfrm>
            <a:off x="6620256" y="2487168"/>
            <a:ext cx="2377440" cy="365760"/>
          </a:xfrm>
          <a:prstGeom prst="rect">
            <a:avLst/>
          </a:prstGeom>
          <a:noFill/>
          <a:ln/>
        </p:spPr>
        <p:txBody>
          <a:bodyPr wrap="square" lIns="0" tIns="0" rIns="0" bIns="0" rtlCol="0" anchor="t"/>
          <a:lstStyle/>
          <a:p>
            <a:pPr algn="ctr" indent="0" marL="0">
              <a:buNone/>
            </a:pPr>
            <a:r>
              <a:rPr lang="en-US" sz="1150" b="1" dirty="0">
                <a:solidFill>
                  <a:srgbClr val="0F172A"/>
                </a:solidFill>
                <a:latin typeface="Trebuchet MS" pitchFamily="34" charset="0"/>
                <a:ea typeface="Trebuchet MS" pitchFamily="34" charset="-122"/>
                <a:cs typeface="Trebuchet MS" pitchFamily="34" charset="-120"/>
              </a:rPr>
              <a:t>Auto SKU + inventory</a:t>
            </a:r>
            <a:endParaRPr lang="en-US" sz="1150" dirty="0"/>
          </a:p>
        </p:txBody>
      </p:sp>
      <p:sp>
        <p:nvSpPr>
          <p:cNvPr id="20" name="Text 13"/>
          <p:cNvSpPr/>
          <p:nvPr/>
        </p:nvSpPr>
        <p:spPr>
          <a:xfrm>
            <a:off x="6638544" y="3108960"/>
            <a:ext cx="2340864" cy="402336"/>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Products created, stock updated</a:t>
            </a:r>
            <a:endParaRPr lang="en-US" sz="900" dirty="0"/>
          </a:p>
        </p:txBody>
      </p:sp>
      <p:pic>
        <p:nvPicPr>
          <p:cNvPr id="21" name="Image 5" descr="C:\Users\Lenovo\AppData\Local\Temp\qwipo-deck\assets\ic_FaArrowRight_c.png">    </p:cNvPr>
          <p:cNvPicPr>
            <a:picLocks noChangeAspect="1"/>
          </p:cNvPicPr>
          <p:nvPr/>
        </p:nvPicPr>
        <p:blipFill>
          <a:blip r:embed="rId6"/>
          <a:stretch>
            <a:fillRect/>
          </a:stretch>
        </p:blipFill>
        <p:spPr>
          <a:xfrm>
            <a:off x="9171432" y="2560320"/>
            <a:ext cx="274320" cy="274320"/>
          </a:xfrm>
          <a:prstGeom prst="rect">
            <a:avLst/>
          </a:prstGeom>
        </p:spPr>
      </p:pic>
      <p:sp>
        <p:nvSpPr>
          <p:cNvPr id="22" name="Shape 14"/>
          <p:cNvSpPr/>
          <p:nvPr/>
        </p:nvSpPr>
        <p:spPr>
          <a:xfrm>
            <a:off x="9528048" y="1828800"/>
            <a:ext cx="2487168" cy="1737360"/>
          </a:xfrm>
          <a:prstGeom prst="roundRect">
            <a:avLst>
              <a:gd name="adj" fmla="val 5263"/>
            </a:avLst>
          </a:prstGeom>
          <a:solidFill>
            <a:srgbClr val="F8FAFC"/>
          </a:solidFill>
          <a:ln w="15875">
            <a:solidFill>
              <a:srgbClr val="16A34A"/>
            </a:solidFill>
            <a:prstDash val="solid"/>
          </a:ln>
          <a:effectLst>
            <a:outerShdw sx="100000" sy="100000" kx="0" ky="0" algn="bl" rotWithShape="0" blurRad="88900" dist="25400" dir="5400000">
              <a:srgbClr val="334155">
                <a:alpha val="12000"/>
              </a:srgbClr>
            </a:outerShdw>
          </a:effectLst>
        </p:spPr>
      </p:sp>
      <p:sp>
        <p:nvSpPr>
          <p:cNvPr id="23" name="Shape 15"/>
          <p:cNvSpPr/>
          <p:nvPr/>
        </p:nvSpPr>
        <p:spPr>
          <a:xfrm>
            <a:off x="10543032" y="1975104"/>
            <a:ext cx="457200" cy="457200"/>
          </a:xfrm>
          <a:prstGeom prst="roundRect">
            <a:avLst>
              <a:gd name="adj" fmla="val 26000"/>
            </a:avLst>
          </a:prstGeom>
          <a:solidFill>
            <a:srgbClr val="16A34A"/>
          </a:solidFill>
          <a:ln/>
        </p:spPr>
      </p:sp>
      <p:pic>
        <p:nvPicPr>
          <p:cNvPr id="24" name="Image 6" descr="C:\Users\Lenovo\AppData\Local\Temp\qwipo-deck\assets\ic_FaStore_w.png">    </p:cNvPr>
          <p:cNvPicPr>
            <a:picLocks noChangeAspect="1"/>
          </p:cNvPicPr>
          <p:nvPr/>
        </p:nvPicPr>
        <p:blipFill>
          <a:blip r:embed="rId7"/>
          <a:stretch>
            <a:fillRect/>
          </a:stretch>
        </p:blipFill>
        <p:spPr>
          <a:xfrm>
            <a:off x="10648188" y="2080260"/>
            <a:ext cx="246888" cy="246888"/>
          </a:xfrm>
          <a:prstGeom prst="rect">
            <a:avLst/>
          </a:prstGeom>
        </p:spPr>
      </p:pic>
      <p:sp>
        <p:nvSpPr>
          <p:cNvPr id="25" name="Text 16"/>
          <p:cNvSpPr/>
          <p:nvPr/>
        </p:nvSpPr>
        <p:spPr>
          <a:xfrm>
            <a:off x="9582912" y="2487168"/>
            <a:ext cx="2377440" cy="365760"/>
          </a:xfrm>
          <a:prstGeom prst="rect">
            <a:avLst/>
          </a:prstGeom>
          <a:noFill/>
          <a:ln/>
        </p:spPr>
        <p:txBody>
          <a:bodyPr wrap="square" lIns="0" tIns="0" rIns="0" bIns="0" rtlCol="0" anchor="t"/>
          <a:lstStyle/>
          <a:p>
            <a:pPr algn="ctr" indent="0" marL="0">
              <a:buNone/>
            </a:pPr>
            <a:r>
              <a:rPr lang="en-US" sz="1150" b="1" dirty="0">
                <a:solidFill>
                  <a:srgbClr val="0F172A"/>
                </a:solidFill>
                <a:latin typeface="Trebuchet MS" pitchFamily="34" charset="0"/>
                <a:ea typeface="Trebuchet MS" pitchFamily="34" charset="-122"/>
                <a:cs typeface="Trebuchet MS" pitchFamily="34" charset="-120"/>
              </a:rPr>
              <a:t>Seller Catalog</a:t>
            </a:r>
            <a:endParaRPr lang="en-US" sz="1150" dirty="0"/>
          </a:p>
        </p:txBody>
      </p:sp>
      <p:sp>
        <p:nvSpPr>
          <p:cNvPr id="26" name="Text 17"/>
          <p:cNvSpPr/>
          <p:nvPr/>
        </p:nvSpPr>
        <p:spPr>
          <a:xfrm>
            <a:off x="9601200" y="3108960"/>
            <a:ext cx="2340864" cy="402336"/>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Live &amp; ONDC-ready</a:t>
            </a:r>
            <a:endParaRPr lang="en-US" sz="900" dirty="0"/>
          </a:p>
        </p:txBody>
      </p:sp>
      <p:sp>
        <p:nvSpPr>
          <p:cNvPr id="27" name="Text 18"/>
          <p:cNvSpPr/>
          <p:nvPr/>
        </p:nvSpPr>
        <p:spPr>
          <a:xfrm>
            <a:off x="640080" y="3977640"/>
            <a:ext cx="5486400" cy="274320"/>
          </a:xfrm>
          <a:prstGeom prst="rect">
            <a:avLst/>
          </a:prstGeom>
          <a:noFill/>
          <a:ln/>
        </p:spPr>
        <p:txBody>
          <a:bodyPr wrap="square" lIns="0" tIns="0" rIns="0" bIns="0" rtlCol="0" anchor="ctr"/>
          <a:lstStyle/>
          <a:p>
            <a:pPr indent="0" marL="0">
              <a:buNone/>
            </a:pPr>
            <a:r>
              <a:rPr lang="en-US" sz="1100" b="1" spc="150" kern="0" dirty="0">
                <a:solidFill>
                  <a:srgbClr val="7C3AED"/>
                </a:solidFill>
                <a:latin typeface="Trebuchet MS" pitchFamily="34" charset="0"/>
                <a:ea typeface="Trebuchet MS" pitchFamily="34" charset="-122"/>
                <a:cs typeface="Trebuchet MS" pitchFamily="34" charset="-120"/>
              </a:rPr>
              <a:t>WHAT SYNCS AUTOMATICALLY</a:t>
            </a:r>
            <a:endParaRPr lang="en-US" sz="1100" dirty="0"/>
          </a:p>
        </p:txBody>
      </p:sp>
      <p:sp>
        <p:nvSpPr>
          <p:cNvPr id="28" name="Shape 19"/>
          <p:cNvSpPr/>
          <p:nvPr/>
        </p:nvSpPr>
        <p:spPr>
          <a:xfrm>
            <a:off x="640080" y="4315968"/>
            <a:ext cx="2542032" cy="713232"/>
          </a:xfrm>
          <a:prstGeom prst="roundRect">
            <a:avLst>
              <a:gd name="adj" fmla="val 11538"/>
            </a:avLst>
          </a:prstGeom>
          <a:solidFill>
            <a:srgbClr val="F8FAFC"/>
          </a:solidFill>
          <a:ln w="12700">
            <a:solidFill>
              <a:srgbClr val="E2E8F0"/>
            </a:solidFill>
            <a:prstDash val="solid"/>
          </a:ln>
        </p:spPr>
      </p:sp>
      <p:sp>
        <p:nvSpPr>
          <p:cNvPr id="29" name="Shape 20"/>
          <p:cNvSpPr/>
          <p:nvPr/>
        </p:nvSpPr>
        <p:spPr>
          <a:xfrm>
            <a:off x="786384" y="4443984"/>
            <a:ext cx="457200" cy="457200"/>
          </a:xfrm>
          <a:prstGeom prst="roundRect">
            <a:avLst>
              <a:gd name="adj" fmla="val 26000"/>
            </a:avLst>
          </a:prstGeom>
          <a:solidFill>
            <a:srgbClr val="2563EB"/>
          </a:solidFill>
          <a:ln/>
        </p:spPr>
      </p:sp>
      <p:pic>
        <p:nvPicPr>
          <p:cNvPr id="30" name="Image 7" descr="C:\Users\Lenovo\AppData\Local\Temp\qwipo-deck\assets\ic_FaBoxOpen_w.png">    </p:cNvPr>
          <p:cNvPicPr>
            <a:picLocks noChangeAspect="1"/>
          </p:cNvPicPr>
          <p:nvPr/>
        </p:nvPicPr>
        <p:blipFill>
          <a:blip r:embed="rId8"/>
          <a:stretch>
            <a:fillRect/>
          </a:stretch>
        </p:blipFill>
        <p:spPr>
          <a:xfrm>
            <a:off x="891540" y="4549140"/>
            <a:ext cx="246888" cy="246888"/>
          </a:xfrm>
          <a:prstGeom prst="rect">
            <a:avLst/>
          </a:prstGeom>
        </p:spPr>
      </p:pic>
      <p:sp>
        <p:nvSpPr>
          <p:cNvPr id="31" name="Text 21"/>
          <p:cNvSpPr/>
          <p:nvPr/>
        </p:nvSpPr>
        <p:spPr>
          <a:xfrm>
            <a:off x="1353312" y="4315968"/>
            <a:ext cx="1783080" cy="713232"/>
          </a:xfrm>
          <a:prstGeom prst="rect">
            <a:avLst/>
          </a:prstGeom>
          <a:noFill/>
          <a:ln/>
        </p:spPr>
        <p:txBody>
          <a:bodyPr wrap="square" lIns="0" tIns="0" rIns="0" bIns="0" rtlCol="0" anchor="ctr"/>
          <a:lstStyle/>
          <a:p>
            <a:pPr indent="0" marL="0">
              <a:buNone/>
            </a:pPr>
            <a:r>
              <a:rPr lang="en-US" sz="1150" b="1" dirty="0">
                <a:solidFill>
                  <a:srgbClr val="0F172A"/>
                </a:solidFill>
                <a:latin typeface="Trebuchet MS" pitchFamily="34" charset="0"/>
                <a:ea typeface="Trebuchet MS" pitchFamily="34" charset="-122"/>
                <a:cs typeface="Trebuchet MS" pitchFamily="34" charset="-120"/>
              </a:rPr>
              <a:t>Product masters</a:t>
            </a:r>
            <a:endParaRPr lang="en-US" sz="1150" dirty="0"/>
          </a:p>
        </p:txBody>
      </p:sp>
      <p:sp>
        <p:nvSpPr>
          <p:cNvPr id="32" name="Shape 22"/>
          <p:cNvSpPr/>
          <p:nvPr/>
        </p:nvSpPr>
        <p:spPr>
          <a:xfrm>
            <a:off x="3346704" y="4315968"/>
            <a:ext cx="2542032" cy="713232"/>
          </a:xfrm>
          <a:prstGeom prst="roundRect">
            <a:avLst>
              <a:gd name="adj" fmla="val 11538"/>
            </a:avLst>
          </a:prstGeom>
          <a:solidFill>
            <a:srgbClr val="F8FAFC"/>
          </a:solidFill>
          <a:ln w="12700">
            <a:solidFill>
              <a:srgbClr val="E2E8F0"/>
            </a:solidFill>
            <a:prstDash val="solid"/>
          </a:ln>
        </p:spPr>
      </p:sp>
      <p:sp>
        <p:nvSpPr>
          <p:cNvPr id="33" name="Shape 23"/>
          <p:cNvSpPr/>
          <p:nvPr/>
        </p:nvSpPr>
        <p:spPr>
          <a:xfrm>
            <a:off x="3493008" y="4443984"/>
            <a:ext cx="457200" cy="457200"/>
          </a:xfrm>
          <a:prstGeom prst="roundRect">
            <a:avLst>
              <a:gd name="adj" fmla="val 26000"/>
            </a:avLst>
          </a:prstGeom>
          <a:solidFill>
            <a:srgbClr val="2563EB"/>
          </a:solidFill>
          <a:ln/>
        </p:spPr>
      </p:sp>
      <p:pic>
        <p:nvPicPr>
          <p:cNvPr id="34" name="Image 8" descr="C:\Users\Lenovo\AppData\Local\Temp\qwipo-deck\assets\ic_FaTags_w.png">    </p:cNvPr>
          <p:cNvPicPr>
            <a:picLocks noChangeAspect="1"/>
          </p:cNvPicPr>
          <p:nvPr/>
        </p:nvPicPr>
        <p:blipFill>
          <a:blip r:embed="rId9"/>
          <a:stretch>
            <a:fillRect/>
          </a:stretch>
        </p:blipFill>
        <p:spPr>
          <a:xfrm>
            <a:off x="3598164" y="4549140"/>
            <a:ext cx="246888" cy="246888"/>
          </a:xfrm>
          <a:prstGeom prst="rect">
            <a:avLst/>
          </a:prstGeom>
        </p:spPr>
      </p:pic>
      <p:sp>
        <p:nvSpPr>
          <p:cNvPr id="35" name="Text 24"/>
          <p:cNvSpPr/>
          <p:nvPr/>
        </p:nvSpPr>
        <p:spPr>
          <a:xfrm>
            <a:off x="4059936" y="4315968"/>
            <a:ext cx="1783080" cy="713232"/>
          </a:xfrm>
          <a:prstGeom prst="rect">
            <a:avLst/>
          </a:prstGeom>
          <a:noFill/>
          <a:ln/>
        </p:spPr>
        <p:txBody>
          <a:bodyPr wrap="square" lIns="0" tIns="0" rIns="0" bIns="0" rtlCol="0" anchor="ctr"/>
          <a:lstStyle/>
          <a:p>
            <a:pPr indent="0" marL="0">
              <a:buNone/>
            </a:pPr>
            <a:r>
              <a:rPr lang="en-US" sz="1150" b="1" dirty="0">
                <a:solidFill>
                  <a:srgbClr val="0F172A"/>
                </a:solidFill>
                <a:latin typeface="Trebuchet MS" pitchFamily="34" charset="0"/>
                <a:ea typeface="Trebuchet MS" pitchFamily="34" charset="-122"/>
                <a:cs typeface="Trebuchet MS" pitchFamily="34" charset="-120"/>
              </a:rPr>
              <a:t>Pricing &amp; MRP</a:t>
            </a:r>
            <a:endParaRPr lang="en-US" sz="1150" dirty="0"/>
          </a:p>
        </p:txBody>
      </p:sp>
      <p:sp>
        <p:nvSpPr>
          <p:cNvPr id="36" name="Shape 25"/>
          <p:cNvSpPr/>
          <p:nvPr/>
        </p:nvSpPr>
        <p:spPr>
          <a:xfrm>
            <a:off x="6053328" y="4315968"/>
            <a:ext cx="2542032" cy="713232"/>
          </a:xfrm>
          <a:prstGeom prst="roundRect">
            <a:avLst>
              <a:gd name="adj" fmla="val 11538"/>
            </a:avLst>
          </a:prstGeom>
          <a:solidFill>
            <a:srgbClr val="F8FAFC"/>
          </a:solidFill>
          <a:ln w="12700">
            <a:solidFill>
              <a:srgbClr val="E2E8F0"/>
            </a:solidFill>
            <a:prstDash val="solid"/>
          </a:ln>
        </p:spPr>
      </p:sp>
      <p:sp>
        <p:nvSpPr>
          <p:cNvPr id="37" name="Shape 26"/>
          <p:cNvSpPr/>
          <p:nvPr/>
        </p:nvSpPr>
        <p:spPr>
          <a:xfrm>
            <a:off x="6199632" y="4443984"/>
            <a:ext cx="457200" cy="457200"/>
          </a:xfrm>
          <a:prstGeom prst="roundRect">
            <a:avLst>
              <a:gd name="adj" fmla="val 26000"/>
            </a:avLst>
          </a:prstGeom>
          <a:solidFill>
            <a:srgbClr val="2563EB"/>
          </a:solidFill>
          <a:ln/>
        </p:spPr>
      </p:sp>
      <p:pic>
        <p:nvPicPr>
          <p:cNvPr id="38" name="Image 9" descr="C:\Users\Lenovo\AppData\Local\Temp\qwipo-deck\assets\ic_FaWarehouse_w.png">    </p:cNvPr>
          <p:cNvPicPr>
            <a:picLocks noChangeAspect="1"/>
          </p:cNvPicPr>
          <p:nvPr/>
        </p:nvPicPr>
        <p:blipFill>
          <a:blip r:embed="rId10"/>
          <a:stretch>
            <a:fillRect/>
          </a:stretch>
        </p:blipFill>
        <p:spPr>
          <a:xfrm>
            <a:off x="6304788" y="4549140"/>
            <a:ext cx="246888" cy="246888"/>
          </a:xfrm>
          <a:prstGeom prst="rect">
            <a:avLst/>
          </a:prstGeom>
        </p:spPr>
      </p:pic>
      <p:sp>
        <p:nvSpPr>
          <p:cNvPr id="39" name="Text 27"/>
          <p:cNvSpPr/>
          <p:nvPr/>
        </p:nvSpPr>
        <p:spPr>
          <a:xfrm>
            <a:off x="6766560" y="4315968"/>
            <a:ext cx="1783080" cy="713232"/>
          </a:xfrm>
          <a:prstGeom prst="rect">
            <a:avLst/>
          </a:prstGeom>
          <a:noFill/>
          <a:ln/>
        </p:spPr>
        <p:txBody>
          <a:bodyPr wrap="square" lIns="0" tIns="0" rIns="0" bIns="0" rtlCol="0" anchor="ctr"/>
          <a:lstStyle/>
          <a:p>
            <a:pPr indent="0" marL="0">
              <a:buNone/>
            </a:pPr>
            <a:r>
              <a:rPr lang="en-US" sz="1150" b="1" dirty="0">
                <a:solidFill>
                  <a:srgbClr val="0F172A"/>
                </a:solidFill>
                <a:latin typeface="Trebuchet MS" pitchFamily="34" charset="0"/>
                <a:ea typeface="Trebuchet MS" pitchFamily="34" charset="-122"/>
                <a:cs typeface="Trebuchet MS" pitchFamily="34" charset="-120"/>
              </a:rPr>
              <a:t>Stock / inventory</a:t>
            </a:r>
            <a:endParaRPr lang="en-US" sz="1150" dirty="0"/>
          </a:p>
        </p:txBody>
      </p:sp>
      <p:sp>
        <p:nvSpPr>
          <p:cNvPr id="40" name="Shape 28"/>
          <p:cNvSpPr/>
          <p:nvPr/>
        </p:nvSpPr>
        <p:spPr>
          <a:xfrm>
            <a:off x="8759952" y="4315968"/>
            <a:ext cx="2542032" cy="713232"/>
          </a:xfrm>
          <a:prstGeom prst="roundRect">
            <a:avLst>
              <a:gd name="adj" fmla="val 11538"/>
            </a:avLst>
          </a:prstGeom>
          <a:solidFill>
            <a:srgbClr val="F8FAFC"/>
          </a:solidFill>
          <a:ln w="12700">
            <a:solidFill>
              <a:srgbClr val="E2E8F0"/>
            </a:solidFill>
            <a:prstDash val="solid"/>
          </a:ln>
        </p:spPr>
      </p:sp>
      <p:sp>
        <p:nvSpPr>
          <p:cNvPr id="41" name="Shape 29"/>
          <p:cNvSpPr/>
          <p:nvPr/>
        </p:nvSpPr>
        <p:spPr>
          <a:xfrm>
            <a:off x="8906256" y="4443984"/>
            <a:ext cx="457200" cy="457200"/>
          </a:xfrm>
          <a:prstGeom prst="roundRect">
            <a:avLst>
              <a:gd name="adj" fmla="val 26000"/>
            </a:avLst>
          </a:prstGeom>
          <a:solidFill>
            <a:srgbClr val="2563EB"/>
          </a:solidFill>
          <a:ln/>
        </p:spPr>
      </p:sp>
      <p:pic>
        <p:nvPicPr>
          <p:cNvPr id="42" name="Image 10" descr="C:\Users\Lenovo\AppData\Local\Temp\qwipo-deck\assets\ic_FaClipboardCheck_w.png">    </p:cNvPr>
          <p:cNvPicPr>
            <a:picLocks noChangeAspect="1"/>
          </p:cNvPicPr>
          <p:nvPr/>
        </p:nvPicPr>
        <p:blipFill>
          <a:blip r:embed="rId11"/>
          <a:stretch>
            <a:fillRect/>
          </a:stretch>
        </p:blipFill>
        <p:spPr>
          <a:xfrm>
            <a:off x="9011412" y="4549140"/>
            <a:ext cx="246888" cy="246888"/>
          </a:xfrm>
          <a:prstGeom prst="rect">
            <a:avLst/>
          </a:prstGeom>
        </p:spPr>
      </p:pic>
      <p:sp>
        <p:nvSpPr>
          <p:cNvPr id="43" name="Text 30"/>
          <p:cNvSpPr/>
          <p:nvPr/>
        </p:nvSpPr>
        <p:spPr>
          <a:xfrm>
            <a:off x="9473184" y="4315968"/>
            <a:ext cx="1783080" cy="713232"/>
          </a:xfrm>
          <a:prstGeom prst="rect">
            <a:avLst/>
          </a:prstGeom>
          <a:noFill/>
          <a:ln/>
        </p:spPr>
        <p:txBody>
          <a:bodyPr wrap="square" lIns="0" tIns="0" rIns="0" bIns="0" rtlCol="0" anchor="ctr"/>
          <a:lstStyle/>
          <a:p>
            <a:pPr indent="0" marL="0">
              <a:buNone/>
            </a:pPr>
            <a:r>
              <a:rPr lang="en-US" sz="1150" b="1" dirty="0">
                <a:solidFill>
                  <a:srgbClr val="0F172A"/>
                </a:solidFill>
                <a:latin typeface="Trebuchet MS" pitchFamily="34" charset="0"/>
                <a:ea typeface="Trebuchet MS" pitchFamily="34" charset="-122"/>
                <a:cs typeface="Trebuchet MS" pitchFamily="34" charset="-120"/>
              </a:rPr>
              <a:t>Schemes &amp; offers</a:t>
            </a:r>
            <a:endParaRPr lang="en-US" sz="1150" dirty="0"/>
          </a:p>
        </p:txBody>
      </p:sp>
      <p:sp>
        <p:nvSpPr>
          <p:cNvPr id="44" name="Shape 31"/>
          <p:cNvSpPr/>
          <p:nvPr/>
        </p:nvSpPr>
        <p:spPr>
          <a:xfrm>
            <a:off x="640080" y="5285232"/>
            <a:ext cx="10927080" cy="896112"/>
          </a:xfrm>
          <a:prstGeom prst="roundRect">
            <a:avLst>
              <a:gd name="adj" fmla="val 8163"/>
            </a:avLst>
          </a:prstGeom>
          <a:solidFill>
            <a:srgbClr val="F3EEFE"/>
          </a:solidFill>
          <a:ln w="12700">
            <a:solidFill>
              <a:srgbClr val="DDD0FB"/>
            </a:solidFill>
            <a:prstDash val="solid"/>
          </a:ln>
        </p:spPr>
      </p:sp>
      <p:sp>
        <p:nvSpPr>
          <p:cNvPr id="45" name="Shape 32"/>
          <p:cNvSpPr/>
          <p:nvPr/>
        </p:nvSpPr>
        <p:spPr>
          <a:xfrm>
            <a:off x="640080" y="5394960"/>
            <a:ext cx="64008" cy="676656"/>
          </a:xfrm>
          <a:prstGeom prst="rect">
            <a:avLst/>
          </a:prstGeom>
          <a:solidFill>
            <a:srgbClr val="7C3AED"/>
          </a:solidFill>
          <a:ln/>
        </p:spPr>
      </p:sp>
      <p:sp>
        <p:nvSpPr>
          <p:cNvPr id="46" name="Text 33"/>
          <p:cNvSpPr/>
          <p:nvPr/>
        </p:nvSpPr>
        <p:spPr>
          <a:xfrm>
            <a:off x="877824" y="5422392"/>
            <a:ext cx="10469880" cy="219456"/>
          </a:xfrm>
          <a:prstGeom prst="rect">
            <a:avLst/>
          </a:prstGeom>
          <a:noFill/>
          <a:ln/>
        </p:spPr>
        <p:txBody>
          <a:bodyPr wrap="square" lIns="0" tIns="0" rIns="0" bIns="0" rtlCol="0" anchor="ctr"/>
          <a:lstStyle/>
          <a:p>
            <a:pPr indent="0" marL="0">
              <a:buNone/>
            </a:pPr>
            <a:r>
              <a:rPr lang="en-US" sz="1000" b="1" spc="200" kern="0" dirty="0">
                <a:solidFill>
                  <a:srgbClr val="7C3AED"/>
                </a:solidFill>
                <a:latin typeface="Trebuchet MS" pitchFamily="34" charset="0"/>
                <a:ea typeface="Trebuchet MS" pitchFamily="34" charset="-122"/>
                <a:cs typeface="Trebuchet MS" pitchFamily="34" charset="-120"/>
              </a:rPr>
              <a:t>BUSINESS BENEFIT</a:t>
            </a:r>
            <a:endParaRPr lang="en-US" sz="1000" dirty="0"/>
          </a:p>
        </p:txBody>
      </p:sp>
      <p:sp>
        <p:nvSpPr>
          <p:cNvPr id="47" name="Text 34"/>
          <p:cNvSpPr/>
          <p:nvPr/>
        </p:nvSpPr>
        <p:spPr>
          <a:xfrm>
            <a:off x="877824" y="5669280"/>
            <a:ext cx="10469880" cy="393192"/>
          </a:xfrm>
          <a:prstGeom prst="rect">
            <a:avLst/>
          </a:prstGeom>
          <a:noFill/>
          <a:ln/>
        </p:spPr>
        <p:txBody>
          <a:bodyPr wrap="square" lIns="0" tIns="0" rIns="0" bIns="0" rtlCol="0" anchor="t"/>
          <a:lstStyle/>
          <a:p>
            <a:pPr indent="0" marL="0">
              <a:lnSpc>
                <a:spcPct val="104000"/>
              </a:lnSpc>
              <a:buNone/>
            </a:pPr>
            <a:r>
              <a:rPr lang="en-US" sz="1150" dirty="0">
                <a:solidFill>
                  <a:srgbClr val="1E293B"/>
                </a:solidFill>
                <a:latin typeface="Calibri" pitchFamily="34" charset="0"/>
                <a:ea typeface="Calibri" pitchFamily="34" charset="-122"/>
                <a:cs typeface="Calibri" pitchFamily="34" charset="-120"/>
              </a:rPr>
              <a:t>One connection eliminates double data entry. Product masters, pricing, stock and schemes flow from the DMS into Qwipo automatically — keeping the digital catalog accurate with near-zero manual effort.</a:t>
            </a:r>
            <a:endParaRPr lang="en-US" sz="1150" dirty="0"/>
          </a:p>
        </p:txBody>
      </p:sp>
      <p:sp>
        <p:nvSpPr>
          <p:cNvPr id="48" name="Text 35"/>
          <p:cNvSpPr/>
          <p:nvPr/>
        </p:nvSpPr>
        <p:spPr>
          <a:xfrm>
            <a:off x="548640" y="6437376"/>
            <a:ext cx="5486400" cy="274320"/>
          </a:xfrm>
          <a:prstGeom prst="rect">
            <a:avLst/>
          </a:prstGeom>
          <a:noFill/>
          <a:ln/>
        </p:spPr>
        <p:txBody>
          <a:bodyPr wrap="square" lIns="0" tIns="0" rIns="0" bIns="0" rtlCol="0" anchor="ctr"/>
          <a:lstStyle/>
          <a:p>
            <a:pPr indent="0" marL="0">
              <a:buNone/>
            </a:pPr>
            <a:r>
              <a:rPr lang="en-US" sz="900" b="1" dirty="0">
                <a:solidFill>
                  <a:srgbClr val="7C3AED"/>
                </a:solidFill>
                <a:latin typeface="Calibri" pitchFamily="34" charset="0"/>
                <a:ea typeface="Calibri" pitchFamily="34" charset="-122"/>
                <a:cs typeface="Calibri" pitchFamily="34" charset="-120"/>
              </a:rPr>
              <a:t>Qwipo</a:t>
            </a:r>
            <a:pPr indent="0" marL="0">
              <a:buNone/>
            </a:pPr>
            <a:r>
              <a:rPr lang="en-US" sz="900" dirty="0">
                <a:solidFill>
                  <a:srgbClr val="94A3B8"/>
                </a:solidFill>
                <a:latin typeface="Calibri" pitchFamily="34" charset="0"/>
                <a:ea typeface="Calibri" pitchFamily="34" charset="-122"/>
                <a:cs typeface="Calibri" pitchFamily="34" charset="-120"/>
              </a:rPr>
              <a:t>   Seller Store Platform</a:t>
            </a:r>
            <a:endParaRPr lang="en-US" sz="900" dirty="0"/>
          </a:p>
        </p:txBody>
      </p:sp>
      <p:sp>
        <p:nvSpPr>
          <p:cNvPr id="49" name="Text 36"/>
          <p:cNvSpPr/>
          <p:nvPr/>
        </p:nvSpPr>
        <p:spPr>
          <a:xfrm>
            <a:off x="9966960" y="6437376"/>
            <a:ext cx="1673352"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09 / 20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Trebuchet MS" pitchFamily="34" charset="0"/>
                <a:ea typeface="Trebuchet MS" pitchFamily="34" charset="-122"/>
                <a:cs typeface="Trebuchet MS" pitchFamily="34" charset="-120"/>
              </a:rPr>
              <a:t>FEATURE · TERRITORY INTELLIGENCE</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Trebuchet MS" pitchFamily="34" charset="0"/>
                <a:ea typeface="Trebuchet MS" pitchFamily="34" charset="-122"/>
                <a:cs typeface="Trebuchet MS" pitchFamily="34" charset="-120"/>
              </a:rPr>
              <a:t>Govern who serves whom — down to the polygon</a:t>
            </a:r>
            <a:endParaRPr lang="en-US" sz="2900" dirty="0"/>
          </a:p>
        </p:txBody>
      </p:sp>
      <p:sp>
        <p:nvSpPr>
          <p:cNvPr id="4" name="Shape 2"/>
          <p:cNvSpPr/>
          <p:nvPr/>
        </p:nvSpPr>
        <p:spPr>
          <a:xfrm>
            <a:off x="548640" y="1627632"/>
            <a:ext cx="3456432" cy="1371600"/>
          </a:xfrm>
          <a:prstGeom prst="roundRect">
            <a:avLst>
              <a:gd name="adj" fmla="val 6000"/>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5" name="Shape 3"/>
          <p:cNvSpPr/>
          <p:nvPr/>
        </p:nvSpPr>
        <p:spPr>
          <a:xfrm>
            <a:off x="786384" y="1828800"/>
            <a:ext cx="512064" cy="512064"/>
          </a:xfrm>
          <a:prstGeom prst="roundRect">
            <a:avLst>
              <a:gd name="adj" fmla="val 26000"/>
            </a:avLst>
          </a:prstGeom>
          <a:solidFill>
            <a:srgbClr val="7C3AED"/>
          </a:solidFill>
          <a:ln/>
        </p:spPr>
      </p:sp>
      <p:pic>
        <p:nvPicPr>
          <p:cNvPr id="6" name="Image 0" descr="C:\Users\Lenovo\AppData\Local\Temp\qwipo-deck\assets\ic_FaMapMarkedAlt_w.png">    </p:cNvPr>
          <p:cNvPicPr>
            <a:picLocks noChangeAspect="1"/>
          </p:cNvPicPr>
          <p:nvPr/>
        </p:nvPicPr>
        <p:blipFill>
          <a:blip r:embed="rId1"/>
          <a:stretch>
            <a:fillRect/>
          </a:stretch>
        </p:blipFill>
        <p:spPr>
          <a:xfrm>
            <a:off x="904159" y="1946575"/>
            <a:ext cx="276515" cy="276515"/>
          </a:xfrm>
          <a:prstGeom prst="rect">
            <a:avLst/>
          </a:prstGeom>
        </p:spPr>
      </p:pic>
      <p:sp>
        <p:nvSpPr>
          <p:cNvPr id="7" name="Text 4"/>
          <p:cNvSpPr/>
          <p:nvPr/>
        </p:nvSpPr>
        <p:spPr>
          <a:xfrm>
            <a:off x="1426464" y="1810512"/>
            <a:ext cx="2404872" cy="54864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Beat Mapping</a:t>
            </a:r>
            <a:endParaRPr lang="en-US" sz="1300" dirty="0"/>
          </a:p>
        </p:txBody>
      </p:sp>
      <p:sp>
        <p:nvSpPr>
          <p:cNvPr id="8" name="Text 5"/>
          <p:cNvSpPr/>
          <p:nvPr/>
        </p:nvSpPr>
        <p:spPr>
          <a:xfrm>
            <a:off x="795528" y="2487168"/>
            <a:ext cx="2980944" cy="457200"/>
          </a:xfrm>
          <a:prstGeom prst="rect">
            <a:avLst/>
          </a:prstGeom>
          <a:noFill/>
          <a:ln/>
        </p:spPr>
        <p:txBody>
          <a:bodyPr wrap="square" lIns="0" tIns="0" rIns="0" bIns="0" rtlCol="0" anchor="t"/>
          <a:lstStyle/>
          <a:p>
            <a:pPr indent="0" marL="0">
              <a:lnSpc>
                <a:spcPct val="102000"/>
              </a:lnSpc>
              <a:buNone/>
            </a:pPr>
            <a:r>
              <a:rPr lang="en-US" sz="1000" dirty="0">
                <a:solidFill>
                  <a:srgbClr val="334155"/>
                </a:solidFill>
                <a:latin typeface="Calibri" pitchFamily="34" charset="0"/>
                <a:ea typeface="Calibri" pitchFamily="34" charset="-122"/>
                <a:cs typeface="Calibri" pitchFamily="34" charset="-120"/>
              </a:rPr>
              <a:t>Organise retailers into delivery beats per distributor.</a:t>
            </a:r>
            <a:endParaRPr lang="en-US" sz="1000" dirty="0"/>
          </a:p>
        </p:txBody>
      </p:sp>
      <p:sp>
        <p:nvSpPr>
          <p:cNvPr id="9" name="Shape 6"/>
          <p:cNvSpPr/>
          <p:nvPr/>
        </p:nvSpPr>
        <p:spPr>
          <a:xfrm>
            <a:off x="4361688" y="1627632"/>
            <a:ext cx="3456432" cy="1371600"/>
          </a:xfrm>
          <a:prstGeom prst="roundRect">
            <a:avLst>
              <a:gd name="adj" fmla="val 6000"/>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10" name="Shape 7"/>
          <p:cNvSpPr/>
          <p:nvPr/>
        </p:nvSpPr>
        <p:spPr>
          <a:xfrm>
            <a:off x="4599432" y="1828800"/>
            <a:ext cx="512064" cy="512064"/>
          </a:xfrm>
          <a:prstGeom prst="roundRect">
            <a:avLst>
              <a:gd name="adj" fmla="val 26000"/>
            </a:avLst>
          </a:prstGeom>
          <a:solidFill>
            <a:srgbClr val="2563EB"/>
          </a:solidFill>
          <a:ln/>
        </p:spPr>
      </p:sp>
      <p:pic>
        <p:nvPicPr>
          <p:cNvPr id="11" name="Image 1" descr="C:\Users\Lenovo\AppData\Local\Temp\qwipo-deck\assets\ic_FaUsers_w.png">    </p:cNvPr>
          <p:cNvPicPr>
            <a:picLocks noChangeAspect="1"/>
          </p:cNvPicPr>
          <p:nvPr/>
        </p:nvPicPr>
        <p:blipFill>
          <a:blip r:embed="rId2"/>
          <a:stretch>
            <a:fillRect/>
          </a:stretch>
        </p:blipFill>
        <p:spPr>
          <a:xfrm>
            <a:off x="4717207" y="1946575"/>
            <a:ext cx="276515" cy="276515"/>
          </a:xfrm>
          <a:prstGeom prst="rect">
            <a:avLst/>
          </a:prstGeom>
        </p:spPr>
      </p:pic>
      <p:sp>
        <p:nvSpPr>
          <p:cNvPr id="12" name="Text 8"/>
          <p:cNvSpPr/>
          <p:nvPr/>
        </p:nvSpPr>
        <p:spPr>
          <a:xfrm>
            <a:off x="5239512" y="1810512"/>
            <a:ext cx="2404872" cy="54864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Customer Mapping</a:t>
            </a:r>
            <a:endParaRPr lang="en-US" sz="1300" dirty="0"/>
          </a:p>
        </p:txBody>
      </p:sp>
      <p:sp>
        <p:nvSpPr>
          <p:cNvPr id="13" name="Text 9"/>
          <p:cNvSpPr/>
          <p:nvPr/>
        </p:nvSpPr>
        <p:spPr>
          <a:xfrm>
            <a:off x="4608576" y="2487168"/>
            <a:ext cx="2980944" cy="457200"/>
          </a:xfrm>
          <a:prstGeom prst="rect">
            <a:avLst/>
          </a:prstGeom>
          <a:noFill/>
          <a:ln/>
        </p:spPr>
        <p:txBody>
          <a:bodyPr wrap="square" lIns="0" tIns="0" rIns="0" bIns="0" rtlCol="0" anchor="t"/>
          <a:lstStyle/>
          <a:p>
            <a:pPr indent="0" marL="0">
              <a:lnSpc>
                <a:spcPct val="102000"/>
              </a:lnSpc>
              <a:buNone/>
            </a:pPr>
            <a:r>
              <a:rPr lang="en-US" sz="1000" dirty="0">
                <a:solidFill>
                  <a:srgbClr val="334155"/>
                </a:solidFill>
                <a:latin typeface="Calibri" pitchFamily="34" charset="0"/>
                <a:ea typeface="Calibri" pitchFamily="34" charset="-122"/>
                <a:cs typeface="Calibri" pitchFamily="34" charset="-120"/>
              </a:rPr>
              <a:t>Map each retailer to the right distributor and company.</a:t>
            </a:r>
            <a:endParaRPr lang="en-US" sz="1000" dirty="0"/>
          </a:p>
        </p:txBody>
      </p:sp>
      <p:sp>
        <p:nvSpPr>
          <p:cNvPr id="14" name="Shape 10"/>
          <p:cNvSpPr/>
          <p:nvPr/>
        </p:nvSpPr>
        <p:spPr>
          <a:xfrm>
            <a:off x="8174736" y="1627632"/>
            <a:ext cx="3456432" cy="1371600"/>
          </a:xfrm>
          <a:prstGeom prst="roundRect">
            <a:avLst>
              <a:gd name="adj" fmla="val 6000"/>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15" name="Shape 11"/>
          <p:cNvSpPr/>
          <p:nvPr/>
        </p:nvSpPr>
        <p:spPr>
          <a:xfrm>
            <a:off x="8412480" y="1828800"/>
            <a:ext cx="512064" cy="512064"/>
          </a:xfrm>
          <a:prstGeom prst="roundRect">
            <a:avLst>
              <a:gd name="adj" fmla="val 26000"/>
            </a:avLst>
          </a:prstGeom>
          <a:solidFill>
            <a:srgbClr val="0D9488"/>
          </a:solidFill>
          <a:ln/>
        </p:spPr>
      </p:sp>
      <p:pic>
        <p:nvPicPr>
          <p:cNvPr id="16" name="Image 2" descr="C:\Users\Lenovo\AppData\Local\Temp\qwipo-deck\assets\ic_FaTags_w.png">    </p:cNvPr>
          <p:cNvPicPr>
            <a:picLocks noChangeAspect="1"/>
          </p:cNvPicPr>
          <p:nvPr/>
        </p:nvPicPr>
        <p:blipFill>
          <a:blip r:embed="rId3"/>
          <a:stretch>
            <a:fillRect/>
          </a:stretch>
        </p:blipFill>
        <p:spPr>
          <a:xfrm>
            <a:off x="8530255" y="1946575"/>
            <a:ext cx="276515" cy="276515"/>
          </a:xfrm>
          <a:prstGeom prst="rect">
            <a:avLst/>
          </a:prstGeom>
        </p:spPr>
      </p:pic>
      <p:sp>
        <p:nvSpPr>
          <p:cNvPr id="17" name="Text 12"/>
          <p:cNvSpPr/>
          <p:nvPr/>
        </p:nvSpPr>
        <p:spPr>
          <a:xfrm>
            <a:off x="9052560" y="1810512"/>
            <a:ext cx="2404872" cy="54864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Customer Tagging</a:t>
            </a:r>
            <a:endParaRPr lang="en-US" sz="1300" dirty="0"/>
          </a:p>
        </p:txBody>
      </p:sp>
      <p:sp>
        <p:nvSpPr>
          <p:cNvPr id="18" name="Text 13"/>
          <p:cNvSpPr/>
          <p:nvPr/>
        </p:nvSpPr>
        <p:spPr>
          <a:xfrm>
            <a:off x="8421624" y="2487168"/>
            <a:ext cx="2980944" cy="457200"/>
          </a:xfrm>
          <a:prstGeom prst="rect">
            <a:avLst/>
          </a:prstGeom>
          <a:noFill/>
          <a:ln/>
        </p:spPr>
        <p:txBody>
          <a:bodyPr wrap="square" lIns="0" tIns="0" rIns="0" bIns="0" rtlCol="0" anchor="t"/>
          <a:lstStyle/>
          <a:p>
            <a:pPr indent="0" marL="0">
              <a:lnSpc>
                <a:spcPct val="102000"/>
              </a:lnSpc>
              <a:buNone/>
            </a:pPr>
            <a:r>
              <a:rPr lang="en-US" sz="1000" dirty="0">
                <a:solidFill>
                  <a:srgbClr val="334155"/>
                </a:solidFill>
                <a:latin typeface="Calibri" pitchFamily="34" charset="0"/>
                <a:ea typeface="Calibri" pitchFamily="34" charset="-122"/>
                <a:cs typeface="Calibri" pitchFamily="34" charset="-120"/>
              </a:rPr>
              <a:t>Segment retailers by type, value and behaviour.</a:t>
            </a:r>
            <a:endParaRPr lang="en-US" sz="1000" dirty="0"/>
          </a:p>
        </p:txBody>
      </p:sp>
      <p:sp>
        <p:nvSpPr>
          <p:cNvPr id="19" name="Shape 14"/>
          <p:cNvSpPr/>
          <p:nvPr/>
        </p:nvSpPr>
        <p:spPr>
          <a:xfrm>
            <a:off x="548640" y="3291840"/>
            <a:ext cx="3456432" cy="1371600"/>
          </a:xfrm>
          <a:prstGeom prst="roundRect">
            <a:avLst>
              <a:gd name="adj" fmla="val 6000"/>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20" name="Shape 15"/>
          <p:cNvSpPr/>
          <p:nvPr/>
        </p:nvSpPr>
        <p:spPr>
          <a:xfrm>
            <a:off x="786384" y="3493008"/>
            <a:ext cx="512064" cy="512064"/>
          </a:xfrm>
          <a:prstGeom prst="roundRect">
            <a:avLst>
              <a:gd name="adj" fmla="val 26000"/>
            </a:avLst>
          </a:prstGeom>
          <a:solidFill>
            <a:srgbClr val="4338CA"/>
          </a:solidFill>
          <a:ln/>
        </p:spPr>
      </p:sp>
      <p:pic>
        <p:nvPicPr>
          <p:cNvPr id="21" name="Image 3" descr="C:\Users\Lenovo\AppData\Local\Temp\qwipo-deck\assets\ic_FaBuilding_w.png">    </p:cNvPr>
          <p:cNvPicPr>
            <a:picLocks noChangeAspect="1"/>
          </p:cNvPicPr>
          <p:nvPr/>
        </p:nvPicPr>
        <p:blipFill>
          <a:blip r:embed="rId4"/>
          <a:stretch>
            <a:fillRect/>
          </a:stretch>
        </p:blipFill>
        <p:spPr>
          <a:xfrm>
            <a:off x="904159" y="3610783"/>
            <a:ext cx="276515" cy="276515"/>
          </a:xfrm>
          <a:prstGeom prst="rect">
            <a:avLst/>
          </a:prstGeom>
        </p:spPr>
      </p:pic>
      <p:sp>
        <p:nvSpPr>
          <p:cNvPr id="22" name="Text 16"/>
          <p:cNvSpPr/>
          <p:nvPr/>
        </p:nvSpPr>
        <p:spPr>
          <a:xfrm>
            <a:off x="1426464" y="3474720"/>
            <a:ext cx="2404872" cy="54864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Company-wise Mapping</a:t>
            </a:r>
            <a:endParaRPr lang="en-US" sz="1300" dirty="0"/>
          </a:p>
        </p:txBody>
      </p:sp>
      <p:sp>
        <p:nvSpPr>
          <p:cNvPr id="23" name="Text 17"/>
          <p:cNvSpPr/>
          <p:nvPr/>
        </p:nvSpPr>
        <p:spPr>
          <a:xfrm>
            <a:off x="795528" y="4151376"/>
            <a:ext cx="2980944" cy="457200"/>
          </a:xfrm>
          <a:prstGeom prst="rect">
            <a:avLst/>
          </a:prstGeom>
          <a:noFill/>
          <a:ln/>
        </p:spPr>
        <p:txBody>
          <a:bodyPr wrap="square" lIns="0" tIns="0" rIns="0" bIns="0" rtlCol="0" anchor="t"/>
          <a:lstStyle/>
          <a:p>
            <a:pPr indent="0" marL="0">
              <a:lnSpc>
                <a:spcPct val="102000"/>
              </a:lnSpc>
              <a:buNone/>
            </a:pPr>
            <a:r>
              <a:rPr lang="en-US" sz="1000" dirty="0">
                <a:solidFill>
                  <a:srgbClr val="334155"/>
                </a:solidFill>
                <a:latin typeface="Calibri" pitchFamily="34" charset="0"/>
                <a:ea typeface="Calibri" pitchFamily="34" charset="-122"/>
                <a:cs typeface="Calibri" pitchFamily="34" charset="-120"/>
              </a:rPr>
              <a:t>Independent coverage rules per manufacturer.</a:t>
            </a:r>
            <a:endParaRPr lang="en-US" sz="1000" dirty="0"/>
          </a:p>
        </p:txBody>
      </p:sp>
      <p:sp>
        <p:nvSpPr>
          <p:cNvPr id="24" name="Shape 18"/>
          <p:cNvSpPr/>
          <p:nvPr/>
        </p:nvSpPr>
        <p:spPr>
          <a:xfrm>
            <a:off x="4361688" y="3291840"/>
            <a:ext cx="3456432" cy="1371600"/>
          </a:xfrm>
          <a:prstGeom prst="roundRect">
            <a:avLst>
              <a:gd name="adj" fmla="val 6000"/>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25" name="Shape 19"/>
          <p:cNvSpPr/>
          <p:nvPr/>
        </p:nvSpPr>
        <p:spPr>
          <a:xfrm>
            <a:off x="4599432" y="3493008"/>
            <a:ext cx="512064" cy="512064"/>
          </a:xfrm>
          <a:prstGeom prst="roundRect">
            <a:avLst>
              <a:gd name="adj" fmla="val 26000"/>
            </a:avLst>
          </a:prstGeom>
          <a:solidFill>
            <a:srgbClr val="D97706"/>
          </a:solidFill>
          <a:ln/>
        </p:spPr>
      </p:sp>
      <p:pic>
        <p:nvPicPr>
          <p:cNvPr id="26" name="Image 4" descr="C:\Users\Lenovo\AppData\Local\Temp\qwipo-deck\assets\ic_FaMapMarkerAlt_w.png">    </p:cNvPr>
          <p:cNvPicPr>
            <a:picLocks noChangeAspect="1"/>
          </p:cNvPicPr>
          <p:nvPr/>
        </p:nvPicPr>
        <p:blipFill>
          <a:blip r:embed="rId5"/>
          <a:stretch>
            <a:fillRect/>
          </a:stretch>
        </p:blipFill>
        <p:spPr>
          <a:xfrm>
            <a:off x="4717207" y="3610783"/>
            <a:ext cx="276515" cy="276515"/>
          </a:xfrm>
          <a:prstGeom prst="rect">
            <a:avLst/>
          </a:prstGeom>
        </p:spPr>
      </p:pic>
      <p:sp>
        <p:nvSpPr>
          <p:cNvPr id="27" name="Text 20"/>
          <p:cNvSpPr/>
          <p:nvPr/>
        </p:nvSpPr>
        <p:spPr>
          <a:xfrm>
            <a:off x="5239512" y="3474720"/>
            <a:ext cx="2404872" cy="54864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Geo-fencing</a:t>
            </a:r>
            <a:endParaRPr lang="en-US" sz="1300" dirty="0"/>
          </a:p>
        </p:txBody>
      </p:sp>
      <p:sp>
        <p:nvSpPr>
          <p:cNvPr id="28" name="Text 21"/>
          <p:cNvSpPr/>
          <p:nvPr/>
        </p:nvSpPr>
        <p:spPr>
          <a:xfrm>
            <a:off x="4608576" y="4151376"/>
            <a:ext cx="2980944" cy="457200"/>
          </a:xfrm>
          <a:prstGeom prst="rect">
            <a:avLst/>
          </a:prstGeom>
          <a:noFill/>
          <a:ln/>
        </p:spPr>
        <p:txBody>
          <a:bodyPr wrap="square" lIns="0" tIns="0" rIns="0" bIns="0" rtlCol="0" anchor="t"/>
          <a:lstStyle/>
          <a:p>
            <a:pPr indent="0" marL="0">
              <a:lnSpc>
                <a:spcPct val="102000"/>
              </a:lnSpc>
              <a:buNone/>
            </a:pPr>
            <a:r>
              <a:rPr lang="en-US" sz="1000" dirty="0">
                <a:solidFill>
                  <a:srgbClr val="334155"/>
                </a:solidFill>
                <a:latin typeface="Calibri" pitchFamily="34" charset="0"/>
                <a:ea typeface="Calibri" pitchFamily="34" charset="-122"/>
                <a:cs typeface="Calibri" pitchFamily="34" charset="-120"/>
              </a:rPr>
              <a:t>Define serviceable boundaries that drive matching.</a:t>
            </a:r>
            <a:endParaRPr lang="en-US" sz="1000" dirty="0"/>
          </a:p>
        </p:txBody>
      </p:sp>
      <p:sp>
        <p:nvSpPr>
          <p:cNvPr id="29" name="Shape 22"/>
          <p:cNvSpPr/>
          <p:nvPr/>
        </p:nvSpPr>
        <p:spPr>
          <a:xfrm>
            <a:off x="8174736" y="3291840"/>
            <a:ext cx="3456432" cy="1371600"/>
          </a:xfrm>
          <a:prstGeom prst="roundRect">
            <a:avLst>
              <a:gd name="adj" fmla="val 6000"/>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30" name="Shape 23"/>
          <p:cNvSpPr/>
          <p:nvPr/>
        </p:nvSpPr>
        <p:spPr>
          <a:xfrm>
            <a:off x="8412480" y="3493008"/>
            <a:ext cx="512064" cy="512064"/>
          </a:xfrm>
          <a:prstGeom prst="roundRect">
            <a:avLst>
              <a:gd name="adj" fmla="val 26000"/>
            </a:avLst>
          </a:prstGeom>
          <a:solidFill>
            <a:srgbClr val="E11D48"/>
          </a:solidFill>
          <a:ln/>
        </p:spPr>
      </p:sp>
      <p:pic>
        <p:nvPicPr>
          <p:cNvPr id="31" name="Image 5" descr="C:\Users\Lenovo\AppData\Local\Temp\qwipo-deck\assets\ic_FaDrawPolygon_w.png">    </p:cNvPr>
          <p:cNvPicPr>
            <a:picLocks noChangeAspect="1"/>
          </p:cNvPicPr>
          <p:nvPr/>
        </p:nvPicPr>
        <p:blipFill>
          <a:blip r:embed="rId6"/>
          <a:stretch>
            <a:fillRect/>
          </a:stretch>
        </p:blipFill>
        <p:spPr>
          <a:xfrm>
            <a:off x="8530255" y="3610783"/>
            <a:ext cx="276515" cy="276515"/>
          </a:xfrm>
          <a:prstGeom prst="rect">
            <a:avLst/>
          </a:prstGeom>
        </p:spPr>
      </p:pic>
      <p:sp>
        <p:nvSpPr>
          <p:cNvPr id="32" name="Text 24"/>
          <p:cNvSpPr/>
          <p:nvPr/>
        </p:nvSpPr>
        <p:spPr>
          <a:xfrm>
            <a:off x="9052560" y="3474720"/>
            <a:ext cx="2404872" cy="54864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Polygon Creation</a:t>
            </a:r>
            <a:endParaRPr lang="en-US" sz="1300" dirty="0"/>
          </a:p>
        </p:txBody>
      </p:sp>
      <p:sp>
        <p:nvSpPr>
          <p:cNvPr id="33" name="Text 25"/>
          <p:cNvSpPr/>
          <p:nvPr/>
        </p:nvSpPr>
        <p:spPr>
          <a:xfrm>
            <a:off x="8421624" y="4151376"/>
            <a:ext cx="2980944" cy="457200"/>
          </a:xfrm>
          <a:prstGeom prst="rect">
            <a:avLst/>
          </a:prstGeom>
          <a:noFill/>
          <a:ln/>
        </p:spPr>
        <p:txBody>
          <a:bodyPr wrap="square" lIns="0" tIns="0" rIns="0" bIns="0" rtlCol="0" anchor="t"/>
          <a:lstStyle/>
          <a:p>
            <a:pPr indent="0" marL="0">
              <a:lnSpc>
                <a:spcPct val="102000"/>
              </a:lnSpc>
              <a:buNone/>
            </a:pPr>
            <a:r>
              <a:rPr lang="en-US" sz="1000" dirty="0">
                <a:solidFill>
                  <a:srgbClr val="334155"/>
                </a:solidFill>
                <a:latin typeface="Calibri" pitchFamily="34" charset="0"/>
                <a:ea typeface="Calibri" pitchFamily="34" charset="-122"/>
                <a:cs typeface="Calibri" pitchFamily="34" charset="-120"/>
              </a:rPr>
              <a:t>Upload GeoJSON polygons for precise territories.</a:t>
            </a:r>
            <a:endParaRPr lang="en-US" sz="1000" dirty="0"/>
          </a:p>
        </p:txBody>
      </p:sp>
      <p:sp>
        <p:nvSpPr>
          <p:cNvPr id="34" name="Shape 26"/>
          <p:cNvSpPr/>
          <p:nvPr/>
        </p:nvSpPr>
        <p:spPr>
          <a:xfrm>
            <a:off x="548640" y="5138928"/>
            <a:ext cx="11091672" cy="1078992"/>
          </a:xfrm>
          <a:prstGeom prst="roundRect">
            <a:avLst>
              <a:gd name="adj" fmla="val 6780"/>
            </a:avLst>
          </a:prstGeom>
          <a:solidFill>
            <a:srgbClr val="F3EEFE"/>
          </a:solidFill>
          <a:ln w="12700">
            <a:solidFill>
              <a:srgbClr val="DDD0FB"/>
            </a:solidFill>
            <a:prstDash val="solid"/>
          </a:ln>
        </p:spPr>
      </p:sp>
      <p:sp>
        <p:nvSpPr>
          <p:cNvPr id="35" name="Shape 27"/>
          <p:cNvSpPr/>
          <p:nvPr/>
        </p:nvSpPr>
        <p:spPr>
          <a:xfrm>
            <a:off x="548640" y="5248656"/>
            <a:ext cx="64008" cy="859536"/>
          </a:xfrm>
          <a:prstGeom prst="rect">
            <a:avLst/>
          </a:prstGeom>
          <a:solidFill>
            <a:srgbClr val="7C3AED"/>
          </a:solidFill>
          <a:ln/>
        </p:spPr>
      </p:sp>
      <p:sp>
        <p:nvSpPr>
          <p:cNvPr id="36" name="Text 28"/>
          <p:cNvSpPr/>
          <p:nvPr/>
        </p:nvSpPr>
        <p:spPr>
          <a:xfrm>
            <a:off x="786384" y="5276088"/>
            <a:ext cx="10634472" cy="219456"/>
          </a:xfrm>
          <a:prstGeom prst="rect">
            <a:avLst/>
          </a:prstGeom>
          <a:noFill/>
          <a:ln/>
        </p:spPr>
        <p:txBody>
          <a:bodyPr wrap="square" lIns="0" tIns="0" rIns="0" bIns="0" rtlCol="0" anchor="ctr"/>
          <a:lstStyle/>
          <a:p>
            <a:pPr indent="0" marL="0">
              <a:buNone/>
            </a:pPr>
            <a:r>
              <a:rPr lang="en-US" sz="1000" b="1" spc="200" kern="0" dirty="0">
                <a:solidFill>
                  <a:srgbClr val="7C3AED"/>
                </a:solidFill>
                <a:latin typeface="Trebuchet MS" pitchFamily="34" charset="0"/>
                <a:ea typeface="Trebuchet MS" pitchFamily="34" charset="-122"/>
                <a:cs typeface="Trebuchet MS" pitchFamily="34" charset="-120"/>
              </a:rPr>
              <a:t>BUSINESS BENEFIT</a:t>
            </a:r>
            <a:endParaRPr lang="en-US" sz="1000" dirty="0"/>
          </a:p>
        </p:txBody>
      </p:sp>
      <p:sp>
        <p:nvSpPr>
          <p:cNvPr id="37" name="Text 29"/>
          <p:cNvSpPr/>
          <p:nvPr/>
        </p:nvSpPr>
        <p:spPr>
          <a:xfrm>
            <a:off x="786384" y="5522976"/>
            <a:ext cx="10634472" cy="576072"/>
          </a:xfrm>
          <a:prstGeom prst="rect">
            <a:avLst/>
          </a:prstGeom>
          <a:noFill/>
          <a:ln/>
        </p:spPr>
        <p:txBody>
          <a:bodyPr wrap="square" lIns="0" tIns="0" rIns="0" bIns="0" rtlCol="0" anchor="t"/>
          <a:lstStyle/>
          <a:p>
            <a:pPr indent="0" marL="0">
              <a:lnSpc>
                <a:spcPct val="104000"/>
              </a:lnSpc>
              <a:buNone/>
            </a:pPr>
            <a:r>
              <a:rPr lang="en-US" sz="1150" dirty="0">
                <a:solidFill>
                  <a:srgbClr val="1E293B"/>
                </a:solidFill>
                <a:latin typeface="Calibri" pitchFamily="34" charset="0"/>
                <a:ea typeface="Calibri" pitchFamily="34" charset="-122"/>
                <a:cs typeface="Calibri" pitchFamily="34" charset="-120"/>
              </a:rPr>
              <a:t>Prevent distributor conflicts before they happen. Region-specific retailer servicing, clear company-wise boundaries and geo-fenced territories give brands precise market control and clean channel governance.</a:t>
            </a:r>
            <a:endParaRPr lang="en-US" sz="1150" dirty="0"/>
          </a:p>
        </p:txBody>
      </p:sp>
      <p:sp>
        <p:nvSpPr>
          <p:cNvPr id="38" name="Text 30"/>
          <p:cNvSpPr/>
          <p:nvPr/>
        </p:nvSpPr>
        <p:spPr>
          <a:xfrm>
            <a:off x="548640" y="6437376"/>
            <a:ext cx="5486400" cy="274320"/>
          </a:xfrm>
          <a:prstGeom prst="rect">
            <a:avLst/>
          </a:prstGeom>
          <a:noFill/>
          <a:ln/>
        </p:spPr>
        <p:txBody>
          <a:bodyPr wrap="square" lIns="0" tIns="0" rIns="0" bIns="0" rtlCol="0" anchor="ctr"/>
          <a:lstStyle/>
          <a:p>
            <a:pPr indent="0" marL="0">
              <a:buNone/>
            </a:pPr>
            <a:r>
              <a:rPr lang="en-US" sz="900" b="1" dirty="0">
                <a:solidFill>
                  <a:srgbClr val="7C3AED"/>
                </a:solidFill>
                <a:latin typeface="Calibri" pitchFamily="34" charset="0"/>
                <a:ea typeface="Calibri" pitchFamily="34" charset="-122"/>
                <a:cs typeface="Calibri" pitchFamily="34" charset="-120"/>
              </a:rPr>
              <a:t>Qwipo</a:t>
            </a:r>
            <a:pPr indent="0" marL="0">
              <a:buNone/>
            </a:pPr>
            <a:r>
              <a:rPr lang="en-US" sz="900" dirty="0">
                <a:solidFill>
                  <a:srgbClr val="94A3B8"/>
                </a:solidFill>
                <a:latin typeface="Calibri" pitchFamily="34" charset="0"/>
                <a:ea typeface="Calibri" pitchFamily="34" charset="-122"/>
                <a:cs typeface="Calibri" pitchFamily="34" charset="-120"/>
              </a:rPr>
              <a:t>   Seller Store Platform</a:t>
            </a:r>
            <a:endParaRPr lang="en-US" sz="900" dirty="0"/>
          </a:p>
        </p:txBody>
      </p:sp>
      <p:sp>
        <p:nvSpPr>
          <p:cNvPr id="39" name="Text 31"/>
          <p:cNvSpPr/>
          <p:nvPr/>
        </p:nvSpPr>
        <p:spPr>
          <a:xfrm>
            <a:off x="9966960" y="6437376"/>
            <a:ext cx="1673352"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10 / 20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Trebuchet MS" pitchFamily="34" charset="0"/>
                <a:ea typeface="Trebuchet MS" pitchFamily="34" charset="-122"/>
                <a:cs typeface="Trebuchet MS" pitchFamily="34" charset="-120"/>
              </a:rPr>
              <a:t>FEATURE · GEO ALLOCATION</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Trebuchet MS" pitchFamily="34" charset="0"/>
                <a:ea typeface="Trebuchet MS" pitchFamily="34" charset="-122"/>
                <a:cs typeface="Trebuchet MS" pitchFamily="34" charset="-120"/>
              </a:rPr>
              <a:t>Retailers auto-assigned by the polygon they fall in</a:t>
            </a:r>
            <a:endParaRPr lang="en-US" sz="2900" dirty="0"/>
          </a:p>
        </p:txBody>
      </p:sp>
      <p:sp>
        <p:nvSpPr>
          <p:cNvPr id="4" name="Text 2"/>
          <p:cNvSpPr/>
          <p:nvPr/>
        </p:nvSpPr>
        <p:spPr>
          <a:xfrm>
            <a:off x="566928" y="1664208"/>
            <a:ext cx="5029200" cy="1691640"/>
          </a:xfrm>
          <a:prstGeom prst="rect">
            <a:avLst/>
          </a:prstGeom>
          <a:noFill/>
          <a:ln/>
        </p:spPr>
        <p:txBody>
          <a:bodyPr wrap="square" lIns="0" tIns="0" rIns="0" bIns="0" rtlCol="0" anchor="t"/>
          <a:lstStyle/>
          <a:p>
            <a:pPr marL="177800" indent="-177800">
              <a:lnSpc>
                <a:spcPct val="102000"/>
              </a:lnSpc>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Polygon-based territory assignment using uploaded GeoJSON zones</a:t>
            </a:r>
            <a:endParaRPr lang="en-US" sz="1250" dirty="0"/>
          </a:p>
          <a:p>
            <a:pPr marL="177800" indent="-177800">
              <a:lnSpc>
                <a:spcPct val="102000"/>
              </a:lnSpc>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Every retailer is matched to the distributor whose polygon contains them</a:t>
            </a:r>
            <a:endParaRPr lang="en-US" sz="1250" dirty="0"/>
          </a:p>
          <a:p>
            <a:pPr marL="177800" indent="-177800">
              <a:lnSpc>
                <a:spcPct val="102000"/>
              </a:lnSpc>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Deterministic matching engine resolves the right beat and delivery day</a:t>
            </a:r>
            <a:endParaRPr lang="en-US" sz="1250" dirty="0"/>
          </a:p>
          <a:p>
            <a:pPr marL="177800" indent="-177800">
              <a:lnSpc>
                <a:spcPct val="102000"/>
              </a:lnSpc>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Overlap detection prevents two distributors claiming the same retailer</a:t>
            </a:r>
            <a:endParaRPr lang="en-US" sz="1250" dirty="0"/>
          </a:p>
        </p:txBody>
      </p:sp>
      <p:sp>
        <p:nvSpPr>
          <p:cNvPr id="5" name="Shape 3"/>
          <p:cNvSpPr/>
          <p:nvPr/>
        </p:nvSpPr>
        <p:spPr>
          <a:xfrm>
            <a:off x="548640" y="3383280"/>
            <a:ext cx="5029200" cy="1325880"/>
          </a:xfrm>
          <a:prstGeom prst="roundRect">
            <a:avLst>
              <a:gd name="adj" fmla="val 5517"/>
            </a:avLst>
          </a:prstGeom>
          <a:solidFill>
            <a:srgbClr val="F3EEFE"/>
          </a:solidFill>
          <a:ln w="12700">
            <a:solidFill>
              <a:srgbClr val="DDD0FB"/>
            </a:solidFill>
            <a:prstDash val="solid"/>
          </a:ln>
        </p:spPr>
      </p:sp>
      <p:sp>
        <p:nvSpPr>
          <p:cNvPr id="6" name="Shape 4"/>
          <p:cNvSpPr/>
          <p:nvPr/>
        </p:nvSpPr>
        <p:spPr>
          <a:xfrm>
            <a:off x="548640" y="3493008"/>
            <a:ext cx="64008" cy="1106424"/>
          </a:xfrm>
          <a:prstGeom prst="rect">
            <a:avLst/>
          </a:prstGeom>
          <a:solidFill>
            <a:srgbClr val="7C3AED"/>
          </a:solidFill>
          <a:ln/>
        </p:spPr>
      </p:sp>
      <p:sp>
        <p:nvSpPr>
          <p:cNvPr id="7" name="Text 5"/>
          <p:cNvSpPr/>
          <p:nvPr/>
        </p:nvSpPr>
        <p:spPr>
          <a:xfrm>
            <a:off x="786384" y="3520440"/>
            <a:ext cx="4572000" cy="219456"/>
          </a:xfrm>
          <a:prstGeom prst="rect">
            <a:avLst/>
          </a:prstGeom>
          <a:noFill/>
          <a:ln/>
        </p:spPr>
        <p:txBody>
          <a:bodyPr wrap="square" lIns="0" tIns="0" rIns="0" bIns="0" rtlCol="0" anchor="ctr"/>
          <a:lstStyle/>
          <a:p>
            <a:pPr indent="0" marL="0">
              <a:buNone/>
            </a:pPr>
            <a:r>
              <a:rPr lang="en-US" sz="1000" b="1" spc="200" kern="0" dirty="0">
                <a:solidFill>
                  <a:srgbClr val="7C3AED"/>
                </a:solidFill>
                <a:latin typeface="Trebuchet MS" pitchFamily="34" charset="0"/>
                <a:ea typeface="Trebuchet MS" pitchFamily="34" charset="-122"/>
                <a:cs typeface="Trebuchet MS" pitchFamily="34" charset="-120"/>
              </a:rPr>
              <a:t>BUSINESS BENEFIT</a:t>
            </a:r>
            <a:endParaRPr lang="en-US" sz="1000" dirty="0"/>
          </a:p>
        </p:txBody>
      </p:sp>
      <p:sp>
        <p:nvSpPr>
          <p:cNvPr id="8" name="Text 6"/>
          <p:cNvSpPr/>
          <p:nvPr/>
        </p:nvSpPr>
        <p:spPr>
          <a:xfrm>
            <a:off x="786384" y="3767328"/>
            <a:ext cx="4572000" cy="822960"/>
          </a:xfrm>
          <a:prstGeom prst="rect">
            <a:avLst/>
          </a:prstGeom>
          <a:noFill/>
          <a:ln/>
        </p:spPr>
        <p:txBody>
          <a:bodyPr wrap="square" lIns="0" tIns="0" rIns="0" bIns="0" rtlCol="0" anchor="t"/>
          <a:lstStyle/>
          <a:p>
            <a:pPr indent="0" marL="0">
              <a:lnSpc>
                <a:spcPct val="104000"/>
              </a:lnSpc>
              <a:buNone/>
            </a:pPr>
            <a:r>
              <a:rPr lang="en-US" sz="1150" dirty="0">
                <a:solidFill>
                  <a:srgbClr val="1E293B"/>
                </a:solidFill>
                <a:latin typeface="Calibri" pitchFamily="34" charset="0"/>
                <a:ea typeface="Calibri" pitchFamily="34" charset="-122"/>
                <a:cs typeface="Calibri" pitchFamily="34" charset="-120"/>
              </a:rPr>
              <a:t>Allocation becomes automatic and conflict-free. As soon as a retailer's location is known, the platform assigns them to exactly one distributor — eliminating manual mapping and channel disputes.</a:t>
            </a:r>
            <a:endParaRPr lang="en-US" sz="1150" dirty="0"/>
          </a:p>
        </p:txBody>
      </p:sp>
      <p:sp>
        <p:nvSpPr>
          <p:cNvPr id="9" name="Text 7"/>
          <p:cNvSpPr/>
          <p:nvPr/>
        </p:nvSpPr>
        <p:spPr>
          <a:xfrm>
            <a:off x="548640" y="4937760"/>
            <a:ext cx="5029200" cy="256032"/>
          </a:xfrm>
          <a:prstGeom prst="rect">
            <a:avLst/>
          </a:prstGeom>
          <a:noFill/>
          <a:ln/>
        </p:spPr>
        <p:txBody>
          <a:bodyPr wrap="square" lIns="0" tIns="0" rIns="0" bIns="0" rtlCol="0" anchor="ctr"/>
          <a:lstStyle/>
          <a:p>
            <a:pPr indent="0" marL="0">
              <a:buNone/>
            </a:pPr>
            <a:r>
              <a:rPr lang="en-US" sz="1050" b="1" spc="150" kern="0" dirty="0">
                <a:solidFill>
                  <a:srgbClr val="7C3AED"/>
                </a:solidFill>
                <a:latin typeface="Trebuchet MS" pitchFamily="34" charset="0"/>
                <a:ea typeface="Trebuchet MS" pitchFamily="34" charset="-122"/>
                <a:cs typeface="Trebuchet MS" pitchFamily="34" charset="-120"/>
              </a:rPr>
              <a:t>TERRITORY ZONES</a:t>
            </a:r>
            <a:endParaRPr lang="en-US" sz="1050" dirty="0"/>
          </a:p>
        </p:txBody>
      </p:sp>
      <p:sp>
        <p:nvSpPr>
          <p:cNvPr id="10" name="Shape 8"/>
          <p:cNvSpPr/>
          <p:nvPr/>
        </p:nvSpPr>
        <p:spPr>
          <a:xfrm>
            <a:off x="566928" y="5248656"/>
            <a:ext cx="237744" cy="237744"/>
          </a:xfrm>
          <a:prstGeom prst="roundRect">
            <a:avLst>
              <a:gd name="adj" fmla="val 19231"/>
            </a:avLst>
          </a:prstGeom>
          <a:solidFill>
            <a:srgbClr val="7C3AED">
              <a:alpha val="75000"/>
            </a:srgbClr>
          </a:solidFill>
          <a:ln w="12700">
            <a:solidFill>
              <a:srgbClr val="7C3AED"/>
            </a:solidFill>
            <a:prstDash val="solid"/>
          </a:ln>
        </p:spPr>
      </p:sp>
      <p:sp>
        <p:nvSpPr>
          <p:cNvPr id="11" name="Text 9"/>
          <p:cNvSpPr/>
          <p:nvPr/>
        </p:nvSpPr>
        <p:spPr>
          <a:xfrm>
            <a:off x="877824" y="5212080"/>
            <a:ext cx="4754880" cy="292608"/>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Zone A — ABC Distributors</a:t>
            </a:r>
            <a:endParaRPr lang="en-US" sz="1100" dirty="0"/>
          </a:p>
        </p:txBody>
      </p:sp>
      <p:sp>
        <p:nvSpPr>
          <p:cNvPr id="12" name="Shape 10"/>
          <p:cNvSpPr/>
          <p:nvPr/>
        </p:nvSpPr>
        <p:spPr>
          <a:xfrm>
            <a:off x="566928" y="5614416"/>
            <a:ext cx="237744" cy="237744"/>
          </a:xfrm>
          <a:prstGeom prst="roundRect">
            <a:avLst>
              <a:gd name="adj" fmla="val 19231"/>
            </a:avLst>
          </a:prstGeom>
          <a:solidFill>
            <a:srgbClr val="2563EB">
              <a:alpha val="75000"/>
            </a:srgbClr>
          </a:solidFill>
          <a:ln w="12700">
            <a:solidFill>
              <a:srgbClr val="2563EB"/>
            </a:solidFill>
            <a:prstDash val="solid"/>
          </a:ln>
        </p:spPr>
      </p:sp>
      <p:sp>
        <p:nvSpPr>
          <p:cNvPr id="13" name="Text 11"/>
          <p:cNvSpPr/>
          <p:nvPr/>
        </p:nvSpPr>
        <p:spPr>
          <a:xfrm>
            <a:off x="877824" y="5577840"/>
            <a:ext cx="4754880" cy="292608"/>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Zone B — Coast Grocers</a:t>
            </a:r>
            <a:endParaRPr lang="en-US" sz="1100" dirty="0"/>
          </a:p>
        </p:txBody>
      </p:sp>
      <p:sp>
        <p:nvSpPr>
          <p:cNvPr id="14" name="Shape 12"/>
          <p:cNvSpPr/>
          <p:nvPr/>
        </p:nvSpPr>
        <p:spPr>
          <a:xfrm>
            <a:off x="566928" y="5980176"/>
            <a:ext cx="237744" cy="237744"/>
          </a:xfrm>
          <a:prstGeom prst="roundRect">
            <a:avLst>
              <a:gd name="adj" fmla="val 19231"/>
            </a:avLst>
          </a:prstGeom>
          <a:solidFill>
            <a:srgbClr val="0D9488">
              <a:alpha val="75000"/>
            </a:srgbClr>
          </a:solidFill>
          <a:ln w="12700">
            <a:solidFill>
              <a:srgbClr val="0D9488"/>
            </a:solidFill>
            <a:prstDash val="solid"/>
          </a:ln>
        </p:spPr>
      </p:sp>
      <p:sp>
        <p:nvSpPr>
          <p:cNvPr id="15" name="Text 13"/>
          <p:cNvSpPr/>
          <p:nvPr/>
        </p:nvSpPr>
        <p:spPr>
          <a:xfrm>
            <a:off x="877824" y="5943600"/>
            <a:ext cx="4754880" cy="292608"/>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Zone C — Urban Kirana</a:t>
            </a:r>
            <a:endParaRPr lang="en-US" sz="1100" dirty="0"/>
          </a:p>
        </p:txBody>
      </p:sp>
      <p:sp>
        <p:nvSpPr>
          <p:cNvPr id="16" name="Shape 14"/>
          <p:cNvSpPr/>
          <p:nvPr/>
        </p:nvSpPr>
        <p:spPr>
          <a:xfrm>
            <a:off x="5989320" y="1664208"/>
            <a:ext cx="5650992" cy="4526280"/>
          </a:xfrm>
          <a:prstGeom prst="roundRect">
            <a:avLst>
              <a:gd name="adj" fmla="val 2020"/>
            </a:avLst>
          </a:prstGeom>
          <a:solidFill>
            <a:srgbClr val="EFF6FF"/>
          </a:solidFill>
          <a:ln w="12700">
            <a:solidFill>
              <a:srgbClr val="C7DAFB"/>
            </a:solidFill>
            <a:prstDash val="solid"/>
          </a:ln>
          <a:effectLst>
            <a:outerShdw sx="100000" sy="100000" kx="0" ky="0" algn="bl" rotWithShape="0" blurRad="88900" dist="25400" dir="5400000">
              <a:srgbClr val="334155">
                <a:alpha val="12000"/>
              </a:srgbClr>
            </a:outerShdw>
          </a:effectLst>
        </p:spPr>
      </p:sp>
      <p:sp>
        <p:nvSpPr>
          <p:cNvPr id="17" name="Shape 15"/>
          <p:cNvSpPr/>
          <p:nvPr/>
        </p:nvSpPr>
        <p:spPr>
          <a:xfrm>
            <a:off x="6931152" y="1801368"/>
            <a:ext cx="0" cy="4251960"/>
          </a:xfrm>
          <a:prstGeom prst="line">
            <a:avLst/>
          </a:prstGeom>
          <a:noFill/>
          <a:ln w="9525">
            <a:solidFill>
              <a:srgbClr val="DBEAFE"/>
            </a:solidFill>
            <a:prstDash val="solid"/>
          </a:ln>
        </p:spPr>
      </p:sp>
      <p:sp>
        <p:nvSpPr>
          <p:cNvPr id="18" name="Shape 16"/>
          <p:cNvSpPr/>
          <p:nvPr/>
        </p:nvSpPr>
        <p:spPr>
          <a:xfrm>
            <a:off x="7872984" y="1801368"/>
            <a:ext cx="0" cy="4251960"/>
          </a:xfrm>
          <a:prstGeom prst="line">
            <a:avLst/>
          </a:prstGeom>
          <a:noFill/>
          <a:ln w="9525">
            <a:solidFill>
              <a:srgbClr val="DBEAFE"/>
            </a:solidFill>
            <a:prstDash val="solid"/>
          </a:ln>
        </p:spPr>
      </p:sp>
      <p:sp>
        <p:nvSpPr>
          <p:cNvPr id="19" name="Shape 17"/>
          <p:cNvSpPr/>
          <p:nvPr/>
        </p:nvSpPr>
        <p:spPr>
          <a:xfrm>
            <a:off x="8814816" y="1801368"/>
            <a:ext cx="0" cy="4251960"/>
          </a:xfrm>
          <a:prstGeom prst="line">
            <a:avLst/>
          </a:prstGeom>
          <a:noFill/>
          <a:ln w="9525">
            <a:solidFill>
              <a:srgbClr val="DBEAFE"/>
            </a:solidFill>
            <a:prstDash val="solid"/>
          </a:ln>
        </p:spPr>
      </p:sp>
      <p:sp>
        <p:nvSpPr>
          <p:cNvPr id="20" name="Shape 18"/>
          <p:cNvSpPr/>
          <p:nvPr/>
        </p:nvSpPr>
        <p:spPr>
          <a:xfrm>
            <a:off x="9756648" y="1801368"/>
            <a:ext cx="0" cy="4251960"/>
          </a:xfrm>
          <a:prstGeom prst="line">
            <a:avLst/>
          </a:prstGeom>
          <a:noFill/>
          <a:ln w="9525">
            <a:solidFill>
              <a:srgbClr val="DBEAFE"/>
            </a:solidFill>
            <a:prstDash val="solid"/>
          </a:ln>
        </p:spPr>
      </p:sp>
      <p:sp>
        <p:nvSpPr>
          <p:cNvPr id="21" name="Shape 19"/>
          <p:cNvSpPr/>
          <p:nvPr/>
        </p:nvSpPr>
        <p:spPr>
          <a:xfrm>
            <a:off x="10698480" y="1801368"/>
            <a:ext cx="0" cy="4251960"/>
          </a:xfrm>
          <a:prstGeom prst="line">
            <a:avLst/>
          </a:prstGeom>
          <a:noFill/>
          <a:ln w="9525">
            <a:solidFill>
              <a:srgbClr val="DBEAFE"/>
            </a:solidFill>
            <a:prstDash val="solid"/>
          </a:ln>
        </p:spPr>
      </p:sp>
      <p:sp>
        <p:nvSpPr>
          <p:cNvPr id="22" name="Shape 20"/>
          <p:cNvSpPr/>
          <p:nvPr/>
        </p:nvSpPr>
        <p:spPr>
          <a:xfrm>
            <a:off x="6126480" y="2569464"/>
            <a:ext cx="5376672" cy="0"/>
          </a:xfrm>
          <a:prstGeom prst="line">
            <a:avLst/>
          </a:prstGeom>
          <a:noFill/>
          <a:ln w="9525">
            <a:solidFill>
              <a:srgbClr val="DBEAFE"/>
            </a:solidFill>
            <a:prstDash val="solid"/>
          </a:ln>
        </p:spPr>
      </p:sp>
      <p:sp>
        <p:nvSpPr>
          <p:cNvPr id="23" name="Shape 21"/>
          <p:cNvSpPr/>
          <p:nvPr/>
        </p:nvSpPr>
        <p:spPr>
          <a:xfrm>
            <a:off x="6126480" y="3474720"/>
            <a:ext cx="5376672" cy="0"/>
          </a:xfrm>
          <a:prstGeom prst="line">
            <a:avLst/>
          </a:prstGeom>
          <a:noFill/>
          <a:ln w="9525">
            <a:solidFill>
              <a:srgbClr val="DBEAFE"/>
            </a:solidFill>
            <a:prstDash val="solid"/>
          </a:ln>
        </p:spPr>
      </p:sp>
      <p:sp>
        <p:nvSpPr>
          <p:cNvPr id="24" name="Shape 22"/>
          <p:cNvSpPr/>
          <p:nvPr/>
        </p:nvSpPr>
        <p:spPr>
          <a:xfrm>
            <a:off x="6126480" y="4379976"/>
            <a:ext cx="5376672" cy="0"/>
          </a:xfrm>
          <a:prstGeom prst="line">
            <a:avLst/>
          </a:prstGeom>
          <a:noFill/>
          <a:ln w="9525">
            <a:solidFill>
              <a:srgbClr val="DBEAFE"/>
            </a:solidFill>
            <a:prstDash val="solid"/>
          </a:ln>
        </p:spPr>
      </p:sp>
      <p:sp>
        <p:nvSpPr>
          <p:cNvPr id="25" name="Shape 23"/>
          <p:cNvSpPr/>
          <p:nvPr/>
        </p:nvSpPr>
        <p:spPr>
          <a:xfrm>
            <a:off x="6126480" y="5285232"/>
            <a:ext cx="5376672" cy="0"/>
          </a:xfrm>
          <a:prstGeom prst="line">
            <a:avLst/>
          </a:prstGeom>
          <a:noFill/>
          <a:ln w="9525">
            <a:solidFill>
              <a:srgbClr val="DBEAFE"/>
            </a:solidFill>
            <a:prstDash val="solid"/>
          </a:ln>
        </p:spPr>
      </p:sp>
      <p:sp>
        <p:nvSpPr>
          <p:cNvPr id="26" name="Shape 24"/>
          <p:cNvSpPr/>
          <p:nvPr/>
        </p:nvSpPr>
        <p:spPr>
          <a:xfrm rot="-480000">
            <a:off x="6355080" y="2075688"/>
            <a:ext cx="2331720" cy="1783080"/>
          </a:xfrm>
          <a:prstGeom prst="roundRect">
            <a:avLst>
              <a:gd name="adj" fmla="val 9231"/>
            </a:avLst>
          </a:prstGeom>
          <a:solidFill>
            <a:srgbClr val="7C3AED">
              <a:alpha val="22000"/>
            </a:srgbClr>
          </a:solidFill>
          <a:ln w="22225">
            <a:solidFill>
              <a:srgbClr val="7C3AED"/>
            </a:solidFill>
            <a:prstDash val="solid"/>
          </a:ln>
        </p:spPr>
      </p:sp>
      <p:sp>
        <p:nvSpPr>
          <p:cNvPr id="27" name="Text 25"/>
          <p:cNvSpPr/>
          <p:nvPr/>
        </p:nvSpPr>
        <p:spPr>
          <a:xfrm rot="-480000">
            <a:off x="6446520" y="2130552"/>
            <a:ext cx="457200" cy="365760"/>
          </a:xfrm>
          <a:prstGeom prst="rect">
            <a:avLst/>
          </a:prstGeom>
          <a:noFill/>
          <a:ln/>
        </p:spPr>
        <p:txBody>
          <a:bodyPr wrap="square" lIns="0" tIns="0" rIns="0" bIns="0" rtlCol="0" anchor="ctr"/>
          <a:lstStyle/>
          <a:p>
            <a:pPr indent="0" marL="0">
              <a:buNone/>
            </a:pPr>
            <a:r>
              <a:rPr lang="en-US" sz="1600" b="1" dirty="0">
                <a:solidFill>
                  <a:srgbClr val="7C3AED"/>
                </a:solidFill>
                <a:latin typeface="Trebuchet MS" pitchFamily="34" charset="0"/>
                <a:ea typeface="Trebuchet MS" pitchFamily="34" charset="-122"/>
                <a:cs typeface="Trebuchet MS" pitchFamily="34" charset="-120"/>
              </a:rPr>
              <a:t>A</a:t>
            </a:r>
            <a:endParaRPr lang="en-US" sz="1600" dirty="0"/>
          </a:p>
        </p:txBody>
      </p:sp>
      <p:sp>
        <p:nvSpPr>
          <p:cNvPr id="28" name="Shape 26"/>
          <p:cNvSpPr/>
          <p:nvPr/>
        </p:nvSpPr>
        <p:spPr>
          <a:xfrm rot="360000">
            <a:off x="8915400" y="2121408"/>
            <a:ext cx="2240280" cy="1920240"/>
          </a:xfrm>
          <a:prstGeom prst="roundRect">
            <a:avLst>
              <a:gd name="adj" fmla="val 8571"/>
            </a:avLst>
          </a:prstGeom>
          <a:solidFill>
            <a:srgbClr val="2563EB">
              <a:alpha val="22000"/>
            </a:srgbClr>
          </a:solidFill>
          <a:ln w="22225">
            <a:solidFill>
              <a:srgbClr val="2563EB"/>
            </a:solidFill>
            <a:prstDash val="solid"/>
          </a:ln>
        </p:spPr>
      </p:sp>
      <p:sp>
        <p:nvSpPr>
          <p:cNvPr id="29" name="Text 27"/>
          <p:cNvSpPr/>
          <p:nvPr/>
        </p:nvSpPr>
        <p:spPr>
          <a:xfrm rot="360000">
            <a:off x="9006840" y="2176272"/>
            <a:ext cx="457200" cy="365760"/>
          </a:xfrm>
          <a:prstGeom prst="rect">
            <a:avLst/>
          </a:prstGeom>
          <a:noFill/>
          <a:ln/>
        </p:spPr>
        <p:txBody>
          <a:bodyPr wrap="square" lIns="0" tIns="0" rIns="0" bIns="0" rtlCol="0" anchor="ctr"/>
          <a:lstStyle/>
          <a:p>
            <a:pPr indent="0" marL="0">
              <a:buNone/>
            </a:pPr>
            <a:r>
              <a:rPr lang="en-US" sz="1600" b="1" dirty="0">
                <a:solidFill>
                  <a:srgbClr val="2563EB"/>
                </a:solidFill>
                <a:latin typeface="Trebuchet MS" pitchFamily="34" charset="0"/>
                <a:ea typeface="Trebuchet MS" pitchFamily="34" charset="-122"/>
                <a:cs typeface="Trebuchet MS" pitchFamily="34" charset="-120"/>
              </a:rPr>
              <a:t>B</a:t>
            </a:r>
            <a:endParaRPr lang="en-US" sz="1600" dirty="0"/>
          </a:p>
        </p:txBody>
      </p:sp>
      <p:sp>
        <p:nvSpPr>
          <p:cNvPr id="30" name="Shape 28"/>
          <p:cNvSpPr/>
          <p:nvPr/>
        </p:nvSpPr>
        <p:spPr>
          <a:xfrm rot="-240000">
            <a:off x="6903720" y="4361688"/>
            <a:ext cx="2743200" cy="1371600"/>
          </a:xfrm>
          <a:prstGeom prst="roundRect">
            <a:avLst>
              <a:gd name="adj" fmla="val 12000"/>
            </a:avLst>
          </a:prstGeom>
          <a:solidFill>
            <a:srgbClr val="0D9488">
              <a:alpha val="22000"/>
            </a:srgbClr>
          </a:solidFill>
          <a:ln w="22225">
            <a:solidFill>
              <a:srgbClr val="0D9488"/>
            </a:solidFill>
            <a:prstDash val="solid"/>
          </a:ln>
        </p:spPr>
      </p:sp>
      <p:sp>
        <p:nvSpPr>
          <p:cNvPr id="31" name="Text 29"/>
          <p:cNvSpPr/>
          <p:nvPr/>
        </p:nvSpPr>
        <p:spPr>
          <a:xfrm rot="-240000">
            <a:off x="6995160" y="4416552"/>
            <a:ext cx="457200" cy="365760"/>
          </a:xfrm>
          <a:prstGeom prst="rect">
            <a:avLst/>
          </a:prstGeom>
          <a:noFill/>
          <a:ln/>
        </p:spPr>
        <p:txBody>
          <a:bodyPr wrap="square" lIns="0" tIns="0" rIns="0" bIns="0" rtlCol="0" anchor="ctr"/>
          <a:lstStyle/>
          <a:p>
            <a:pPr indent="0" marL="0">
              <a:buNone/>
            </a:pPr>
            <a:r>
              <a:rPr lang="en-US" sz="1600" b="1" dirty="0">
                <a:solidFill>
                  <a:srgbClr val="0D9488"/>
                </a:solidFill>
                <a:latin typeface="Trebuchet MS" pitchFamily="34" charset="0"/>
                <a:ea typeface="Trebuchet MS" pitchFamily="34" charset="-122"/>
                <a:cs typeface="Trebuchet MS" pitchFamily="34" charset="-120"/>
              </a:rPr>
              <a:t>C</a:t>
            </a:r>
            <a:endParaRPr lang="en-US" sz="1600" dirty="0"/>
          </a:p>
        </p:txBody>
      </p:sp>
      <p:pic>
        <p:nvPicPr>
          <p:cNvPr id="32" name="Image 0" descr="C:\Users\Lenovo\AppData\Local\Temp\qwipo-deck\assets\ic_FaMapMarkerAlt_w.png">    </p:cNvPr>
          <p:cNvPicPr>
            <a:picLocks noChangeAspect="1"/>
          </p:cNvPicPr>
          <p:nvPr/>
        </p:nvPicPr>
        <p:blipFill>
          <a:blip r:embed="rId1"/>
          <a:stretch>
            <a:fillRect/>
          </a:stretch>
        </p:blipFill>
        <p:spPr>
          <a:xfrm>
            <a:off x="7086600" y="2715768"/>
            <a:ext cx="292608" cy="292608"/>
          </a:xfrm>
          <a:prstGeom prst="rect">
            <a:avLst/>
          </a:prstGeom>
        </p:spPr>
      </p:pic>
      <p:sp>
        <p:nvSpPr>
          <p:cNvPr id="33" name="Shape 30"/>
          <p:cNvSpPr/>
          <p:nvPr/>
        </p:nvSpPr>
        <p:spPr>
          <a:xfrm>
            <a:off x="7104888" y="2697480"/>
            <a:ext cx="256032" cy="256032"/>
          </a:xfrm>
          <a:prstGeom prst="ellipse">
            <a:avLst/>
          </a:prstGeom>
          <a:solidFill>
            <a:srgbClr val="7C3AED"/>
          </a:solidFill>
          <a:ln w="19050">
            <a:solidFill>
              <a:srgbClr val="FFFFFF"/>
            </a:solidFill>
            <a:prstDash val="solid"/>
          </a:ln>
        </p:spPr>
      </p:sp>
      <p:pic>
        <p:nvPicPr>
          <p:cNvPr id="34" name="Image 1" descr="C:\Users\Lenovo\AppData\Local\Temp\qwipo-deck\assets\ic_FaMapMarkerAlt_w.png">    </p:cNvPr>
          <p:cNvPicPr>
            <a:picLocks noChangeAspect="1"/>
          </p:cNvPicPr>
          <p:nvPr/>
        </p:nvPicPr>
        <p:blipFill>
          <a:blip r:embed="rId2"/>
          <a:stretch>
            <a:fillRect/>
          </a:stretch>
        </p:blipFill>
        <p:spPr>
          <a:xfrm>
            <a:off x="7132320" y="2706624"/>
            <a:ext cx="201168" cy="201168"/>
          </a:xfrm>
          <a:prstGeom prst="rect">
            <a:avLst/>
          </a:prstGeom>
        </p:spPr>
      </p:pic>
      <p:pic>
        <p:nvPicPr>
          <p:cNvPr id="35" name="Image 2" descr="C:\Users\Lenovo\AppData\Local\Temp\qwipo-deck\assets\ic_FaMapMarkerAlt_w.png">    </p:cNvPr>
          <p:cNvPicPr>
            <a:picLocks noChangeAspect="1"/>
          </p:cNvPicPr>
          <p:nvPr/>
        </p:nvPicPr>
        <p:blipFill>
          <a:blip r:embed="rId3"/>
          <a:stretch>
            <a:fillRect/>
          </a:stretch>
        </p:blipFill>
        <p:spPr>
          <a:xfrm>
            <a:off x="7909560" y="3355848"/>
            <a:ext cx="292608" cy="292608"/>
          </a:xfrm>
          <a:prstGeom prst="rect">
            <a:avLst/>
          </a:prstGeom>
        </p:spPr>
      </p:pic>
      <p:sp>
        <p:nvSpPr>
          <p:cNvPr id="36" name="Shape 31"/>
          <p:cNvSpPr/>
          <p:nvPr/>
        </p:nvSpPr>
        <p:spPr>
          <a:xfrm>
            <a:off x="7927848" y="3337560"/>
            <a:ext cx="256032" cy="256032"/>
          </a:xfrm>
          <a:prstGeom prst="ellipse">
            <a:avLst/>
          </a:prstGeom>
          <a:solidFill>
            <a:srgbClr val="7C3AED"/>
          </a:solidFill>
          <a:ln w="19050">
            <a:solidFill>
              <a:srgbClr val="FFFFFF"/>
            </a:solidFill>
            <a:prstDash val="solid"/>
          </a:ln>
        </p:spPr>
      </p:sp>
      <p:pic>
        <p:nvPicPr>
          <p:cNvPr id="37" name="Image 3" descr="C:\Users\Lenovo\AppData\Local\Temp\qwipo-deck\assets\ic_FaMapMarkerAlt_w.png">    </p:cNvPr>
          <p:cNvPicPr>
            <a:picLocks noChangeAspect="1"/>
          </p:cNvPicPr>
          <p:nvPr/>
        </p:nvPicPr>
        <p:blipFill>
          <a:blip r:embed="rId4"/>
          <a:stretch>
            <a:fillRect/>
          </a:stretch>
        </p:blipFill>
        <p:spPr>
          <a:xfrm>
            <a:off x="7955280" y="3346704"/>
            <a:ext cx="201168" cy="201168"/>
          </a:xfrm>
          <a:prstGeom prst="rect">
            <a:avLst/>
          </a:prstGeom>
        </p:spPr>
      </p:pic>
      <p:pic>
        <p:nvPicPr>
          <p:cNvPr id="38" name="Image 4" descr="C:\Users\Lenovo\AppData\Local\Temp\qwipo-deck\assets\ic_FaMapMarkerAlt_w.png">    </p:cNvPr>
          <p:cNvPicPr>
            <a:picLocks noChangeAspect="1"/>
          </p:cNvPicPr>
          <p:nvPr/>
        </p:nvPicPr>
        <p:blipFill>
          <a:blip r:embed="rId5"/>
          <a:stretch>
            <a:fillRect/>
          </a:stretch>
        </p:blipFill>
        <p:spPr>
          <a:xfrm>
            <a:off x="9601200" y="2807208"/>
            <a:ext cx="292608" cy="292608"/>
          </a:xfrm>
          <a:prstGeom prst="rect">
            <a:avLst/>
          </a:prstGeom>
        </p:spPr>
      </p:pic>
      <p:sp>
        <p:nvSpPr>
          <p:cNvPr id="39" name="Shape 32"/>
          <p:cNvSpPr/>
          <p:nvPr/>
        </p:nvSpPr>
        <p:spPr>
          <a:xfrm>
            <a:off x="9619488" y="2788920"/>
            <a:ext cx="256032" cy="256032"/>
          </a:xfrm>
          <a:prstGeom prst="ellipse">
            <a:avLst/>
          </a:prstGeom>
          <a:solidFill>
            <a:srgbClr val="2563EB"/>
          </a:solidFill>
          <a:ln w="19050">
            <a:solidFill>
              <a:srgbClr val="FFFFFF"/>
            </a:solidFill>
            <a:prstDash val="solid"/>
          </a:ln>
        </p:spPr>
      </p:sp>
      <p:pic>
        <p:nvPicPr>
          <p:cNvPr id="40" name="Image 5" descr="C:\Users\Lenovo\AppData\Local\Temp\qwipo-deck\assets\ic_FaMapMarkerAlt_w.png">    </p:cNvPr>
          <p:cNvPicPr>
            <a:picLocks noChangeAspect="1"/>
          </p:cNvPicPr>
          <p:nvPr/>
        </p:nvPicPr>
        <p:blipFill>
          <a:blip r:embed="rId6"/>
          <a:stretch>
            <a:fillRect/>
          </a:stretch>
        </p:blipFill>
        <p:spPr>
          <a:xfrm>
            <a:off x="9646920" y="2798064"/>
            <a:ext cx="201168" cy="201168"/>
          </a:xfrm>
          <a:prstGeom prst="rect">
            <a:avLst/>
          </a:prstGeom>
        </p:spPr>
      </p:pic>
      <p:pic>
        <p:nvPicPr>
          <p:cNvPr id="41" name="Image 6" descr="C:\Users\Lenovo\AppData\Local\Temp\qwipo-deck\assets\ic_FaMapMarkerAlt_w.png">    </p:cNvPr>
          <p:cNvPicPr>
            <a:picLocks noChangeAspect="1"/>
          </p:cNvPicPr>
          <p:nvPr/>
        </p:nvPicPr>
        <p:blipFill>
          <a:blip r:embed="rId7"/>
          <a:stretch>
            <a:fillRect/>
          </a:stretch>
        </p:blipFill>
        <p:spPr>
          <a:xfrm>
            <a:off x="10287000" y="3493008"/>
            <a:ext cx="292608" cy="292608"/>
          </a:xfrm>
          <a:prstGeom prst="rect">
            <a:avLst/>
          </a:prstGeom>
        </p:spPr>
      </p:pic>
      <p:sp>
        <p:nvSpPr>
          <p:cNvPr id="42" name="Shape 33"/>
          <p:cNvSpPr/>
          <p:nvPr/>
        </p:nvSpPr>
        <p:spPr>
          <a:xfrm>
            <a:off x="10305288" y="3474720"/>
            <a:ext cx="256032" cy="256032"/>
          </a:xfrm>
          <a:prstGeom prst="ellipse">
            <a:avLst/>
          </a:prstGeom>
          <a:solidFill>
            <a:srgbClr val="2563EB"/>
          </a:solidFill>
          <a:ln w="19050">
            <a:solidFill>
              <a:srgbClr val="FFFFFF"/>
            </a:solidFill>
            <a:prstDash val="solid"/>
          </a:ln>
        </p:spPr>
      </p:sp>
      <p:pic>
        <p:nvPicPr>
          <p:cNvPr id="43" name="Image 7" descr="C:\Users\Lenovo\AppData\Local\Temp\qwipo-deck\assets\ic_FaMapMarkerAlt_w.png">    </p:cNvPr>
          <p:cNvPicPr>
            <a:picLocks noChangeAspect="1"/>
          </p:cNvPicPr>
          <p:nvPr/>
        </p:nvPicPr>
        <p:blipFill>
          <a:blip r:embed="rId8"/>
          <a:stretch>
            <a:fillRect/>
          </a:stretch>
        </p:blipFill>
        <p:spPr>
          <a:xfrm>
            <a:off x="10332720" y="3483864"/>
            <a:ext cx="201168" cy="201168"/>
          </a:xfrm>
          <a:prstGeom prst="rect">
            <a:avLst/>
          </a:prstGeom>
        </p:spPr>
      </p:pic>
      <p:pic>
        <p:nvPicPr>
          <p:cNvPr id="44" name="Image 8" descr="C:\Users\Lenovo\AppData\Local\Temp\qwipo-deck\assets\ic_FaMapMarkerAlt_w.png">    </p:cNvPr>
          <p:cNvPicPr>
            <a:picLocks noChangeAspect="1"/>
          </p:cNvPicPr>
          <p:nvPr/>
        </p:nvPicPr>
        <p:blipFill>
          <a:blip r:embed="rId9"/>
          <a:stretch>
            <a:fillRect/>
          </a:stretch>
        </p:blipFill>
        <p:spPr>
          <a:xfrm>
            <a:off x="7726680" y="4864608"/>
            <a:ext cx="292608" cy="292608"/>
          </a:xfrm>
          <a:prstGeom prst="rect">
            <a:avLst/>
          </a:prstGeom>
        </p:spPr>
      </p:pic>
      <p:sp>
        <p:nvSpPr>
          <p:cNvPr id="45" name="Shape 34"/>
          <p:cNvSpPr/>
          <p:nvPr/>
        </p:nvSpPr>
        <p:spPr>
          <a:xfrm>
            <a:off x="7744968" y="4846320"/>
            <a:ext cx="256032" cy="256032"/>
          </a:xfrm>
          <a:prstGeom prst="ellipse">
            <a:avLst/>
          </a:prstGeom>
          <a:solidFill>
            <a:srgbClr val="0D9488"/>
          </a:solidFill>
          <a:ln w="19050">
            <a:solidFill>
              <a:srgbClr val="FFFFFF"/>
            </a:solidFill>
            <a:prstDash val="solid"/>
          </a:ln>
        </p:spPr>
      </p:sp>
      <p:pic>
        <p:nvPicPr>
          <p:cNvPr id="46" name="Image 9" descr="C:\Users\Lenovo\AppData\Local\Temp\qwipo-deck\assets\ic_FaMapMarkerAlt_w.png">    </p:cNvPr>
          <p:cNvPicPr>
            <a:picLocks noChangeAspect="1"/>
          </p:cNvPicPr>
          <p:nvPr/>
        </p:nvPicPr>
        <p:blipFill>
          <a:blip r:embed="rId10"/>
          <a:stretch>
            <a:fillRect/>
          </a:stretch>
        </p:blipFill>
        <p:spPr>
          <a:xfrm>
            <a:off x="7772400" y="4855464"/>
            <a:ext cx="201168" cy="201168"/>
          </a:xfrm>
          <a:prstGeom prst="rect">
            <a:avLst/>
          </a:prstGeom>
        </p:spPr>
      </p:pic>
      <p:pic>
        <p:nvPicPr>
          <p:cNvPr id="47" name="Image 10" descr="C:\Users\Lenovo\AppData\Local\Temp\qwipo-deck\assets\ic_FaMapMarkerAlt_w.png">    </p:cNvPr>
          <p:cNvPicPr>
            <a:picLocks noChangeAspect="1"/>
          </p:cNvPicPr>
          <p:nvPr/>
        </p:nvPicPr>
        <p:blipFill>
          <a:blip r:embed="rId11"/>
          <a:stretch>
            <a:fillRect/>
          </a:stretch>
        </p:blipFill>
        <p:spPr>
          <a:xfrm>
            <a:off x="8732520" y="5230368"/>
            <a:ext cx="292608" cy="292608"/>
          </a:xfrm>
          <a:prstGeom prst="rect">
            <a:avLst/>
          </a:prstGeom>
        </p:spPr>
      </p:pic>
      <p:sp>
        <p:nvSpPr>
          <p:cNvPr id="48" name="Shape 35"/>
          <p:cNvSpPr/>
          <p:nvPr/>
        </p:nvSpPr>
        <p:spPr>
          <a:xfrm>
            <a:off x="8750808" y="5212080"/>
            <a:ext cx="256032" cy="256032"/>
          </a:xfrm>
          <a:prstGeom prst="ellipse">
            <a:avLst/>
          </a:prstGeom>
          <a:solidFill>
            <a:srgbClr val="0D9488"/>
          </a:solidFill>
          <a:ln w="19050">
            <a:solidFill>
              <a:srgbClr val="FFFFFF"/>
            </a:solidFill>
            <a:prstDash val="solid"/>
          </a:ln>
        </p:spPr>
      </p:sp>
      <p:pic>
        <p:nvPicPr>
          <p:cNvPr id="49" name="Image 11" descr="C:\Users\Lenovo\AppData\Local\Temp\qwipo-deck\assets\ic_FaMapMarkerAlt_w.png">    </p:cNvPr>
          <p:cNvPicPr>
            <a:picLocks noChangeAspect="1"/>
          </p:cNvPicPr>
          <p:nvPr/>
        </p:nvPicPr>
        <p:blipFill>
          <a:blip r:embed="rId12"/>
          <a:stretch>
            <a:fillRect/>
          </a:stretch>
        </p:blipFill>
        <p:spPr>
          <a:xfrm>
            <a:off x="8778240" y="5221224"/>
            <a:ext cx="201168" cy="201168"/>
          </a:xfrm>
          <a:prstGeom prst="rect">
            <a:avLst/>
          </a:prstGeom>
        </p:spPr>
      </p:pic>
      <p:sp>
        <p:nvSpPr>
          <p:cNvPr id="50" name="Text 36"/>
          <p:cNvSpPr/>
          <p:nvPr/>
        </p:nvSpPr>
        <p:spPr>
          <a:xfrm>
            <a:off x="5989320" y="5806440"/>
            <a:ext cx="5650992" cy="292608"/>
          </a:xfrm>
          <a:prstGeom prst="rect">
            <a:avLst/>
          </a:prstGeom>
          <a:noFill/>
          <a:ln/>
        </p:spPr>
        <p:txBody>
          <a:bodyPr wrap="square" lIns="0" tIns="0" rIns="0" bIns="0" rtlCol="0" anchor="ctr"/>
          <a:lstStyle/>
          <a:p>
            <a:pPr algn="ctr" indent="0" marL="0">
              <a:buNone/>
            </a:pPr>
            <a:r>
              <a:rPr lang="en-US" sz="1050" i="1" dirty="0">
                <a:solidFill>
                  <a:srgbClr val="64748B"/>
                </a:solidFill>
                <a:latin typeface="Calibri" pitchFamily="34" charset="0"/>
                <a:ea typeface="Calibri" pitchFamily="34" charset="-122"/>
                <a:cs typeface="Calibri" pitchFamily="34" charset="-120"/>
              </a:rPr>
              <a:t>Retailers automatically resolved to a single distributor territory</a:t>
            </a:r>
            <a:endParaRPr lang="en-US" sz="1050" dirty="0"/>
          </a:p>
        </p:txBody>
      </p:sp>
      <p:sp>
        <p:nvSpPr>
          <p:cNvPr id="51" name="Text 37"/>
          <p:cNvSpPr/>
          <p:nvPr/>
        </p:nvSpPr>
        <p:spPr>
          <a:xfrm>
            <a:off x="548640" y="6437376"/>
            <a:ext cx="5486400" cy="274320"/>
          </a:xfrm>
          <a:prstGeom prst="rect">
            <a:avLst/>
          </a:prstGeom>
          <a:noFill/>
          <a:ln/>
        </p:spPr>
        <p:txBody>
          <a:bodyPr wrap="square" lIns="0" tIns="0" rIns="0" bIns="0" rtlCol="0" anchor="ctr"/>
          <a:lstStyle/>
          <a:p>
            <a:pPr indent="0" marL="0">
              <a:buNone/>
            </a:pPr>
            <a:r>
              <a:rPr lang="en-US" sz="900" b="1" dirty="0">
                <a:solidFill>
                  <a:srgbClr val="7C3AED"/>
                </a:solidFill>
                <a:latin typeface="Calibri" pitchFamily="34" charset="0"/>
                <a:ea typeface="Calibri" pitchFamily="34" charset="-122"/>
                <a:cs typeface="Calibri" pitchFamily="34" charset="-120"/>
              </a:rPr>
              <a:t>Qwipo</a:t>
            </a:r>
            <a:pPr indent="0" marL="0">
              <a:buNone/>
            </a:pPr>
            <a:r>
              <a:rPr lang="en-US" sz="900" dirty="0">
                <a:solidFill>
                  <a:srgbClr val="94A3B8"/>
                </a:solidFill>
                <a:latin typeface="Calibri" pitchFamily="34" charset="0"/>
                <a:ea typeface="Calibri" pitchFamily="34" charset="-122"/>
                <a:cs typeface="Calibri" pitchFamily="34" charset="-120"/>
              </a:rPr>
              <a:t>   Seller Store Platform</a:t>
            </a:r>
            <a:endParaRPr lang="en-US" sz="900" dirty="0"/>
          </a:p>
        </p:txBody>
      </p:sp>
      <p:sp>
        <p:nvSpPr>
          <p:cNvPr id="52" name="Text 38"/>
          <p:cNvSpPr/>
          <p:nvPr/>
        </p:nvSpPr>
        <p:spPr>
          <a:xfrm>
            <a:off x="9966960" y="6437376"/>
            <a:ext cx="1673352"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11 / 20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Trebuchet MS" pitchFamily="34" charset="0"/>
                <a:ea typeface="Trebuchet MS" pitchFamily="34" charset="-122"/>
                <a:cs typeface="Trebuchet MS" pitchFamily="34" charset="-120"/>
              </a:rPr>
              <a:t>FEATURE · ORDERS</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Trebuchet MS" pitchFamily="34" charset="0"/>
                <a:ea typeface="Trebuchet MS" pitchFamily="34" charset="-122"/>
                <a:cs typeface="Trebuchet MS" pitchFamily="34" charset="-120"/>
              </a:rPr>
              <a:t>Every order, every channel — one managed queue</a:t>
            </a:r>
            <a:endParaRPr lang="en-US" sz="2900" dirty="0"/>
          </a:p>
        </p:txBody>
      </p:sp>
      <p:sp>
        <p:nvSpPr>
          <p:cNvPr id="4" name="Shape 2"/>
          <p:cNvSpPr/>
          <p:nvPr/>
        </p:nvSpPr>
        <p:spPr>
          <a:xfrm>
            <a:off x="548640" y="1627632"/>
            <a:ext cx="1481328" cy="868680"/>
          </a:xfrm>
          <a:prstGeom prst="roundRect">
            <a:avLst>
              <a:gd name="adj" fmla="val 9474"/>
            </a:avLst>
          </a:prstGeom>
          <a:solidFill>
            <a:srgbClr val="F8FAFC"/>
          </a:solidFill>
          <a:ln w="12700">
            <a:solidFill>
              <a:srgbClr val="E2E8F0"/>
            </a:solidFill>
            <a:prstDash val="solid"/>
          </a:ln>
        </p:spPr>
      </p:sp>
      <p:sp>
        <p:nvSpPr>
          <p:cNvPr id="5" name="Shape 3"/>
          <p:cNvSpPr/>
          <p:nvPr/>
        </p:nvSpPr>
        <p:spPr>
          <a:xfrm>
            <a:off x="1078992" y="1737360"/>
            <a:ext cx="420624" cy="420624"/>
          </a:xfrm>
          <a:prstGeom prst="roundRect">
            <a:avLst>
              <a:gd name="adj" fmla="val 26000"/>
            </a:avLst>
          </a:prstGeom>
          <a:solidFill>
            <a:srgbClr val="2563EB"/>
          </a:solidFill>
          <a:ln/>
        </p:spPr>
      </p:sp>
      <p:pic>
        <p:nvPicPr>
          <p:cNvPr id="6" name="Image 0" descr="C:\Users\Lenovo\AppData\Local\Temp\qwipo-deck\assets\ic_FaShoppingCart_w.png">    </p:cNvPr>
          <p:cNvPicPr>
            <a:picLocks noChangeAspect="1"/>
          </p:cNvPicPr>
          <p:nvPr/>
        </p:nvPicPr>
        <p:blipFill>
          <a:blip r:embed="rId1"/>
          <a:stretch>
            <a:fillRect/>
          </a:stretch>
        </p:blipFill>
        <p:spPr>
          <a:xfrm>
            <a:off x="1175736" y="1834104"/>
            <a:ext cx="227137" cy="227137"/>
          </a:xfrm>
          <a:prstGeom prst="rect">
            <a:avLst/>
          </a:prstGeom>
        </p:spPr>
      </p:pic>
      <p:sp>
        <p:nvSpPr>
          <p:cNvPr id="7" name="Text 4"/>
          <p:cNvSpPr/>
          <p:nvPr/>
        </p:nvSpPr>
        <p:spPr>
          <a:xfrm>
            <a:off x="548640" y="2194560"/>
            <a:ext cx="1481328" cy="256032"/>
          </a:xfrm>
          <a:prstGeom prst="rect">
            <a:avLst/>
          </a:prstGeom>
          <a:noFill/>
          <a:ln/>
        </p:spPr>
        <p:txBody>
          <a:bodyPr wrap="square" lIns="0" tIns="0" rIns="0" bIns="0" rtlCol="0" anchor="ctr"/>
          <a:lstStyle/>
          <a:p>
            <a:pPr algn="ctr" indent="0" marL="0">
              <a:buNone/>
            </a:pPr>
            <a:r>
              <a:rPr lang="en-US" sz="1050" b="1" dirty="0">
                <a:solidFill>
                  <a:srgbClr val="0F172A"/>
                </a:solidFill>
                <a:latin typeface="Trebuchet MS" pitchFamily="34" charset="0"/>
                <a:ea typeface="Trebuchet MS" pitchFamily="34" charset="-122"/>
                <a:cs typeface="Trebuchet MS" pitchFamily="34" charset="-120"/>
              </a:rPr>
              <a:t>Placed</a:t>
            </a:r>
            <a:endParaRPr lang="en-US" sz="1050" dirty="0"/>
          </a:p>
        </p:txBody>
      </p:sp>
      <p:pic>
        <p:nvPicPr>
          <p:cNvPr id="8" name="Image 1" descr="C:\Users\Lenovo\AppData\Local\Temp\qwipo-deck\assets\ic_FaArrowRight_c.png">    </p:cNvPr>
          <p:cNvPicPr>
            <a:picLocks noChangeAspect="1"/>
          </p:cNvPicPr>
          <p:nvPr/>
        </p:nvPicPr>
        <p:blipFill>
          <a:blip r:embed="rId2"/>
          <a:stretch>
            <a:fillRect/>
          </a:stretch>
        </p:blipFill>
        <p:spPr>
          <a:xfrm>
            <a:off x="2066544" y="1801368"/>
            <a:ext cx="237744" cy="237744"/>
          </a:xfrm>
          <a:prstGeom prst="rect">
            <a:avLst/>
          </a:prstGeom>
        </p:spPr>
      </p:pic>
      <p:sp>
        <p:nvSpPr>
          <p:cNvPr id="9" name="Shape 5"/>
          <p:cNvSpPr/>
          <p:nvPr/>
        </p:nvSpPr>
        <p:spPr>
          <a:xfrm>
            <a:off x="2340864" y="1627632"/>
            <a:ext cx="1481328" cy="868680"/>
          </a:xfrm>
          <a:prstGeom prst="roundRect">
            <a:avLst>
              <a:gd name="adj" fmla="val 9474"/>
            </a:avLst>
          </a:prstGeom>
          <a:solidFill>
            <a:srgbClr val="F8FAFC"/>
          </a:solidFill>
          <a:ln w="12700">
            <a:solidFill>
              <a:srgbClr val="E2E8F0"/>
            </a:solidFill>
            <a:prstDash val="solid"/>
          </a:ln>
        </p:spPr>
      </p:sp>
      <p:sp>
        <p:nvSpPr>
          <p:cNvPr id="10" name="Shape 6"/>
          <p:cNvSpPr/>
          <p:nvPr/>
        </p:nvSpPr>
        <p:spPr>
          <a:xfrm>
            <a:off x="2871216" y="1737360"/>
            <a:ext cx="420624" cy="420624"/>
          </a:xfrm>
          <a:prstGeom prst="roundRect">
            <a:avLst>
              <a:gd name="adj" fmla="val 26000"/>
            </a:avLst>
          </a:prstGeom>
          <a:solidFill>
            <a:srgbClr val="2563EB"/>
          </a:solidFill>
          <a:ln/>
        </p:spPr>
      </p:sp>
      <p:pic>
        <p:nvPicPr>
          <p:cNvPr id="11" name="Image 2" descr="C:\Users\Lenovo\AppData\Local\Temp\qwipo-deck\assets\ic_FaCheckCircle_w.png">    </p:cNvPr>
          <p:cNvPicPr>
            <a:picLocks noChangeAspect="1"/>
          </p:cNvPicPr>
          <p:nvPr/>
        </p:nvPicPr>
        <p:blipFill>
          <a:blip r:embed="rId3"/>
          <a:stretch>
            <a:fillRect/>
          </a:stretch>
        </p:blipFill>
        <p:spPr>
          <a:xfrm>
            <a:off x="2967960" y="1834104"/>
            <a:ext cx="227137" cy="227137"/>
          </a:xfrm>
          <a:prstGeom prst="rect">
            <a:avLst/>
          </a:prstGeom>
        </p:spPr>
      </p:pic>
      <p:sp>
        <p:nvSpPr>
          <p:cNvPr id="12" name="Text 7"/>
          <p:cNvSpPr/>
          <p:nvPr/>
        </p:nvSpPr>
        <p:spPr>
          <a:xfrm>
            <a:off x="2340864" y="2194560"/>
            <a:ext cx="1481328" cy="256032"/>
          </a:xfrm>
          <a:prstGeom prst="rect">
            <a:avLst/>
          </a:prstGeom>
          <a:noFill/>
          <a:ln/>
        </p:spPr>
        <p:txBody>
          <a:bodyPr wrap="square" lIns="0" tIns="0" rIns="0" bIns="0" rtlCol="0" anchor="ctr"/>
          <a:lstStyle/>
          <a:p>
            <a:pPr algn="ctr" indent="0" marL="0">
              <a:buNone/>
            </a:pPr>
            <a:r>
              <a:rPr lang="en-US" sz="1050" b="1" dirty="0">
                <a:solidFill>
                  <a:srgbClr val="0F172A"/>
                </a:solidFill>
                <a:latin typeface="Trebuchet MS" pitchFamily="34" charset="0"/>
                <a:ea typeface="Trebuchet MS" pitchFamily="34" charset="-122"/>
                <a:cs typeface="Trebuchet MS" pitchFamily="34" charset="-120"/>
              </a:rPr>
              <a:t>Confirmed</a:t>
            </a:r>
            <a:endParaRPr lang="en-US" sz="1050" dirty="0"/>
          </a:p>
        </p:txBody>
      </p:sp>
      <p:pic>
        <p:nvPicPr>
          <p:cNvPr id="13" name="Image 3" descr="C:\Users\Lenovo\AppData\Local\Temp\qwipo-deck\assets\ic_FaArrowRight_c.png">    </p:cNvPr>
          <p:cNvPicPr>
            <a:picLocks noChangeAspect="1"/>
          </p:cNvPicPr>
          <p:nvPr/>
        </p:nvPicPr>
        <p:blipFill>
          <a:blip r:embed="rId4"/>
          <a:stretch>
            <a:fillRect/>
          </a:stretch>
        </p:blipFill>
        <p:spPr>
          <a:xfrm>
            <a:off x="3858768" y="1801368"/>
            <a:ext cx="237744" cy="237744"/>
          </a:xfrm>
          <a:prstGeom prst="rect">
            <a:avLst/>
          </a:prstGeom>
        </p:spPr>
      </p:pic>
      <p:sp>
        <p:nvSpPr>
          <p:cNvPr id="14" name="Shape 8"/>
          <p:cNvSpPr/>
          <p:nvPr/>
        </p:nvSpPr>
        <p:spPr>
          <a:xfrm>
            <a:off x="4133088" y="1627632"/>
            <a:ext cx="1481328" cy="868680"/>
          </a:xfrm>
          <a:prstGeom prst="roundRect">
            <a:avLst>
              <a:gd name="adj" fmla="val 9474"/>
            </a:avLst>
          </a:prstGeom>
          <a:solidFill>
            <a:srgbClr val="F8FAFC"/>
          </a:solidFill>
          <a:ln w="12700">
            <a:solidFill>
              <a:srgbClr val="E2E8F0"/>
            </a:solidFill>
            <a:prstDash val="solid"/>
          </a:ln>
        </p:spPr>
      </p:sp>
      <p:sp>
        <p:nvSpPr>
          <p:cNvPr id="15" name="Shape 9"/>
          <p:cNvSpPr/>
          <p:nvPr/>
        </p:nvSpPr>
        <p:spPr>
          <a:xfrm>
            <a:off x="4663440" y="1737360"/>
            <a:ext cx="420624" cy="420624"/>
          </a:xfrm>
          <a:prstGeom prst="roundRect">
            <a:avLst>
              <a:gd name="adj" fmla="val 26000"/>
            </a:avLst>
          </a:prstGeom>
          <a:solidFill>
            <a:srgbClr val="2563EB"/>
          </a:solidFill>
          <a:ln/>
        </p:spPr>
      </p:sp>
      <p:pic>
        <p:nvPicPr>
          <p:cNvPr id="16" name="Image 4" descr="C:\Users\Lenovo\AppData\Local\Temp\qwipo-deck\assets\ic_FaBoxes_w.png">    </p:cNvPr>
          <p:cNvPicPr>
            <a:picLocks noChangeAspect="1"/>
          </p:cNvPicPr>
          <p:nvPr/>
        </p:nvPicPr>
        <p:blipFill>
          <a:blip r:embed="rId5"/>
          <a:stretch>
            <a:fillRect/>
          </a:stretch>
        </p:blipFill>
        <p:spPr>
          <a:xfrm>
            <a:off x="4760184" y="1834104"/>
            <a:ext cx="227137" cy="227137"/>
          </a:xfrm>
          <a:prstGeom prst="rect">
            <a:avLst/>
          </a:prstGeom>
        </p:spPr>
      </p:pic>
      <p:sp>
        <p:nvSpPr>
          <p:cNvPr id="17" name="Text 10"/>
          <p:cNvSpPr/>
          <p:nvPr/>
        </p:nvSpPr>
        <p:spPr>
          <a:xfrm>
            <a:off x="4133088" y="2194560"/>
            <a:ext cx="1481328" cy="256032"/>
          </a:xfrm>
          <a:prstGeom prst="rect">
            <a:avLst/>
          </a:prstGeom>
          <a:noFill/>
          <a:ln/>
        </p:spPr>
        <p:txBody>
          <a:bodyPr wrap="square" lIns="0" tIns="0" rIns="0" bIns="0" rtlCol="0" anchor="ctr"/>
          <a:lstStyle/>
          <a:p>
            <a:pPr algn="ctr" indent="0" marL="0">
              <a:buNone/>
            </a:pPr>
            <a:r>
              <a:rPr lang="en-US" sz="1050" b="1" dirty="0">
                <a:solidFill>
                  <a:srgbClr val="0F172A"/>
                </a:solidFill>
                <a:latin typeface="Trebuchet MS" pitchFamily="34" charset="0"/>
                <a:ea typeface="Trebuchet MS" pitchFamily="34" charset="-122"/>
                <a:cs typeface="Trebuchet MS" pitchFamily="34" charset="-120"/>
              </a:rPr>
              <a:t>Processing</a:t>
            </a:r>
            <a:endParaRPr lang="en-US" sz="1050" dirty="0"/>
          </a:p>
        </p:txBody>
      </p:sp>
      <p:pic>
        <p:nvPicPr>
          <p:cNvPr id="18" name="Image 5" descr="C:\Users\Lenovo\AppData\Local\Temp\qwipo-deck\assets\ic_FaArrowRight_c.png">    </p:cNvPr>
          <p:cNvPicPr>
            <a:picLocks noChangeAspect="1"/>
          </p:cNvPicPr>
          <p:nvPr/>
        </p:nvPicPr>
        <p:blipFill>
          <a:blip r:embed="rId6"/>
          <a:stretch>
            <a:fillRect/>
          </a:stretch>
        </p:blipFill>
        <p:spPr>
          <a:xfrm>
            <a:off x="5650992" y="1801368"/>
            <a:ext cx="237744" cy="237744"/>
          </a:xfrm>
          <a:prstGeom prst="rect">
            <a:avLst/>
          </a:prstGeom>
        </p:spPr>
      </p:pic>
      <p:sp>
        <p:nvSpPr>
          <p:cNvPr id="19" name="Shape 11"/>
          <p:cNvSpPr/>
          <p:nvPr/>
        </p:nvSpPr>
        <p:spPr>
          <a:xfrm>
            <a:off x="5925312" y="1627632"/>
            <a:ext cx="1481328" cy="868680"/>
          </a:xfrm>
          <a:prstGeom prst="roundRect">
            <a:avLst>
              <a:gd name="adj" fmla="val 9474"/>
            </a:avLst>
          </a:prstGeom>
          <a:solidFill>
            <a:srgbClr val="F8FAFC"/>
          </a:solidFill>
          <a:ln w="12700">
            <a:solidFill>
              <a:srgbClr val="E2E8F0"/>
            </a:solidFill>
            <a:prstDash val="solid"/>
          </a:ln>
        </p:spPr>
      </p:sp>
      <p:sp>
        <p:nvSpPr>
          <p:cNvPr id="20" name="Shape 12"/>
          <p:cNvSpPr/>
          <p:nvPr/>
        </p:nvSpPr>
        <p:spPr>
          <a:xfrm>
            <a:off x="6455664" y="1737360"/>
            <a:ext cx="420624" cy="420624"/>
          </a:xfrm>
          <a:prstGeom prst="roundRect">
            <a:avLst>
              <a:gd name="adj" fmla="val 26000"/>
            </a:avLst>
          </a:prstGeom>
          <a:solidFill>
            <a:srgbClr val="2563EB"/>
          </a:solidFill>
          <a:ln/>
        </p:spPr>
      </p:sp>
      <p:pic>
        <p:nvPicPr>
          <p:cNvPr id="21" name="Image 6" descr="C:\Users\Lenovo\AppData\Local\Temp\qwipo-deck\assets\ic_FaTruck_w.png">    </p:cNvPr>
          <p:cNvPicPr>
            <a:picLocks noChangeAspect="1"/>
          </p:cNvPicPr>
          <p:nvPr/>
        </p:nvPicPr>
        <p:blipFill>
          <a:blip r:embed="rId7"/>
          <a:stretch>
            <a:fillRect/>
          </a:stretch>
        </p:blipFill>
        <p:spPr>
          <a:xfrm>
            <a:off x="6552408" y="1834104"/>
            <a:ext cx="227137" cy="227137"/>
          </a:xfrm>
          <a:prstGeom prst="rect">
            <a:avLst/>
          </a:prstGeom>
        </p:spPr>
      </p:pic>
      <p:sp>
        <p:nvSpPr>
          <p:cNvPr id="22" name="Text 13"/>
          <p:cNvSpPr/>
          <p:nvPr/>
        </p:nvSpPr>
        <p:spPr>
          <a:xfrm>
            <a:off x="5925312" y="2194560"/>
            <a:ext cx="1481328" cy="256032"/>
          </a:xfrm>
          <a:prstGeom prst="rect">
            <a:avLst/>
          </a:prstGeom>
          <a:noFill/>
          <a:ln/>
        </p:spPr>
        <p:txBody>
          <a:bodyPr wrap="square" lIns="0" tIns="0" rIns="0" bIns="0" rtlCol="0" anchor="ctr"/>
          <a:lstStyle/>
          <a:p>
            <a:pPr algn="ctr" indent="0" marL="0">
              <a:buNone/>
            </a:pPr>
            <a:r>
              <a:rPr lang="en-US" sz="1050" b="1" dirty="0">
                <a:solidFill>
                  <a:srgbClr val="0F172A"/>
                </a:solidFill>
                <a:latin typeface="Trebuchet MS" pitchFamily="34" charset="0"/>
                <a:ea typeface="Trebuchet MS" pitchFamily="34" charset="-122"/>
                <a:cs typeface="Trebuchet MS" pitchFamily="34" charset="-120"/>
              </a:rPr>
              <a:t>Shipped</a:t>
            </a:r>
            <a:endParaRPr lang="en-US" sz="1050" dirty="0"/>
          </a:p>
        </p:txBody>
      </p:sp>
      <p:pic>
        <p:nvPicPr>
          <p:cNvPr id="23" name="Image 7" descr="C:\Users\Lenovo\AppData\Local\Temp\qwipo-deck\assets\ic_FaArrowRight_c.png">    </p:cNvPr>
          <p:cNvPicPr>
            <a:picLocks noChangeAspect="1"/>
          </p:cNvPicPr>
          <p:nvPr/>
        </p:nvPicPr>
        <p:blipFill>
          <a:blip r:embed="rId8"/>
          <a:stretch>
            <a:fillRect/>
          </a:stretch>
        </p:blipFill>
        <p:spPr>
          <a:xfrm>
            <a:off x="7443216" y="1801368"/>
            <a:ext cx="237744" cy="237744"/>
          </a:xfrm>
          <a:prstGeom prst="rect">
            <a:avLst/>
          </a:prstGeom>
        </p:spPr>
      </p:pic>
      <p:sp>
        <p:nvSpPr>
          <p:cNvPr id="24" name="Shape 14"/>
          <p:cNvSpPr/>
          <p:nvPr/>
        </p:nvSpPr>
        <p:spPr>
          <a:xfrm>
            <a:off x="7717536" y="1627632"/>
            <a:ext cx="1481328" cy="868680"/>
          </a:xfrm>
          <a:prstGeom prst="roundRect">
            <a:avLst>
              <a:gd name="adj" fmla="val 9474"/>
            </a:avLst>
          </a:prstGeom>
          <a:solidFill>
            <a:srgbClr val="EAF7EE"/>
          </a:solidFill>
          <a:ln w="12700">
            <a:solidFill>
              <a:srgbClr val="16A34A"/>
            </a:solidFill>
            <a:prstDash val="solid"/>
          </a:ln>
        </p:spPr>
      </p:sp>
      <p:sp>
        <p:nvSpPr>
          <p:cNvPr id="25" name="Shape 15"/>
          <p:cNvSpPr/>
          <p:nvPr/>
        </p:nvSpPr>
        <p:spPr>
          <a:xfrm>
            <a:off x="8247888" y="1737360"/>
            <a:ext cx="420624" cy="420624"/>
          </a:xfrm>
          <a:prstGeom prst="roundRect">
            <a:avLst>
              <a:gd name="adj" fmla="val 26000"/>
            </a:avLst>
          </a:prstGeom>
          <a:solidFill>
            <a:srgbClr val="16A34A"/>
          </a:solidFill>
          <a:ln/>
        </p:spPr>
      </p:sp>
      <p:pic>
        <p:nvPicPr>
          <p:cNvPr id="26" name="Image 8" descr="C:\Users\Lenovo\AppData\Local\Temp\qwipo-deck\assets\ic_FaFlagCheckered_w.png">    </p:cNvPr>
          <p:cNvPicPr>
            <a:picLocks noChangeAspect="1"/>
          </p:cNvPicPr>
          <p:nvPr/>
        </p:nvPicPr>
        <p:blipFill>
          <a:blip r:embed="rId9"/>
          <a:stretch>
            <a:fillRect/>
          </a:stretch>
        </p:blipFill>
        <p:spPr>
          <a:xfrm>
            <a:off x="8344632" y="1834104"/>
            <a:ext cx="227137" cy="227137"/>
          </a:xfrm>
          <a:prstGeom prst="rect">
            <a:avLst/>
          </a:prstGeom>
        </p:spPr>
      </p:pic>
      <p:sp>
        <p:nvSpPr>
          <p:cNvPr id="27" name="Text 16"/>
          <p:cNvSpPr/>
          <p:nvPr/>
        </p:nvSpPr>
        <p:spPr>
          <a:xfrm>
            <a:off x="7717536" y="2194560"/>
            <a:ext cx="1481328" cy="256032"/>
          </a:xfrm>
          <a:prstGeom prst="rect">
            <a:avLst/>
          </a:prstGeom>
          <a:noFill/>
          <a:ln/>
        </p:spPr>
        <p:txBody>
          <a:bodyPr wrap="square" lIns="0" tIns="0" rIns="0" bIns="0" rtlCol="0" anchor="ctr"/>
          <a:lstStyle/>
          <a:p>
            <a:pPr algn="ctr" indent="0" marL="0">
              <a:buNone/>
            </a:pPr>
            <a:r>
              <a:rPr lang="en-US" sz="1050" b="1" dirty="0">
                <a:solidFill>
                  <a:srgbClr val="0F172A"/>
                </a:solidFill>
                <a:latin typeface="Trebuchet MS" pitchFamily="34" charset="0"/>
                <a:ea typeface="Trebuchet MS" pitchFamily="34" charset="-122"/>
                <a:cs typeface="Trebuchet MS" pitchFamily="34" charset="-120"/>
              </a:rPr>
              <a:t>Delivered</a:t>
            </a:r>
            <a:endParaRPr lang="en-US" sz="1050" dirty="0"/>
          </a:p>
        </p:txBody>
      </p:sp>
      <p:sp>
        <p:nvSpPr>
          <p:cNvPr id="28" name="Text 17"/>
          <p:cNvSpPr/>
          <p:nvPr/>
        </p:nvSpPr>
        <p:spPr>
          <a:xfrm>
            <a:off x="566928" y="2743200"/>
            <a:ext cx="5349240" cy="2011680"/>
          </a:xfrm>
          <a:prstGeom prst="rect">
            <a:avLst/>
          </a:prstGeom>
          <a:noFill/>
          <a:ln/>
        </p:spPr>
        <p:txBody>
          <a:bodyPr wrap="square" lIns="0" tIns="0" rIns="0" bIns="0" rtlCol="0" anchor="t"/>
          <a:lstStyle/>
          <a:p>
            <a:pPr marL="177800" indent="-177800">
              <a:lnSpc>
                <a:spcPct val="102000"/>
              </a:lnSpc>
              <a:spcAft>
                <a:spcPts val="700"/>
              </a:spcAft>
              <a:buSzPct val="100000"/>
              <a:buChar char="•"/>
            </a:pPr>
            <a:r>
              <a:rPr lang="en-US" sz="1180" dirty="0">
                <a:solidFill>
                  <a:srgbClr val="334155"/>
                </a:solidFill>
                <a:latin typeface="Calibri" pitchFamily="34" charset="0"/>
                <a:ea typeface="Calibri" pitchFamily="34" charset="-122"/>
                <a:cs typeface="Calibri" pitchFamily="34" charset="-120"/>
              </a:rPr>
              <a:t>Status pipeline with tabs — New, Confirmed, Delivered, Rejected</a:t>
            </a:r>
            <a:endParaRPr lang="en-US" sz="1180" dirty="0"/>
          </a:p>
          <a:p>
            <a:pPr marL="177800" indent="-177800">
              <a:lnSpc>
                <a:spcPct val="102000"/>
              </a:lnSpc>
              <a:spcAft>
                <a:spcPts val="700"/>
              </a:spcAft>
              <a:buSzPct val="100000"/>
              <a:buChar char="•"/>
            </a:pPr>
            <a:r>
              <a:rPr lang="en-US" sz="1180" dirty="0">
                <a:solidFill>
                  <a:srgbClr val="334155"/>
                </a:solidFill>
                <a:latin typeface="Calibri" pitchFamily="34" charset="0"/>
                <a:ea typeface="Calibri" pitchFamily="34" charset="-122"/>
                <a:cs typeface="Calibri" pitchFamily="34" charset="-120"/>
              </a:rPr>
              <a:t>Channel filter — ONDC, marketplaces and direct orders together</a:t>
            </a:r>
            <a:endParaRPr lang="en-US" sz="1180" dirty="0"/>
          </a:p>
          <a:p>
            <a:pPr marL="177800" indent="-177800">
              <a:lnSpc>
                <a:spcPct val="102000"/>
              </a:lnSpc>
              <a:spcAft>
                <a:spcPts val="700"/>
              </a:spcAft>
              <a:buSzPct val="100000"/>
              <a:buChar char="•"/>
            </a:pPr>
            <a:r>
              <a:rPr lang="en-US" sz="1180" dirty="0">
                <a:solidFill>
                  <a:srgbClr val="334155"/>
                </a:solidFill>
                <a:latin typeface="Calibri" pitchFamily="34" charset="0"/>
                <a:ea typeface="Calibri" pitchFamily="34" charset="-122"/>
                <a:cs typeface="Calibri" pitchFamily="34" charset="-120"/>
              </a:rPr>
              <a:t>Order detail shows buyer, seller, line items, taxes and QPS savings</a:t>
            </a:r>
            <a:endParaRPr lang="en-US" sz="1180" dirty="0"/>
          </a:p>
          <a:p>
            <a:pPr marL="177800" indent="-177800">
              <a:lnSpc>
                <a:spcPct val="102000"/>
              </a:lnSpc>
              <a:spcAft>
                <a:spcPts val="700"/>
              </a:spcAft>
              <a:buSzPct val="100000"/>
              <a:buChar char="•"/>
            </a:pPr>
            <a:r>
              <a:rPr lang="en-US" sz="1180" dirty="0">
                <a:solidFill>
                  <a:srgbClr val="334155"/>
                </a:solidFill>
                <a:latin typeface="Calibri" pitchFamily="34" charset="0"/>
                <a:ea typeface="Calibri" pitchFamily="34" charset="-122"/>
                <a:cs typeface="Calibri" pitchFamily="34" charset="-120"/>
              </a:rPr>
              <a:t>Quick actions — accept, confirm, modify items, ship, cancel, invoice</a:t>
            </a:r>
            <a:endParaRPr lang="en-US" sz="1180" dirty="0"/>
          </a:p>
          <a:p>
            <a:pPr marL="177800" indent="-177800">
              <a:lnSpc>
                <a:spcPct val="102000"/>
              </a:lnSpc>
              <a:spcAft>
                <a:spcPts val="700"/>
              </a:spcAft>
              <a:buSzPct val="100000"/>
              <a:buChar char="•"/>
            </a:pPr>
            <a:r>
              <a:rPr lang="en-US" sz="1180" dirty="0">
                <a:solidFill>
                  <a:srgbClr val="334155"/>
                </a:solidFill>
                <a:latin typeface="Calibri" pitchFamily="34" charset="0"/>
                <a:ea typeface="Calibri" pitchFamily="34" charset="-122"/>
                <a:cs typeface="Calibri" pitchFamily="34" charset="-120"/>
              </a:rPr>
              <a:t>Search by order ID or retailer; one-click export</a:t>
            </a:r>
            <a:endParaRPr lang="en-US" sz="1180" dirty="0"/>
          </a:p>
        </p:txBody>
      </p:sp>
      <p:sp>
        <p:nvSpPr>
          <p:cNvPr id="29" name="Shape 18"/>
          <p:cNvSpPr/>
          <p:nvPr/>
        </p:nvSpPr>
        <p:spPr>
          <a:xfrm>
            <a:off x="548640" y="4892040"/>
            <a:ext cx="5349240" cy="1207008"/>
          </a:xfrm>
          <a:prstGeom prst="roundRect">
            <a:avLst>
              <a:gd name="adj" fmla="val 6061"/>
            </a:avLst>
          </a:prstGeom>
          <a:solidFill>
            <a:srgbClr val="F3EEFE"/>
          </a:solidFill>
          <a:ln w="12700">
            <a:solidFill>
              <a:srgbClr val="DDD0FB"/>
            </a:solidFill>
            <a:prstDash val="solid"/>
          </a:ln>
        </p:spPr>
      </p:sp>
      <p:sp>
        <p:nvSpPr>
          <p:cNvPr id="30" name="Shape 19"/>
          <p:cNvSpPr/>
          <p:nvPr/>
        </p:nvSpPr>
        <p:spPr>
          <a:xfrm>
            <a:off x="548640" y="5001768"/>
            <a:ext cx="64008" cy="987552"/>
          </a:xfrm>
          <a:prstGeom prst="rect">
            <a:avLst/>
          </a:prstGeom>
          <a:solidFill>
            <a:srgbClr val="7C3AED"/>
          </a:solidFill>
          <a:ln/>
        </p:spPr>
      </p:sp>
      <p:sp>
        <p:nvSpPr>
          <p:cNvPr id="31" name="Text 20"/>
          <p:cNvSpPr/>
          <p:nvPr/>
        </p:nvSpPr>
        <p:spPr>
          <a:xfrm>
            <a:off x="786384" y="5029200"/>
            <a:ext cx="4892040" cy="219456"/>
          </a:xfrm>
          <a:prstGeom prst="rect">
            <a:avLst/>
          </a:prstGeom>
          <a:noFill/>
          <a:ln/>
        </p:spPr>
        <p:txBody>
          <a:bodyPr wrap="square" lIns="0" tIns="0" rIns="0" bIns="0" rtlCol="0" anchor="ctr"/>
          <a:lstStyle/>
          <a:p>
            <a:pPr indent="0" marL="0">
              <a:buNone/>
            </a:pPr>
            <a:r>
              <a:rPr lang="en-US" sz="1000" b="1" spc="200" kern="0" dirty="0">
                <a:solidFill>
                  <a:srgbClr val="7C3AED"/>
                </a:solidFill>
                <a:latin typeface="Trebuchet MS" pitchFamily="34" charset="0"/>
                <a:ea typeface="Trebuchet MS" pitchFamily="34" charset="-122"/>
                <a:cs typeface="Trebuchet MS" pitchFamily="34" charset="-120"/>
              </a:rPr>
              <a:t>BUSINESS BENEFIT</a:t>
            </a:r>
            <a:endParaRPr lang="en-US" sz="1000" dirty="0"/>
          </a:p>
        </p:txBody>
      </p:sp>
      <p:sp>
        <p:nvSpPr>
          <p:cNvPr id="32" name="Text 21"/>
          <p:cNvSpPr/>
          <p:nvPr/>
        </p:nvSpPr>
        <p:spPr>
          <a:xfrm>
            <a:off x="786384" y="5276088"/>
            <a:ext cx="4892040" cy="704088"/>
          </a:xfrm>
          <a:prstGeom prst="rect">
            <a:avLst/>
          </a:prstGeom>
          <a:noFill/>
          <a:ln/>
        </p:spPr>
        <p:txBody>
          <a:bodyPr wrap="square" lIns="0" tIns="0" rIns="0" bIns="0" rtlCol="0" anchor="t"/>
          <a:lstStyle/>
          <a:p>
            <a:pPr indent="0" marL="0">
              <a:lnSpc>
                <a:spcPct val="104000"/>
              </a:lnSpc>
              <a:buNone/>
            </a:pPr>
            <a:r>
              <a:rPr lang="en-US" sz="1150" dirty="0">
                <a:solidFill>
                  <a:srgbClr val="1E293B"/>
                </a:solidFill>
                <a:latin typeface="Calibri" pitchFamily="34" charset="0"/>
                <a:ea typeface="Calibri" pitchFamily="34" charset="-122"/>
                <a:cs typeface="Calibri" pitchFamily="34" charset="-120"/>
              </a:rPr>
              <a:t>Orders from every channel land in one place with a clear approval-to-delivery pipeline — replacing calls and spreadsheets with a single, auditable workflow your team can act on instantly.</a:t>
            </a:r>
            <a:endParaRPr lang="en-US" sz="1150" dirty="0"/>
          </a:p>
        </p:txBody>
      </p:sp>
      <p:sp>
        <p:nvSpPr>
          <p:cNvPr id="33" name="Shape 22"/>
          <p:cNvSpPr/>
          <p:nvPr/>
        </p:nvSpPr>
        <p:spPr>
          <a:xfrm>
            <a:off x="6035040" y="2743200"/>
            <a:ext cx="5623560" cy="3364992"/>
          </a:xfrm>
          <a:prstGeom prst="rect">
            <a:avLst/>
          </a:prstGeom>
          <a:solidFill>
            <a:srgbClr val="FFFFFF"/>
          </a:solidFill>
          <a:ln w="12700">
            <a:solidFill>
              <a:srgbClr val="E2E8F0"/>
            </a:solidFill>
            <a:prstDash val="solid"/>
          </a:ln>
          <a:effectLst>
            <a:outerShdw sx="100000" sy="100000" kx="0" ky="0" algn="bl" rotWithShape="0" blurRad="114300" dist="38100" dir="5400000">
              <a:srgbClr val="1E293B">
                <a:alpha val="18000"/>
              </a:srgbClr>
            </a:outerShdw>
          </a:effectLst>
        </p:spPr>
      </p:sp>
      <p:sp>
        <p:nvSpPr>
          <p:cNvPr id="34" name="Shape 23"/>
          <p:cNvSpPr/>
          <p:nvPr/>
        </p:nvSpPr>
        <p:spPr>
          <a:xfrm>
            <a:off x="6035040" y="2743200"/>
            <a:ext cx="5623560" cy="237744"/>
          </a:xfrm>
          <a:prstGeom prst="rect">
            <a:avLst/>
          </a:prstGeom>
          <a:solidFill>
            <a:srgbClr val="F1F5F9"/>
          </a:solidFill>
          <a:ln/>
        </p:spPr>
      </p:sp>
      <p:sp>
        <p:nvSpPr>
          <p:cNvPr id="35" name="Shape 24"/>
          <p:cNvSpPr/>
          <p:nvPr/>
        </p:nvSpPr>
        <p:spPr>
          <a:xfrm>
            <a:off x="6035040" y="2980944"/>
            <a:ext cx="5623560" cy="10973"/>
          </a:xfrm>
          <a:prstGeom prst="rect">
            <a:avLst/>
          </a:prstGeom>
          <a:solidFill>
            <a:srgbClr val="E2E8F0"/>
          </a:solidFill>
          <a:ln/>
        </p:spPr>
      </p:sp>
      <p:sp>
        <p:nvSpPr>
          <p:cNvPr id="36" name="Shape 25"/>
          <p:cNvSpPr/>
          <p:nvPr/>
        </p:nvSpPr>
        <p:spPr>
          <a:xfrm>
            <a:off x="6181344" y="2830068"/>
            <a:ext cx="64008" cy="64008"/>
          </a:xfrm>
          <a:prstGeom prst="ellipse">
            <a:avLst/>
          </a:prstGeom>
          <a:solidFill>
            <a:srgbClr val="F87171"/>
          </a:solidFill>
          <a:ln/>
        </p:spPr>
      </p:sp>
      <p:sp>
        <p:nvSpPr>
          <p:cNvPr id="37" name="Shape 26"/>
          <p:cNvSpPr/>
          <p:nvPr/>
        </p:nvSpPr>
        <p:spPr>
          <a:xfrm>
            <a:off x="6318504" y="2830068"/>
            <a:ext cx="64008" cy="64008"/>
          </a:xfrm>
          <a:prstGeom prst="ellipse">
            <a:avLst/>
          </a:prstGeom>
          <a:solidFill>
            <a:srgbClr val="FBBF24"/>
          </a:solidFill>
          <a:ln/>
        </p:spPr>
      </p:sp>
      <p:sp>
        <p:nvSpPr>
          <p:cNvPr id="38" name="Shape 27"/>
          <p:cNvSpPr/>
          <p:nvPr/>
        </p:nvSpPr>
        <p:spPr>
          <a:xfrm>
            <a:off x="6455664" y="2830068"/>
            <a:ext cx="64008" cy="64008"/>
          </a:xfrm>
          <a:prstGeom prst="ellipse">
            <a:avLst/>
          </a:prstGeom>
          <a:solidFill>
            <a:srgbClr val="34D399"/>
          </a:solidFill>
          <a:ln/>
        </p:spPr>
      </p:sp>
      <p:pic>
        <p:nvPicPr>
          <p:cNvPr id="39" name="Image 9" descr="C:\Users\Lenovo\AppData\Local\Temp\qwipo-deck\assets\orders.png">    </p:cNvPr>
          <p:cNvPicPr>
            <a:picLocks noChangeAspect="1"/>
          </p:cNvPicPr>
          <p:nvPr/>
        </p:nvPicPr>
        <p:blipFill>
          <a:blip r:embed="rId10"/>
          <a:stretch>
            <a:fillRect/>
          </a:stretch>
        </p:blipFill>
        <p:spPr>
          <a:xfrm>
            <a:off x="6388913" y="3008376"/>
            <a:ext cx="4915814" cy="3072384"/>
          </a:xfrm>
          <a:prstGeom prst="rect">
            <a:avLst/>
          </a:prstGeom>
        </p:spPr>
      </p:pic>
      <p:sp>
        <p:nvSpPr>
          <p:cNvPr id="40" name="Text 28"/>
          <p:cNvSpPr/>
          <p:nvPr/>
        </p:nvSpPr>
        <p:spPr>
          <a:xfrm>
            <a:off x="548640" y="6437376"/>
            <a:ext cx="5486400" cy="274320"/>
          </a:xfrm>
          <a:prstGeom prst="rect">
            <a:avLst/>
          </a:prstGeom>
          <a:noFill/>
          <a:ln/>
        </p:spPr>
        <p:txBody>
          <a:bodyPr wrap="square" lIns="0" tIns="0" rIns="0" bIns="0" rtlCol="0" anchor="ctr"/>
          <a:lstStyle/>
          <a:p>
            <a:pPr indent="0" marL="0">
              <a:buNone/>
            </a:pPr>
            <a:r>
              <a:rPr lang="en-US" sz="900" b="1" dirty="0">
                <a:solidFill>
                  <a:srgbClr val="7C3AED"/>
                </a:solidFill>
                <a:latin typeface="Calibri" pitchFamily="34" charset="0"/>
                <a:ea typeface="Calibri" pitchFamily="34" charset="-122"/>
                <a:cs typeface="Calibri" pitchFamily="34" charset="-120"/>
              </a:rPr>
              <a:t>Qwipo</a:t>
            </a:r>
            <a:pPr indent="0" marL="0">
              <a:buNone/>
            </a:pPr>
            <a:r>
              <a:rPr lang="en-US" sz="900" dirty="0">
                <a:solidFill>
                  <a:srgbClr val="94A3B8"/>
                </a:solidFill>
                <a:latin typeface="Calibri" pitchFamily="34" charset="0"/>
                <a:ea typeface="Calibri" pitchFamily="34" charset="-122"/>
                <a:cs typeface="Calibri" pitchFamily="34" charset="-120"/>
              </a:rPr>
              <a:t>   Seller Store Platform</a:t>
            </a:r>
            <a:endParaRPr lang="en-US" sz="900" dirty="0"/>
          </a:p>
        </p:txBody>
      </p:sp>
      <p:sp>
        <p:nvSpPr>
          <p:cNvPr id="41" name="Text 29"/>
          <p:cNvSpPr/>
          <p:nvPr/>
        </p:nvSpPr>
        <p:spPr>
          <a:xfrm>
            <a:off x="9966960" y="6437376"/>
            <a:ext cx="1673352"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12 / 20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Trebuchet MS" pitchFamily="34" charset="0"/>
                <a:ea typeface="Trebuchet MS" pitchFamily="34" charset="-122"/>
                <a:cs typeface="Trebuchet MS" pitchFamily="34" charset="-120"/>
              </a:rPr>
              <a:t>FEATURE · HANDOVER</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Trebuchet MS" pitchFamily="34" charset="0"/>
                <a:ea typeface="Trebuchet MS" pitchFamily="34" charset="-122"/>
                <a:cs typeface="Trebuchet MS" pitchFamily="34" charset="-120"/>
              </a:rPr>
              <a:t>A clean handover — manual or partner-led</a:t>
            </a:r>
            <a:endParaRPr lang="en-US" sz="2900" dirty="0"/>
          </a:p>
        </p:txBody>
      </p:sp>
      <p:sp>
        <p:nvSpPr>
          <p:cNvPr id="4" name="Shape 2"/>
          <p:cNvSpPr/>
          <p:nvPr/>
        </p:nvSpPr>
        <p:spPr>
          <a:xfrm>
            <a:off x="640080" y="1920240"/>
            <a:ext cx="2286000" cy="1554480"/>
          </a:xfrm>
          <a:prstGeom prst="roundRect">
            <a:avLst>
              <a:gd name="adj" fmla="val 5882"/>
            </a:avLst>
          </a:prstGeom>
          <a:solidFill>
            <a:srgbClr val="EAF7EE"/>
          </a:solidFill>
          <a:ln w="15875">
            <a:solidFill>
              <a:srgbClr val="16A34A"/>
            </a:solidFill>
            <a:prstDash val="solid"/>
          </a:ln>
          <a:effectLst>
            <a:outerShdw sx="100000" sy="100000" kx="0" ky="0" algn="bl" rotWithShape="0" blurRad="88900" dist="25400" dir="5400000">
              <a:srgbClr val="334155">
                <a:alpha val="12000"/>
              </a:srgbClr>
            </a:outerShdw>
          </a:effectLst>
        </p:spPr>
      </p:sp>
      <p:sp>
        <p:nvSpPr>
          <p:cNvPr id="5" name="Shape 3"/>
          <p:cNvSpPr/>
          <p:nvPr/>
        </p:nvSpPr>
        <p:spPr>
          <a:xfrm>
            <a:off x="1554480" y="2066544"/>
            <a:ext cx="457200" cy="457200"/>
          </a:xfrm>
          <a:prstGeom prst="roundRect">
            <a:avLst>
              <a:gd name="adj" fmla="val 26000"/>
            </a:avLst>
          </a:prstGeom>
          <a:solidFill>
            <a:srgbClr val="16A34A"/>
          </a:solidFill>
          <a:ln/>
        </p:spPr>
      </p:sp>
      <p:pic>
        <p:nvPicPr>
          <p:cNvPr id="6" name="Image 0" descr="C:\Users\Lenovo\AppData\Local\Temp\qwipo-deck\assets\ic_FaCheckCircle_w.png">    </p:cNvPr>
          <p:cNvPicPr>
            <a:picLocks noChangeAspect="1"/>
          </p:cNvPicPr>
          <p:nvPr/>
        </p:nvPicPr>
        <p:blipFill>
          <a:blip r:embed="rId1"/>
          <a:stretch>
            <a:fillRect/>
          </a:stretch>
        </p:blipFill>
        <p:spPr>
          <a:xfrm>
            <a:off x="1659636" y="2171700"/>
            <a:ext cx="246888" cy="246888"/>
          </a:xfrm>
          <a:prstGeom prst="rect">
            <a:avLst/>
          </a:prstGeom>
        </p:spPr>
      </p:pic>
      <p:sp>
        <p:nvSpPr>
          <p:cNvPr id="7" name="Text 4"/>
          <p:cNvSpPr/>
          <p:nvPr/>
        </p:nvSpPr>
        <p:spPr>
          <a:xfrm>
            <a:off x="694944" y="2578608"/>
            <a:ext cx="2176272" cy="365760"/>
          </a:xfrm>
          <a:prstGeom prst="rect">
            <a:avLst/>
          </a:prstGeom>
          <a:noFill/>
          <a:ln/>
        </p:spPr>
        <p:txBody>
          <a:bodyPr wrap="square" lIns="0" tIns="0" rIns="0" bIns="0" rtlCol="0" anchor="t"/>
          <a:lstStyle/>
          <a:p>
            <a:pPr algn="ctr" indent="0" marL="0">
              <a:buNone/>
            </a:pPr>
            <a:r>
              <a:rPr lang="en-US" sz="1150" b="1" dirty="0">
                <a:solidFill>
                  <a:srgbClr val="0F172A"/>
                </a:solidFill>
                <a:latin typeface="Trebuchet MS" pitchFamily="34" charset="0"/>
                <a:ea typeface="Trebuchet MS" pitchFamily="34" charset="-122"/>
                <a:cs typeface="Trebuchet MS" pitchFamily="34" charset="-120"/>
              </a:rPr>
              <a:t>Order Confirmed</a:t>
            </a:r>
            <a:endParaRPr lang="en-US" sz="1150" dirty="0"/>
          </a:p>
        </p:txBody>
      </p:sp>
      <p:sp>
        <p:nvSpPr>
          <p:cNvPr id="8" name="Text 5"/>
          <p:cNvSpPr/>
          <p:nvPr/>
        </p:nvSpPr>
        <p:spPr>
          <a:xfrm>
            <a:off x="713232" y="3017520"/>
            <a:ext cx="2139696" cy="402336"/>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Ready for dispatch</a:t>
            </a:r>
            <a:endParaRPr lang="en-US" sz="900" dirty="0"/>
          </a:p>
        </p:txBody>
      </p:sp>
      <p:pic>
        <p:nvPicPr>
          <p:cNvPr id="9" name="Image 1" descr="C:\Users\Lenovo\AppData\Local\Temp\qwipo-deck\assets\ic_FaArrowRight_c.png">    </p:cNvPr>
          <p:cNvPicPr>
            <a:picLocks noChangeAspect="1"/>
          </p:cNvPicPr>
          <p:nvPr/>
        </p:nvPicPr>
        <p:blipFill>
          <a:blip r:embed="rId2"/>
          <a:stretch>
            <a:fillRect/>
          </a:stretch>
        </p:blipFill>
        <p:spPr>
          <a:xfrm>
            <a:off x="3054096" y="2560320"/>
            <a:ext cx="292608" cy="292608"/>
          </a:xfrm>
          <a:prstGeom prst="rect">
            <a:avLst/>
          </a:prstGeom>
        </p:spPr>
      </p:pic>
      <p:sp>
        <p:nvSpPr>
          <p:cNvPr id="10" name="Shape 6"/>
          <p:cNvSpPr/>
          <p:nvPr/>
        </p:nvSpPr>
        <p:spPr>
          <a:xfrm>
            <a:off x="3520440" y="1371600"/>
            <a:ext cx="3657600" cy="1371600"/>
          </a:xfrm>
          <a:prstGeom prst="roundRect">
            <a:avLst>
              <a:gd name="adj" fmla="val 6667"/>
            </a:avLst>
          </a:prstGeom>
          <a:solidFill>
            <a:srgbClr val="F3EEFE"/>
          </a:solidFill>
          <a:ln w="15240">
            <a:solidFill>
              <a:srgbClr val="7C3AED"/>
            </a:solidFill>
            <a:prstDash val="solid"/>
          </a:ln>
          <a:effectLst>
            <a:outerShdw sx="100000" sy="100000" kx="0" ky="0" algn="bl" rotWithShape="0" blurRad="88900" dist="25400" dir="5400000">
              <a:srgbClr val="334155">
                <a:alpha val="12000"/>
              </a:srgbClr>
            </a:outerShdw>
          </a:effectLst>
        </p:spPr>
      </p:sp>
      <p:sp>
        <p:nvSpPr>
          <p:cNvPr id="11" name="Shape 7"/>
          <p:cNvSpPr/>
          <p:nvPr/>
        </p:nvSpPr>
        <p:spPr>
          <a:xfrm>
            <a:off x="3721608" y="1700784"/>
            <a:ext cx="502920" cy="502920"/>
          </a:xfrm>
          <a:prstGeom prst="roundRect">
            <a:avLst>
              <a:gd name="adj" fmla="val 26000"/>
            </a:avLst>
          </a:prstGeom>
          <a:solidFill>
            <a:srgbClr val="7C3AED"/>
          </a:solidFill>
          <a:ln/>
        </p:spPr>
      </p:sp>
      <p:pic>
        <p:nvPicPr>
          <p:cNvPr id="12" name="Image 2" descr="C:\Users\Lenovo\AppData\Local\Temp\qwipo-deck\assets\ic_FaHandshake_w.png">    </p:cNvPr>
          <p:cNvPicPr>
            <a:picLocks noChangeAspect="1"/>
          </p:cNvPicPr>
          <p:nvPr/>
        </p:nvPicPr>
        <p:blipFill>
          <a:blip r:embed="rId3"/>
          <a:stretch>
            <a:fillRect/>
          </a:stretch>
        </p:blipFill>
        <p:spPr>
          <a:xfrm>
            <a:off x="3837280" y="1816456"/>
            <a:ext cx="271577" cy="271577"/>
          </a:xfrm>
          <a:prstGeom prst="rect">
            <a:avLst/>
          </a:prstGeom>
        </p:spPr>
      </p:pic>
      <p:sp>
        <p:nvSpPr>
          <p:cNvPr id="13" name="Text 8"/>
          <p:cNvSpPr/>
          <p:nvPr/>
        </p:nvSpPr>
        <p:spPr>
          <a:xfrm>
            <a:off x="4334256" y="1517904"/>
            <a:ext cx="2743200" cy="310896"/>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Manual / Self Delivery</a:t>
            </a:r>
            <a:endParaRPr lang="en-US" sz="1300" dirty="0"/>
          </a:p>
        </p:txBody>
      </p:sp>
      <p:sp>
        <p:nvSpPr>
          <p:cNvPr id="14" name="Text 9"/>
          <p:cNvSpPr/>
          <p:nvPr/>
        </p:nvSpPr>
        <p:spPr>
          <a:xfrm>
            <a:off x="4334256" y="1847088"/>
            <a:ext cx="2697480" cy="777240"/>
          </a:xfrm>
          <a:prstGeom prst="rect">
            <a:avLst/>
          </a:prstGeom>
          <a:noFill/>
          <a:ln/>
        </p:spPr>
        <p:txBody>
          <a:bodyPr wrap="square" lIns="0" tIns="0" rIns="0" bIns="0" rtlCol="0" anchor="t"/>
          <a:lstStyle/>
          <a:p>
            <a:pPr indent="0" marL="0">
              <a:lnSpc>
                <a:spcPct val="102000"/>
              </a:lnSpc>
              <a:buNone/>
            </a:pPr>
            <a:r>
              <a:rPr lang="en-US" sz="1050" dirty="0">
                <a:solidFill>
                  <a:srgbClr val="334155"/>
                </a:solidFill>
                <a:latin typeface="Calibri" pitchFamily="34" charset="0"/>
                <a:ea typeface="Calibri" pitchFamily="34" charset="-122"/>
                <a:cs typeface="Calibri" pitchFamily="34" charset="-120"/>
              </a:rPr>
              <a:t>Distributor's own beat or fleet handles last-mile delivery directly.</a:t>
            </a:r>
            <a:endParaRPr lang="en-US" sz="1050" dirty="0"/>
          </a:p>
        </p:txBody>
      </p:sp>
      <p:sp>
        <p:nvSpPr>
          <p:cNvPr id="15" name="Shape 10"/>
          <p:cNvSpPr/>
          <p:nvPr/>
        </p:nvSpPr>
        <p:spPr>
          <a:xfrm>
            <a:off x="3520440" y="2926080"/>
            <a:ext cx="3657600" cy="1371600"/>
          </a:xfrm>
          <a:prstGeom prst="roundRect">
            <a:avLst>
              <a:gd name="adj" fmla="val 6667"/>
            </a:avLst>
          </a:prstGeom>
          <a:solidFill>
            <a:srgbClr val="ECFEFF"/>
          </a:solidFill>
          <a:ln w="15240">
            <a:solidFill>
              <a:srgbClr val="0D9488"/>
            </a:solidFill>
            <a:prstDash val="solid"/>
          </a:ln>
          <a:effectLst>
            <a:outerShdw sx="100000" sy="100000" kx="0" ky="0" algn="bl" rotWithShape="0" blurRad="88900" dist="25400" dir="5400000">
              <a:srgbClr val="334155">
                <a:alpha val="12000"/>
              </a:srgbClr>
            </a:outerShdw>
          </a:effectLst>
        </p:spPr>
      </p:sp>
      <p:sp>
        <p:nvSpPr>
          <p:cNvPr id="16" name="Shape 11"/>
          <p:cNvSpPr/>
          <p:nvPr/>
        </p:nvSpPr>
        <p:spPr>
          <a:xfrm>
            <a:off x="3721608" y="3255264"/>
            <a:ext cx="502920" cy="502920"/>
          </a:xfrm>
          <a:prstGeom prst="roundRect">
            <a:avLst>
              <a:gd name="adj" fmla="val 26000"/>
            </a:avLst>
          </a:prstGeom>
          <a:solidFill>
            <a:srgbClr val="0D9488"/>
          </a:solidFill>
          <a:ln/>
        </p:spPr>
      </p:sp>
      <p:pic>
        <p:nvPicPr>
          <p:cNvPr id="17" name="Image 3" descr="C:\Users\Lenovo\AppData\Local\Temp\qwipo-deck\assets\ic_FaTruck_w.png">    </p:cNvPr>
          <p:cNvPicPr>
            <a:picLocks noChangeAspect="1"/>
          </p:cNvPicPr>
          <p:nvPr/>
        </p:nvPicPr>
        <p:blipFill>
          <a:blip r:embed="rId4"/>
          <a:stretch>
            <a:fillRect/>
          </a:stretch>
        </p:blipFill>
        <p:spPr>
          <a:xfrm>
            <a:off x="3837280" y="3370936"/>
            <a:ext cx="271577" cy="271577"/>
          </a:xfrm>
          <a:prstGeom prst="rect">
            <a:avLst/>
          </a:prstGeom>
        </p:spPr>
      </p:pic>
      <p:sp>
        <p:nvSpPr>
          <p:cNvPr id="18" name="Text 12"/>
          <p:cNvSpPr/>
          <p:nvPr/>
        </p:nvSpPr>
        <p:spPr>
          <a:xfrm>
            <a:off x="4334256" y="3072384"/>
            <a:ext cx="2743200" cy="310896"/>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Logistics Partner (3PL)</a:t>
            </a:r>
            <a:endParaRPr lang="en-US" sz="1300" dirty="0"/>
          </a:p>
        </p:txBody>
      </p:sp>
      <p:sp>
        <p:nvSpPr>
          <p:cNvPr id="19" name="Text 13"/>
          <p:cNvSpPr/>
          <p:nvPr/>
        </p:nvSpPr>
        <p:spPr>
          <a:xfrm>
            <a:off x="4334256" y="3401568"/>
            <a:ext cx="2697480" cy="777240"/>
          </a:xfrm>
          <a:prstGeom prst="rect">
            <a:avLst/>
          </a:prstGeom>
          <a:noFill/>
          <a:ln/>
        </p:spPr>
        <p:txBody>
          <a:bodyPr wrap="square" lIns="0" tIns="0" rIns="0" bIns="0" rtlCol="0" anchor="t"/>
          <a:lstStyle/>
          <a:p>
            <a:pPr indent="0" marL="0">
              <a:lnSpc>
                <a:spcPct val="102000"/>
              </a:lnSpc>
              <a:buNone/>
            </a:pPr>
            <a:r>
              <a:rPr lang="en-US" sz="1050" dirty="0">
                <a:solidFill>
                  <a:srgbClr val="334155"/>
                </a:solidFill>
                <a:latin typeface="Calibri" pitchFamily="34" charset="0"/>
                <a:ea typeface="Calibri" pitchFamily="34" charset="-122"/>
                <a:cs typeface="Calibri" pitchFamily="34" charset="-120"/>
              </a:rPr>
              <a:t>Assign an integrated delivery partner; shipment created automatically.</a:t>
            </a:r>
            <a:endParaRPr lang="en-US" sz="1050" dirty="0"/>
          </a:p>
        </p:txBody>
      </p:sp>
      <p:pic>
        <p:nvPicPr>
          <p:cNvPr id="20" name="Image 4" descr="C:\Users\Lenovo\AppData\Local\Temp\qwipo-deck\assets\ic_FaArrowRight_c.png">    </p:cNvPr>
          <p:cNvPicPr>
            <a:picLocks noChangeAspect="1"/>
          </p:cNvPicPr>
          <p:nvPr/>
        </p:nvPicPr>
        <p:blipFill>
          <a:blip r:embed="rId5"/>
          <a:stretch>
            <a:fillRect/>
          </a:stretch>
        </p:blipFill>
        <p:spPr>
          <a:xfrm>
            <a:off x="7223760" y="1783080"/>
            <a:ext cx="274320" cy="274320"/>
          </a:xfrm>
          <a:prstGeom prst="rect">
            <a:avLst/>
          </a:prstGeom>
        </p:spPr>
      </p:pic>
      <p:pic>
        <p:nvPicPr>
          <p:cNvPr id="21" name="Image 5" descr="C:\Users\Lenovo\AppData\Local\Temp\qwipo-deck\assets\ic_FaArrowRight_c.png">    </p:cNvPr>
          <p:cNvPicPr>
            <a:picLocks noChangeAspect="1"/>
          </p:cNvPicPr>
          <p:nvPr/>
        </p:nvPicPr>
        <p:blipFill>
          <a:blip r:embed="rId6"/>
          <a:stretch>
            <a:fillRect/>
          </a:stretch>
        </p:blipFill>
        <p:spPr>
          <a:xfrm>
            <a:off x="7223760" y="3337560"/>
            <a:ext cx="274320" cy="274320"/>
          </a:xfrm>
          <a:prstGeom prst="rect">
            <a:avLst/>
          </a:prstGeom>
        </p:spPr>
      </p:pic>
      <p:sp>
        <p:nvSpPr>
          <p:cNvPr id="22" name="Shape 14"/>
          <p:cNvSpPr/>
          <p:nvPr/>
        </p:nvSpPr>
        <p:spPr>
          <a:xfrm>
            <a:off x="7772400" y="1371600"/>
            <a:ext cx="3840480" cy="1371600"/>
          </a:xfrm>
          <a:prstGeom prst="roundRect">
            <a:avLst>
              <a:gd name="adj" fmla="val 6667"/>
            </a:avLst>
          </a:prstGeom>
          <a:solidFill>
            <a:srgbClr val="EFF6FF"/>
          </a:solidFill>
          <a:ln w="15875">
            <a:solidFill>
              <a:srgbClr val="2563EB"/>
            </a:solidFill>
            <a:prstDash val="solid"/>
          </a:ln>
          <a:effectLst>
            <a:outerShdw sx="100000" sy="100000" kx="0" ky="0" algn="bl" rotWithShape="0" blurRad="88900" dist="25400" dir="5400000">
              <a:srgbClr val="334155">
                <a:alpha val="12000"/>
              </a:srgbClr>
            </a:outerShdw>
          </a:effectLst>
        </p:spPr>
      </p:sp>
      <p:sp>
        <p:nvSpPr>
          <p:cNvPr id="23" name="Shape 15"/>
          <p:cNvSpPr/>
          <p:nvPr/>
        </p:nvSpPr>
        <p:spPr>
          <a:xfrm>
            <a:off x="9464040" y="1517904"/>
            <a:ext cx="457200" cy="457200"/>
          </a:xfrm>
          <a:prstGeom prst="roundRect">
            <a:avLst>
              <a:gd name="adj" fmla="val 26000"/>
            </a:avLst>
          </a:prstGeom>
          <a:solidFill>
            <a:srgbClr val="2563EB"/>
          </a:solidFill>
          <a:ln/>
        </p:spPr>
      </p:sp>
      <p:pic>
        <p:nvPicPr>
          <p:cNvPr id="24" name="Image 6" descr="C:\Users\Lenovo\AppData\Local\Temp\qwipo-deck\assets\ic_FaSearchLocation_w.png">    </p:cNvPr>
          <p:cNvPicPr>
            <a:picLocks noChangeAspect="1"/>
          </p:cNvPicPr>
          <p:nvPr/>
        </p:nvPicPr>
        <p:blipFill>
          <a:blip r:embed="rId7"/>
          <a:stretch>
            <a:fillRect/>
          </a:stretch>
        </p:blipFill>
        <p:spPr>
          <a:xfrm>
            <a:off x="9569196" y="1623060"/>
            <a:ext cx="246888" cy="246888"/>
          </a:xfrm>
          <a:prstGeom prst="rect">
            <a:avLst/>
          </a:prstGeom>
        </p:spPr>
      </p:pic>
      <p:sp>
        <p:nvSpPr>
          <p:cNvPr id="25" name="Text 16"/>
          <p:cNvSpPr/>
          <p:nvPr/>
        </p:nvSpPr>
        <p:spPr>
          <a:xfrm>
            <a:off x="7827264" y="2029968"/>
            <a:ext cx="3730752" cy="365760"/>
          </a:xfrm>
          <a:prstGeom prst="rect">
            <a:avLst/>
          </a:prstGeom>
          <a:noFill/>
          <a:ln/>
        </p:spPr>
        <p:txBody>
          <a:bodyPr wrap="square" lIns="0" tIns="0" rIns="0" bIns="0" rtlCol="0" anchor="t"/>
          <a:lstStyle/>
          <a:p>
            <a:pPr algn="ctr" indent="0" marL="0">
              <a:buNone/>
            </a:pPr>
            <a:r>
              <a:rPr lang="en-US" sz="1150" b="1" dirty="0">
                <a:solidFill>
                  <a:srgbClr val="0F172A"/>
                </a:solidFill>
                <a:latin typeface="Trebuchet MS" pitchFamily="34" charset="0"/>
                <a:ea typeface="Trebuchet MS" pitchFamily="34" charset="-122"/>
                <a:cs typeface="Trebuchet MS" pitchFamily="34" charset="-120"/>
              </a:rPr>
              <a:t>Shipment Tracking</a:t>
            </a:r>
            <a:endParaRPr lang="en-US" sz="1150" dirty="0"/>
          </a:p>
        </p:txBody>
      </p:sp>
      <p:sp>
        <p:nvSpPr>
          <p:cNvPr id="26" name="Text 17"/>
          <p:cNvSpPr/>
          <p:nvPr/>
        </p:nvSpPr>
        <p:spPr>
          <a:xfrm>
            <a:off x="7845552" y="2286000"/>
            <a:ext cx="3694176" cy="402336"/>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Live status — visible to brand, distributor &amp; retailer</a:t>
            </a:r>
            <a:endParaRPr lang="en-US" sz="900" dirty="0"/>
          </a:p>
        </p:txBody>
      </p:sp>
      <p:sp>
        <p:nvSpPr>
          <p:cNvPr id="27" name="Shape 18"/>
          <p:cNvSpPr/>
          <p:nvPr/>
        </p:nvSpPr>
        <p:spPr>
          <a:xfrm>
            <a:off x="7772400" y="2926080"/>
            <a:ext cx="3840480" cy="1371600"/>
          </a:xfrm>
          <a:prstGeom prst="roundRect">
            <a:avLst>
              <a:gd name="adj" fmla="val 6667"/>
            </a:avLst>
          </a:prstGeom>
          <a:solidFill>
            <a:srgbClr val="EAF7EE"/>
          </a:solidFill>
          <a:ln w="15875">
            <a:solidFill>
              <a:srgbClr val="16A34A"/>
            </a:solidFill>
            <a:prstDash val="solid"/>
          </a:ln>
          <a:effectLst>
            <a:outerShdw sx="100000" sy="100000" kx="0" ky="0" algn="bl" rotWithShape="0" blurRad="88900" dist="25400" dir="5400000">
              <a:srgbClr val="334155">
                <a:alpha val="12000"/>
              </a:srgbClr>
            </a:outerShdw>
          </a:effectLst>
        </p:spPr>
      </p:sp>
      <p:sp>
        <p:nvSpPr>
          <p:cNvPr id="28" name="Shape 19"/>
          <p:cNvSpPr/>
          <p:nvPr/>
        </p:nvSpPr>
        <p:spPr>
          <a:xfrm>
            <a:off x="9464040" y="3072384"/>
            <a:ext cx="457200" cy="457200"/>
          </a:xfrm>
          <a:prstGeom prst="roundRect">
            <a:avLst>
              <a:gd name="adj" fmla="val 26000"/>
            </a:avLst>
          </a:prstGeom>
          <a:solidFill>
            <a:srgbClr val="16A34A"/>
          </a:solidFill>
          <a:ln/>
        </p:spPr>
      </p:sp>
      <p:pic>
        <p:nvPicPr>
          <p:cNvPr id="29" name="Image 7" descr="C:\Users\Lenovo\AppData\Local\Temp\qwipo-deck\assets\ic_FaCheckDouble_w.png">    </p:cNvPr>
          <p:cNvPicPr>
            <a:picLocks noChangeAspect="1"/>
          </p:cNvPicPr>
          <p:nvPr/>
        </p:nvPicPr>
        <p:blipFill>
          <a:blip r:embed="rId8"/>
          <a:stretch>
            <a:fillRect/>
          </a:stretch>
        </p:blipFill>
        <p:spPr>
          <a:xfrm>
            <a:off x="9569196" y="3177540"/>
            <a:ext cx="246888" cy="246888"/>
          </a:xfrm>
          <a:prstGeom prst="rect">
            <a:avLst/>
          </a:prstGeom>
        </p:spPr>
      </p:pic>
      <p:sp>
        <p:nvSpPr>
          <p:cNvPr id="30" name="Text 20"/>
          <p:cNvSpPr/>
          <p:nvPr/>
        </p:nvSpPr>
        <p:spPr>
          <a:xfrm>
            <a:off x="7827264" y="3584448"/>
            <a:ext cx="3730752" cy="365760"/>
          </a:xfrm>
          <a:prstGeom prst="rect">
            <a:avLst/>
          </a:prstGeom>
          <a:noFill/>
          <a:ln/>
        </p:spPr>
        <p:txBody>
          <a:bodyPr wrap="square" lIns="0" tIns="0" rIns="0" bIns="0" rtlCol="0" anchor="t"/>
          <a:lstStyle/>
          <a:p>
            <a:pPr algn="ctr" indent="0" marL="0">
              <a:buNone/>
            </a:pPr>
            <a:r>
              <a:rPr lang="en-US" sz="1150" b="1" dirty="0">
                <a:solidFill>
                  <a:srgbClr val="0F172A"/>
                </a:solidFill>
                <a:latin typeface="Trebuchet MS" pitchFamily="34" charset="0"/>
                <a:ea typeface="Trebuchet MS" pitchFamily="34" charset="-122"/>
                <a:cs typeface="Trebuchet MS" pitchFamily="34" charset="-120"/>
              </a:rPr>
              <a:t>Delivery Confirmation</a:t>
            </a:r>
            <a:endParaRPr lang="en-US" sz="1150" dirty="0"/>
          </a:p>
        </p:txBody>
      </p:sp>
      <p:sp>
        <p:nvSpPr>
          <p:cNvPr id="31" name="Text 21"/>
          <p:cNvSpPr/>
          <p:nvPr/>
        </p:nvSpPr>
        <p:spPr>
          <a:xfrm>
            <a:off x="7845552" y="3840480"/>
            <a:ext cx="3694176" cy="402336"/>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Proof of delivery closes the order loop</a:t>
            </a:r>
            <a:endParaRPr lang="en-US" sz="900" dirty="0"/>
          </a:p>
        </p:txBody>
      </p:sp>
      <p:sp>
        <p:nvSpPr>
          <p:cNvPr id="32" name="Text 22"/>
          <p:cNvSpPr/>
          <p:nvPr/>
        </p:nvSpPr>
        <p:spPr>
          <a:xfrm>
            <a:off x="640080" y="4754880"/>
            <a:ext cx="5486400" cy="274320"/>
          </a:xfrm>
          <a:prstGeom prst="rect">
            <a:avLst/>
          </a:prstGeom>
          <a:noFill/>
          <a:ln/>
        </p:spPr>
        <p:txBody>
          <a:bodyPr wrap="square" lIns="0" tIns="0" rIns="0" bIns="0" rtlCol="0" anchor="ctr"/>
          <a:lstStyle/>
          <a:p>
            <a:pPr indent="0" marL="0">
              <a:buNone/>
            </a:pPr>
            <a:r>
              <a:rPr lang="en-US" sz="1050" b="1" spc="150" kern="0" dirty="0">
                <a:solidFill>
                  <a:srgbClr val="7C3AED"/>
                </a:solidFill>
                <a:latin typeface="Trebuchet MS" pitchFamily="34" charset="0"/>
                <a:ea typeface="Trebuchet MS" pitchFamily="34" charset="-122"/>
                <a:cs typeface="Trebuchet MS" pitchFamily="34" charset="-120"/>
              </a:rPr>
              <a:t>TRACKING STATES</a:t>
            </a:r>
            <a:endParaRPr lang="en-US" sz="1050" dirty="0"/>
          </a:p>
        </p:txBody>
      </p:sp>
      <p:sp>
        <p:nvSpPr>
          <p:cNvPr id="33" name="Shape 23"/>
          <p:cNvSpPr/>
          <p:nvPr/>
        </p:nvSpPr>
        <p:spPr>
          <a:xfrm>
            <a:off x="640080" y="5074920"/>
            <a:ext cx="2468880" cy="548640"/>
          </a:xfrm>
          <a:prstGeom prst="roundRect">
            <a:avLst>
              <a:gd name="adj" fmla="val 41667"/>
            </a:avLst>
          </a:prstGeom>
          <a:solidFill>
            <a:srgbClr val="F8FAFC"/>
          </a:solidFill>
          <a:ln w="12700">
            <a:solidFill>
              <a:srgbClr val="E2E8F0"/>
            </a:solidFill>
            <a:prstDash val="solid"/>
          </a:ln>
        </p:spPr>
      </p:sp>
      <p:sp>
        <p:nvSpPr>
          <p:cNvPr id="34" name="Text 24"/>
          <p:cNvSpPr/>
          <p:nvPr/>
        </p:nvSpPr>
        <p:spPr>
          <a:xfrm>
            <a:off x="640080" y="5074920"/>
            <a:ext cx="2468880" cy="548640"/>
          </a:xfrm>
          <a:prstGeom prst="rect">
            <a:avLst/>
          </a:prstGeom>
          <a:noFill/>
          <a:ln/>
        </p:spPr>
        <p:txBody>
          <a:bodyPr wrap="square" lIns="0" tIns="0" rIns="0" bIns="0" rtlCol="0" anchor="ctr"/>
          <a:lstStyle/>
          <a:p>
            <a:pPr algn="ctr" indent="0" marL="0">
              <a:buNone/>
            </a:pPr>
            <a:r>
              <a:rPr lang="en-US" sz="1150" b="1" dirty="0">
                <a:solidFill>
                  <a:srgbClr val="334155"/>
                </a:solidFill>
                <a:latin typeface="Trebuchet MS" pitchFamily="34" charset="0"/>
                <a:ea typeface="Trebuchet MS" pitchFamily="34" charset="-122"/>
                <a:cs typeface="Trebuchet MS" pitchFamily="34" charset="-120"/>
              </a:rPr>
              <a:t>Dispatched</a:t>
            </a:r>
            <a:endParaRPr lang="en-US" sz="1150" dirty="0"/>
          </a:p>
        </p:txBody>
      </p:sp>
      <p:pic>
        <p:nvPicPr>
          <p:cNvPr id="35" name="Image 8" descr="C:\Users\Lenovo\AppData\Local\Temp\qwipo-deck\assets\ic_FaArrowRight_c.png">    </p:cNvPr>
          <p:cNvPicPr>
            <a:picLocks noChangeAspect="1"/>
          </p:cNvPicPr>
          <p:nvPr/>
        </p:nvPicPr>
        <p:blipFill>
          <a:blip r:embed="rId9"/>
          <a:stretch>
            <a:fillRect/>
          </a:stretch>
        </p:blipFill>
        <p:spPr>
          <a:xfrm>
            <a:off x="3145536" y="5193792"/>
            <a:ext cx="237744" cy="237744"/>
          </a:xfrm>
          <a:prstGeom prst="rect">
            <a:avLst/>
          </a:prstGeom>
        </p:spPr>
      </p:pic>
      <p:sp>
        <p:nvSpPr>
          <p:cNvPr id="36" name="Shape 25"/>
          <p:cNvSpPr/>
          <p:nvPr/>
        </p:nvSpPr>
        <p:spPr>
          <a:xfrm>
            <a:off x="3364992" y="5074920"/>
            <a:ext cx="2468880" cy="548640"/>
          </a:xfrm>
          <a:prstGeom prst="roundRect">
            <a:avLst>
              <a:gd name="adj" fmla="val 41667"/>
            </a:avLst>
          </a:prstGeom>
          <a:solidFill>
            <a:srgbClr val="F8FAFC"/>
          </a:solidFill>
          <a:ln w="12700">
            <a:solidFill>
              <a:srgbClr val="E2E8F0"/>
            </a:solidFill>
            <a:prstDash val="solid"/>
          </a:ln>
        </p:spPr>
      </p:sp>
      <p:sp>
        <p:nvSpPr>
          <p:cNvPr id="37" name="Text 26"/>
          <p:cNvSpPr/>
          <p:nvPr/>
        </p:nvSpPr>
        <p:spPr>
          <a:xfrm>
            <a:off x="3364992" y="5074920"/>
            <a:ext cx="2468880" cy="548640"/>
          </a:xfrm>
          <a:prstGeom prst="rect">
            <a:avLst/>
          </a:prstGeom>
          <a:noFill/>
          <a:ln/>
        </p:spPr>
        <p:txBody>
          <a:bodyPr wrap="square" lIns="0" tIns="0" rIns="0" bIns="0" rtlCol="0" anchor="ctr"/>
          <a:lstStyle/>
          <a:p>
            <a:pPr algn="ctr" indent="0" marL="0">
              <a:buNone/>
            </a:pPr>
            <a:r>
              <a:rPr lang="en-US" sz="1150" b="1" dirty="0">
                <a:solidFill>
                  <a:srgbClr val="334155"/>
                </a:solidFill>
                <a:latin typeface="Trebuchet MS" pitchFamily="34" charset="0"/>
                <a:ea typeface="Trebuchet MS" pitchFamily="34" charset="-122"/>
                <a:cs typeface="Trebuchet MS" pitchFamily="34" charset="-120"/>
              </a:rPr>
              <a:t>In Transit</a:t>
            </a:r>
            <a:endParaRPr lang="en-US" sz="1150" dirty="0"/>
          </a:p>
        </p:txBody>
      </p:sp>
      <p:pic>
        <p:nvPicPr>
          <p:cNvPr id="38" name="Image 9" descr="C:\Users\Lenovo\AppData\Local\Temp\qwipo-deck\assets\ic_FaArrowRight_c.png">    </p:cNvPr>
          <p:cNvPicPr>
            <a:picLocks noChangeAspect="1"/>
          </p:cNvPicPr>
          <p:nvPr/>
        </p:nvPicPr>
        <p:blipFill>
          <a:blip r:embed="rId10"/>
          <a:stretch>
            <a:fillRect/>
          </a:stretch>
        </p:blipFill>
        <p:spPr>
          <a:xfrm>
            <a:off x="5870448" y="5193792"/>
            <a:ext cx="237744" cy="237744"/>
          </a:xfrm>
          <a:prstGeom prst="rect">
            <a:avLst/>
          </a:prstGeom>
        </p:spPr>
      </p:pic>
      <p:sp>
        <p:nvSpPr>
          <p:cNvPr id="39" name="Shape 27"/>
          <p:cNvSpPr/>
          <p:nvPr/>
        </p:nvSpPr>
        <p:spPr>
          <a:xfrm>
            <a:off x="6089904" y="5074920"/>
            <a:ext cx="2468880" cy="548640"/>
          </a:xfrm>
          <a:prstGeom prst="roundRect">
            <a:avLst>
              <a:gd name="adj" fmla="val 41667"/>
            </a:avLst>
          </a:prstGeom>
          <a:solidFill>
            <a:srgbClr val="F8FAFC"/>
          </a:solidFill>
          <a:ln w="12700">
            <a:solidFill>
              <a:srgbClr val="E2E8F0"/>
            </a:solidFill>
            <a:prstDash val="solid"/>
          </a:ln>
        </p:spPr>
      </p:sp>
      <p:sp>
        <p:nvSpPr>
          <p:cNvPr id="40" name="Text 28"/>
          <p:cNvSpPr/>
          <p:nvPr/>
        </p:nvSpPr>
        <p:spPr>
          <a:xfrm>
            <a:off x="6089904" y="5074920"/>
            <a:ext cx="2468880" cy="548640"/>
          </a:xfrm>
          <a:prstGeom prst="rect">
            <a:avLst/>
          </a:prstGeom>
          <a:noFill/>
          <a:ln/>
        </p:spPr>
        <p:txBody>
          <a:bodyPr wrap="square" lIns="0" tIns="0" rIns="0" bIns="0" rtlCol="0" anchor="ctr"/>
          <a:lstStyle/>
          <a:p>
            <a:pPr algn="ctr" indent="0" marL="0">
              <a:buNone/>
            </a:pPr>
            <a:r>
              <a:rPr lang="en-US" sz="1150" b="1" dirty="0">
                <a:solidFill>
                  <a:srgbClr val="334155"/>
                </a:solidFill>
                <a:latin typeface="Trebuchet MS" pitchFamily="34" charset="0"/>
                <a:ea typeface="Trebuchet MS" pitchFamily="34" charset="-122"/>
                <a:cs typeface="Trebuchet MS" pitchFamily="34" charset="-120"/>
              </a:rPr>
              <a:t>Out for Delivery</a:t>
            </a:r>
            <a:endParaRPr lang="en-US" sz="1150" dirty="0"/>
          </a:p>
        </p:txBody>
      </p:sp>
      <p:pic>
        <p:nvPicPr>
          <p:cNvPr id="41" name="Image 10" descr="C:\Users\Lenovo\AppData\Local\Temp\qwipo-deck\assets\ic_FaArrowRight_c.png">    </p:cNvPr>
          <p:cNvPicPr>
            <a:picLocks noChangeAspect="1"/>
          </p:cNvPicPr>
          <p:nvPr/>
        </p:nvPicPr>
        <p:blipFill>
          <a:blip r:embed="rId11"/>
          <a:stretch>
            <a:fillRect/>
          </a:stretch>
        </p:blipFill>
        <p:spPr>
          <a:xfrm>
            <a:off x="8595360" y="5193792"/>
            <a:ext cx="237744" cy="237744"/>
          </a:xfrm>
          <a:prstGeom prst="rect">
            <a:avLst/>
          </a:prstGeom>
        </p:spPr>
      </p:pic>
      <p:sp>
        <p:nvSpPr>
          <p:cNvPr id="42" name="Shape 29"/>
          <p:cNvSpPr/>
          <p:nvPr/>
        </p:nvSpPr>
        <p:spPr>
          <a:xfrm>
            <a:off x="8814816" y="5074920"/>
            <a:ext cx="2468880" cy="548640"/>
          </a:xfrm>
          <a:prstGeom prst="roundRect">
            <a:avLst>
              <a:gd name="adj" fmla="val 41667"/>
            </a:avLst>
          </a:prstGeom>
          <a:solidFill>
            <a:srgbClr val="EAF7EE"/>
          </a:solidFill>
          <a:ln w="12700">
            <a:solidFill>
              <a:srgbClr val="16A34A"/>
            </a:solidFill>
            <a:prstDash val="solid"/>
          </a:ln>
        </p:spPr>
      </p:sp>
      <p:sp>
        <p:nvSpPr>
          <p:cNvPr id="43" name="Text 30"/>
          <p:cNvSpPr/>
          <p:nvPr/>
        </p:nvSpPr>
        <p:spPr>
          <a:xfrm>
            <a:off x="8814816" y="5074920"/>
            <a:ext cx="2468880" cy="548640"/>
          </a:xfrm>
          <a:prstGeom prst="rect">
            <a:avLst/>
          </a:prstGeom>
          <a:noFill/>
          <a:ln/>
        </p:spPr>
        <p:txBody>
          <a:bodyPr wrap="square" lIns="0" tIns="0" rIns="0" bIns="0" rtlCol="0" anchor="ctr"/>
          <a:lstStyle/>
          <a:p>
            <a:pPr algn="ctr" indent="0" marL="0">
              <a:buNone/>
            </a:pPr>
            <a:r>
              <a:rPr lang="en-US" sz="1150" b="1" dirty="0">
                <a:solidFill>
                  <a:srgbClr val="16A34A"/>
                </a:solidFill>
                <a:latin typeface="Trebuchet MS" pitchFamily="34" charset="0"/>
                <a:ea typeface="Trebuchet MS" pitchFamily="34" charset="-122"/>
                <a:cs typeface="Trebuchet MS" pitchFamily="34" charset="-120"/>
              </a:rPr>
              <a:t>Delivered</a:t>
            </a:r>
            <a:endParaRPr lang="en-US" sz="1150" dirty="0"/>
          </a:p>
        </p:txBody>
      </p:sp>
      <p:sp>
        <p:nvSpPr>
          <p:cNvPr id="44" name="Text 31"/>
          <p:cNvSpPr/>
          <p:nvPr/>
        </p:nvSpPr>
        <p:spPr>
          <a:xfrm>
            <a:off x="548640" y="6437376"/>
            <a:ext cx="5486400" cy="274320"/>
          </a:xfrm>
          <a:prstGeom prst="rect">
            <a:avLst/>
          </a:prstGeom>
          <a:noFill/>
          <a:ln/>
        </p:spPr>
        <p:txBody>
          <a:bodyPr wrap="square" lIns="0" tIns="0" rIns="0" bIns="0" rtlCol="0" anchor="ctr"/>
          <a:lstStyle/>
          <a:p>
            <a:pPr indent="0" marL="0">
              <a:buNone/>
            </a:pPr>
            <a:r>
              <a:rPr lang="en-US" sz="900" b="1" dirty="0">
                <a:solidFill>
                  <a:srgbClr val="7C3AED"/>
                </a:solidFill>
                <a:latin typeface="Calibri" pitchFamily="34" charset="0"/>
                <a:ea typeface="Calibri" pitchFamily="34" charset="-122"/>
                <a:cs typeface="Calibri" pitchFamily="34" charset="-120"/>
              </a:rPr>
              <a:t>Qwipo</a:t>
            </a:r>
            <a:pPr indent="0" marL="0">
              <a:buNone/>
            </a:pPr>
            <a:r>
              <a:rPr lang="en-US" sz="900" dirty="0">
                <a:solidFill>
                  <a:srgbClr val="94A3B8"/>
                </a:solidFill>
                <a:latin typeface="Calibri" pitchFamily="34" charset="0"/>
                <a:ea typeface="Calibri" pitchFamily="34" charset="-122"/>
                <a:cs typeface="Calibri" pitchFamily="34" charset="-120"/>
              </a:rPr>
              <a:t>   Seller Store Platform</a:t>
            </a:r>
            <a:endParaRPr lang="en-US" sz="900" dirty="0"/>
          </a:p>
        </p:txBody>
      </p:sp>
      <p:sp>
        <p:nvSpPr>
          <p:cNvPr id="45" name="Text 32"/>
          <p:cNvSpPr/>
          <p:nvPr/>
        </p:nvSpPr>
        <p:spPr>
          <a:xfrm>
            <a:off x="9966960" y="6437376"/>
            <a:ext cx="1673352"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13 / 20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Trebuchet MS" pitchFamily="34" charset="0"/>
                <a:ea typeface="Trebuchet MS" pitchFamily="34" charset="-122"/>
                <a:cs typeface="Trebuchet MS" pitchFamily="34" charset="-120"/>
              </a:rPr>
              <a:t>FEATURE · WHATSAPP COMMERCE</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Trebuchet MS" pitchFamily="34" charset="0"/>
                <a:ea typeface="Trebuchet MS" pitchFamily="34" charset="-122"/>
                <a:cs typeface="Trebuchet MS" pitchFamily="34" charset="-120"/>
              </a:rPr>
              <a:t>Meet retailers where they already are</a:t>
            </a:r>
            <a:endParaRPr lang="en-US" sz="2900" dirty="0"/>
          </a:p>
        </p:txBody>
      </p:sp>
      <p:sp>
        <p:nvSpPr>
          <p:cNvPr id="4" name="Shape 2"/>
          <p:cNvSpPr/>
          <p:nvPr/>
        </p:nvSpPr>
        <p:spPr>
          <a:xfrm>
            <a:off x="548640" y="1691640"/>
            <a:ext cx="493776" cy="493776"/>
          </a:xfrm>
          <a:prstGeom prst="roundRect">
            <a:avLst>
              <a:gd name="adj" fmla="val 26000"/>
            </a:avLst>
          </a:prstGeom>
          <a:solidFill>
            <a:srgbClr val="25D366"/>
          </a:solidFill>
          <a:ln/>
        </p:spPr>
      </p:sp>
      <p:pic>
        <p:nvPicPr>
          <p:cNvPr id="5" name="Image 0" descr="C:\Users\Lenovo\AppData\Local\Temp\qwipo-deck\assets\ic_FaShoppingCart_w.png">    </p:cNvPr>
          <p:cNvPicPr>
            <a:picLocks noChangeAspect="1"/>
          </p:cNvPicPr>
          <p:nvPr/>
        </p:nvPicPr>
        <p:blipFill>
          <a:blip r:embed="rId1"/>
          <a:stretch>
            <a:fillRect/>
          </a:stretch>
        </p:blipFill>
        <p:spPr>
          <a:xfrm>
            <a:off x="662208" y="1805208"/>
            <a:ext cx="266639" cy="266639"/>
          </a:xfrm>
          <a:prstGeom prst="rect">
            <a:avLst/>
          </a:prstGeom>
        </p:spPr>
      </p:pic>
      <p:sp>
        <p:nvSpPr>
          <p:cNvPr id="6" name="Text 3"/>
          <p:cNvSpPr/>
          <p:nvPr/>
        </p:nvSpPr>
        <p:spPr>
          <a:xfrm>
            <a:off x="1188720" y="1673352"/>
            <a:ext cx="4937760" cy="27432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New order notifications</a:t>
            </a:r>
            <a:endParaRPr lang="en-US" sz="1250" dirty="0"/>
          </a:p>
        </p:txBody>
      </p:sp>
      <p:sp>
        <p:nvSpPr>
          <p:cNvPr id="7" name="Text 4"/>
          <p:cNvSpPr/>
          <p:nvPr/>
        </p:nvSpPr>
        <p:spPr>
          <a:xfrm>
            <a:off x="1188720" y="1947672"/>
            <a:ext cx="4937760"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Instant alert the moment an order is placed.</a:t>
            </a:r>
            <a:endParaRPr lang="en-US" sz="1050" dirty="0"/>
          </a:p>
        </p:txBody>
      </p:sp>
      <p:sp>
        <p:nvSpPr>
          <p:cNvPr id="8" name="Shape 5"/>
          <p:cNvSpPr/>
          <p:nvPr/>
        </p:nvSpPr>
        <p:spPr>
          <a:xfrm>
            <a:off x="548640" y="2404872"/>
            <a:ext cx="493776" cy="493776"/>
          </a:xfrm>
          <a:prstGeom prst="roundRect">
            <a:avLst>
              <a:gd name="adj" fmla="val 26000"/>
            </a:avLst>
          </a:prstGeom>
          <a:solidFill>
            <a:srgbClr val="25D366"/>
          </a:solidFill>
          <a:ln/>
        </p:spPr>
      </p:sp>
      <p:pic>
        <p:nvPicPr>
          <p:cNvPr id="9" name="Image 1" descr="C:\Users\Lenovo\AppData\Local\Temp\qwipo-deck\assets\ic_FaTruck_w.png">    </p:cNvPr>
          <p:cNvPicPr>
            <a:picLocks noChangeAspect="1"/>
          </p:cNvPicPr>
          <p:nvPr/>
        </p:nvPicPr>
        <p:blipFill>
          <a:blip r:embed="rId2"/>
          <a:stretch>
            <a:fillRect/>
          </a:stretch>
        </p:blipFill>
        <p:spPr>
          <a:xfrm>
            <a:off x="662208" y="2518440"/>
            <a:ext cx="266639" cy="266639"/>
          </a:xfrm>
          <a:prstGeom prst="rect">
            <a:avLst/>
          </a:prstGeom>
        </p:spPr>
      </p:pic>
      <p:sp>
        <p:nvSpPr>
          <p:cNvPr id="10" name="Text 6"/>
          <p:cNvSpPr/>
          <p:nvPr/>
        </p:nvSpPr>
        <p:spPr>
          <a:xfrm>
            <a:off x="1188720" y="2386584"/>
            <a:ext cx="4937760" cy="27432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Delivery notifications</a:t>
            </a:r>
            <a:endParaRPr lang="en-US" sz="1250" dirty="0"/>
          </a:p>
        </p:txBody>
      </p:sp>
      <p:sp>
        <p:nvSpPr>
          <p:cNvPr id="11" name="Text 7"/>
          <p:cNvSpPr/>
          <p:nvPr/>
        </p:nvSpPr>
        <p:spPr>
          <a:xfrm>
            <a:off x="1188720" y="2660904"/>
            <a:ext cx="4937760"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Out-for-delivery and delivered updates in real time.</a:t>
            </a:r>
            <a:endParaRPr lang="en-US" sz="1050" dirty="0"/>
          </a:p>
        </p:txBody>
      </p:sp>
      <p:sp>
        <p:nvSpPr>
          <p:cNvPr id="12" name="Shape 8"/>
          <p:cNvSpPr/>
          <p:nvPr/>
        </p:nvSpPr>
        <p:spPr>
          <a:xfrm>
            <a:off x="548640" y="3118104"/>
            <a:ext cx="493776" cy="493776"/>
          </a:xfrm>
          <a:prstGeom prst="roundRect">
            <a:avLst>
              <a:gd name="adj" fmla="val 26000"/>
            </a:avLst>
          </a:prstGeom>
          <a:solidFill>
            <a:srgbClr val="25D366"/>
          </a:solidFill>
          <a:ln/>
        </p:spPr>
      </p:sp>
      <p:pic>
        <p:nvPicPr>
          <p:cNvPr id="13" name="Image 2" descr="C:\Users\Lenovo\AppData\Local\Temp\qwipo-deck\assets\ic_FaRegClock_w.png">    </p:cNvPr>
          <p:cNvPicPr>
            <a:picLocks noChangeAspect="1"/>
          </p:cNvPicPr>
          <p:nvPr/>
        </p:nvPicPr>
        <p:blipFill>
          <a:blip r:embed="rId3"/>
          <a:stretch>
            <a:fillRect/>
          </a:stretch>
        </p:blipFill>
        <p:spPr>
          <a:xfrm>
            <a:off x="662208" y="3231672"/>
            <a:ext cx="266639" cy="266639"/>
          </a:xfrm>
          <a:prstGeom prst="rect">
            <a:avLst/>
          </a:prstGeom>
        </p:spPr>
      </p:pic>
      <p:sp>
        <p:nvSpPr>
          <p:cNvPr id="14" name="Text 9"/>
          <p:cNvSpPr/>
          <p:nvPr/>
        </p:nvSpPr>
        <p:spPr>
          <a:xfrm>
            <a:off x="1188720" y="3099816"/>
            <a:ext cx="4937760" cy="27432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Delay notifications</a:t>
            </a:r>
            <a:endParaRPr lang="en-US" sz="1250" dirty="0"/>
          </a:p>
        </p:txBody>
      </p:sp>
      <p:sp>
        <p:nvSpPr>
          <p:cNvPr id="15" name="Text 10"/>
          <p:cNvSpPr/>
          <p:nvPr/>
        </p:nvSpPr>
        <p:spPr>
          <a:xfrm>
            <a:off x="1188720" y="3374136"/>
            <a:ext cx="4937760"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Proactive heads-up with a revised ETA.</a:t>
            </a:r>
            <a:endParaRPr lang="en-US" sz="1050" dirty="0"/>
          </a:p>
        </p:txBody>
      </p:sp>
      <p:sp>
        <p:nvSpPr>
          <p:cNvPr id="16" name="Shape 11"/>
          <p:cNvSpPr/>
          <p:nvPr/>
        </p:nvSpPr>
        <p:spPr>
          <a:xfrm>
            <a:off x="548640" y="3831336"/>
            <a:ext cx="493776" cy="493776"/>
          </a:xfrm>
          <a:prstGeom prst="roundRect">
            <a:avLst>
              <a:gd name="adj" fmla="val 26000"/>
            </a:avLst>
          </a:prstGeom>
          <a:solidFill>
            <a:srgbClr val="25D366"/>
          </a:solidFill>
          <a:ln/>
        </p:spPr>
      </p:sp>
      <p:pic>
        <p:nvPicPr>
          <p:cNvPr id="17" name="Image 3" descr="C:\Users\Lenovo\AppData\Local\Temp\qwipo-deck\assets\ic_FaComments_w.png">    </p:cNvPr>
          <p:cNvPicPr>
            <a:picLocks noChangeAspect="1"/>
          </p:cNvPicPr>
          <p:nvPr/>
        </p:nvPicPr>
        <p:blipFill>
          <a:blip r:embed="rId4"/>
          <a:stretch>
            <a:fillRect/>
          </a:stretch>
        </p:blipFill>
        <p:spPr>
          <a:xfrm>
            <a:off x="662208" y="3944904"/>
            <a:ext cx="266639" cy="266639"/>
          </a:xfrm>
          <a:prstGeom prst="rect">
            <a:avLst/>
          </a:prstGeom>
        </p:spPr>
      </p:pic>
      <p:sp>
        <p:nvSpPr>
          <p:cNvPr id="18" name="Text 12"/>
          <p:cNvSpPr/>
          <p:nvPr/>
        </p:nvSpPr>
        <p:spPr>
          <a:xfrm>
            <a:off x="1188720" y="3813048"/>
            <a:ext cx="4937760" cy="27432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Retailer communication</a:t>
            </a:r>
            <a:endParaRPr lang="en-US" sz="1250" dirty="0"/>
          </a:p>
        </p:txBody>
      </p:sp>
      <p:sp>
        <p:nvSpPr>
          <p:cNvPr id="19" name="Text 13"/>
          <p:cNvSpPr/>
          <p:nvPr/>
        </p:nvSpPr>
        <p:spPr>
          <a:xfrm>
            <a:off x="1188720" y="4087368"/>
            <a:ext cx="4937760"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Two-way messaging for confirmations and queries.</a:t>
            </a:r>
            <a:endParaRPr lang="en-US" sz="1050" dirty="0"/>
          </a:p>
        </p:txBody>
      </p:sp>
      <p:sp>
        <p:nvSpPr>
          <p:cNvPr id="20" name="Shape 14"/>
          <p:cNvSpPr/>
          <p:nvPr/>
        </p:nvSpPr>
        <p:spPr>
          <a:xfrm>
            <a:off x="548640" y="4544568"/>
            <a:ext cx="493776" cy="493776"/>
          </a:xfrm>
          <a:prstGeom prst="roundRect">
            <a:avLst>
              <a:gd name="adj" fmla="val 26000"/>
            </a:avLst>
          </a:prstGeom>
          <a:solidFill>
            <a:srgbClr val="25D366"/>
          </a:solidFill>
          <a:ln/>
        </p:spPr>
      </p:sp>
      <p:pic>
        <p:nvPicPr>
          <p:cNvPr id="21" name="Image 4" descr="C:\Users\Lenovo\AppData\Local\Temp\qwipo-deck\assets\ic_FaStore_w.png">    </p:cNvPr>
          <p:cNvPicPr>
            <a:picLocks noChangeAspect="1"/>
          </p:cNvPicPr>
          <p:nvPr/>
        </p:nvPicPr>
        <p:blipFill>
          <a:blip r:embed="rId5"/>
          <a:stretch>
            <a:fillRect/>
          </a:stretch>
        </p:blipFill>
        <p:spPr>
          <a:xfrm>
            <a:off x="662208" y="4658136"/>
            <a:ext cx="266639" cy="266639"/>
          </a:xfrm>
          <a:prstGeom prst="rect">
            <a:avLst/>
          </a:prstGeom>
        </p:spPr>
      </p:pic>
      <p:sp>
        <p:nvSpPr>
          <p:cNvPr id="22" name="Text 15"/>
          <p:cNvSpPr/>
          <p:nvPr/>
        </p:nvSpPr>
        <p:spPr>
          <a:xfrm>
            <a:off x="1188720" y="4526280"/>
            <a:ext cx="4937760" cy="274320"/>
          </a:xfrm>
          <a:prstGeom prst="rect">
            <a:avLst/>
          </a:prstGeom>
          <a:noFill/>
          <a:ln/>
        </p:spPr>
        <p:txBody>
          <a:bodyPr wrap="square" lIns="0" tIns="0" rIns="0" bIns="0" rtlCol="0" anchor="ctr"/>
          <a:lstStyle/>
          <a:p>
            <a:pPr indent="0" marL="0">
              <a:buNone/>
            </a:pPr>
            <a:r>
              <a:rPr lang="en-US" sz="1250" b="1" dirty="0">
                <a:solidFill>
                  <a:srgbClr val="0F172A"/>
                </a:solidFill>
                <a:latin typeface="Trebuchet MS" pitchFamily="34" charset="0"/>
                <a:ea typeface="Trebuchet MS" pitchFamily="34" charset="-122"/>
                <a:cs typeface="Trebuchet MS" pitchFamily="34" charset="-120"/>
              </a:rPr>
              <a:t>Distributor communication</a:t>
            </a:r>
            <a:endParaRPr lang="en-US" sz="1250" dirty="0"/>
          </a:p>
        </p:txBody>
      </p:sp>
      <p:sp>
        <p:nvSpPr>
          <p:cNvPr id="23" name="Text 16"/>
          <p:cNvSpPr/>
          <p:nvPr/>
        </p:nvSpPr>
        <p:spPr>
          <a:xfrm>
            <a:off x="1188720" y="4800600"/>
            <a:ext cx="4937760"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Keep distributors looped in on every status change.</a:t>
            </a:r>
            <a:endParaRPr lang="en-US" sz="1050" dirty="0"/>
          </a:p>
        </p:txBody>
      </p:sp>
      <p:sp>
        <p:nvSpPr>
          <p:cNvPr id="24" name="Shape 17"/>
          <p:cNvSpPr/>
          <p:nvPr/>
        </p:nvSpPr>
        <p:spPr>
          <a:xfrm>
            <a:off x="548640" y="5349240"/>
            <a:ext cx="5532120" cy="868680"/>
          </a:xfrm>
          <a:prstGeom prst="roundRect">
            <a:avLst>
              <a:gd name="adj" fmla="val 8421"/>
            </a:avLst>
          </a:prstGeom>
          <a:solidFill>
            <a:srgbClr val="F3EEFE"/>
          </a:solidFill>
          <a:ln w="12700">
            <a:solidFill>
              <a:srgbClr val="DDD0FB"/>
            </a:solidFill>
            <a:prstDash val="solid"/>
          </a:ln>
        </p:spPr>
      </p:sp>
      <p:sp>
        <p:nvSpPr>
          <p:cNvPr id="25" name="Shape 18"/>
          <p:cNvSpPr/>
          <p:nvPr/>
        </p:nvSpPr>
        <p:spPr>
          <a:xfrm>
            <a:off x="548640" y="5458968"/>
            <a:ext cx="64008" cy="649224"/>
          </a:xfrm>
          <a:prstGeom prst="rect">
            <a:avLst/>
          </a:prstGeom>
          <a:solidFill>
            <a:srgbClr val="7C3AED"/>
          </a:solidFill>
          <a:ln/>
        </p:spPr>
      </p:sp>
      <p:sp>
        <p:nvSpPr>
          <p:cNvPr id="26" name="Text 19"/>
          <p:cNvSpPr/>
          <p:nvPr/>
        </p:nvSpPr>
        <p:spPr>
          <a:xfrm>
            <a:off x="786384" y="5486400"/>
            <a:ext cx="5074920" cy="219456"/>
          </a:xfrm>
          <a:prstGeom prst="rect">
            <a:avLst/>
          </a:prstGeom>
          <a:noFill/>
          <a:ln/>
        </p:spPr>
        <p:txBody>
          <a:bodyPr wrap="square" lIns="0" tIns="0" rIns="0" bIns="0" rtlCol="0" anchor="ctr"/>
          <a:lstStyle/>
          <a:p>
            <a:pPr indent="0" marL="0">
              <a:buNone/>
            </a:pPr>
            <a:r>
              <a:rPr lang="en-US" sz="1000" b="1" spc="200" kern="0" dirty="0">
                <a:solidFill>
                  <a:srgbClr val="7C3AED"/>
                </a:solidFill>
                <a:latin typeface="Trebuchet MS" pitchFamily="34" charset="0"/>
                <a:ea typeface="Trebuchet MS" pitchFamily="34" charset="-122"/>
                <a:cs typeface="Trebuchet MS" pitchFamily="34" charset="-120"/>
              </a:rPr>
              <a:t>BUSINESS BENEFIT</a:t>
            </a:r>
            <a:endParaRPr lang="en-US" sz="1000" dirty="0"/>
          </a:p>
        </p:txBody>
      </p:sp>
      <p:sp>
        <p:nvSpPr>
          <p:cNvPr id="27" name="Text 20"/>
          <p:cNvSpPr/>
          <p:nvPr/>
        </p:nvSpPr>
        <p:spPr>
          <a:xfrm>
            <a:off x="786384" y="5733288"/>
            <a:ext cx="5074920" cy="365760"/>
          </a:xfrm>
          <a:prstGeom prst="rect">
            <a:avLst/>
          </a:prstGeom>
          <a:noFill/>
          <a:ln/>
        </p:spPr>
        <p:txBody>
          <a:bodyPr wrap="square" lIns="0" tIns="0" rIns="0" bIns="0" rtlCol="0" anchor="t"/>
          <a:lstStyle/>
          <a:p>
            <a:pPr indent="0" marL="0">
              <a:lnSpc>
                <a:spcPct val="104000"/>
              </a:lnSpc>
              <a:buNone/>
            </a:pPr>
            <a:r>
              <a:rPr lang="en-US" sz="1150" dirty="0">
                <a:solidFill>
                  <a:srgbClr val="1E293B"/>
                </a:solidFill>
                <a:latin typeface="Calibri" pitchFamily="34" charset="0"/>
                <a:ea typeface="Calibri" pitchFamily="34" charset="-122"/>
                <a:cs typeface="Calibri" pitchFamily="34" charset="-120"/>
              </a:rPr>
              <a:t>Adoption is effortless — no app to install. Retailers transact and stay informed on WhatsApp, driving faster confirmations, fewer support calls and stronger engagement.</a:t>
            </a:r>
            <a:endParaRPr lang="en-US" sz="1150" dirty="0"/>
          </a:p>
        </p:txBody>
      </p:sp>
      <p:sp>
        <p:nvSpPr>
          <p:cNvPr id="28" name="Shape 21"/>
          <p:cNvSpPr/>
          <p:nvPr/>
        </p:nvSpPr>
        <p:spPr>
          <a:xfrm>
            <a:off x="7360920" y="1554480"/>
            <a:ext cx="3154680" cy="4663440"/>
          </a:xfrm>
          <a:prstGeom prst="roundRect">
            <a:avLst>
              <a:gd name="adj" fmla="val 6377"/>
            </a:avLst>
          </a:prstGeom>
          <a:solidFill>
            <a:srgbClr val="075E54"/>
          </a:solidFill>
          <a:ln/>
          <a:effectLst>
            <a:outerShdw sx="100000" sy="100000" kx="0" ky="0" algn="bl" rotWithShape="0" blurRad="114300" dist="38100" dir="5400000">
              <a:srgbClr val="1E293B">
                <a:alpha val="18000"/>
              </a:srgbClr>
            </a:outerShdw>
          </a:effectLst>
        </p:spPr>
      </p:sp>
      <p:sp>
        <p:nvSpPr>
          <p:cNvPr id="29" name="Shape 22"/>
          <p:cNvSpPr/>
          <p:nvPr/>
        </p:nvSpPr>
        <p:spPr>
          <a:xfrm>
            <a:off x="7470648" y="1664208"/>
            <a:ext cx="2935224" cy="4443984"/>
          </a:xfrm>
          <a:prstGeom prst="roundRect">
            <a:avLst>
              <a:gd name="adj" fmla="val 4984"/>
            </a:avLst>
          </a:prstGeom>
          <a:solidFill>
            <a:srgbClr val="ECE5DD"/>
          </a:solidFill>
          <a:ln/>
        </p:spPr>
      </p:sp>
      <p:sp>
        <p:nvSpPr>
          <p:cNvPr id="30" name="Shape 23"/>
          <p:cNvSpPr/>
          <p:nvPr/>
        </p:nvSpPr>
        <p:spPr>
          <a:xfrm>
            <a:off x="7470648" y="1664208"/>
            <a:ext cx="2935224" cy="640080"/>
          </a:xfrm>
          <a:prstGeom prst="rect">
            <a:avLst/>
          </a:prstGeom>
          <a:solidFill>
            <a:srgbClr val="075E54"/>
          </a:solidFill>
          <a:ln/>
        </p:spPr>
      </p:sp>
      <p:sp>
        <p:nvSpPr>
          <p:cNvPr id="31" name="Shape 24"/>
          <p:cNvSpPr/>
          <p:nvPr/>
        </p:nvSpPr>
        <p:spPr>
          <a:xfrm>
            <a:off x="7598664" y="1773936"/>
            <a:ext cx="420624" cy="420624"/>
          </a:xfrm>
          <a:prstGeom prst="roundRect">
            <a:avLst>
              <a:gd name="adj" fmla="val 26000"/>
            </a:avLst>
          </a:prstGeom>
          <a:solidFill>
            <a:srgbClr val="25D366"/>
          </a:solidFill>
          <a:ln/>
        </p:spPr>
      </p:sp>
      <p:pic>
        <p:nvPicPr>
          <p:cNvPr id="32" name="Image 5" descr="C:\Users\Lenovo\AppData\Local\Temp\qwipo-deck\assets\ic_FaWhatsapp_w.png">    </p:cNvPr>
          <p:cNvPicPr>
            <a:picLocks noChangeAspect="1"/>
          </p:cNvPicPr>
          <p:nvPr/>
        </p:nvPicPr>
        <p:blipFill>
          <a:blip r:embed="rId6"/>
          <a:stretch>
            <a:fillRect/>
          </a:stretch>
        </p:blipFill>
        <p:spPr>
          <a:xfrm>
            <a:off x="7695408" y="1870680"/>
            <a:ext cx="227137" cy="227137"/>
          </a:xfrm>
          <a:prstGeom prst="rect">
            <a:avLst/>
          </a:prstGeom>
        </p:spPr>
      </p:pic>
      <p:sp>
        <p:nvSpPr>
          <p:cNvPr id="33" name="Text 25"/>
          <p:cNvSpPr/>
          <p:nvPr/>
        </p:nvSpPr>
        <p:spPr>
          <a:xfrm>
            <a:off x="8110728" y="1737360"/>
            <a:ext cx="2240280" cy="274320"/>
          </a:xfrm>
          <a:prstGeom prst="rect">
            <a:avLst/>
          </a:prstGeom>
          <a:noFill/>
          <a:ln/>
        </p:spPr>
        <p:txBody>
          <a:bodyPr wrap="square" lIns="0" tIns="0" rIns="0" bIns="0" rtlCol="0" anchor="ctr"/>
          <a:lstStyle/>
          <a:p>
            <a:pPr indent="0" marL="0">
              <a:buNone/>
            </a:pPr>
            <a:r>
              <a:rPr lang="en-US" sz="1250" b="1" dirty="0">
                <a:solidFill>
                  <a:srgbClr val="FFFFFF"/>
                </a:solidFill>
                <a:latin typeface="Trebuchet MS" pitchFamily="34" charset="0"/>
                <a:ea typeface="Trebuchet MS" pitchFamily="34" charset="-122"/>
                <a:cs typeface="Trebuchet MS" pitchFamily="34" charset="-120"/>
              </a:rPr>
              <a:t>Qwipo Seller Store</a:t>
            </a:r>
            <a:endParaRPr lang="en-US" sz="1250" dirty="0"/>
          </a:p>
        </p:txBody>
      </p:sp>
      <p:sp>
        <p:nvSpPr>
          <p:cNvPr id="34" name="Text 26"/>
          <p:cNvSpPr/>
          <p:nvPr/>
        </p:nvSpPr>
        <p:spPr>
          <a:xfrm>
            <a:off x="8110728" y="2011680"/>
            <a:ext cx="2240280" cy="201168"/>
          </a:xfrm>
          <a:prstGeom prst="rect">
            <a:avLst/>
          </a:prstGeom>
          <a:noFill/>
          <a:ln/>
        </p:spPr>
        <p:txBody>
          <a:bodyPr wrap="square" lIns="0" tIns="0" rIns="0" bIns="0" rtlCol="0" anchor="ctr"/>
          <a:lstStyle/>
          <a:p>
            <a:pPr indent="0" marL="0">
              <a:buNone/>
            </a:pPr>
            <a:r>
              <a:rPr lang="en-US" sz="900" dirty="0">
                <a:solidFill>
                  <a:srgbClr val="B6E3D4"/>
                </a:solidFill>
                <a:latin typeface="Calibri" pitchFamily="34" charset="0"/>
                <a:ea typeface="Calibri" pitchFamily="34" charset="-122"/>
                <a:cs typeface="Calibri" pitchFamily="34" charset="-120"/>
              </a:rPr>
              <a:t>online</a:t>
            </a:r>
            <a:endParaRPr lang="en-US" sz="900" dirty="0"/>
          </a:p>
        </p:txBody>
      </p:sp>
      <p:sp>
        <p:nvSpPr>
          <p:cNvPr id="35" name="Shape 27"/>
          <p:cNvSpPr/>
          <p:nvPr/>
        </p:nvSpPr>
        <p:spPr>
          <a:xfrm>
            <a:off x="8037576" y="2468880"/>
            <a:ext cx="2240280" cy="603504"/>
          </a:xfrm>
          <a:prstGeom prst="roundRect">
            <a:avLst>
              <a:gd name="adj" fmla="val 15152"/>
            </a:avLst>
          </a:prstGeom>
          <a:solidFill>
            <a:srgbClr val="25D366"/>
          </a:solidFill>
          <a:ln/>
          <a:effectLst>
            <a:outerShdw sx="100000" sy="100000" kx="0" ky="0" algn="bl" rotWithShape="0" blurRad="88900" dist="25400" dir="5400000">
              <a:srgbClr val="334155">
                <a:alpha val="12000"/>
              </a:srgbClr>
            </a:outerShdw>
          </a:effectLst>
        </p:spPr>
      </p:sp>
      <p:sp>
        <p:nvSpPr>
          <p:cNvPr id="36" name="Text 28"/>
          <p:cNvSpPr/>
          <p:nvPr/>
        </p:nvSpPr>
        <p:spPr>
          <a:xfrm>
            <a:off x="8165592" y="2505456"/>
            <a:ext cx="1984248" cy="530352"/>
          </a:xfrm>
          <a:prstGeom prst="rect">
            <a:avLst/>
          </a:prstGeom>
          <a:noFill/>
          <a:ln/>
        </p:spPr>
        <p:txBody>
          <a:bodyPr wrap="square" lIns="0" tIns="0" rIns="0" bIns="0" rtlCol="0" anchor="ctr"/>
          <a:lstStyle/>
          <a:p>
            <a:pPr indent="0" marL="0">
              <a:lnSpc>
                <a:spcPct val="98000"/>
              </a:lnSpc>
              <a:buNone/>
            </a:pPr>
            <a:r>
              <a:rPr lang="en-US" sz="950" dirty="0">
                <a:solidFill>
                  <a:srgbClr val="FFFFFF"/>
                </a:solidFill>
                <a:latin typeface="Calibri" pitchFamily="34" charset="0"/>
                <a:ea typeface="Calibri" pitchFamily="34" charset="-122"/>
                <a:cs typeface="Calibri" pitchFamily="34" charset="-120"/>
              </a:rPr>
              <a:t>🛒 *New Order* #DKN-2025-12345</a:t>
            </a:r>
            <a:endParaRPr lang="en-US" sz="950" dirty="0"/>
          </a:p>
          <a:p>
            <a:pPr indent="0" marL="0">
              <a:lnSpc>
                <a:spcPct val="98000"/>
              </a:lnSpc>
              <a:buNone/>
            </a:pPr>
            <a:r>
              <a:rPr lang="en-US" sz="950" dirty="0">
                <a:solidFill>
                  <a:srgbClr val="FFFFFF"/>
                </a:solidFill>
                <a:latin typeface="Calibri" pitchFamily="34" charset="0"/>
                <a:ea typeface="Calibri" pitchFamily="34" charset="-122"/>
                <a:cs typeface="Calibri" pitchFamily="34" charset="-120"/>
              </a:rPr>
              <a:t>Balaji Kirana · ₹12,450 placed</a:t>
            </a:r>
            <a:endParaRPr lang="en-US" sz="950" dirty="0"/>
          </a:p>
        </p:txBody>
      </p:sp>
      <p:sp>
        <p:nvSpPr>
          <p:cNvPr id="37" name="Shape 29"/>
          <p:cNvSpPr/>
          <p:nvPr/>
        </p:nvSpPr>
        <p:spPr>
          <a:xfrm>
            <a:off x="7598664" y="3236976"/>
            <a:ext cx="2240280" cy="603504"/>
          </a:xfrm>
          <a:prstGeom prst="roundRect">
            <a:avLst>
              <a:gd name="adj" fmla="val 15152"/>
            </a:avLst>
          </a:prstGeom>
          <a:solidFill>
            <a:srgbClr val="FFFFFF"/>
          </a:solidFill>
          <a:ln/>
          <a:effectLst>
            <a:outerShdw sx="100000" sy="100000" kx="0" ky="0" algn="bl" rotWithShape="0" blurRad="88900" dist="25400" dir="5400000">
              <a:srgbClr val="334155">
                <a:alpha val="12000"/>
              </a:srgbClr>
            </a:outerShdw>
          </a:effectLst>
        </p:spPr>
      </p:sp>
      <p:sp>
        <p:nvSpPr>
          <p:cNvPr id="38" name="Text 30"/>
          <p:cNvSpPr/>
          <p:nvPr/>
        </p:nvSpPr>
        <p:spPr>
          <a:xfrm>
            <a:off x="7726680" y="3273552"/>
            <a:ext cx="1984248" cy="530352"/>
          </a:xfrm>
          <a:prstGeom prst="rect">
            <a:avLst/>
          </a:prstGeom>
          <a:noFill/>
          <a:ln/>
        </p:spPr>
        <p:txBody>
          <a:bodyPr wrap="square" lIns="0" tIns="0" rIns="0" bIns="0" rtlCol="0" anchor="ctr"/>
          <a:lstStyle/>
          <a:p>
            <a:pPr indent="0" marL="0">
              <a:lnSpc>
                <a:spcPct val="98000"/>
              </a:lnSpc>
              <a:buNone/>
            </a:pPr>
            <a:r>
              <a:rPr lang="en-US" sz="950" dirty="0">
                <a:solidFill>
                  <a:srgbClr val="1E293B"/>
                </a:solidFill>
                <a:latin typeface="Calibri" pitchFamily="34" charset="0"/>
                <a:ea typeface="Calibri" pitchFamily="34" charset="-122"/>
                <a:cs typeface="Calibri" pitchFamily="34" charset="-120"/>
              </a:rPr>
              <a:t>✅ Order *confirmed* &amp; being packed</a:t>
            </a:r>
            <a:endParaRPr lang="en-US" sz="950" dirty="0"/>
          </a:p>
        </p:txBody>
      </p:sp>
      <p:sp>
        <p:nvSpPr>
          <p:cNvPr id="39" name="Shape 31"/>
          <p:cNvSpPr/>
          <p:nvPr/>
        </p:nvSpPr>
        <p:spPr>
          <a:xfrm>
            <a:off x="7598664" y="4005072"/>
            <a:ext cx="2240280" cy="603504"/>
          </a:xfrm>
          <a:prstGeom prst="roundRect">
            <a:avLst>
              <a:gd name="adj" fmla="val 15152"/>
            </a:avLst>
          </a:prstGeom>
          <a:solidFill>
            <a:srgbClr val="FFFFFF"/>
          </a:solidFill>
          <a:ln/>
          <a:effectLst>
            <a:outerShdw sx="100000" sy="100000" kx="0" ky="0" algn="bl" rotWithShape="0" blurRad="88900" dist="25400" dir="5400000">
              <a:srgbClr val="334155">
                <a:alpha val="12000"/>
              </a:srgbClr>
            </a:outerShdw>
          </a:effectLst>
        </p:spPr>
      </p:sp>
      <p:sp>
        <p:nvSpPr>
          <p:cNvPr id="40" name="Text 32"/>
          <p:cNvSpPr/>
          <p:nvPr/>
        </p:nvSpPr>
        <p:spPr>
          <a:xfrm>
            <a:off x="7726680" y="4041648"/>
            <a:ext cx="1984248" cy="530352"/>
          </a:xfrm>
          <a:prstGeom prst="rect">
            <a:avLst/>
          </a:prstGeom>
          <a:noFill/>
          <a:ln/>
        </p:spPr>
        <p:txBody>
          <a:bodyPr wrap="square" lIns="0" tIns="0" rIns="0" bIns="0" rtlCol="0" anchor="ctr"/>
          <a:lstStyle/>
          <a:p>
            <a:pPr indent="0" marL="0">
              <a:lnSpc>
                <a:spcPct val="98000"/>
              </a:lnSpc>
              <a:buNone/>
            </a:pPr>
            <a:r>
              <a:rPr lang="en-US" sz="950" dirty="0">
                <a:solidFill>
                  <a:srgbClr val="1E293B"/>
                </a:solidFill>
                <a:latin typeface="Calibri" pitchFamily="34" charset="0"/>
                <a:ea typeface="Calibri" pitchFamily="34" charset="-122"/>
                <a:cs typeface="Calibri" pitchFamily="34" charset="-120"/>
              </a:rPr>
              <a:t>🚚 *Out for delivery* — arriving today by 6 PM</a:t>
            </a:r>
            <a:endParaRPr lang="en-US" sz="950" dirty="0"/>
          </a:p>
        </p:txBody>
      </p:sp>
      <p:sp>
        <p:nvSpPr>
          <p:cNvPr id="41" name="Shape 33"/>
          <p:cNvSpPr/>
          <p:nvPr/>
        </p:nvSpPr>
        <p:spPr>
          <a:xfrm>
            <a:off x="7598664" y="4773168"/>
            <a:ext cx="2240280" cy="603504"/>
          </a:xfrm>
          <a:prstGeom prst="roundRect">
            <a:avLst>
              <a:gd name="adj" fmla="val 15152"/>
            </a:avLst>
          </a:prstGeom>
          <a:solidFill>
            <a:srgbClr val="FEF3C7"/>
          </a:solidFill>
          <a:ln/>
          <a:effectLst>
            <a:outerShdw sx="100000" sy="100000" kx="0" ky="0" algn="bl" rotWithShape="0" blurRad="88900" dist="25400" dir="5400000">
              <a:srgbClr val="334155">
                <a:alpha val="12000"/>
              </a:srgbClr>
            </a:outerShdw>
          </a:effectLst>
        </p:spPr>
      </p:sp>
      <p:sp>
        <p:nvSpPr>
          <p:cNvPr id="42" name="Text 34"/>
          <p:cNvSpPr/>
          <p:nvPr/>
        </p:nvSpPr>
        <p:spPr>
          <a:xfrm>
            <a:off x="7726680" y="4809744"/>
            <a:ext cx="1984248" cy="530352"/>
          </a:xfrm>
          <a:prstGeom prst="rect">
            <a:avLst/>
          </a:prstGeom>
          <a:noFill/>
          <a:ln/>
        </p:spPr>
        <p:txBody>
          <a:bodyPr wrap="square" lIns="0" tIns="0" rIns="0" bIns="0" rtlCol="0" anchor="ctr"/>
          <a:lstStyle/>
          <a:p>
            <a:pPr indent="0" marL="0">
              <a:lnSpc>
                <a:spcPct val="98000"/>
              </a:lnSpc>
              <a:buNone/>
            </a:pPr>
            <a:r>
              <a:rPr lang="en-US" sz="950" dirty="0">
                <a:solidFill>
                  <a:srgbClr val="92400E"/>
                </a:solidFill>
                <a:latin typeface="Calibri" pitchFamily="34" charset="0"/>
                <a:ea typeface="Calibri" pitchFamily="34" charset="-122"/>
                <a:cs typeface="Calibri" pitchFamily="34" charset="-120"/>
              </a:rPr>
              <a:t>⏰ Slight *delay* — revised ETA tomorrow, 11 AM</a:t>
            </a:r>
            <a:endParaRPr lang="en-US" sz="950" dirty="0"/>
          </a:p>
        </p:txBody>
      </p:sp>
      <p:sp>
        <p:nvSpPr>
          <p:cNvPr id="43" name="Shape 35"/>
          <p:cNvSpPr/>
          <p:nvPr/>
        </p:nvSpPr>
        <p:spPr>
          <a:xfrm>
            <a:off x="8037576" y="5541264"/>
            <a:ext cx="2240280" cy="603504"/>
          </a:xfrm>
          <a:prstGeom prst="roundRect">
            <a:avLst>
              <a:gd name="adj" fmla="val 15152"/>
            </a:avLst>
          </a:prstGeom>
          <a:solidFill>
            <a:srgbClr val="25D366"/>
          </a:solidFill>
          <a:ln/>
          <a:effectLst>
            <a:outerShdw sx="100000" sy="100000" kx="0" ky="0" algn="bl" rotWithShape="0" blurRad="88900" dist="25400" dir="5400000">
              <a:srgbClr val="334155">
                <a:alpha val="12000"/>
              </a:srgbClr>
            </a:outerShdw>
          </a:effectLst>
        </p:spPr>
      </p:sp>
      <p:sp>
        <p:nvSpPr>
          <p:cNvPr id="44" name="Text 36"/>
          <p:cNvSpPr/>
          <p:nvPr/>
        </p:nvSpPr>
        <p:spPr>
          <a:xfrm>
            <a:off x="8165592" y="5577840"/>
            <a:ext cx="1984248" cy="530352"/>
          </a:xfrm>
          <a:prstGeom prst="rect">
            <a:avLst/>
          </a:prstGeom>
          <a:noFill/>
          <a:ln/>
        </p:spPr>
        <p:txBody>
          <a:bodyPr wrap="square" lIns="0" tIns="0" rIns="0" bIns="0" rtlCol="0" anchor="ctr"/>
          <a:lstStyle/>
          <a:p>
            <a:pPr indent="0" marL="0">
              <a:lnSpc>
                <a:spcPct val="98000"/>
              </a:lnSpc>
              <a:buNone/>
            </a:pPr>
            <a:r>
              <a:rPr lang="en-US" sz="950" dirty="0">
                <a:solidFill>
                  <a:srgbClr val="FFFFFF"/>
                </a:solidFill>
                <a:latin typeface="Calibri" pitchFamily="34" charset="0"/>
                <a:ea typeface="Calibri" pitchFamily="34" charset="-122"/>
                <a:cs typeface="Calibri" pitchFamily="34" charset="-120"/>
              </a:rPr>
              <a:t>📦 *Delivered* — thank you!</a:t>
            </a:r>
            <a:endParaRPr lang="en-US" sz="950" dirty="0"/>
          </a:p>
        </p:txBody>
      </p:sp>
      <p:sp>
        <p:nvSpPr>
          <p:cNvPr id="45" name="Text 37"/>
          <p:cNvSpPr/>
          <p:nvPr/>
        </p:nvSpPr>
        <p:spPr>
          <a:xfrm>
            <a:off x="548640" y="6437376"/>
            <a:ext cx="5486400" cy="274320"/>
          </a:xfrm>
          <a:prstGeom prst="rect">
            <a:avLst/>
          </a:prstGeom>
          <a:noFill/>
          <a:ln/>
        </p:spPr>
        <p:txBody>
          <a:bodyPr wrap="square" lIns="0" tIns="0" rIns="0" bIns="0" rtlCol="0" anchor="ctr"/>
          <a:lstStyle/>
          <a:p>
            <a:pPr indent="0" marL="0">
              <a:buNone/>
            </a:pPr>
            <a:r>
              <a:rPr lang="en-US" sz="900" b="1" dirty="0">
                <a:solidFill>
                  <a:srgbClr val="7C3AED"/>
                </a:solidFill>
                <a:latin typeface="Calibri" pitchFamily="34" charset="0"/>
                <a:ea typeface="Calibri" pitchFamily="34" charset="-122"/>
                <a:cs typeface="Calibri" pitchFamily="34" charset="-120"/>
              </a:rPr>
              <a:t>Qwipo</a:t>
            </a:r>
            <a:pPr indent="0" marL="0">
              <a:buNone/>
            </a:pPr>
            <a:r>
              <a:rPr lang="en-US" sz="900" dirty="0">
                <a:solidFill>
                  <a:srgbClr val="94A3B8"/>
                </a:solidFill>
                <a:latin typeface="Calibri" pitchFamily="34" charset="0"/>
                <a:ea typeface="Calibri" pitchFamily="34" charset="-122"/>
                <a:cs typeface="Calibri" pitchFamily="34" charset="-120"/>
              </a:rPr>
              <a:t>   Seller Store Platform</a:t>
            </a:r>
            <a:endParaRPr lang="en-US" sz="900" dirty="0"/>
          </a:p>
        </p:txBody>
      </p:sp>
      <p:sp>
        <p:nvSpPr>
          <p:cNvPr id="46" name="Text 38"/>
          <p:cNvSpPr/>
          <p:nvPr/>
        </p:nvSpPr>
        <p:spPr>
          <a:xfrm>
            <a:off x="9966960" y="6437376"/>
            <a:ext cx="1673352"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14 / 20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Trebuchet MS" pitchFamily="34" charset="0"/>
                <a:ea typeface="Trebuchet MS" pitchFamily="34" charset="-122"/>
                <a:cs typeface="Trebuchet MS" pitchFamily="34" charset="-120"/>
              </a:rPr>
              <a:t>FEATURE · AUTOMATION</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Trebuchet MS" pitchFamily="34" charset="0"/>
                <a:ea typeface="Trebuchet MS" pitchFamily="34" charset="-122"/>
                <a:cs typeface="Trebuchet MS" pitchFamily="34" charset="-120"/>
              </a:rPr>
              <a:t>Events trigger the right message, automatically</a:t>
            </a:r>
            <a:endParaRPr lang="en-US" sz="2900" dirty="0"/>
          </a:p>
        </p:txBody>
      </p:sp>
      <p:sp>
        <p:nvSpPr>
          <p:cNvPr id="4" name="Text 2"/>
          <p:cNvSpPr/>
          <p:nvPr/>
        </p:nvSpPr>
        <p:spPr>
          <a:xfrm>
            <a:off x="640080" y="1554480"/>
            <a:ext cx="3108960" cy="274320"/>
          </a:xfrm>
          <a:prstGeom prst="rect">
            <a:avLst/>
          </a:prstGeom>
          <a:noFill/>
          <a:ln/>
        </p:spPr>
        <p:txBody>
          <a:bodyPr wrap="square" lIns="0" tIns="0" rIns="0" bIns="0" rtlCol="0" anchor="ctr"/>
          <a:lstStyle/>
          <a:p>
            <a:pPr algn="ctr" indent="0" marL="0">
              <a:buNone/>
            </a:pPr>
            <a:r>
              <a:rPr lang="en-US" sz="1100" b="1" spc="200" kern="0" dirty="0">
                <a:solidFill>
                  <a:srgbClr val="7C3AED"/>
                </a:solidFill>
                <a:latin typeface="Trebuchet MS" pitchFamily="34" charset="0"/>
                <a:ea typeface="Trebuchet MS" pitchFamily="34" charset="-122"/>
                <a:cs typeface="Trebuchet MS" pitchFamily="34" charset="-120"/>
              </a:rPr>
              <a:t>EVENTS</a:t>
            </a:r>
            <a:endParaRPr lang="en-US" sz="1100" dirty="0"/>
          </a:p>
        </p:txBody>
      </p:sp>
      <p:sp>
        <p:nvSpPr>
          <p:cNvPr id="5" name="Shape 3"/>
          <p:cNvSpPr/>
          <p:nvPr/>
        </p:nvSpPr>
        <p:spPr>
          <a:xfrm>
            <a:off x="640080" y="1847088"/>
            <a:ext cx="3108960" cy="658368"/>
          </a:xfrm>
          <a:prstGeom prst="roundRect">
            <a:avLst>
              <a:gd name="adj" fmla="val 12500"/>
            </a:avLst>
          </a:prstGeom>
          <a:solidFill>
            <a:srgbClr val="F8FAFC"/>
          </a:solidFill>
          <a:ln w="12700">
            <a:solidFill>
              <a:srgbClr val="E2E8F0"/>
            </a:solidFill>
            <a:prstDash val="solid"/>
          </a:ln>
        </p:spPr>
      </p:sp>
      <p:sp>
        <p:nvSpPr>
          <p:cNvPr id="6" name="Shape 4"/>
          <p:cNvSpPr/>
          <p:nvPr/>
        </p:nvSpPr>
        <p:spPr>
          <a:xfrm>
            <a:off x="786384" y="1947672"/>
            <a:ext cx="457200" cy="457200"/>
          </a:xfrm>
          <a:prstGeom prst="roundRect">
            <a:avLst>
              <a:gd name="adj" fmla="val 26000"/>
            </a:avLst>
          </a:prstGeom>
          <a:solidFill>
            <a:srgbClr val="7C3AED"/>
          </a:solidFill>
          <a:ln/>
        </p:spPr>
      </p:sp>
      <p:pic>
        <p:nvPicPr>
          <p:cNvPr id="7" name="Image 0" descr="C:\Users\Lenovo\AppData\Local\Temp\qwipo-deck\assets\ic_FaShoppingCart_w.png">    </p:cNvPr>
          <p:cNvPicPr>
            <a:picLocks noChangeAspect="1"/>
          </p:cNvPicPr>
          <p:nvPr/>
        </p:nvPicPr>
        <p:blipFill>
          <a:blip r:embed="rId1"/>
          <a:stretch>
            <a:fillRect/>
          </a:stretch>
        </p:blipFill>
        <p:spPr>
          <a:xfrm>
            <a:off x="891540" y="2052828"/>
            <a:ext cx="246888" cy="246888"/>
          </a:xfrm>
          <a:prstGeom prst="rect">
            <a:avLst/>
          </a:prstGeom>
        </p:spPr>
      </p:pic>
      <p:sp>
        <p:nvSpPr>
          <p:cNvPr id="8" name="Text 5"/>
          <p:cNvSpPr/>
          <p:nvPr/>
        </p:nvSpPr>
        <p:spPr>
          <a:xfrm>
            <a:off x="1353312" y="1847088"/>
            <a:ext cx="2286000" cy="658368"/>
          </a:xfrm>
          <a:prstGeom prst="rect">
            <a:avLst/>
          </a:prstGeom>
          <a:noFill/>
          <a:ln/>
        </p:spPr>
        <p:txBody>
          <a:bodyPr wrap="square" lIns="0" tIns="0" rIns="0" bIns="0" rtlCol="0" anchor="ctr"/>
          <a:lstStyle/>
          <a:p>
            <a:pPr indent="0" marL="0">
              <a:buNone/>
            </a:pPr>
            <a:r>
              <a:rPr lang="en-US" sz="1200" b="1" dirty="0">
                <a:solidFill>
                  <a:srgbClr val="0F172A"/>
                </a:solidFill>
                <a:latin typeface="Trebuchet MS" pitchFamily="34" charset="0"/>
                <a:ea typeface="Trebuchet MS" pitchFamily="34" charset="-122"/>
                <a:cs typeface="Trebuchet MS" pitchFamily="34" charset="-120"/>
              </a:rPr>
              <a:t>New order placed</a:t>
            </a:r>
            <a:endParaRPr lang="en-US" sz="1200" dirty="0"/>
          </a:p>
        </p:txBody>
      </p:sp>
      <p:sp>
        <p:nvSpPr>
          <p:cNvPr id="9" name="Shape 6"/>
          <p:cNvSpPr/>
          <p:nvPr/>
        </p:nvSpPr>
        <p:spPr>
          <a:xfrm>
            <a:off x="640080" y="2615184"/>
            <a:ext cx="3108960" cy="658368"/>
          </a:xfrm>
          <a:prstGeom prst="roundRect">
            <a:avLst>
              <a:gd name="adj" fmla="val 12500"/>
            </a:avLst>
          </a:prstGeom>
          <a:solidFill>
            <a:srgbClr val="F8FAFC"/>
          </a:solidFill>
          <a:ln w="12700">
            <a:solidFill>
              <a:srgbClr val="E2E8F0"/>
            </a:solidFill>
            <a:prstDash val="solid"/>
          </a:ln>
        </p:spPr>
      </p:sp>
      <p:sp>
        <p:nvSpPr>
          <p:cNvPr id="10" name="Shape 7"/>
          <p:cNvSpPr/>
          <p:nvPr/>
        </p:nvSpPr>
        <p:spPr>
          <a:xfrm>
            <a:off x="786384" y="2715768"/>
            <a:ext cx="457200" cy="457200"/>
          </a:xfrm>
          <a:prstGeom prst="roundRect">
            <a:avLst>
              <a:gd name="adj" fmla="val 26000"/>
            </a:avLst>
          </a:prstGeom>
          <a:solidFill>
            <a:srgbClr val="7C3AED"/>
          </a:solidFill>
          <a:ln/>
        </p:spPr>
      </p:sp>
      <p:pic>
        <p:nvPicPr>
          <p:cNvPr id="11" name="Image 1" descr="C:\Users\Lenovo\AppData\Local\Temp\qwipo-deck\assets\ic_FaSyncAlt_w.png">    </p:cNvPr>
          <p:cNvPicPr>
            <a:picLocks noChangeAspect="1"/>
          </p:cNvPicPr>
          <p:nvPr/>
        </p:nvPicPr>
        <p:blipFill>
          <a:blip r:embed="rId2"/>
          <a:stretch>
            <a:fillRect/>
          </a:stretch>
        </p:blipFill>
        <p:spPr>
          <a:xfrm>
            <a:off x="891540" y="2820924"/>
            <a:ext cx="246888" cy="246888"/>
          </a:xfrm>
          <a:prstGeom prst="rect">
            <a:avLst/>
          </a:prstGeom>
        </p:spPr>
      </p:pic>
      <p:sp>
        <p:nvSpPr>
          <p:cNvPr id="12" name="Text 8"/>
          <p:cNvSpPr/>
          <p:nvPr/>
        </p:nvSpPr>
        <p:spPr>
          <a:xfrm>
            <a:off x="1353312" y="2615184"/>
            <a:ext cx="2286000" cy="658368"/>
          </a:xfrm>
          <a:prstGeom prst="rect">
            <a:avLst/>
          </a:prstGeom>
          <a:noFill/>
          <a:ln/>
        </p:spPr>
        <p:txBody>
          <a:bodyPr wrap="square" lIns="0" tIns="0" rIns="0" bIns="0" rtlCol="0" anchor="ctr"/>
          <a:lstStyle/>
          <a:p>
            <a:pPr indent="0" marL="0">
              <a:buNone/>
            </a:pPr>
            <a:r>
              <a:rPr lang="en-US" sz="1200" b="1" dirty="0">
                <a:solidFill>
                  <a:srgbClr val="0F172A"/>
                </a:solidFill>
                <a:latin typeface="Trebuchet MS" pitchFamily="34" charset="0"/>
                <a:ea typeface="Trebuchet MS" pitchFamily="34" charset="-122"/>
                <a:cs typeface="Trebuchet MS" pitchFamily="34" charset="-120"/>
              </a:rPr>
              <a:t>Status changed</a:t>
            </a:r>
            <a:endParaRPr lang="en-US" sz="1200" dirty="0"/>
          </a:p>
        </p:txBody>
      </p:sp>
      <p:sp>
        <p:nvSpPr>
          <p:cNvPr id="13" name="Shape 9"/>
          <p:cNvSpPr/>
          <p:nvPr/>
        </p:nvSpPr>
        <p:spPr>
          <a:xfrm>
            <a:off x="640080" y="3383280"/>
            <a:ext cx="3108960" cy="658368"/>
          </a:xfrm>
          <a:prstGeom prst="roundRect">
            <a:avLst>
              <a:gd name="adj" fmla="val 12500"/>
            </a:avLst>
          </a:prstGeom>
          <a:solidFill>
            <a:srgbClr val="F8FAFC"/>
          </a:solidFill>
          <a:ln w="12700">
            <a:solidFill>
              <a:srgbClr val="E2E8F0"/>
            </a:solidFill>
            <a:prstDash val="solid"/>
          </a:ln>
        </p:spPr>
      </p:sp>
      <p:sp>
        <p:nvSpPr>
          <p:cNvPr id="14" name="Shape 10"/>
          <p:cNvSpPr/>
          <p:nvPr/>
        </p:nvSpPr>
        <p:spPr>
          <a:xfrm>
            <a:off x="786384" y="3483864"/>
            <a:ext cx="457200" cy="457200"/>
          </a:xfrm>
          <a:prstGeom prst="roundRect">
            <a:avLst>
              <a:gd name="adj" fmla="val 26000"/>
            </a:avLst>
          </a:prstGeom>
          <a:solidFill>
            <a:srgbClr val="7C3AED"/>
          </a:solidFill>
          <a:ln/>
        </p:spPr>
      </p:sp>
      <p:pic>
        <p:nvPicPr>
          <p:cNvPr id="15" name="Image 2" descr="C:\Users\Lenovo\AppData\Local\Temp\qwipo-deck\assets\ic_FaTruck_w.png">    </p:cNvPr>
          <p:cNvPicPr>
            <a:picLocks noChangeAspect="1"/>
          </p:cNvPicPr>
          <p:nvPr/>
        </p:nvPicPr>
        <p:blipFill>
          <a:blip r:embed="rId3"/>
          <a:stretch>
            <a:fillRect/>
          </a:stretch>
        </p:blipFill>
        <p:spPr>
          <a:xfrm>
            <a:off x="891540" y="3589020"/>
            <a:ext cx="246888" cy="246888"/>
          </a:xfrm>
          <a:prstGeom prst="rect">
            <a:avLst/>
          </a:prstGeom>
        </p:spPr>
      </p:pic>
      <p:sp>
        <p:nvSpPr>
          <p:cNvPr id="16" name="Text 11"/>
          <p:cNvSpPr/>
          <p:nvPr/>
        </p:nvSpPr>
        <p:spPr>
          <a:xfrm>
            <a:off x="1353312" y="3383280"/>
            <a:ext cx="2286000" cy="658368"/>
          </a:xfrm>
          <a:prstGeom prst="rect">
            <a:avLst/>
          </a:prstGeom>
          <a:noFill/>
          <a:ln/>
        </p:spPr>
        <p:txBody>
          <a:bodyPr wrap="square" lIns="0" tIns="0" rIns="0" bIns="0" rtlCol="0" anchor="ctr"/>
          <a:lstStyle/>
          <a:p>
            <a:pPr indent="0" marL="0">
              <a:buNone/>
            </a:pPr>
            <a:r>
              <a:rPr lang="en-US" sz="1200" b="1" dirty="0">
                <a:solidFill>
                  <a:srgbClr val="0F172A"/>
                </a:solidFill>
                <a:latin typeface="Trebuchet MS" pitchFamily="34" charset="0"/>
                <a:ea typeface="Trebuchet MS" pitchFamily="34" charset="-122"/>
                <a:cs typeface="Trebuchet MS" pitchFamily="34" charset="-120"/>
              </a:rPr>
              <a:t>Out for delivery</a:t>
            </a:r>
            <a:endParaRPr lang="en-US" sz="1200" dirty="0"/>
          </a:p>
        </p:txBody>
      </p:sp>
      <p:sp>
        <p:nvSpPr>
          <p:cNvPr id="17" name="Shape 12"/>
          <p:cNvSpPr/>
          <p:nvPr/>
        </p:nvSpPr>
        <p:spPr>
          <a:xfrm>
            <a:off x="640080" y="4151376"/>
            <a:ext cx="3108960" cy="658368"/>
          </a:xfrm>
          <a:prstGeom prst="roundRect">
            <a:avLst>
              <a:gd name="adj" fmla="val 12500"/>
            </a:avLst>
          </a:prstGeom>
          <a:solidFill>
            <a:srgbClr val="F8FAFC"/>
          </a:solidFill>
          <a:ln w="12700">
            <a:solidFill>
              <a:srgbClr val="E2E8F0"/>
            </a:solidFill>
            <a:prstDash val="solid"/>
          </a:ln>
        </p:spPr>
      </p:sp>
      <p:sp>
        <p:nvSpPr>
          <p:cNvPr id="18" name="Shape 13"/>
          <p:cNvSpPr/>
          <p:nvPr/>
        </p:nvSpPr>
        <p:spPr>
          <a:xfrm>
            <a:off x="786384" y="4251960"/>
            <a:ext cx="457200" cy="457200"/>
          </a:xfrm>
          <a:prstGeom prst="roundRect">
            <a:avLst>
              <a:gd name="adj" fmla="val 26000"/>
            </a:avLst>
          </a:prstGeom>
          <a:solidFill>
            <a:srgbClr val="7C3AED"/>
          </a:solidFill>
          <a:ln/>
        </p:spPr>
      </p:sp>
      <p:pic>
        <p:nvPicPr>
          <p:cNvPr id="19" name="Image 3" descr="C:\Users\Lenovo\AppData\Local\Temp\qwipo-deck\assets\ic_FaRegClock_w.png">    </p:cNvPr>
          <p:cNvPicPr>
            <a:picLocks noChangeAspect="1"/>
          </p:cNvPicPr>
          <p:nvPr/>
        </p:nvPicPr>
        <p:blipFill>
          <a:blip r:embed="rId4"/>
          <a:stretch>
            <a:fillRect/>
          </a:stretch>
        </p:blipFill>
        <p:spPr>
          <a:xfrm>
            <a:off x="891540" y="4357116"/>
            <a:ext cx="246888" cy="246888"/>
          </a:xfrm>
          <a:prstGeom prst="rect">
            <a:avLst/>
          </a:prstGeom>
        </p:spPr>
      </p:pic>
      <p:sp>
        <p:nvSpPr>
          <p:cNvPr id="20" name="Text 14"/>
          <p:cNvSpPr/>
          <p:nvPr/>
        </p:nvSpPr>
        <p:spPr>
          <a:xfrm>
            <a:off x="1353312" y="4151376"/>
            <a:ext cx="2286000" cy="658368"/>
          </a:xfrm>
          <a:prstGeom prst="rect">
            <a:avLst/>
          </a:prstGeom>
          <a:noFill/>
          <a:ln/>
        </p:spPr>
        <p:txBody>
          <a:bodyPr wrap="square" lIns="0" tIns="0" rIns="0" bIns="0" rtlCol="0" anchor="ctr"/>
          <a:lstStyle/>
          <a:p>
            <a:pPr indent="0" marL="0">
              <a:buNone/>
            </a:pPr>
            <a:r>
              <a:rPr lang="en-US" sz="1200" b="1" dirty="0">
                <a:solidFill>
                  <a:srgbClr val="0F172A"/>
                </a:solidFill>
                <a:latin typeface="Trebuchet MS" pitchFamily="34" charset="0"/>
                <a:ea typeface="Trebuchet MS" pitchFamily="34" charset="-122"/>
                <a:cs typeface="Trebuchet MS" pitchFamily="34" charset="-120"/>
              </a:rPr>
              <a:t>Delay detected</a:t>
            </a:r>
            <a:endParaRPr lang="en-US" sz="1200" dirty="0"/>
          </a:p>
        </p:txBody>
      </p:sp>
      <p:sp>
        <p:nvSpPr>
          <p:cNvPr id="21" name="Shape 15"/>
          <p:cNvSpPr/>
          <p:nvPr/>
        </p:nvSpPr>
        <p:spPr>
          <a:xfrm>
            <a:off x="4434840" y="2642616"/>
            <a:ext cx="2194560" cy="1371600"/>
          </a:xfrm>
          <a:prstGeom prst="roundRect">
            <a:avLst>
              <a:gd name="adj" fmla="val 8000"/>
            </a:avLst>
          </a:prstGeom>
          <a:solidFill>
            <a:srgbClr val="7C3AED"/>
          </a:solidFill>
          <a:ln/>
          <a:effectLst>
            <a:outerShdw sx="100000" sy="100000" kx="0" ky="0" algn="bl" rotWithShape="0" blurRad="114300" dist="38100" dir="5400000">
              <a:srgbClr val="1E293B">
                <a:alpha val="18000"/>
              </a:srgbClr>
            </a:outerShdw>
          </a:effectLst>
        </p:spPr>
      </p:sp>
      <p:pic>
        <p:nvPicPr>
          <p:cNvPr id="22" name="Image 4" descr="C:\Users\Lenovo\AppData\Local\Temp\qwipo-deck\assets\ic_FaBolt_w.png">    </p:cNvPr>
          <p:cNvPicPr>
            <a:picLocks noChangeAspect="1"/>
          </p:cNvPicPr>
          <p:nvPr/>
        </p:nvPicPr>
        <p:blipFill>
          <a:blip r:embed="rId5"/>
          <a:stretch>
            <a:fillRect/>
          </a:stretch>
        </p:blipFill>
        <p:spPr>
          <a:xfrm>
            <a:off x="5230368" y="2825496"/>
            <a:ext cx="603504" cy="603504"/>
          </a:xfrm>
          <a:prstGeom prst="rect">
            <a:avLst/>
          </a:prstGeom>
        </p:spPr>
      </p:pic>
      <p:sp>
        <p:nvSpPr>
          <p:cNvPr id="23" name="Text 16"/>
          <p:cNvSpPr/>
          <p:nvPr/>
        </p:nvSpPr>
        <p:spPr>
          <a:xfrm>
            <a:off x="4434840" y="3465576"/>
            <a:ext cx="2194560" cy="502920"/>
          </a:xfrm>
          <a:prstGeom prst="rect">
            <a:avLst/>
          </a:prstGeom>
          <a:noFill/>
          <a:ln/>
        </p:spPr>
        <p:txBody>
          <a:bodyPr wrap="square" lIns="0" tIns="0" rIns="0" bIns="0" rtlCol="0" anchor="ctr"/>
          <a:lstStyle/>
          <a:p>
            <a:pPr algn="ctr" indent="0" marL="0">
              <a:lnSpc>
                <a:spcPct val="95000"/>
              </a:lnSpc>
              <a:buNone/>
            </a:pPr>
            <a:r>
              <a:rPr lang="en-US" sz="1300" b="1" dirty="0">
                <a:solidFill>
                  <a:srgbClr val="FFFFFF"/>
                </a:solidFill>
                <a:latin typeface="Trebuchet MS" pitchFamily="34" charset="0"/>
                <a:ea typeface="Trebuchet MS" pitchFamily="34" charset="-122"/>
                <a:cs typeface="Trebuchet MS" pitchFamily="34" charset="-120"/>
              </a:rPr>
              <a:t>Automation</a:t>
            </a:r>
            <a:endParaRPr lang="en-US" sz="1300" dirty="0"/>
          </a:p>
          <a:p>
            <a:pPr algn="ctr" indent="0" marL="0">
              <a:lnSpc>
                <a:spcPct val="95000"/>
              </a:lnSpc>
              <a:buNone/>
            </a:pPr>
            <a:r>
              <a:rPr lang="en-US" sz="1300" b="1" dirty="0">
                <a:solidFill>
                  <a:srgbClr val="FFFFFF"/>
                </a:solidFill>
                <a:latin typeface="Trebuchet MS" pitchFamily="34" charset="0"/>
                <a:ea typeface="Trebuchet MS" pitchFamily="34" charset="-122"/>
                <a:cs typeface="Trebuchet MS" pitchFamily="34" charset="-120"/>
              </a:rPr>
              <a:t>Engine</a:t>
            </a:r>
            <a:endParaRPr lang="en-US" sz="1300" dirty="0"/>
          </a:p>
        </p:txBody>
      </p:sp>
      <p:pic>
        <p:nvPicPr>
          <p:cNvPr id="24" name="Image 5" descr="C:\Users\Lenovo\AppData\Local\Temp\qwipo-deck\assets\ic_FaArrowRight_c.png">    </p:cNvPr>
          <p:cNvPicPr>
            <a:picLocks noChangeAspect="1"/>
          </p:cNvPicPr>
          <p:nvPr/>
        </p:nvPicPr>
        <p:blipFill>
          <a:blip r:embed="rId6"/>
          <a:stretch>
            <a:fillRect/>
          </a:stretch>
        </p:blipFill>
        <p:spPr>
          <a:xfrm>
            <a:off x="3840480" y="3182112"/>
            <a:ext cx="292608" cy="292608"/>
          </a:xfrm>
          <a:prstGeom prst="rect">
            <a:avLst/>
          </a:prstGeom>
        </p:spPr>
      </p:pic>
      <p:pic>
        <p:nvPicPr>
          <p:cNvPr id="25" name="Image 6" descr="C:\Users\Lenovo\AppData\Local\Temp\qwipo-deck\assets\ic_FaArrowRight_c.png">    </p:cNvPr>
          <p:cNvPicPr>
            <a:picLocks noChangeAspect="1"/>
          </p:cNvPicPr>
          <p:nvPr/>
        </p:nvPicPr>
        <p:blipFill>
          <a:blip r:embed="rId7"/>
          <a:stretch>
            <a:fillRect/>
          </a:stretch>
        </p:blipFill>
        <p:spPr>
          <a:xfrm>
            <a:off x="6656832" y="3182112"/>
            <a:ext cx="292608" cy="292608"/>
          </a:xfrm>
          <a:prstGeom prst="rect">
            <a:avLst/>
          </a:prstGeom>
        </p:spPr>
      </p:pic>
      <p:sp>
        <p:nvSpPr>
          <p:cNvPr id="26" name="Text 17"/>
          <p:cNvSpPr/>
          <p:nvPr/>
        </p:nvSpPr>
        <p:spPr>
          <a:xfrm>
            <a:off x="7315200" y="1554480"/>
            <a:ext cx="3108960" cy="274320"/>
          </a:xfrm>
          <a:prstGeom prst="rect">
            <a:avLst/>
          </a:prstGeom>
          <a:noFill/>
          <a:ln/>
        </p:spPr>
        <p:txBody>
          <a:bodyPr wrap="square" lIns="0" tIns="0" rIns="0" bIns="0" rtlCol="0" anchor="ctr"/>
          <a:lstStyle/>
          <a:p>
            <a:pPr algn="ctr" indent="0" marL="0">
              <a:buNone/>
            </a:pPr>
            <a:r>
              <a:rPr lang="en-US" sz="1100" b="1" spc="200" kern="0" dirty="0">
                <a:solidFill>
                  <a:srgbClr val="1D4ED8"/>
                </a:solidFill>
                <a:latin typeface="Trebuchet MS" pitchFamily="34" charset="0"/>
                <a:ea typeface="Trebuchet MS" pitchFamily="34" charset="-122"/>
                <a:cs typeface="Trebuchet MS" pitchFamily="34" charset="-120"/>
              </a:rPr>
              <a:t>CHANNELS</a:t>
            </a:r>
            <a:endParaRPr lang="en-US" sz="1100" dirty="0"/>
          </a:p>
        </p:txBody>
      </p:sp>
      <p:sp>
        <p:nvSpPr>
          <p:cNvPr id="27" name="Shape 18"/>
          <p:cNvSpPr/>
          <p:nvPr/>
        </p:nvSpPr>
        <p:spPr>
          <a:xfrm>
            <a:off x="7315200" y="1847088"/>
            <a:ext cx="3108960" cy="658368"/>
          </a:xfrm>
          <a:prstGeom prst="roundRect">
            <a:avLst>
              <a:gd name="adj" fmla="val 12500"/>
            </a:avLst>
          </a:prstGeom>
          <a:solidFill>
            <a:srgbClr val="F8FAFC"/>
          </a:solidFill>
          <a:ln w="12700">
            <a:solidFill>
              <a:srgbClr val="E2E8F0"/>
            </a:solidFill>
            <a:prstDash val="solid"/>
          </a:ln>
        </p:spPr>
      </p:sp>
      <p:sp>
        <p:nvSpPr>
          <p:cNvPr id="28" name="Shape 19"/>
          <p:cNvSpPr/>
          <p:nvPr/>
        </p:nvSpPr>
        <p:spPr>
          <a:xfrm>
            <a:off x="7461504" y="1947672"/>
            <a:ext cx="457200" cy="457200"/>
          </a:xfrm>
          <a:prstGeom prst="roundRect">
            <a:avLst>
              <a:gd name="adj" fmla="val 26000"/>
            </a:avLst>
          </a:prstGeom>
          <a:solidFill>
            <a:srgbClr val="25D366"/>
          </a:solidFill>
          <a:ln/>
        </p:spPr>
      </p:sp>
      <p:pic>
        <p:nvPicPr>
          <p:cNvPr id="29" name="Image 7" descr="C:\Users\Lenovo\AppData\Local\Temp\qwipo-deck\assets\ic_FaWhatsapp_w.png">    </p:cNvPr>
          <p:cNvPicPr>
            <a:picLocks noChangeAspect="1"/>
          </p:cNvPicPr>
          <p:nvPr/>
        </p:nvPicPr>
        <p:blipFill>
          <a:blip r:embed="rId8"/>
          <a:stretch>
            <a:fillRect/>
          </a:stretch>
        </p:blipFill>
        <p:spPr>
          <a:xfrm>
            <a:off x="7566660" y="2052828"/>
            <a:ext cx="246888" cy="246888"/>
          </a:xfrm>
          <a:prstGeom prst="rect">
            <a:avLst/>
          </a:prstGeom>
        </p:spPr>
      </p:pic>
      <p:sp>
        <p:nvSpPr>
          <p:cNvPr id="30" name="Text 20"/>
          <p:cNvSpPr/>
          <p:nvPr/>
        </p:nvSpPr>
        <p:spPr>
          <a:xfrm>
            <a:off x="8028432" y="1847088"/>
            <a:ext cx="2286000" cy="658368"/>
          </a:xfrm>
          <a:prstGeom prst="rect">
            <a:avLst/>
          </a:prstGeom>
          <a:noFill/>
          <a:ln/>
        </p:spPr>
        <p:txBody>
          <a:bodyPr wrap="square" lIns="0" tIns="0" rIns="0" bIns="0" rtlCol="0" anchor="ctr"/>
          <a:lstStyle/>
          <a:p>
            <a:pPr indent="0" marL="0">
              <a:buNone/>
            </a:pPr>
            <a:r>
              <a:rPr lang="en-US" sz="1200" b="1" dirty="0">
                <a:solidFill>
                  <a:srgbClr val="0F172A"/>
                </a:solidFill>
                <a:latin typeface="Trebuchet MS" pitchFamily="34" charset="0"/>
                <a:ea typeface="Trebuchet MS" pitchFamily="34" charset="-122"/>
                <a:cs typeface="Trebuchet MS" pitchFamily="34" charset="-120"/>
              </a:rPr>
              <a:t>WhatsApp</a:t>
            </a:r>
            <a:endParaRPr lang="en-US" sz="1200" dirty="0"/>
          </a:p>
        </p:txBody>
      </p:sp>
      <p:sp>
        <p:nvSpPr>
          <p:cNvPr id="31" name="Shape 21"/>
          <p:cNvSpPr/>
          <p:nvPr/>
        </p:nvSpPr>
        <p:spPr>
          <a:xfrm>
            <a:off x="7315200" y="2615184"/>
            <a:ext cx="3108960" cy="658368"/>
          </a:xfrm>
          <a:prstGeom prst="roundRect">
            <a:avLst>
              <a:gd name="adj" fmla="val 12500"/>
            </a:avLst>
          </a:prstGeom>
          <a:solidFill>
            <a:srgbClr val="F8FAFC"/>
          </a:solidFill>
          <a:ln w="12700">
            <a:solidFill>
              <a:srgbClr val="E2E8F0"/>
            </a:solidFill>
            <a:prstDash val="solid"/>
          </a:ln>
        </p:spPr>
      </p:sp>
      <p:sp>
        <p:nvSpPr>
          <p:cNvPr id="32" name="Shape 22"/>
          <p:cNvSpPr/>
          <p:nvPr/>
        </p:nvSpPr>
        <p:spPr>
          <a:xfrm>
            <a:off x="7461504" y="2715768"/>
            <a:ext cx="457200" cy="457200"/>
          </a:xfrm>
          <a:prstGeom prst="roundRect">
            <a:avLst>
              <a:gd name="adj" fmla="val 26000"/>
            </a:avLst>
          </a:prstGeom>
          <a:solidFill>
            <a:srgbClr val="2563EB"/>
          </a:solidFill>
          <a:ln/>
        </p:spPr>
      </p:sp>
      <p:pic>
        <p:nvPicPr>
          <p:cNvPr id="33" name="Image 8" descr="C:\Users\Lenovo\AppData\Local\Temp\qwipo-deck\assets\ic_FaComments_w.png">    </p:cNvPr>
          <p:cNvPicPr>
            <a:picLocks noChangeAspect="1"/>
          </p:cNvPicPr>
          <p:nvPr/>
        </p:nvPicPr>
        <p:blipFill>
          <a:blip r:embed="rId9"/>
          <a:stretch>
            <a:fillRect/>
          </a:stretch>
        </p:blipFill>
        <p:spPr>
          <a:xfrm>
            <a:off x="7566660" y="2820924"/>
            <a:ext cx="246888" cy="246888"/>
          </a:xfrm>
          <a:prstGeom prst="rect">
            <a:avLst/>
          </a:prstGeom>
        </p:spPr>
      </p:pic>
      <p:sp>
        <p:nvSpPr>
          <p:cNvPr id="34" name="Text 23"/>
          <p:cNvSpPr/>
          <p:nvPr/>
        </p:nvSpPr>
        <p:spPr>
          <a:xfrm>
            <a:off x="8028432" y="2615184"/>
            <a:ext cx="2286000" cy="658368"/>
          </a:xfrm>
          <a:prstGeom prst="rect">
            <a:avLst/>
          </a:prstGeom>
          <a:noFill/>
          <a:ln/>
        </p:spPr>
        <p:txBody>
          <a:bodyPr wrap="square" lIns="0" tIns="0" rIns="0" bIns="0" rtlCol="0" anchor="ctr"/>
          <a:lstStyle/>
          <a:p>
            <a:pPr indent="0" marL="0">
              <a:buNone/>
            </a:pPr>
            <a:r>
              <a:rPr lang="en-US" sz="1200" b="1" dirty="0">
                <a:solidFill>
                  <a:srgbClr val="0F172A"/>
                </a:solidFill>
                <a:latin typeface="Trebuchet MS" pitchFamily="34" charset="0"/>
                <a:ea typeface="Trebuchet MS" pitchFamily="34" charset="-122"/>
                <a:cs typeface="Trebuchet MS" pitchFamily="34" charset="-120"/>
              </a:rPr>
              <a:t>SMS</a:t>
            </a:r>
            <a:endParaRPr lang="en-US" sz="1200" dirty="0"/>
          </a:p>
        </p:txBody>
      </p:sp>
      <p:sp>
        <p:nvSpPr>
          <p:cNvPr id="35" name="Shape 24"/>
          <p:cNvSpPr/>
          <p:nvPr/>
        </p:nvSpPr>
        <p:spPr>
          <a:xfrm>
            <a:off x="7315200" y="3383280"/>
            <a:ext cx="3108960" cy="658368"/>
          </a:xfrm>
          <a:prstGeom prst="roundRect">
            <a:avLst>
              <a:gd name="adj" fmla="val 12500"/>
            </a:avLst>
          </a:prstGeom>
          <a:solidFill>
            <a:srgbClr val="F8FAFC"/>
          </a:solidFill>
          <a:ln w="12700">
            <a:solidFill>
              <a:srgbClr val="E2E8F0"/>
            </a:solidFill>
            <a:prstDash val="solid"/>
          </a:ln>
        </p:spPr>
      </p:sp>
      <p:sp>
        <p:nvSpPr>
          <p:cNvPr id="36" name="Shape 25"/>
          <p:cNvSpPr/>
          <p:nvPr/>
        </p:nvSpPr>
        <p:spPr>
          <a:xfrm>
            <a:off x="7461504" y="3483864"/>
            <a:ext cx="457200" cy="457200"/>
          </a:xfrm>
          <a:prstGeom prst="roundRect">
            <a:avLst>
              <a:gd name="adj" fmla="val 26000"/>
            </a:avLst>
          </a:prstGeom>
          <a:solidFill>
            <a:srgbClr val="4338CA"/>
          </a:solidFill>
          <a:ln/>
        </p:spPr>
      </p:sp>
      <p:pic>
        <p:nvPicPr>
          <p:cNvPr id="37" name="Image 9" descr="C:\Users\Lenovo\AppData\Local\Temp\qwipo-deck\assets\ic_FaEnvelope_w.png">    </p:cNvPr>
          <p:cNvPicPr>
            <a:picLocks noChangeAspect="1"/>
          </p:cNvPicPr>
          <p:nvPr/>
        </p:nvPicPr>
        <p:blipFill>
          <a:blip r:embed="rId10"/>
          <a:stretch>
            <a:fillRect/>
          </a:stretch>
        </p:blipFill>
        <p:spPr>
          <a:xfrm>
            <a:off x="7566660" y="3589020"/>
            <a:ext cx="246888" cy="246888"/>
          </a:xfrm>
          <a:prstGeom prst="rect">
            <a:avLst/>
          </a:prstGeom>
        </p:spPr>
      </p:pic>
      <p:sp>
        <p:nvSpPr>
          <p:cNvPr id="38" name="Text 26"/>
          <p:cNvSpPr/>
          <p:nvPr/>
        </p:nvSpPr>
        <p:spPr>
          <a:xfrm>
            <a:off x="8028432" y="3383280"/>
            <a:ext cx="2286000" cy="658368"/>
          </a:xfrm>
          <a:prstGeom prst="rect">
            <a:avLst/>
          </a:prstGeom>
          <a:noFill/>
          <a:ln/>
        </p:spPr>
        <p:txBody>
          <a:bodyPr wrap="square" lIns="0" tIns="0" rIns="0" bIns="0" rtlCol="0" anchor="ctr"/>
          <a:lstStyle/>
          <a:p>
            <a:pPr indent="0" marL="0">
              <a:buNone/>
            </a:pPr>
            <a:r>
              <a:rPr lang="en-US" sz="1200" b="1" dirty="0">
                <a:solidFill>
                  <a:srgbClr val="0F172A"/>
                </a:solidFill>
                <a:latin typeface="Trebuchet MS" pitchFamily="34" charset="0"/>
                <a:ea typeface="Trebuchet MS" pitchFamily="34" charset="-122"/>
                <a:cs typeface="Trebuchet MS" pitchFamily="34" charset="-120"/>
              </a:rPr>
              <a:t>Email</a:t>
            </a:r>
            <a:endParaRPr lang="en-US" sz="1200" dirty="0"/>
          </a:p>
        </p:txBody>
      </p:sp>
      <p:sp>
        <p:nvSpPr>
          <p:cNvPr id="39" name="Shape 27"/>
          <p:cNvSpPr/>
          <p:nvPr/>
        </p:nvSpPr>
        <p:spPr>
          <a:xfrm>
            <a:off x="7315200" y="4151376"/>
            <a:ext cx="3108960" cy="658368"/>
          </a:xfrm>
          <a:prstGeom prst="roundRect">
            <a:avLst>
              <a:gd name="adj" fmla="val 12500"/>
            </a:avLst>
          </a:prstGeom>
          <a:solidFill>
            <a:srgbClr val="F8FAFC"/>
          </a:solidFill>
          <a:ln w="12700">
            <a:solidFill>
              <a:srgbClr val="E2E8F0"/>
            </a:solidFill>
            <a:prstDash val="solid"/>
          </a:ln>
        </p:spPr>
      </p:sp>
      <p:sp>
        <p:nvSpPr>
          <p:cNvPr id="40" name="Shape 28"/>
          <p:cNvSpPr/>
          <p:nvPr/>
        </p:nvSpPr>
        <p:spPr>
          <a:xfrm>
            <a:off x="7461504" y="4251960"/>
            <a:ext cx="457200" cy="457200"/>
          </a:xfrm>
          <a:prstGeom prst="roundRect">
            <a:avLst>
              <a:gd name="adj" fmla="val 26000"/>
            </a:avLst>
          </a:prstGeom>
          <a:solidFill>
            <a:srgbClr val="D97706"/>
          </a:solidFill>
          <a:ln/>
        </p:spPr>
      </p:sp>
      <p:pic>
        <p:nvPicPr>
          <p:cNvPr id="41" name="Image 10" descr="C:\Users\Lenovo\AppData\Local\Temp\qwipo-deck\assets\ic_FaBell_w.png">    </p:cNvPr>
          <p:cNvPicPr>
            <a:picLocks noChangeAspect="1"/>
          </p:cNvPicPr>
          <p:nvPr/>
        </p:nvPicPr>
        <p:blipFill>
          <a:blip r:embed="rId11"/>
          <a:stretch>
            <a:fillRect/>
          </a:stretch>
        </p:blipFill>
        <p:spPr>
          <a:xfrm>
            <a:off x="7566660" y="4357116"/>
            <a:ext cx="246888" cy="246888"/>
          </a:xfrm>
          <a:prstGeom prst="rect">
            <a:avLst/>
          </a:prstGeom>
        </p:spPr>
      </p:pic>
      <p:sp>
        <p:nvSpPr>
          <p:cNvPr id="42" name="Text 29"/>
          <p:cNvSpPr/>
          <p:nvPr/>
        </p:nvSpPr>
        <p:spPr>
          <a:xfrm>
            <a:off x="8028432" y="4151376"/>
            <a:ext cx="2286000" cy="658368"/>
          </a:xfrm>
          <a:prstGeom prst="rect">
            <a:avLst/>
          </a:prstGeom>
          <a:noFill/>
          <a:ln/>
        </p:spPr>
        <p:txBody>
          <a:bodyPr wrap="square" lIns="0" tIns="0" rIns="0" bIns="0" rtlCol="0" anchor="ctr"/>
          <a:lstStyle/>
          <a:p>
            <a:pPr indent="0" marL="0">
              <a:buNone/>
            </a:pPr>
            <a:r>
              <a:rPr lang="en-US" sz="1200" b="1" dirty="0">
                <a:solidFill>
                  <a:srgbClr val="0F172A"/>
                </a:solidFill>
                <a:latin typeface="Trebuchet MS" pitchFamily="34" charset="0"/>
                <a:ea typeface="Trebuchet MS" pitchFamily="34" charset="-122"/>
                <a:cs typeface="Trebuchet MS" pitchFamily="34" charset="-120"/>
              </a:rPr>
              <a:t>In-app alert</a:t>
            </a:r>
            <a:endParaRPr lang="en-US" sz="1200" dirty="0"/>
          </a:p>
        </p:txBody>
      </p:sp>
      <p:sp>
        <p:nvSpPr>
          <p:cNvPr id="43" name="Shape 30"/>
          <p:cNvSpPr/>
          <p:nvPr/>
        </p:nvSpPr>
        <p:spPr>
          <a:xfrm>
            <a:off x="640080" y="5120640"/>
            <a:ext cx="9784080" cy="932688"/>
          </a:xfrm>
          <a:prstGeom prst="roundRect">
            <a:avLst>
              <a:gd name="adj" fmla="val 7843"/>
            </a:avLst>
          </a:prstGeom>
          <a:solidFill>
            <a:srgbClr val="F3EEFE"/>
          </a:solidFill>
          <a:ln w="12700">
            <a:solidFill>
              <a:srgbClr val="DDD0FB"/>
            </a:solidFill>
            <a:prstDash val="solid"/>
          </a:ln>
        </p:spPr>
      </p:sp>
      <p:sp>
        <p:nvSpPr>
          <p:cNvPr id="44" name="Shape 31"/>
          <p:cNvSpPr/>
          <p:nvPr/>
        </p:nvSpPr>
        <p:spPr>
          <a:xfrm>
            <a:off x="640080" y="5230368"/>
            <a:ext cx="64008" cy="713232"/>
          </a:xfrm>
          <a:prstGeom prst="rect">
            <a:avLst/>
          </a:prstGeom>
          <a:solidFill>
            <a:srgbClr val="7C3AED"/>
          </a:solidFill>
          <a:ln/>
        </p:spPr>
      </p:sp>
      <p:sp>
        <p:nvSpPr>
          <p:cNvPr id="45" name="Text 32"/>
          <p:cNvSpPr/>
          <p:nvPr/>
        </p:nvSpPr>
        <p:spPr>
          <a:xfrm>
            <a:off x="877824" y="5257800"/>
            <a:ext cx="9326880" cy="219456"/>
          </a:xfrm>
          <a:prstGeom prst="rect">
            <a:avLst/>
          </a:prstGeom>
          <a:noFill/>
          <a:ln/>
        </p:spPr>
        <p:txBody>
          <a:bodyPr wrap="square" lIns="0" tIns="0" rIns="0" bIns="0" rtlCol="0" anchor="ctr"/>
          <a:lstStyle/>
          <a:p>
            <a:pPr indent="0" marL="0">
              <a:buNone/>
            </a:pPr>
            <a:r>
              <a:rPr lang="en-US" sz="1000" b="1" spc="200" kern="0" dirty="0">
                <a:solidFill>
                  <a:srgbClr val="7C3AED"/>
                </a:solidFill>
                <a:latin typeface="Trebuchet MS" pitchFamily="34" charset="0"/>
                <a:ea typeface="Trebuchet MS" pitchFamily="34" charset="-122"/>
                <a:cs typeface="Trebuchet MS" pitchFamily="34" charset="-120"/>
              </a:rPr>
              <a:t>BUSINESS BENEFIT</a:t>
            </a:r>
            <a:endParaRPr lang="en-US" sz="1000" dirty="0"/>
          </a:p>
        </p:txBody>
      </p:sp>
      <p:sp>
        <p:nvSpPr>
          <p:cNvPr id="46" name="Text 33"/>
          <p:cNvSpPr/>
          <p:nvPr/>
        </p:nvSpPr>
        <p:spPr>
          <a:xfrm>
            <a:off x="877824" y="5504688"/>
            <a:ext cx="9326880" cy="429768"/>
          </a:xfrm>
          <a:prstGeom prst="rect">
            <a:avLst/>
          </a:prstGeom>
          <a:noFill/>
          <a:ln/>
        </p:spPr>
        <p:txBody>
          <a:bodyPr wrap="square" lIns="0" tIns="0" rIns="0" bIns="0" rtlCol="0" anchor="t"/>
          <a:lstStyle/>
          <a:p>
            <a:pPr indent="0" marL="0">
              <a:lnSpc>
                <a:spcPct val="104000"/>
              </a:lnSpc>
              <a:buNone/>
            </a:pPr>
            <a:r>
              <a:rPr lang="en-US" sz="1150" dirty="0">
                <a:solidFill>
                  <a:srgbClr val="1E293B"/>
                </a:solidFill>
                <a:latin typeface="Calibri" pitchFamily="34" charset="0"/>
                <a:ea typeface="Calibri" pitchFamily="34" charset="-122"/>
                <a:cs typeface="Calibri" pitchFamily="34" charset="-120"/>
              </a:rPr>
              <a:t>Real-time alerts run without anyone lifting a finger. Order updates, status changes and customer communication are automated end-to-end — cutting manual follow-ups and keeping every stakeholder informed instantly.</a:t>
            </a:r>
            <a:endParaRPr lang="en-US" sz="1150" dirty="0"/>
          </a:p>
        </p:txBody>
      </p:sp>
      <p:sp>
        <p:nvSpPr>
          <p:cNvPr id="47" name="Text 34"/>
          <p:cNvSpPr/>
          <p:nvPr/>
        </p:nvSpPr>
        <p:spPr>
          <a:xfrm>
            <a:off x="548640" y="6437376"/>
            <a:ext cx="5486400" cy="274320"/>
          </a:xfrm>
          <a:prstGeom prst="rect">
            <a:avLst/>
          </a:prstGeom>
          <a:noFill/>
          <a:ln/>
        </p:spPr>
        <p:txBody>
          <a:bodyPr wrap="square" lIns="0" tIns="0" rIns="0" bIns="0" rtlCol="0" anchor="ctr"/>
          <a:lstStyle/>
          <a:p>
            <a:pPr indent="0" marL="0">
              <a:buNone/>
            </a:pPr>
            <a:r>
              <a:rPr lang="en-US" sz="900" b="1" dirty="0">
                <a:solidFill>
                  <a:srgbClr val="7C3AED"/>
                </a:solidFill>
                <a:latin typeface="Calibri" pitchFamily="34" charset="0"/>
                <a:ea typeface="Calibri" pitchFamily="34" charset="-122"/>
                <a:cs typeface="Calibri" pitchFamily="34" charset="-120"/>
              </a:rPr>
              <a:t>Qwipo</a:t>
            </a:r>
            <a:pPr indent="0" marL="0">
              <a:buNone/>
            </a:pPr>
            <a:r>
              <a:rPr lang="en-US" sz="900" dirty="0">
                <a:solidFill>
                  <a:srgbClr val="94A3B8"/>
                </a:solidFill>
                <a:latin typeface="Calibri" pitchFamily="34" charset="0"/>
                <a:ea typeface="Calibri" pitchFamily="34" charset="-122"/>
                <a:cs typeface="Calibri" pitchFamily="34" charset="-120"/>
              </a:rPr>
              <a:t>   Seller Store Platform</a:t>
            </a:r>
            <a:endParaRPr lang="en-US" sz="900" dirty="0"/>
          </a:p>
        </p:txBody>
      </p:sp>
      <p:sp>
        <p:nvSpPr>
          <p:cNvPr id="48" name="Text 35"/>
          <p:cNvSpPr/>
          <p:nvPr/>
        </p:nvSpPr>
        <p:spPr>
          <a:xfrm>
            <a:off x="9966960" y="6437376"/>
            <a:ext cx="1673352"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15 / 20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lIns="0" tIns="0" rIns="0" bIns="0" rtlCol="0" anchor="ctr"/>
          <a:lstStyle/>
          <a:p>
            <a:pPr indent="0" marL="0">
              <a:buNone/>
            </a:pPr>
            <a:r>
              <a:rPr lang="en-US" sz="1200" b="1" spc="300" kern="0" dirty="0">
                <a:solidFill>
                  <a:srgbClr val="C4B5FD"/>
                </a:solidFill>
                <a:latin typeface="Trebuchet MS" pitchFamily="34" charset="0"/>
                <a:ea typeface="Trebuchet MS" pitchFamily="34" charset="-122"/>
                <a:cs typeface="Trebuchet MS" pitchFamily="34" charset="-120"/>
              </a:rPr>
              <a:t>THE BIG PICTURE</a:t>
            </a:r>
            <a:endParaRPr lang="en-US" sz="1200" dirty="0"/>
          </a:p>
        </p:txBody>
      </p:sp>
      <p:sp>
        <p:nvSpPr>
          <p:cNvPr id="3" name="Text 1"/>
          <p:cNvSpPr/>
          <p:nvPr/>
        </p:nvSpPr>
        <p:spPr>
          <a:xfrm>
            <a:off x="548640" y="749808"/>
            <a:ext cx="11064240" cy="548640"/>
          </a:xfrm>
          <a:prstGeom prst="rect">
            <a:avLst/>
          </a:prstGeom>
          <a:noFill/>
          <a:ln/>
        </p:spPr>
        <p:txBody>
          <a:bodyPr wrap="square" lIns="0" tIns="0" rIns="0" bIns="0" rtlCol="0" anchor="ctr"/>
          <a:lstStyle/>
          <a:p>
            <a:pPr indent="0" marL="0">
              <a:buNone/>
            </a:pPr>
            <a:r>
              <a:rPr lang="en-US" sz="2700" b="1" dirty="0">
                <a:solidFill>
                  <a:srgbClr val="FFFFFF"/>
                </a:solidFill>
                <a:latin typeface="Trebuchet MS" pitchFamily="34" charset="0"/>
                <a:ea typeface="Trebuchet MS" pitchFamily="34" charset="-122"/>
                <a:cs typeface="Trebuchet MS" pitchFamily="34" charset="-120"/>
              </a:rPr>
              <a:t>From manufacturer to delivered — one connected flow</a:t>
            </a:r>
            <a:endParaRPr lang="en-US" sz="2700" dirty="0"/>
          </a:p>
        </p:txBody>
      </p:sp>
      <p:sp>
        <p:nvSpPr>
          <p:cNvPr id="4" name="Shape 2"/>
          <p:cNvSpPr/>
          <p:nvPr/>
        </p:nvSpPr>
        <p:spPr>
          <a:xfrm>
            <a:off x="640080" y="1828800"/>
            <a:ext cx="2487168" cy="1481328"/>
          </a:xfrm>
          <a:prstGeom prst="roundRect">
            <a:avLst>
              <a:gd name="adj" fmla="val 6790"/>
            </a:avLst>
          </a:prstGeom>
          <a:solidFill>
            <a:srgbClr val="FFFFFF">
              <a:alpha val="10000"/>
            </a:srgbClr>
          </a:solidFill>
          <a:ln w="19050">
            <a:solidFill>
              <a:srgbClr val="4338CA"/>
            </a:solidFill>
            <a:prstDash val="solid"/>
          </a:ln>
        </p:spPr>
      </p:sp>
      <p:sp>
        <p:nvSpPr>
          <p:cNvPr id="5" name="Shape 3"/>
          <p:cNvSpPr/>
          <p:nvPr/>
        </p:nvSpPr>
        <p:spPr>
          <a:xfrm>
            <a:off x="1609344" y="2011680"/>
            <a:ext cx="548640" cy="548640"/>
          </a:xfrm>
          <a:prstGeom prst="roundRect">
            <a:avLst>
              <a:gd name="adj" fmla="val 26000"/>
            </a:avLst>
          </a:prstGeom>
          <a:solidFill>
            <a:srgbClr val="4338CA"/>
          </a:solidFill>
          <a:ln/>
        </p:spPr>
      </p:sp>
      <p:pic>
        <p:nvPicPr>
          <p:cNvPr id="6" name="Image 0" descr="C:\Users\Lenovo\AppData\Local\Temp\qwipo-deck\assets\ic_FaIndustry_w.png">    </p:cNvPr>
          <p:cNvPicPr>
            <a:picLocks noChangeAspect="1"/>
          </p:cNvPicPr>
          <p:nvPr/>
        </p:nvPicPr>
        <p:blipFill>
          <a:blip r:embed="rId2"/>
          <a:stretch>
            <a:fillRect/>
          </a:stretch>
        </p:blipFill>
        <p:spPr>
          <a:xfrm>
            <a:off x="1735531" y="2137867"/>
            <a:ext cx="296266" cy="296266"/>
          </a:xfrm>
          <a:prstGeom prst="rect">
            <a:avLst/>
          </a:prstGeom>
        </p:spPr>
      </p:pic>
      <p:sp>
        <p:nvSpPr>
          <p:cNvPr id="7" name="Text 4"/>
          <p:cNvSpPr/>
          <p:nvPr/>
        </p:nvSpPr>
        <p:spPr>
          <a:xfrm>
            <a:off x="731520" y="2670048"/>
            <a:ext cx="2304288" cy="548640"/>
          </a:xfrm>
          <a:prstGeom prst="rect">
            <a:avLst/>
          </a:prstGeom>
          <a:noFill/>
          <a:ln/>
        </p:spPr>
        <p:txBody>
          <a:bodyPr wrap="square" lIns="0" tIns="0" rIns="0" bIns="0" rtlCol="0" anchor="t"/>
          <a:lstStyle/>
          <a:p>
            <a:pPr algn="ctr" indent="0" marL="0">
              <a:lnSpc>
                <a:spcPct val="95000"/>
              </a:lnSpc>
              <a:buNone/>
            </a:pPr>
            <a:r>
              <a:rPr lang="en-US" sz="1250" b="1" dirty="0">
                <a:solidFill>
                  <a:srgbClr val="FFFFFF"/>
                </a:solidFill>
                <a:latin typeface="Trebuchet MS" pitchFamily="34" charset="0"/>
                <a:ea typeface="Trebuchet MS" pitchFamily="34" charset="-122"/>
                <a:cs typeface="Trebuchet MS" pitchFamily="34" charset="-120"/>
              </a:rPr>
              <a:t>Brand / Manufacturer</a:t>
            </a:r>
            <a:endParaRPr lang="en-US" sz="1250" dirty="0"/>
          </a:p>
        </p:txBody>
      </p:sp>
      <p:pic>
        <p:nvPicPr>
          <p:cNvPr id="8" name="Image 1" descr="C:\Users\Lenovo\AppData\Local\Temp\qwipo-deck\assets\ic_FaArrowRight_w.png">    </p:cNvPr>
          <p:cNvPicPr>
            <a:picLocks noChangeAspect="1"/>
          </p:cNvPicPr>
          <p:nvPr/>
        </p:nvPicPr>
        <p:blipFill>
          <a:blip r:embed="rId3"/>
          <a:stretch>
            <a:fillRect/>
          </a:stretch>
        </p:blipFill>
        <p:spPr>
          <a:xfrm>
            <a:off x="3182112" y="2432304"/>
            <a:ext cx="274320" cy="274320"/>
          </a:xfrm>
          <a:prstGeom prst="rect">
            <a:avLst/>
          </a:prstGeom>
        </p:spPr>
      </p:pic>
      <p:sp>
        <p:nvSpPr>
          <p:cNvPr id="9" name="Shape 5"/>
          <p:cNvSpPr/>
          <p:nvPr/>
        </p:nvSpPr>
        <p:spPr>
          <a:xfrm>
            <a:off x="3511296" y="1828800"/>
            <a:ext cx="2487168" cy="1481328"/>
          </a:xfrm>
          <a:prstGeom prst="roundRect">
            <a:avLst>
              <a:gd name="adj" fmla="val 6790"/>
            </a:avLst>
          </a:prstGeom>
          <a:solidFill>
            <a:srgbClr val="FFFFFF">
              <a:alpha val="10000"/>
            </a:srgbClr>
          </a:solidFill>
          <a:ln w="19050">
            <a:solidFill>
              <a:srgbClr val="7C3AED"/>
            </a:solidFill>
            <a:prstDash val="solid"/>
          </a:ln>
        </p:spPr>
      </p:sp>
      <p:sp>
        <p:nvSpPr>
          <p:cNvPr id="10" name="Shape 6"/>
          <p:cNvSpPr/>
          <p:nvPr/>
        </p:nvSpPr>
        <p:spPr>
          <a:xfrm>
            <a:off x="4480560" y="2011680"/>
            <a:ext cx="548640" cy="548640"/>
          </a:xfrm>
          <a:prstGeom prst="roundRect">
            <a:avLst>
              <a:gd name="adj" fmla="val 26000"/>
            </a:avLst>
          </a:prstGeom>
          <a:solidFill>
            <a:srgbClr val="7C3AED"/>
          </a:solidFill>
          <a:ln/>
        </p:spPr>
      </p:sp>
      <p:pic>
        <p:nvPicPr>
          <p:cNvPr id="11" name="Image 2" descr="C:\Users\Lenovo\AppData\Local\Temp\qwipo-deck\assets\ic_FaUserPlus_w.png">    </p:cNvPr>
          <p:cNvPicPr>
            <a:picLocks noChangeAspect="1"/>
          </p:cNvPicPr>
          <p:nvPr/>
        </p:nvPicPr>
        <p:blipFill>
          <a:blip r:embed="rId4"/>
          <a:stretch>
            <a:fillRect/>
          </a:stretch>
        </p:blipFill>
        <p:spPr>
          <a:xfrm>
            <a:off x="4606747" y="2137867"/>
            <a:ext cx="296266" cy="296266"/>
          </a:xfrm>
          <a:prstGeom prst="rect">
            <a:avLst/>
          </a:prstGeom>
        </p:spPr>
      </p:pic>
      <p:sp>
        <p:nvSpPr>
          <p:cNvPr id="12" name="Text 7"/>
          <p:cNvSpPr/>
          <p:nvPr/>
        </p:nvSpPr>
        <p:spPr>
          <a:xfrm>
            <a:off x="3602736" y="2670048"/>
            <a:ext cx="2304288" cy="548640"/>
          </a:xfrm>
          <a:prstGeom prst="rect">
            <a:avLst/>
          </a:prstGeom>
          <a:noFill/>
          <a:ln/>
        </p:spPr>
        <p:txBody>
          <a:bodyPr wrap="square" lIns="0" tIns="0" rIns="0" bIns="0" rtlCol="0" anchor="t"/>
          <a:lstStyle/>
          <a:p>
            <a:pPr algn="ctr" indent="0" marL="0">
              <a:lnSpc>
                <a:spcPct val="95000"/>
              </a:lnSpc>
              <a:buNone/>
            </a:pPr>
            <a:r>
              <a:rPr lang="en-US" sz="1250" b="1" dirty="0">
                <a:solidFill>
                  <a:srgbClr val="FFFFFF"/>
                </a:solidFill>
                <a:latin typeface="Trebuchet MS" pitchFamily="34" charset="0"/>
                <a:ea typeface="Trebuchet MS" pitchFamily="34" charset="-122"/>
                <a:cs typeface="Trebuchet MS" pitchFamily="34" charset="-120"/>
              </a:rPr>
              <a:t>Distributor Onboarding</a:t>
            </a:r>
            <a:endParaRPr lang="en-US" sz="1250" dirty="0"/>
          </a:p>
        </p:txBody>
      </p:sp>
      <p:pic>
        <p:nvPicPr>
          <p:cNvPr id="13" name="Image 3" descr="C:\Users\Lenovo\AppData\Local\Temp\qwipo-deck\assets\ic_FaArrowRight_w.png">    </p:cNvPr>
          <p:cNvPicPr>
            <a:picLocks noChangeAspect="1"/>
          </p:cNvPicPr>
          <p:nvPr/>
        </p:nvPicPr>
        <p:blipFill>
          <a:blip r:embed="rId5"/>
          <a:stretch>
            <a:fillRect/>
          </a:stretch>
        </p:blipFill>
        <p:spPr>
          <a:xfrm>
            <a:off x="6053328" y="2432304"/>
            <a:ext cx="274320" cy="274320"/>
          </a:xfrm>
          <a:prstGeom prst="rect">
            <a:avLst/>
          </a:prstGeom>
        </p:spPr>
      </p:pic>
      <p:sp>
        <p:nvSpPr>
          <p:cNvPr id="14" name="Shape 8"/>
          <p:cNvSpPr/>
          <p:nvPr/>
        </p:nvSpPr>
        <p:spPr>
          <a:xfrm>
            <a:off x="6382512" y="1828800"/>
            <a:ext cx="2487168" cy="1481328"/>
          </a:xfrm>
          <a:prstGeom prst="roundRect">
            <a:avLst>
              <a:gd name="adj" fmla="val 6790"/>
            </a:avLst>
          </a:prstGeom>
          <a:solidFill>
            <a:srgbClr val="FFFFFF">
              <a:alpha val="10000"/>
            </a:srgbClr>
          </a:solidFill>
          <a:ln w="19050">
            <a:solidFill>
              <a:srgbClr val="2563EB"/>
            </a:solidFill>
            <a:prstDash val="solid"/>
          </a:ln>
        </p:spPr>
      </p:sp>
      <p:sp>
        <p:nvSpPr>
          <p:cNvPr id="15" name="Shape 9"/>
          <p:cNvSpPr/>
          <p:nvPr/>
        </p:nvSpPr>
        <p:spPr>
          <a:xfrm>
            <a:off x="7351776" y="2011680"/>
            <a:ext cx="548640" cy="548640"/>
          </a:xfrm>
          <a:prstGeom prst="roundRect">
            <a:avLst>
              <a:gd name="adj" fmla="val 26000"/>
            </a:avLst>
          </a:prstGeom>
          <a:solidFill>
            <a:srgbClr val="2563EB"/>
          </a:solidFill>
          <a:ln/>
        </p:spPr>
      </p:sp>
      <p:pic>
        <p:nvPicPr>
          <p:cNvPr id="16" name="Image 4" descr="C:\Users\Lenovo\AppData\Local\Temp\qwipo-deck\assets\ic_FaBoxOpen_w.png">    </p:cNvPr>
          <p:cNvPicPr>
            <a:picLocks noChangeAspect="1"/>
          </p:cNvPicPr>
          <p:nvPr/>
        </p:nvPicPr>
        <p:blipFill>
          <a:blip r:embed="rId6"/>
          <a:stretch>
            <a:fillRect/>
          </a:stretch>
        </p:blipFill>
        <p:spPr>
          <a:xfrm>
            <a:off x="7477963" y="2137867"/>
            <a:ext cx="296266" cy="296266"/>
          </a:xfrm>
          <a:prstGeom prst="rect">
            <a:avLst/>
          </a:prstGeom>
        </p:spPr>
      </p:pic>
      <p:sp>
        <p:nvSpPr>
          <p:cNvPr id="17" name="Text 10"/>
          <p:cNvSpPr/>
          <p:nvPr/>
        </p:nvSpPr>
        <p:spPr>
          <a:xfrm>
            <a:off x="6473952" y="2670048"/>
            <a:ext cx="2304288" cy="548640"/>
          </a:xfrm>
          <a:prstGeom prst="rect">
            <a:avLst/>
          </a:prstGeom>
          <a:noFill/>
          <a:ln/>
        </p:spPr>
        <p:txBody>
          <a:bodyPr wrap="square" lIns="0" tIns="0" rIns="0" bIns="0" rtlCol="0" anchor="t"/>
          <a:lstStyle/>
          <a:p>
            <a:pPr algn="ctr" indent="0" marL="0">
              <a:lnSpc>
                <a:spcPct val="95000"/>
              </a:lnSpc>
              <a:buNone/>
            </a:pPr>
            <a:r>
              <a:rPr lang="en-US" sz="1250" b="1" dirty="0">
                <a:solidFill>
                  <a:srgbClr val="FFFFFF"/>
                </a:solidFill>
                <a:latin typeface="Trebuchet MS" pitchFamily="34" charset="0"/>
                <a:ea typeface="Trebuchet MS" pitchFamily="34" charset="-122"/>
                <a:cs typeface="Trebuchet MS" pitchFamily="34" charset="-120"/>
              </a:rPr>
              <a:t>Catalog Creation</a:t>
            </a:r>
            <a:endParaRPr lang="en-US" sz="1250" dirty="0"/>
          </a:p>
        </p:txBody>
      </p:sp>
      <p:pic>
        <p:nvPicPr>
          <p:cNvPr id="18" name="Image 5" descr="C:\Users\Lenovo\AppData\Local\Temp\qwipo-deck\assets\ic_FaArrowRight_w.png">    </p:cNvPr>
          <p:cNvPicPr>
            <a:picLocks noChangeAspect="1"/>
          </p:cNvPicPr>
          <p:nvPr/>
        </p:nvPicPr>
        <p:blipFill>
          <a:blip r:embed="rId7"/>
          <a:stretch>
            <a:fillRect/>
          </a:stretch>
        </p:blipFill>
        <p:spPr>
          <a:xfrm>
            <a:off x="8924544" y="2432304"/>
            <a:ext cx="274320" cy="274320"/>
          </a:xfrm>
          <a:prstGeom prst="rect">
            <a:avLst/>
          </a:prstGeom>
        </p:spPr>
      </p:pic>
      <p:sp>
        <p:nvSpPr>
          <p:cNvPr id="19" name="Shape 11"/>
          <p:cNvSpPr/>
          <p:nvPr/>
        </p:nvSpPr>
        <p:spPr>
          <a:xfrm>
            <a:off x="9253728" y="1828800"/>
            <a:ext cx="2487168" cy="1481328"/>
          </a:xfrm>
          <a:prstGeom prst="roundRect">
            <a:avLst>
              <a:gd name="adj" fmla="val 6790"/>
            </a:avLst>
          </a:prstGeom>
          <a:solidFill>
            <a:srgbClr val="FFFFFF">
              <a:alpha val="10000"/>
            </a:srgbClr>
          </a:solidFill>
          <a:ln w="19050">
            <a:solidFill>
              <a:srgbClr val="0D9488"/>
            </a:solidFill>
            <a:prstDash val="solid"/>
          </a:ln>
        </p:spPr>
      </p:sp>
      <p:sp>
        <p:nvSpPr>
          <p:cNvPr id="20" name="Shape 12"/>
          <p:cNvSpPr/>
          <p:nvPr/>
        </p:nvSpPr>
        <p:spPr>
          <a:xfrm>
            <a:off x="10222992" y="2011680"/>
            <a:ext cx="548640" cy="548640"/>
          </a:xfrm>
          <a:prstGeom prst="roundRect">
            <a:avLst>
              <a:gd name="adj" fmla="val 26000"/>
            </a:avLst>
          </a:prstGeom>
          <a:solidFill>
            <a:srgbClr val="0D9488"/>
          </a:solidFill>
          <a:ln/>
        </p:spPr>
      </p:sp>
      <p:pic>
        <p:nvPicPr>
          <p:cNvPr id="21" name="Image 6" descr="C:\Users\Lenovo\AppData\Local\Temp\qwipo-deck\assets\ic_FaUsers_w.png">    </p:cNvPr>
          <p:cNvPicPr>
            <a:picLocks noChangeAspect="1"/>
          </p:cNvPicPr>
          <p:nvPr/>
        </p:nvPicPr>
        <p:blipFill>
          <a:blip r:embed="rId8"/>
          <a:stretch>
            <a:fillRect/>
          </a:stretch>
        </p:blipFill>
        <p:spPr>
          <a:xfrm>
            <a:off x="10349179" y="2137867"/>
            <a:ext cx="296266" cy="296266"/>
          </a:xfrm>
          <a:prstGeom prst="rect">
            <a:avLst/>
          </a:prstGeom>
        </p:spPr>
      </p:pic>
      <p:sp>
        <p:nvSpPr>
          <p:cNvPr id="22" name="Text 13"/>
          <p:cNvSpPr/>
          <p:nvPr/>
        </p:nvSpPr>
        <p:spPr>
          <a:xfrm>
            <a:off x="9345168" y="2670048"/>
            <a:ext cx="2304288" cy="548640"/>
          </a:xfrm>
          <a:prstGeom prst="rect">
            <a:avLst/>
          </a:prstGeom>
          <a:noFill/>
          <a:ln/>
        </p:spPr>
        <p:txBody>
          <a:bodyPr wrap="square" lIns="0" tIns="0" rIns="0" bIns="0" rtlCol="0" anchor="t"/>
          <a:lstStyle/>
          <a:p>
            <a:pPr algn="ctr" indent="0" marL="0">
              <a:lnSpc>
                <a:spcPct val="95000"/>
              </a:lnSpc>
              <a:buNone/>
            </a:pPr>
            <a:r>
              <a:rPr lang="en-US" sz="1250" b="1" dirty="0">
                <a:solidFill>
                  <a:srgbClr val="FFFFFF"/>
                </a:solidFill>
                <a:latin typeface="Trebuchet MS" pitchFamily="34" charset="0"/>
                <a:ea typeface="Trebuchet MS" pitchFamily="34" charset="-122"/>
                <a:cs typeface="Trebuchet MS" pitchFamily="34" charset="-120"/>
              </a:rPr>
              <a:t>Retailer Mapping</a:t>
            </a:r>
            <a:endParaRPr lang="en-US" sz="1250" dirty="0"/>
          </a:p>
        </p:txBody>
      </p:sp>
      <p:pic>
        <p:nvPicPr>
          <p:cNvPr id="23" name="Image 7" descr="C:\Users\Lenovo\AppData\Local\Temp\qwipo-deck\assets\ic_FaArrowRight_w.png">    </p:cNvPr>
          <p:cNvPicPr>
            <a:picLocks noChangeAspect="1"/>
          </p:cNvPicPr>
          <p:nvPr/>
        </p:nvPicPr>
        <p:blipFill>
          <a:blip r:embed="rId9"/>
          <a:stretch>
            <a:fillRect/>
          </a:stretch>
        </p:blipFill>
        <p:spPr>
          <a:xfrm rot="5400000">
            <a:off x="10360152" y="3419856"/>
            <a:ext cx="274320" cy="274320"/>
          </a:xfrm>
          <a:prstGeom prst="rect">
            <a:avLst/>
          </a:prstGeom>
        </p:spPr>
      </p:pic>
      <p:sp>
        <p:nvSpPr>
          <p:cNvPr id="24" name="Shape 14"/>
          <p:cNvSpPr/>
          <p:nvPr/>
        </p:nvSpPr>
        <p:spPr>
          <a:xfrm>
            <a:off x="9253728" y="4114800"/>
            <a:ext cx="2487168" cy="1481328"/>
          </a:xfrm>
          <a:prstGeom prst="roundRect">
            <a:avLst>
              <a:gd name="adj" fmla="val 6790"/>
            </a:avLst>
          </a:prstGeom>
          <a:solidFill>
            <a:srgbClr val="FFFFFF">
              <a:alpha val="10000"/>
            </a:srgbClr>
          </a:solidFill>
          <a:ln w="19050">
            <a:solidFill>
              <a:srgbClr val="7C3AED"/>
            </a:solidFill>
            <a:prstDash val="solid"/>
          </a:ln>
        </p:spPr>
      </p:sp>
      <p:sp>
        <p:nvSpPr>
          <p:cNvPr id="25" name="Shape 15"/>
          <p:cNvSpPr/>
          <p:nvPr/>
        </p:nvSpPr>
        <p:spPr>
          <a:xfrm>
            <a:off x="10222992" y="4297680"/>
            <a:ext cx="548640" cy="548640"/>
          </a:xfrm>
          <a:prstGeom prst="roundRect">
            <a:avLst>
              <a:gd name="adj" fmla="val 26000"/>
            </a:avLst>
          </a:prstGeom>
          <a:solidFill>
            <a:srgbClr val="7C3AED"/>
          </a:solidFill>
          <a:ln/>
        </p:spPr>
      </p:sp>
      <p:pic>
        <p:nvPicPr>
          <p:cNvPr id="26" name="Image 8" descr="C:\Users\Lenovo\AppData\Local\Temp\qwipo-deck\assets\ic_FaShoppingCart_w.png">    </p:cNvPr>
          <p:cNvPicPr>
            <a:picLocks noChangeAspect="1"/>
          </p:cNvPicPr>
          <p:nvPr/>
        </p:nvPicPr>
        <p:blipFill>
          <a:blip r:embed="rId10"/>
          <a:stretch>
            <a:fillRect/>
          </a:stretch>
        </p:blipFill>
        <p:spPr>
          <a:xfrm>
            <a:off x="10349179" y="4423867"/>
            <a:ext cx="296266" cy="296266"/>
          </a:xfrm>
          <a:prstGeom prst="rect">
            <a:avLst/>
          </a:prstGeom>
        </p:spPr>
      </p:pic>
      <p:sp>
        <p:nvSpPr>
          <p:cNvPr id="27" name="Text 16"/>
          <p:cNvSpPr/>
          <p:nvPr/>
        </p:nvSpPr>
        <p:spPr>
          <a:xfrm>
            <a:off x="9345168" y="4956048"/>
            <a:ext cx="2304288" cy="548640"/>
          </a:xfrm>
          <a:prstGeom prst="rect">
            <a:avLst/>
          </a:prstGeom>
          <a:noFill/>
          <a:ln/>
        </p:spPr>
        <p:txBody>
          <a:bodyPr wrap="square" lIns="0" tIns="0" rIns="0" bIns="0" rtlCol="0" anchor="t"/>
          <a:lstStyle/>
          <a:p>
            <a:pPr algn="ctr" indent="0" marL="0">
              <a:lnSpc>
                <a:spcPct val="95000"/>
              </a:lnSpc>
              <a:buNone/>
            </a:pPr>
            <a:r>
              <a:rPr lang="en-US" sz="1250" b="1" dirty="0">
                <a:solidFill>
                  <a:srgbClr val="FFFFFF"/>
                </a:solidFill>
                <a:latin typeface="Trebuchet MS" pitchFamily="34" charset="0"/>
                <a:ea typeface="Trebuchet MS" pitchFamily="34" charset="-122"/>
                <a:cs typeface="Trebuchet MS" pitchFamily="34" charset="-120"/>
              </a:rPr>
              <a:t>Order Placement</a:t>
            </a:r>
            <a:endParaRPr lang="en-US" sz="1250" dirty="0"/>
          </a:p>
        </p:txBody>
      </p:sp>
      <p:pic>
        <p:nvPicPr>
          <p:cNvPr id="28" name="Image 9" descr="C:\Users\Lenovo\AppData\Local\Temp\qwipo-deck\assets\ic_FaArrowRight_w.png">    </p:cNvPr>
          <p:cNvPicPr>
            <a:picLocks noChangeAspect="1"/>
          </p:cNvPicPr>
          <p:nvPr/>
        </p:nvPicPr>
        <p:blipFill>
          <a:blip r:embed="rId11"/>
          <a:stretch>
            <a:fillRect/>
          </a:stretch>
        </p:blipFill>
        <p:spPr>
          <a:xfrm flipH="1">
            <a:off x="8924544" y="4718304"/>
            <a:ext cx="274320" cy="274320"/>
          </a:xfrm>
          <a:prstGeom prst="rect">
            <a:avLst/>
          </a:prstGeom>
        </p:spPr>
      </p:pic>
      <p:sp>
        <p:nvSpPr>
          <p:cNvPr id="29" name="Shape 17"/>
          <p:cNvSpPr/>
          <p:nvPr/>
        </p:nvSpPr>
        <p:spPr>
          <a:xfrm>
            <a:off x="6382512" y="4114800"/>
            <a:ext cx="2487168" cy="1481328"/>
          </a:xfrm>
          <a:prstGeom prst="roundRect">
            <a:avLst>
              <a:gd name="adj" fmla="val 6790"/>
            </a:avLst>
          </a:prstGeom>
          <a:solidFill>
            <a:srgbClr val="FFFFFF">
              <a:alpha val="10000"/>
            </a:srgbClr>
          </a:solidFill>
          <a:ln w="19050">
            <a:solidFill>
              <a:srgbClr val="2563EB"/>
            </a:solidFill>
            <a:prstDash val="solid"/>
          </a:ln>
        </p:spPr>
      </p:sp>
      <p:sp>
        <p:nvSpPr>
          <p:cNvPr id="30" name="Shape 18"/>
          <p:cNvSpPr/>
          <p:nvPr/>
        </p:nvSpPr>
        <p:spPr>
          <a:xfrm>
            <a:off x="7351776" y="4297680"/>
            <a:ext cx="548640" cy="548640"/>
          </a:xfrm>
          <a:prstGeom prst="roundRect">
            <a:avLst>
              <a:gd name="adj" fmla="val 26000"/>
            </a:avLst>
          </a:prstGeom>
          <a:solidFill>
            <a:srgbClr val="2563EB"/>
          </a:solidFill>
          <a:ln/>
        </p:spPr>
      </p:sp>
      <p:pic>
        <p:nvPicPr>
          <p:cNvPr id="31" name="Image 10" descr="C:\Users\Lenovo\AppData\Local\Temp\qwipo-deck\assets\ic_FaTruck_w.png">    </p:cNvPr>
          <p:cNvPicPr>
            <a:picLocks noChangeAspect="1"/>
          </p:cNvPicPr>
          <p:nvPr/>
        </p:nvPicPr>
        <p:blipFill>
          <a:blip r:embed="rId12"/>
          <a:stretch>
            <a:fillRect/>
          </a:stretch>
        </p:blipFill>
        <p:spPr>
          <a:xfrm>
            <a:off x="7477963" y="4423867"/>
            <a:ext cx="296266" cy="296266"/>
          </a:xfrm>
          <a:prstGeom prst="rect">
            <a:avLst/>
          </a:prstGeom>
        </p:spPr>
      </p:pic>
      <p:sp>
        <p:nvSpPr>
          <p:cNvPr id="32" name="Text 19"/>
          <p:cNvSpPr/>
          <p:nvPr/>
        </p:nvSpPr>
        <p:spPr>
          <a:xfrm>
            <a:off x="6473952" y="4956048"/>
            <a:ext cx="2304288" cy="548640"/>
          </a:xfrm>
          <a:prstGeom prst="rect">
            <a:avLst/>
          </a:prstGeom>
          <a:noFill/>
          <a:ln/>
        </p:spPr>
        <p:txBody>
          <a:bodyPr wrap="square" lIns="0" tIns="0" rIns="0" bIns="0" rtlCol="0" anchor="t"/>
          <a:lstStyle/>
          <a:p>
            <a:pPr algn="ctr" indent="0" marL="0">
              <a:lnSpc>
                <a:spcPct val="95000"/>
              </a:lnSpc>
              <a:buNone/>
            </a:pPr>
            <a:r>
              <a:rPr lang="en-US" sz="1250" b="1" dirty="0">
                <a:solidFill>
                  <a:srgbClr val="FFFFFF"/>
                </a:solidFill>
                <a:latin typeface="Trebuchet MS" pitchFamily="34" charset="0"/>
                <a:ea typeface="Trebuchet MS" pitchFamily="34" charset="-122"/>
                <a:cs typeface="Trebuchet MS" pitchFamily="34" charset="-120"/>
              </a:rPr>
              <a:t>Logistics Assignment</a:t>
            </a:r>
            <a:endParaRPr lang="en-US" sz="1250" dirty="0"/>
          </a:p>
        </p:txBody>
      </p:sp>
      <p:pic>
        <p:nvPicPr>
          <p:cNvPr id="33" name="Image 11" descr="C:\Users\Lenovo\AppData\Local\Temp\qwipo-deck\assets\ic_FaArrowRight_w.png">    </p:cNvPr>
          <p:cNvPicPr>
            <a:picLocks noChangeAspect="1"/>
          </p:cNvPicPr>
          <p:nvPr/>
        </p:nvPicPr>
        <p:blipFill>
          <a:blip r:embed="rId13"/>
          <a:stretch>
            <a:fillRect/>
          </a:stretch>
        </p:blipFill>
        <p:spPr>
          <a:xfrm flipH="1">
            <a:off x="6053328" y="4718304"/>
            <a:ext cx="274320" cy="274320"/>
          </a:xfrm>
          <a:prstGeom prst="rect">
            <a:avLst/>
          </a:prstGeom>
        </p:spPr>
      </p:pic>
      <p:sp>
        <p:nvSpPr>
          <p:cNvPr id="34" name="Shape 20"/>
          <p:cNvSpPr/>
          <p:nvPr/>
        </p:nvSpPr>
        <p:spPr>
          <a:xfrm>
            <a:off x="3511296" y="4114800"/>
            <a:ext cx="2487168" cy="1481328"/>
          </a:xfrm>
          <a:prstGeom prst="roundRect">
            <a:avLst>
              <a:gd name="adj" fmla="val 6790"/>
            </a:avLst>
          </a:prstGeom>
          <a:solidFill>
            <a:srgbClr val="FFFFFF">
              <a:alpha val="10000"/>
            </a:srgbClr>
          </a:solidFill>
          <a:ln w="19050">
            <a:solidFill>
              <a:srgbClr val="0D9488"/>
            </a:solidFill>
            <a:prstDash val="solid"/>
          </a:ln>
        </p:spPr>
      </p:sp>
      <p:sp>
        <p:nvSpPr>
          <p:cNvPr id="35" name="Shape 21"/>
          <p:cNvSpPr/>
          <p:nvPr/>
        </p:nvSpPr>
        <p:spPr>
          <a:xfrm>
            <a:off x="4480560" y="4297680"/>
            <a:ext cx="548640" cy="548640"/>
          </a:xfrm>
          <a:prstGeom prst="roundRect">
            <a:avLst>
              <a:gd name="adj" fmla="val 26000"/>
            </a:avLst>
          </a:prstGeom>
          <a:solidFill>
            <a:srgbClr val="0D9488"/>
          </a:solidFill>
          <a:ln/>
        </p:spPr>
      </p:sp>
      <p:pic>
        <p:nvPicPr>
          <p:cNvPr id="36" name="Image 12" descr="C:\Users\Lenovo\AppData\Local\Temp\qwipo-deck\assets\ic_FaFlagCheckered_w.png">    </p:cNvPr>
          <p:cNvPicPr>
            <a:picLocks noChangeAspect="1"/>
          </p:cNvPicPr>
          <p:nvPr/>
        </p:nvPicPr>
        <p:blipFill>
          <a:blip r:embed="rId14"/>
          <a:stretch>
            <a:fillRect/>
          </a:stretch>
        </p:blipFill>
        <p:spPr>
          <a:xfrm>
            <a:off x="4606747" y="4423867"/>
            <a:ext cx="296266" cy="296266"/>
          </a:xfrm>
          <a:prstGeom prst="rect">
            <a:avLst/>
          </a:prstGeom>
        </p:spPr>
      </p:pic>
      <p:sp>
        <p:nvSpPr>
          <p:cNvPr id="37" name="Text 22"/>
          <p:cNvSpPr/>
          <p:nvPr/>
        </p:nvSpPr>
        <p:spPr>
          <a:xfrm>
            <a:off x="3602736" y="4956048"/>
            <a:ext cx="2304288" cy="548640"/>
          </a:xfrm>
          <a:prstGeom prst="rect">
            <a:avLst/>
          </a:prstGeom>
          <a:noFill/>
          <a:ln/>
        </p:spPr>
        <p:txBody>
          <a:bodyPr wrap="square" lIns="0" tIns="0" rIns="0" bIns="0" rtlCol="0" anchor="t"/>
          <a:lstStyle/>
          <a:p>
            <a:pPr algn="ctr" indent="0" marL="0">
              <a:lnSpc>
                <a:spcPct val="95000"/>
              </a:lnSpc>
              <a:buNone/>
            </a:pPr>
            <a:r>
              <a:rPr lang="en-US" sz="1250" b="1" dirty="0">
                <a:solidFill>
                  <a:srgbClr val="FFFFFF"/>
                </a:solidFill>
                <a:latin typeface="Trebuchet MS" pitchFamily="34" charset="0"/>
                <a:ea typeface="Trebuchet MS" pitchFamily="34" charset="-122"/>
                <a:cs typeface="Trebuchet MS" pitchFamily="34" charset="-120"/>
              </a:rPr>
              <a:t>Delivery</a:t>
            </a:r>
            <a:endParaRPr lang="en-US" sz="1250" dirty="0"/>
          </a:p>
        </p:txBody>
      </p:sp>
      <p:pic>
        <p:nvPicPr>
          <p:cNvPr id="38" name="Image 13" descr="C:\Users\Lenovo\AppData\Local\Temp\qwipo-deck\assets\ic_FaArrowRight_w.png">    </p:cNvPr>
          <p:cNvPicPr>
            <a:picLocks noChangeAspect="1"/>
          </p:cNvPicPr>
          <p:nvPr/>
        </p:nvPicPr>
        <p:blipFill>
          <a:blip r:embed="rId15"/>
          <a:stretch>
            <a:fillRect/>
          </a:stretch>
        </p:blipFill>
        <p:spPr>
          <a:xfrm flipH="1">
            <a:off x="3182112" y="4718304"/>
            <a:ext cx="274320" cy="274320"/>
          </a:xfrm>
          <a:prstGeom prst="rect">
            <a:avLst/>
          </a:prstGeom>
        </p:spPr>
      </p:pic>
      <p:sp>
        <p:nvSpPr>
          <p:cNvPr id="39" name="Shape 23"/>
          <p:cNvSpPr/>
          <p:nvPr/>
        </p:nvSpPr>
        <p:spPr>
          <a:xfrm>
            <a:off x="640080" y="4114800"/>
            <a:ext cx="2487168" cy="1481328"/>
          </a:xfrm>
          <a:prstGeom prst="roundRect">
            <a:avLst>
              <a:gd name="adj" fmla="val 6790"/>
            </a:avLst>
          </a:prstGeom>
          <a:solidFill>
            <a:srgbClr val="FFFFFF">
              <a:alpha val="10000"/>
            </a:srgbClr>
          </a:solidFill>
          <a:ln w="19050">
            <a:solidFill>
              <a:srgbClr val="25D366"/>
            </a:solidFill>
            <a:prstDash val="solid"/>
          </a:ln>
        </p:spPr>
      </p:sp>
      <p:sp>
        <p:nvSpPr>
          <p:cNvPr id="40" name="Shape 24"/>
          <p:cNvSpPr/>
          <p:nvPr/>
        </p:nvSpPr>
        <p:spPr>
          <a:xfrm>
            <a:off x="1609344" y="4297680"/>
            <a:ext cx="548640" cy="548640"/>
          </a:xfrm>
          <a:prstGeom prst="roundRect">
            <a:avLst>
              <a:gd name="adj" fmla="val 26000"/>
            </a:avLst>
          </a:prstGeom>
          <a:solidFill>
            <a:srgbClr val="25D366"/>
          </a:solidFill>
          <a:ln/>
        </p:spPr>
      </p:sp>
      <p:pic>
        <p:nvPicPr>
          <p:cNvPr id="41" name="Image 14" descr="C:\Users\Lenovo\AppData\Local\Temp\qwipo-deck\assets\ic_FaBell_w.png">    </p:cNvPr>
          <p:cNvPicPr>
            <a:picLocks noChangeAspect="1"/>
          </p:cNvPicPr>
          <p:nvPr/>
        </p:nvPicPr>
        <p:blipFill>
          <a:blip r:embed="rId16"/>
          <a:stretch>
            <a:fillRect/>
          </a:stretch>
        </p:blipFill>
        <p:spPr>
          <a:xfrm>
            <a:off x="1735531" y="4423867"/>
            <a:ext cx="296266" cy="296266"/>
          </a:xfrm>
          <a:prstGeom prst="rect">
            <a:avLst/>
          </a:prstGeom>
        </p:spPr>
      </p:pic>
      <p:sp>
        <p:nvSpPr>
          <p:cNvPr id="42" name="Text 25"/>
          <p:cNvSpPr/>
          <p:nvPr/>
        </p:nvSpPr>
        <p:spPr>
          <a:xfrm>
            <a:off x="731520" y="4956048"/>
            <a:ext cx="2304288" cy="548640"/>
          </a:xfrm>
          <a:prstGeom prst="rect">
            <a:avLst/>
          </a:prstGeom>
          <a:noFill/>
          <a:ln/>
        </p:spPr>
        <p:txBody>
          <a:bodyPr wrap="square" lIns="0" tIns="0" rIns="0" bIns="0" rtlCol="0" anchor="t"/>
          <a:lstStyle/>
          <a:p>
            <a:pPr algn="ctr" indent="0" marL="0">
              <a:lnSpc>
                <a:spcPct val="95000"/>
              </a:lnSpc>
              <a:buNone/>
            </a:pPr>
            <a:r>
              <a:rPr lang="en-US" sz="1250" b="1" dirty="0">
                <a:solidFill>
                  <a:srgbClr val="FFFFFF"/>
                </a:solidFill>
                <a:latin typeface="Trebuchet MS" pitchFamily="34" charset="0"/>
                <a:ea typeface="Trebuchet MS" pitchFamily="34" charset="-122"/>
                <a:cs typeface="Trebuchet MS" pitchFamily="34" charset="-120"/>
              </a:rPr>
              <a:t>Customer Notification</a:t>
            </a:r>
            <a:endParaRPr lang="en-US" sz="1250" dirty="0"/>
          </a:p>
        </p:txBody>
      </p:sp>
      <p:sp>
        <p:nvSpPr>
          <p:cNvPr id="43" name="Text 26"/>
          <p:cNvSpPr/>
          <p:nvPr/>
        </p:nvSpPr>
        <p:spPr>
          <a:xfrm>
            <a:off x="640080" y="5897880"/>
            <a:ext cx="10881360" cy="365760"/>
          </a:xfrm>
          <a:prstGeom prst="rect">
            <a:avLst/>
          </a:prstGeom>
          <a:noFill/>
          <a:ln/>
        </p:spPr>
        <p:txBody>
          <a:bodyPr wrap="square" lIns="0" tIns="0" rIns="0" bIns="0" rtlCol="0" anchor="ctr"/>
          <a:lstStyle/>
          <a:p>
            <a:pPr algn="ctr" indent="0" marL="0">
              <a:buNone/>
            </a:pPr>
            <a:r>
              <a:rPr lang="en-US" sz="1300" i="1" dirty="0">
                <a:solidFill>
                  <a:srgbClr val="C4B5FD"/>
                </a:solidFill>
                <a:latin typeface="Calibri" pitchFamily="34" charset="0"/>
                <a:ea typeface="Calibri" pitchFamily="34" charset="-122"/>
                <a:cs typeface="Calibri" pitchFamily="34" charset="-120"/>
              </a:rPr>
              <a:t>One platform · one data model · zero hand-offs between disconnected tools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Trebuchet MS" pitchFamily="34" charset="0"/>
                <a:ea typeface="Trebuchet MS" pitchFamily="34" charset="-122"/>
                <a:cs typeface="Trebuchet MS" pitchFamily="34" charset="-120"/>
              </a:rPr>
              <a:t>OUTCOMES</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Trebuchet MS" pitchFamily="34" charset="0"/>
                <a:ea typeface="Trebuchet MS" pitchFamily="34" charset="-122"/>
                <a:cs typeface="Trebuchet MS" pitchFamily="34" charset="-120"/>
              </a:rPr>
              <a:t>What changes for brands and distributors</a:t>
            </a:r>
            <a:endParaRPr lang="en-US" sz="2900" dirty="0"/>
          </a:p>
        </p:txBody>
      </p:sp>
      <p:sp>
        <p:nvSpPr>
          <p:cNvPr id="4" name="Shape 2"/>
          <p:cNvSpPr/>
          <p:nvPr/>
        </p:nvSpPr>
        <p:spPr>
          <a:xfrm>
            <a:off x="548640" y="1783080"/>
            <a:ext cx="2670048" cy="1920240"/>
          </a:xfrm>
          <a:prstGeom prst="roundRect">
            <a:avLst>
              <a:gd name="adj" fmla="val 4762"/>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5" name="Shape 3"/>
          <p:cNvSpPr/>
          <p:nvPr/>
        </p:nvSpPr>
        <p:spPr>
          <a:xfrm>
            <a:off x="548640" y="1783080"/>
            <a:ext cx="2670048" cy="82296"/>
          </a:xfrm>
          <a:prstGeom prst="rect">
            <a:avLst/>
          </a:prstGeom>
          <a:solidFill>
            <a:srgbClr val="7C3AED"/>
          </a:solidFill>
          <a:ln/>
        </p:spPr>
      </p:sp>
      <p:sp>
        <p:nvSpPr>
          <p:cNvPr id="6" name="Shape 4"/>
          <p:cNvSpPr/>
          <p:nvPr/>
        </p:nvSpPr>
        <p:spPr>
          <a:xfrm>
            <a:off x="804672" y="2093976"/>
            <a:ext cx="603504" cy="603504"/>
          </a:xfrm>
          <a:prstGeom prst="roundRect">
            <a:avLst>
              <a:gd name="adj" fmla="val 26000"/>
            </a:avLst>
          </a:prstGeom>
          <a:solidFill>
            <a:srgbClr val="7C3AED"/>
          </a:solidFill>
          <a:ln/>
        </p:spPr>
      </p:sp>
      <p:pic>
        <p:nvPicPr>
          <p:cNvPr id="7" name="Image 0" descr="C:\Users\Lenovo\AppData\Local\Temp\qwipo-deck\assets\ic_FaUserPlus_w.png">    </p:cNvPr>
          <p:cNvPicPr>
            <a:picLocks noChangeAspect="1"/>
          </p:cNvPicPr>
          <p:nvPr/>
        </p:nvPicPr>
        <p:blipFill>
          <a:blip r:embed="rId1"/>
          <a:stretch>
            <a:fillRect/>
          </a:stretch>
        </p:blipFill>
        <p:spPr>
          <a:xfrm>
            <a:off x="943478" y="2232782"/>
            <a:ext cx="325892" cy="325892"/>
          </a:xfrm>
          <a:prstGeom prst="rect">
            <a:avLst/>
          </a:prstGeom>
        </p:spPr>
      </p:pic>
      <p:sp>
        <p:nvSpPr>
          <p:cNvPr id="8" name="Text 5"/>
          <p:cNvSpPr/>
          <p:nvPr/>
        </p:nvSpPr>
        <p:spPr>
          <a:xfrm>
            <a:off x="768096" y="2807208"/>
            <a:ext cx="2249424" cy="548640"/>
          </a:xfrm>
          <a:prstGeom prst="rect">
            <a:avLst/>
          </a:prstGeom>
          <a:noFill/>
          <a:ln/>
        </p:spPr>
        <p:txBody>
          <a:bodyPr wrap="square" lIns="0" tIns="0" rIns="0" bIns="0" rtlCol="0" anchor="t"/>
          <a:lstStyle/>
          <a:p>
            <a:pPr indent="0" marL="0">
              <a:lnSpc>
                <a:spcPct val="96000"/>
              </a:lnSpc>
              <a:buNone/>
            </a:pPr>
            <a:r>
              <a:rPr lang="en-US" sz="1300" b="1" dirty="0">
                <a:solidFill>
                  <a:srgbClr val="0F172A"/>
                </a:solidFill>
                <a:latin typeface="Trebuchet MS" pitchFamily="34" charset="0"/>
                <a:ea typeface="Trebuchet MS" pitchFamily="34" charset="-122"/>
                <a:cs typeface="Trebuchet MS" pitchFamily="34" charset="-120"/>
              </a:rPr>
              <a:t>Faster seller onboarding</a:t>
            </a:r>
            <a:endParaRPr lang="en-US" sz="1300" dirty="0"/>
          </a:p>
        </p:txBody>
      </p:sp>
      <p:sp>
        <p:nvSpPr>
          <p:cNvPr id="9" name="Text 6"/>
          <p:cNvSpPr/>
          <p:nvPr/>
        </p:nvSpPr>
        <p:spPr>
          <a:xfrm>
            <a:off x="768096" y="3300984"/>
            <a:ext cx="2249424" cy="310896"/>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Days to minutes</a:t>
            </a:r>
            <a:endParaRPr lang="en-US" sz="1050" dirty="0"/>
          </a:p>
        </p:txBody>
      </p:sp>
      <p:sp>
        <p:nvSpPr>
          <p:cNvPr id="10" name="Shape 7"/>
          <p:cNvSpPr/>
          <p:nvPr/>
        </p:nvSpPr>
        <p:spPr>
          <a:xfrm>
            <a:off x="3511296" y="1783080"/>
            <a:ext cx="2670048" cy="1920240"/>
          </a:xfrm>
          <a:prstGeom prst="roundRect">
            <a:avLst>
              <a:gd name="adj" fmla="val 4762"/>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11" name="Shape 8"/>
          <p:cNvSpPr/>
          <p:nvPr/>
        </p:nvSpPr>
        <p:spPr>
          <a:xfrm>
            <a:off x="3511296" y="1783080"/>
            <a:ext cx="2670048" cy="82296"/>
          </a:xfrm>
          <a:prstGeom prst="rect">
            <a:avLst/>
          </a:prstGeom>
          <a:solidFill>
            <a:srgbClr val="16A34A"/>
          </a:solidFill>
          <a:ln/>
        </p:spPr>
      </p:sp>
      <p:sp>
        <p:nvSpPr>
          <p:cNvPr id="12" name="Shape 9"/>
          <p:cNvSpPr/>
          <p:nvPr/>
        </p:nvSpPr>
        <p:spPr>
          <a:xfrm>
            <a:off x="3767328" y="2093976"/>
            <a:ext cx="603504" cy="603504"/>
          </a:xfrm>
          <a:prstGeom prst="roundRect">
            <a:avLst>
              <a:gd name="adj" fmla="val 26000"/>
            </a:avLst>
          </a:prstGeom>
          <a:solidFill>
            <a:srgbClr val="16A34A"/>
          </a:solidFill>
          <a:ln/>
        </p:spPr>
      </p:sp>
      <p:pic>
        <p:nvPicPr>
          <p:cNvPr id="13" name="Image 1" descr="C:\Users\Lenovo\AppData\Local\Temp\qwipo-deck\assets\ic_FaBoxOpen_w.png">    </p:cNvPr>
          <p:cNvPicPr>
            <a:picLocks noChangeAspect="1"/>
          </p:cNvPicPr>
          <p:nvPr/>
        </p:nvPicPr>
        <p:blipFill>
          <a:blip r:embed="rId2"/>
          <a:stretch>
            <a:fillRect/>
          </a:stretch>
        </p:blipFill>
        <p:spPr>
          <a:xfrm>
            <a:off x="3906134" y="2232782"/>
            <a:ext cx="325892" cy="325892"/>
          </a:xfrm>
          <a:prstGeom prst="rect">
            <a:avLst/>
          </a:prstGeom>
        </p:spPr>
      </p:pic>
      <p:sp>
        <p:nvSpPr>
          <p:cNvPr id="14" name="Text 10"/>
          <p:cNvSpPr/>
          <p:nvPr/>
        </p:nvSpPr>
        <p:spPr>
          <a:xfrm>
            <a:off x="3730752" y="2807208"/>
            <a:ext cx="2249424" cy="548640"/>
          </a:xfrm>
          <a:prstGeom prst="rect">
            <a:avLst/>
          </a:prstGeom>
          <a:noFill/>
          <a:ln/>
        </p:spPr>
        <p:txBody>
          <a:bodyPr wrap="square" lIns="0" tIns="0" rIns="0" bIns="0" rtlCol="0" anchor="t"/>
          <a:lstStyle/>
          <a:p>
            <a:pPr indent="0" marL="0">
              <a:lnSpc>
                <a:spcPct val="96000"/>
              </a:lnSpc>
              <a:buNone/>
            </a:pPr>
            <a:r>
              <a:rPr lang="en-US" sz="1300" b="1" dirty="0">
                <a:solidFill>
                  <a:srgbClr val="0F172A"/>
                </a:solidFill>
                <a:latin typeface="Trebuchet MS" pitchFamily="34" charset="0"/>
                <a:ea typeface="Trebuchet MS" pitchFamily="34" charset="-122"/>
                <a:cs typeface="Trebuchet MS" pitchFamily="34" charset="-120"/>
              </a:rPr>
              <a:t>Faster catalog digitisation</a:t>
            </a:r>
            <a:endParaRPr lang="en-US" sz="1300" dirty="0"/>
          </a:p>
        </p:txBody>
      </p:sp>
      <p:sp>
        <p:nvSpPr>
          <p:cNvPr id="15" name="Text 11"/>
          <p:cNvSpPr/>
          <p:nvPr/>
        </p:nvSpPr>
        <p:spPr>
          <a:xfrm>
            <a:off x="3730752" y="3300984"/>
            <a:ext cx="2249424" cy="310896"/>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Bulk + central sync</a:t>
            </a:r>
            <a:endParaRPr lang="en-US" sz="1050" dirty="0"/>
          </a:p>
        </p:txBody>
      </p:sp>
      <p:sp>
        <p:nvSpPr>
          <p:cNvPr id="16" name="Shape 12"/>
          <p:cNvSpPr/>
          <p:nvPr/>
        </p:nvSpPr>
        <p:spPr>
          <a:xfrm>
            <a:off x="6473952" y="1783080"/>
            <a:ext cx="2670048" cy="1920240"/>
          </a:xfrm>
          <a:prstGeom prst="roundRect">
            <a:avLst>
              <a:gd name="adj" fmla="val 4762"/>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17" name="Shape 13"/>
          <p:cNvSpPr/>
          <p:nvPr/>
        </p:nvSpPr>
        <p:spPr>
          <a:xfrm>
            <a:off x="6473952" y="1783080"/>
            <a:ext cx="2670048" cy="82296"/>
          </a:xfrm>
          <a:prstGeom prst="rect">
            <a:avLst/>
          </a:prstGeom>
          <a:solidFill>
            <a:srgbClr val="E11D48"/>
          </a:solidFill>
          <a:ln/>
        </p:spPr>
      </p:sp>
      <p:sp>
        <p:nvSpPr>
          <p:cNvPr id="18" name="Shape 14"/>
          <p:cNvSpPr/>
          <p:nvPr/>
        </p:nvSpPr>
        <p:spPr>
          <a:xfrm>
            <a:off x="6729984" y="2093976"/>
            <a:ext cx="603504" cy="603504"/>
          </a:xfrm>
          <a:prstGeom prst="roundRect">
            <a:avLst>
              <a:gd name="adj" fmla="val 26000"/>
            </a:avLst>
          </a:prstGeom>
          <a:solidFill>
            <a:srgbClr val="E11D48"/>
          </a:solidFill>
          <a:ln/>
        </p:spPr>
      </p:sp>
      <p:pic>
        <p:nvPicPr>
          <p:cNvPr id="19" name="Image 2" descr="C:\Users\Lenovo\AppData\Local\Temp\qwipo-deck\assets\ic_FaShieldAlt_w.png">    </p:cNvPr>
          <p:cNvPicPr>
            <a:picLocks noChangeAspect="1"/>
          </p:cNvPicPr>
          <p:nvPr/>
        </p:nvPicPr>
        <p:blipFill>
          <a:blip r:embed="rId3"/>
          <a:stretch>
            <a:fillRect/>
          </a:stretch>
        </p:blipFill>
        <p:spPr>
          <a:xfrm>
            <a:off x="6868790" y="2232782"/>
            <a:ext cx="325892" cy="325892"/>
          </a:xfrm>
          <a:prstGeom prst="rect">
            <a:avLst/>
          </a:prstGeom>
        </p:spPr>
      </p:pic>
      <p:sp>
        <p:nvSpPr>
          <p:cNvPr id="20" name="Text 15"/>
          <p:cNvSpPr/>
          <p:nvPr/>
        </p:nvSpPr>
        <p:spPr>
          <a:xfrm>
            <a:off x="6693408" y="2807208"/>
            <a:ext cx="2249424" cy="548640"/>
          </a:xfrm>
          <a:prstGeom prst="rect">
            <a:avLst/>
          </a:prstGeom>
          <a:noFill/>
          <a:ln/>
        </p:spPr>
        <p:txBody>
          <a:bodyPr wrap="square" lIns="0" tIns="0" rIns="0" bIns="0" rtlCol="0" anchor="t"/>
          <a:lstStyle/>
          <a:p>
            <a:pPr indent="0" marL="0">
              <a:lnSpc>
                <a:spcPct val="96000"/>
              </a:lnSpc>
              <a:buNone/>
            </a:pPr>
            <a:r>
              <a:rPr lang="en-US" sz="1300" b="1" dirty="0">
                <a:solidFill>
                  <a:srgbClr val="0F172A"/>
                </a:solidFill>
                <a:latin typeface="Trebuchet MS" pitchFamily="34" charset="0"/>
                <a:ea typeface="Trebuchet MS" pitchFamily="34" charset="-122"/>
                <a:cs typeface="Trebuchet MS" pitchFamily="34" charset="-120"/>
              </a:rPr>
              <a:t>Reduced distributor conflict</a:t>
            </a:r>
            <a:endParaRPr lang="en-US" sz="1300" dirty="0"/>
          </a:p>
        </p:txBody>
      </p:sp>
      <p:sp>
        <p:nvSpPr>
          <p:cNvPr id="21" name="Text 16"/>
          <p:cNvSpPr/>
          <p:nvPr/>
        </p:nvSpPr>
        <p:spPr>
          <a:xfrm>
            <a:off x="6693408" y="3300984"/>
            <a:ext cx="2249424" cy="310896"/>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Clean territory rules</a:t>
            </a:r>
            <a:endParaRPr lang="en-US" sz="1050" dirty="0"/>
          </a:p>
        </p:txBody>
      </p:sp>
      <p:sp>
        <p:nvSpPr>
          <p:cNvPr id="22" name="Shape 17"/>
          <p:cNvSpPr/>
          <p:nvPr/>
        </p:nvSpPr>
        <p:spPr>
          <a:xfrm>
            <a:off x="9436608" y="1783080"/>
            <a:ext cx="2670048" cy="1920240"/>
          </a:xfrm>
          <a:prstGeom prst="roundRect">
            <a:avLst>
              <a:gd name="adj" fmla="val 4762"/>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23" name="Shape 18"/>
          <p:cNvSpPr/>
          <p:nvPr/>
        </p:nvSpPr>
        <p:spPr>
          <a:xfrm>
            <a:off x="9436608" y="1783080"/>
            <a:ext cx="2670048" cy="82296"/>
          </a:xfrm>
          <a:prstGeom prst="rect">
            <a:avLst/>
          </a:prstGeom>
          <a:solidFill>
            <a:srgbClr val="2563EB"/>
          </a:solidFill>
          <a:ln/>
        </p:spPr>
      </p:sp>
      <p:sp>
        <p:nvSpPr>
          <p:cNvPr id="24" name="Shape 19"/>
          <p:cNvSpPr/>
          <p:nvPr/>
        </p:nvSpPr>
        <p:spPr>
          <a:xfrm>
            <a:off x="9692640" y="2093976"/>
            <a:ext cx="603504" cy="603504"/>
          </a:xfrm>
          <a:prstGeom prst="roundRect">
            <a:avLst>
              <a:gd name="adj" fmla="val 26000"/>
            </a:avLst>
          </a:prstGeom>
          <a:solidFill>
            <a:srgbClr val="2563EB"/>
          </a:solidFill>
          <a:ln/>
        </p:spPr>
      </p:sp>
      <p:pic>
        <p:nvPicPr>
          <p:cNvPr id="25" name="Image 3" descr="C:\Users\Lenovo\AppData\Local\Temp\qwipo-deck\assets\ic_FaChartLine_w.png">    </p:cNvPr>
          <p:cNvPicPr>
            <a:picLocks noChangeAspect="1"/>
          </p:cNvPicPr>
          <p:nvPr/>
        </p:nvPicPr>
        <p:blipFill>
          <a:blip r:embed="rId4"/>
          <a:stretch>
            <a:fillRect/>
          </a:stretch>
        </p:blipFill>
        <p:spPr>
          <a:xfrm>
            <a:off x="9831446" y="2232782"/>
            <a:ext cx="325892" cy="325892"/>
          </a:xfrm>
          <a:prstGeom prst="rect">
            <a:avLst/>
          </a:prstGeom>
        </p:spPr>
      </p:pic>
      <p:sp>
        <p:nvSpPr>
          <p:cNvPr id="26" name="Text 20"/>
          <p:cNvSpPr/>
          <p:nvPr/>
        </p:nvSpPr>
        <p:spPr>
          <a:xfrm>
            <a:off x="9656064" y="2807208"/>
            <a:ext cx="2249424" cy="548640"/>
          </a:xfrm>
          <a:prstGeom prst="rect">
            <a:avLst/>
          </a:prstGeom>
          <a:noFill/>
          <a:ln/>
        </p:spPr>
        <p:txBody>
          <a:bodyPr wrap="square" lIns="0" tIns="0" rIns="0" bIns="0" rtlCol="0" anchor="t"/>
          <a:lstStyle/>
          <a:p>
            <a:pPr indent="0" marL="0">
              <a:lnSpc>
                <a:spcPct val="96000"/>
              </a:lnSpc>
              <a:buNone/>
            </a:pPr>
            <a:r>
              <a:rPr lang="en-US" sz="1300" b="1" dirty="0">
                <a:solidFill>
                  <a:srgbClr val="0F172A"/>
                </a:solidFill>
                <a:latin typeface="Trebuchet MS" pitchFamily="34" charset="0"/>
                <a:ea typeface="Trebuchet MS" pitchFamily="34" charset="-122"/>
                <a:cs typeface="Trebuchet MS" pitchFamily="34" charset="-120"/>
              </a:rPr>
              <a:t>Operational efficiency</a:t>
            </a:r>
            <a:endParaRPr lang="en-US" sz="1300" dirty="0"/>
          </a:p>
        </p:txBody>
      </p:sp>
      <p:sp>
        <p:nvSpPr>
          <p:cNvPr id="27" name="Text 21"/>
          <p:cNvSpPr/>
          <p:nvPr/>
        </p:nvSpPr>
        <p:spPr>
          <a:xfrm>
            <a:off x="9656064" y="3300984"/>
            <a:ext cx="2249424" cy="310896"/>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Less manual effort</a:t>
            </a:r>
            <a:endParaRPr lang="en-US" sz="1050" dirty="0"/>
          </a:p>
        </p:txBody>
      </p:sp>
      <p:sp>
        <p:nvSpPr>
          <p:cNvPr id="28" name="Shape 22"/>
          <p:cNvSpPr/>
          <p:nvPr/>
        </p:nvSpPr>
        <p:spPr>
          <a:xfrm>
            <a:off x="548640" y="4014216"/>
            <a:ext cx="2670048" cy="1920240"/>
          </a:xfrm>
          <a:prstGeom prst="roundRect">
            <a:avLst>
              <a:gd name="adj" fmla="val 4762"/>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29" name="Shape 23"/>
          <p:cNvSpPr/>
          <p:nvPr/>
        </p:nvSpPr>
        <p:spPr>
          <a:xfrm>
            <a:off x="548640" y="4014216"/>
            <a:ext cx="2670048" cy="82296"/>
          </a:xfrm>
          <a:prstGeom prst="rect">
            <a:avLst/>
          </a:prstGeom>
          <a:solidFill>
            <a:srgbClr val="4338CA"/>
          </a:solidFill>
          <a:ln/>
        </p:spPr>
      </p:sp>
      <p:sp>
        <p:nvSpPr>
          <p:cNvPr id="30" name="Shape 24"/>
          <p:cNvSpPr/>
          <p:nvPr/>
        </p:nvSpPr>
        <p:spPr>
          <a:xfrm>
            <a:off x="804672" y="4325112"/>
            <a:ext cx="603504" cy="603504"/>
          </a:xfrm>
          <a:prstGeom prst="roundRect">
            <a:avLst>
              <a:gd name="adj" fmla="val 26000"/>
            </a:avLst>
          </a:prstGeom>
          <a:solidFill>
            <a:srgbClr val="4338CA"/>
          </a:solidFill>
          <a:ln/>
        </p:spPr>
      </p:sp>
      <p:pic>
        <p:nvPicPr>
          <p:cNvPr id="31" name="Image 4" descr="C:\Users\Lenovo\AppData\Local\Temp\qwipo-deck\assets\ic_FaNetworkWired_w.png">    </p:cNvPr>
          <p:cNvPicPr>
            <a:picLocks noChangeAspect="1"/>
          </p:cNvPicPr>
          <p:nvPr/>
        </p:nvPicPr>
        <p:blipFill>
          <a:blip r:embed="rId5"/>
          <a:stretch>
            <a:fillRect/>
          </a:stretch>
        </p:blipFill>
        <p:spPr>
          <a:xfrm>
            <a:off x="943478" y="4463918"/>
            <a:ext cx="325892" cy="325892"/>
          </a:xfrm>
          <a:prstGeom prst="rect">
            <a:avLst/>
          </a:prstGeom>
        </p:spPr>
      </p:pic>
      <p:sp>
        <p:nvSpPr>
          <p:cNvPr id="32" name="Text 25"/>
          <p:cNvSpPr/>
          <p:nvPr/>
        </p:nvSpPr>
        <p:spPr>
          <a:xfrm>
            <a:off x="768096" y="5038344"/>
            <a:ext cx="2249424" cy="548640"/>
          </a:xfrm>
          <a:prstGeom prst="rect">
            <a:avLst/>
          </a:prstGeom>
          <a:noFill/>
          <a:ln/>
        </p:spPr>
        <p:txBody>
          <a:bodyPr wrap="square" lIns="0" tIns="0" rIns="0" bIns="0" rtlCol="0" anchor="t"/>
          <a:lstStyle/>
          <a:p>
            <a:pPr indent="0" marL="0">
              <a:lnSpc>
                <a:spcPct val="96000"/>
              </a:lnSpc>
              <a:buNone/>
            </a:pPr>
            <a:r>
              <a:rPr lang="en-US" sz="1300" b="1" dirty="0">
                <a:solidFill>
                  <a:srgbClr val="0F172A"/>
                </a:solidFill>
                <a:latin typeface="Trebuchet MS" pitchFamily="34" charset="0"/>
                <a:ea typeface="Trebuchet MS" pitchFamily="34" charset="-122"/>
                <a:cs typeface="Trebuchet MS" pitchFamily="34" charset="-120"/>
              </a:rPr>
              <a:t>ONDC readiness</a:t>
            </a:r>
            <a:endParaRPr lang="en-US" sz="1300" dirty="0"/>
          </a:p>
        </p:txBody>
      </p:sp>
      <p:sp>
        <p:nvSpPr>
          <p:cNvPr id="33" name="Text 26"/>
          <p:cNvSpPr/>
          <p:nvPr/>
        </p:nvSpPr>
        <p:spPr>
          <a:xfrm>
            <a:off x="768096" y="5532120"/>
            <a:ext cx="2249424" cy="310896"/>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Out of the box</a:t>
            </a:r>
            <a:endParaRPr lang="en-US" sz="1050" dirty="0"/>
          </a:p>
        </p:txBody>
      </p:sp>
      <p:sp>
        <p:nvSpPr>
          <p:cNvPr id="34" name="Shape 27"/>
          <p:cNvSpPr/>
          <p:nvPr/>
        </p:nvSpPr>
        <p:spPr>
          <a:xfrm>
            <a:off x="3511296" y="4014216"/>
            <a:ext cx="2670048" cy="1920240"/>
          </a:xfrm>
          <a:prstGeom prst="roundRect">
            <a:avLst>
              <a:gd name="adj" fmla="val 4762"/>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35" name="Shape 28"/>
          <p:cNvSpPr/>
          <p:nvPr/>
        </p:nvSpPr>
        <p:spPr>
          <a:xfrm>
            <a:off x="3511296" y="4014216"/>
            <a:ext cx="2670048" cy="82296"/>
          </a:xfrm>
          <a:prstGeom prst="rect">
            <a:avLst/>
          </a:prstGeom>
          <a:solidFill>
            <a:srgbClr val="0D9488"/>
          </a:solidFill>
          <a:ln/>
        </p:spPr>
      </p:sp>
      <p:sp>
        <p:nvSpPr>
          <p:cNvPr id="36" name="Shape 29"/>
          <p:cNvSpPr/>
          <p:nvPr/>
        </p:nvSpPr>
        <p:spPr>
          <a:xfrm>
            <a:off x="3767328" y="4325112"/>
            <a:ext cx="603504" cy="603504"/>
          </a:xfrm>
          <a:prstGeom prst="roundRect">
            <a:avLst>
              <a:gd name="adj" fmla="val 26000"/>
            </a:avLst>
          </a:prstGeom>
          <a:solidFill>
            <a:srgbClr val="0D9488"/>
          </a:solidFill>
          <a:ln/>
        </p:spPr>
      </p:sp>
      <p:pic>
        <p:nvPicPr>
          <p:cNvPr id="37" name="Image 5" descr="C:\Users\Lenovo\AppData\Local\Temp\qwipo-deck\assets\ic_FaTruck_w.png">    </p:cNvPr>
          <p:cNvPicPr>
            <a:picLocks noChangeAspect="1"/>
          </p:cNvPicPr>
          <p:nvPr/>
        </p:nvPicPr>
        <p:blipFill>
          <a:blip r:embed="rId6"/>
          <a:stretch>
            <a:fillRect/>
          </a:stretch>
        </p:blipFill>
        <p:spPr>
          <a:xfrm>
            <a:off x="3906134" y="4463918"/>
            <a:ext cx="325892" cy="325892"/>
          </a:xfrm>
          <a:prstGeom prst="rect">
            <a:avLst/>
          </a:prstGeom>
        </p:spPr>
      </p:pic>
      <p:sp>
        <p:nvSpPr>
          <p:cNvPr id="38" name="Text 30"/>
          <p:cNvSpPr/>
          <p:nvPr/>
        </p:nvSpPr>
        <p:spPr>
          <a:xfrm>
            <a:off x="3730752" y="5038344"/>
            <a:ext cx="2249424" cy="548640"/>
          </a:xfrm>
          <a:prstGeom prst="rect">
            <a:avLst/>
          </a:prstGeom>
          <a:noFill/>
          <a:ln/>
        </p:spPr>
        <p:txBody>
          <a:bodyPr wrap="square" lIns="0" tIns="0" rIns="0" bIns="0" rtlCol="0" anchor="t"/>
          <a:lstStyle/>
          <a:p>
            <a:pPr indent="0" marL="0">
              <a:lnSpc>
                <a:spcPct val="96000"/>
              </a:lnSpc>
              <a:buNone/>
            </a:pPr>
            <a:r>
              <a:rPr lang="en-US" sz="1300" b="1" dirty="0">
                <a:solidFill>
                  <a:srgbClr val="0F172A"/>
                </a:solidFill>
                <a:latin typeface="Trebuchet MS" pitchFamily="34" charset="0"/>
                <a:ea typeface="Trebuchet MS" pitchFamily="34" charset="-122"/>
                <a:cs typeface="Trebuchet MS" pitchFamily="34" charset="-120"/>
              </a:rPr>
              <a:t>Logistics visibility</a:t>
            </a:r>
            <a:endParaRPr lang="en-US" sz="1300" dirty="0"/>
          </a:p>
        </p:txBody>
      </p:sp>
      <p:sp>
        <p:nvSpPr>
          <p:cNvPr id="39" name="Text 31"/>
          <p:cNvSpPr/>
          <p:nvPr/>
        </p:nvSpPr>
        <p:spPr>
          <a:xfrm>
            <a:off x="3730752" y="5532120"/>
            <a:ext cx="2249424" cy="310896"/>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Tracked to delivery</a:t>
            </a:r>
            <a:endParaRPr lang="en-US" sz="1050" dirty="0"/>
          </a:p>
        </p:txBody>
      </p:sp>
      <p:sp>
        <p:nvSpPr>
          <p:cNvPr id="40" name="Shape 32"/>
          <p:cNvSpPr/>
          <p:nvPr/>
        </p:nvSpPr>
        <p:spPr>
          <a:xfrm>
            <a:off x="6473952" y="4014216"/>
            <a:ext cx="2670048" cy="1920240"/>
          </a:xfrm>
          <a:prstGeom prst="roundRect">
            <a:avLst>
              <a:gd name="adj" fmla="val 4762"/>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41" name="Shape 33"/>
          <p:cNvSpPr/>
          <p:nvPr/>
        </p:nvSpPr>
        <p:spPr>
          <a:xfrm>
            <a:off x="6473952" y="4014216"/>
            <a:ext cx="2670048" cy="82296"/>
          </a:xfrm>
          <a:prstGeom prst="rect">
            <a:avLst/>
          </a:prstGeom>
          <a:solidFill>
            <a:srgbClr val="D97706"/>
          </a:solidFill>
          <a:ln/>
        </p:spPr>
      </p:sp>
      <p:sp>
        <p:nvSpPr>
          <p:cNvPr id="42" name="Shape 34"/>
          <p:cNvSpPr/>
          <p:nvPr/>
        </p:nvSpPr>
        <p:spPr>
          <a:xfrm>
            <a:off x="6729984" y="4325112"/>
            <a:ext cx="603504" cy="603504"/>
          </a:xfrm>
          <a:prstGeom prst="roundRect">
            <a:avLst>
              <a:gd name="adj" fmla="val 26000"/>
            </a:avLst>
          </a:prstGeom>
          <a:solidFill>
            <a:srgbClr val="D97706"/>
          </a:solidFill>
          <a:ln/>
        </p:spPr>
      </p:sp>
      <p:pic>
        <p:nvPicPr>
          <p:cNvPr id="43" name="Image 6" descr="C:\Users\Lenovo\AppData\Local\Temp\qwipo-deck\assets\ic_FaUsers_w.png">    </p:cNvPr>
          <p:cNvPicPr>
            <a:picLocks noChangeAspect="1"/>
          </p:cNvPicPr>
          <p:nvPr/>
        </p:nvPicPr>
        <p:blipFill>
          <a:blip r:embed="rId7"/>
          <a:stretch>
            <a:fillRect/>
          </a:stretch>
        </p:blipFill>
        <p:spPr>
          <a:xfrm>
            <a:off x="6868790" y="4463918"/>
            <a:ext cx="325892" cy="325892"/>
          </a:xfrm>
          <a:prstGeom prst="rect">
            <a:avLst/>
          </a:prstGeom>
        </p:spPr>
      </p:pic>
      <p:sp>
        <p:nvSpPr>
          <p:cNvPr id="44" name="Text 35"/>
          <p:cNvSpPr/>
          <p:nvPr/>
        </p:nvSpPr>
        <p:spPr>
          <a:xfrm>
            <a:off x="6693408" y="5038344"/>
            <a:ext cx="2249424" cy="548640"/>
          </a:xfrm>
          <a:prstGeom prst="rect">
            <a:avLst/>
          </a:prstGeom>
          <a:noFill/>
          <a:ln/>
        </p:spPr>
        <p:txBody>
          <a:bodyPr wrap="square" lIns="0" tIns="0" rIns="0" bIns="0" rtlCol="0" anchor="t"/>
          <a:lstStyle/>
          <a:p>
            <a:pPr indent="0" marL="0">
              <a:lnSpc>
                <a:spcPct val="96000"/>
              </a:lnSpc>
              <a:buNone/>
            </a:pPr>
            <a:r>
              <a:rPr lang="en-US" sz="1300" b="1" dirty="0">
                <a:solidFill>
                  <a:srgbClr val="0F172A"/>
                </a:solidFill>
                <a:latin typeface="Trebuchet MS" pitchFamily="34" charset="0"/>
                <a:ea typeface="Trebuchet MS" pitchFamily="34" charset="-122"/>
                <a:cs typeface="Trebuchet MS" pitchFamily="34" charset="-120"/>
              </a:rPr>
              <a:t>Better retailer engagement</a:t>
            </a:r>
            <a:endParaRPr lang="en-US" sz="1300" dirty="0"/>
          </a:p>
        </p:txBody>
      </p:sp>
      <p:sp>
        <p:nvSpPr>
          <p:cNvPr id="45" name="Text 36"/>
          <p:cNvSpPr/>
          <p:nvPr/>
        </p:nvSpPr>
        <p:spPr>
          <a:xfrm>
            <a:off x="6693408" y="5532120"/>
            <a:ext cx="2249424" cy="310896"/>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Right beat, right day</a:t>
            </a:r>
            <a:endParaRPr lang="en-US" sz="1050" dirty="0"/>
          </a:p>
        </p:txBody>
      </p:sp>
      <p:sp>
        <p:nvSpPr>
          <p:cNvPr id="46" name="Shape 37"/>
          <p:cNvSpPr/>
          <p:nvPr/>
        </p:nvSpPr>
        <p:spPr>
          <a:xfrm>
            <a:off x="9436608" y="4014216"/>
            <a:ext cx="2670048" cy="1920240"/>
          </a:xfrm>
          <a:prstGeom prst="roundRect">
            <a:avLst>
              <a:gd name="adj" fmla="val 4762"/>
            </a:avLst>
          </a:prstGeom>
          <a:solidFill>
            <a:srgbClr val="FFFFFF"/>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47" name="Shape 38"/>
          <p:cNvSpPr/>
          <p:nvPr/>
        </p:nvSpPr>
        <p:spPr>
          <a:xfrm>
            <a:off x="9436608" y="4014216"/>
            <a:ext cx="2670048" cy="82296"/>
          </a:xfrm>
          <a:prstGeom prst="rect">
            <a:avLst/>
          </a:prstGeom>
          <a:solidFill>
            <a:srgbClr val="25D366"/>
          </a:solidFill>
          <a:ln/>
        </p:spPr>
      </p:sp>
      <p:sp>
        <p:nvSpPr>
          <p:cNvPr id="48" name="Shape 39"/>
          <p:cNvSpPr/>
          <p:nvPr/>
        </p:nvSpPr>
        <p:spPr>
          <a:xfrm>
            <a:off x="9692640" y="4325112"/>
            <a:ext cx="603504" cy="603504"/>
          </a:xfrm>
          <a:prstGeom prst="roundRect">
            <a:avLst>
              <a:gd name="adj" fmla="val 26000"/>
            </a:avLst>
          </a:prstGeom>
          <a:solidFill>
            <a:srgbClr val="25D366"/>
          </a:solidFill>
          <a:ln/>
        </p:spPr>
      </p:sp>
      <p:pic>
        <p:nvPicPr>
          <p:cNvPr id="49" name="Image 7" descr="C:\Users\Lenovo\AppData\Local\Temp\qwipo-deck\assets\ic_FaWhatsapp_w.png">    </p:cNvPr>
          <p:cNvPicPr>
            <a:picLocks noChangeAspect="1"/>
          </p:cNvPicPr>
          <p:nvPr/>
        </p:nvPicPr>
        <p:blipFill>
          <a:blip r:embed="rId8"/>
          <a:stretch>
            <a:fillRect/>
          </a:stretch>
        </p:blipFill>
        <p:spPr>
          <a:xfrm>
            <a:off x="9831446" y="4463918"/>
            <a:ext cx="325892" cy="325892"/>
          </a:xfrm>
          <a:prstGeom prst="rect">
            <a:avLst/>
          </a:prstGeom>
        </p:spPr>
      </p:pic>
      <p:sp>
        <p:nvSpPr>
          <p:cNvPr id="50" name="Text 40"/>
          <p:cNvSpPr/>
          <p:nvPr/>
        </p:nvSpPr>
        <p:spPr>
          <a:xfrm>
            <a:off x="9656064" y="5038344"/>
            <a:ext cx="2249424" cy="548640"/>
          </a:xfrm>
          <a:prstGeom prst="rect">
            <a:avLst/>
          </a:prstGeom>
          <a:noFill/>
          <a:ln/>
        </p:spPr>
        <p:txBody>
          <a:bodyPr wrap="square" lIns="0" tIns="0" rIns="0" bIns="0" rtlCol="0" anchor="t"/>
          <a:lstStyle/>
          <a:p>
            <a:pPr indent="0" marL="0">
              <a:lnSpc>
                <a:spcPct val="96000"/>
              </a:lnSpc>
              <a:buNone/>
            </a:pPr>
            <a:r>
              <a:rPr lang="en-US" sz="1300" b="1" dirty="0">
                <a:solidFill>
                  <a:srgbClr val="0F172A"/>
                </a:solidFill>
                <a:latin typeface="Trebuchet MS" pitchFamily="34" charset="0"/>
                <a:ea typeface="Trebuchet MS" pitchFamily="34" charset="-122"/>
                <a:cs typeface="Trebuchet MS" pitchFamily="34" charset="-120"/>
              </a:rPr>
              <a:t>WhatsApp-powered comms</a:t>
            </a:r>
            <a:endParaRPr lang="en-US" sz="1300" dirty="0"/>
          </a:p>
        </p:txBody>
      </p:sp>
      <p:sp>
        <p:nvSpPr>
          <p:cNvPr id="51" name="Text 41"/>
          <p:cNvSpPr/>
          <p:nvPr/>
        </p:nvSpPr>
        <p:spPr>
          <a:xfrm>
            <a:off x="9656064" y="5532120"/>
            <a:ext cx="2249424" cy="310896"/>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Zero-install reach</a:t>
            </a:r>
            <a:endParaRPr lang="en-US" sz="1050" dirty="0"/>
          </a:p>
        </p:txBody>
      </p:sp>
      <p:sp>
        <p:nvSpPr>
          <p:cNvPr id="52" name="Text 42"/>
          <p:cNvSpPr/>
          <p:nvPr/>
        </p:nvSpPr>
        <p:spPr>
          <a:xfrm>
            <a:off x="548640" y="6437376"/>
            <a:ext cx="5486400" cy="274320"/>
          </a:xfrm>
          <a:prstGeom prst="rect">
            <a:avLst/>
          </a:prstGeom>
          <a:noFill/>
          <a:ln/>
        </p:spPr>
        <p:txBody>
          <a:bodyPr wrap="square" lIns="0" tIns="0" rIns="0" bIns="0" rtlCol="0" anchor="ctr"/>
          <a:lstStyle/>
          <a:p>
            <a:pPr indent="0" marL="0">
              <a:buNone/>
            </a:pPr>
            <a:r>
              <a:rPr lang="en-US" sz="900" b="1" dirty="0">
                <a:solidFill>
                  <a:srgbClr val="7C3AED"/>
                </a:solidFill>
                <a:latin typeface="Calibri" pitchFamily="34" charset="0"/>
                <a:ea typeface="Calibri" pitchFamily="34" charset="-122"/>
                <a:cs typeface="Calibri" pitchFamily="34" charset="-120"/>
              </a:rPr>
              <a:t>Qwipo</a:t>
            </a:r>
            <a:pPr indent="0" marL="0">
              <a:buNone/>
            </a:pPr>
            <a:r>
              <a:rPr lang="en-US" sz="900" dirty="0">
                <a:solidFill>
                  <a:srgbClr val="94A3B8"/>
                </a:solidFill>
                <a:latin typeface="Calibri" pitchFamily="34" charset="0"/>
                <a:ea typeface="Calibri" pitchFamily="34" charset="-122"/>
                <a:cs typeface="Calibri" pitchFamily="34" charset="-120"/>
              </a:rPr>
              <a:t>   Seller Store Platform</a:t>
            </a:r>
            <a:endParaRPr lang="en-US" sz="900" dirty="0"/>
          </a:p>
        </p:txBody>
      </p:sp>
      <p:sp>
        <p:nvSpPr>
          <p:cNvPr id="53" name="Text 43"/>
          <p:cNvSpPr/>
          <p:nvPr/>
        </p:nvSpPr>
        <p:spPr>
          <a:xfrm>
            <a:off x="9966960" y="6437376"/>
            <a:ext cx="1673352"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17 / 20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502920"/>
            <a:ext cx="10972800" cy="274320"/>
          </a:xfrm>
          <a:prstGeom prst="rect">
            <a:avLst/>
          </a:prstGeom>
          <a:noFill/>
          <a:ln/>
        </p:spPr>
        <p:txBody>
          <a:bodyPr wrap="square" lIns="0" tIns="0" rIns="0" bIns="0" rtlCol="0" anchor="ctr"/>
          <a:lstStyle/>
          <a:p>
            <a:pPr indent="0" marL="0">
              <a:buNone/>
            </a:pPr>
            <a:r>
              <a:rPr lang="en-US" sz="1200" b="1" spc="300" kern="0" dirty="0">
                <a:solidFill>
                  <a:srgbClr val="C4B5FD"/>
                </a:solidFill>
                <a:latin typeface="Trebuchet MS" pitchFamily="34" charset="0"/>
                <a:ea typeface="Trebuchet MS" pitchFamily="34" charset="-122"/>
                <a:cs typeface="Trebuchet MS" pitchFamily="34" charset="-120"/>
              </a:rPr>
              <a:t>WHY QWIPO</a:t>
            </a:r>
            <a:endParaRPr lang="en-US" sz="1200" dirty="0"/>
          </a:p>
        </p:txBody>
      </p:sp>
      <p:sp>
        <p:nvSpPr>
          <p:cNvPr id="3" name="Text 1"/>
          <p:cNvSpPr/>
          <p:nvPr/>
        </p:nvSpPr>
        <p:spPr>
          <a:xfrm>
            <a:off x="548640" y="804672"/>
            <a:ext cx="11064240" cy="548640"/>
          </a:xfrm>
          <a:prstGeom prst="rect">
            <a:avLst/>
          </a:prstGeom>
          <a:noFill/>
          <a:ln/>
        </p:spPr>
        <p:txBody>
          <a:bodyPr wrap="square" lIns="0" tIns="0" rIns="0" bIns="0" rtlCol="0" anchor="ctr"/>
          <a:lstStyle/>
          <a:p>
            <a:pPr indent="0" marL="0">
              <a:buNone/>
            </a:pPr>
            <a:r>
              <a:rPr lang="en-US" sz="2700" b="1" dirty="0">
                <a:solidFill>
                  <a:srgbClr val="FFFFFF"/>
                </a:solidFill>
                <a:latin typeface="Trebuchet MS" pitchFamily="34" charset="0"/>
                <a:ea typeface="Trebuchet MS" pitchFamily="34" charset="-122"/>
                <a:cs typeface="Trebuchet MS" pitchFamily="34" charset="-120"/>
              </a:rPr>
              <a:t>Built for FMCG distribution — not retrofitted to it</a:t>
            </a:r>
            <a:endParaRPr lang="en-US" sz="2700" dirty="0"/>
          </a:p>
        </p:txBody>
      </p:sp>
      <p:sp>
        <p:nvSpPr>
          <p:cNvPr id="4" name="Shape 2"/>
          <p:cNvSpPr/>
          <p:nvPr/>
        </p:nvSpPr>
        <p:spPr>
          <a:xfrm>
            <a:off x="548640" y="1691640"/>
            <a:ext cx="5413248" cy="1207008"/>
          </a:xfrm>
          <a:prstGeom prst="roundRect">
            <a:avLst>
              <a:gd name="adj" fmla="val 7576"/>
            </a:avLst>
          </a:prstGeom>
          <a:solidFill>
            <a:srgbClr val="FFFFFF">
              <a:alpha val="16000"/>
            </a:srgbClr>
          </a:solidFill>
          <a:ln w="12700">
            <a:solidFill>
              <a:srgbClr val="8579D8"/>
            </a:solidFill>
            <a:prstDash val="solid"/>
          </a:ln>
        </p:spPr>
      </p:sp>
      <p:sp>
        <p:nvSpPr>
          <p:cNvPr id="5" name="Shape 3"/>
          <p:cNvSpPr/>
          <p:nvPr/>
        </p:nvSpPr>
        <p:spPr>
          <a:xfrm>
            <a:off x="768096" y="1993392"/>
            <a:ext cx="603504" cy="603504"/>
          </a:xfrm>
          <a:prstGeom prst="roundRect">
            <a:avLst>
              <a:gd name="adj" fmla="val 26000"/>
            </a:avLst>
          </a:prstGeom>
          <a:solidFill>
            <a:srgbClr val="7C3AED"/>
          </a:solidFill>
          <a:ln/>
        </p:spPr>
      </p:sp>
      <p:pic>
        <p:nvPicPr>
          <p:cNvPr id="6" name="Image 0" descr="C:\Users\Lenovo\AppData\Local\Temp\qwipo-deck\assets\ic_FaNetworkWired_w.png">    </p:cNvPr>
          <p:cNvPicPr>
            <a:picLocks noChangeAspect="1"/>
          </p:cNvPicPr>
          <p:nvPr/>
        </p:nvPicPr>
        <p:blipFill>
          <a:blip r:embed="rId2"/>
          <a:stretch>
            <a:fillRect/>
          </a:stretch>
        </p:blipFill>
        <p:spPr>
          <a:xfrm>
            <a:off x="906902" y="2132198"/>
            <a:ext cx="325892" cy="325892"/>
          </a:xfrm>
          <a:prstGeom prst="rect">
            <a:avLst/>
          </a:prstGeom>
        </p:spPr>
      </p:pic>
      <p:sp>
        <p:nvSpPr>
          <p:cNvPr id="7" name="Text 4"/>
          <p:cNvSpPr/>
          <p:nvPr/>
        </p:nvSpPr>
        <p:spPr>
          <a:xfrm>
            <a:off x="1517904" y="1856232"/>
            <a:ext cx="4224528" cy="310896"/>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ONDC-ready platform</a:t>
            </a:r>
            <a:endParaRPr lang="en-US" sz="1400" dirty="0"/>
          </a:p>
        </p:txBody>
      </p:sp>
      <p:sp>
        <p:nvSpPr>
          <p:cNvPr id="8" name="Text 5"/>
          <p:cNvSpPr/>
          <p:nvPr/>
        </p:nvSpPr>
        <p:spPr>
          <a:xfrm>
            <a:off x="1517904" y="2203704"/>
            <a:ext cx="4224528" cy="548640"/>
          </a:xfrm>
          <a:prstGeom prst="rect">
            <a:avLst/>
          </a:prstGeom>
          <a:noFill/>
          <a:ln/>
        </p:spPr>
        <p:txBody>
          <a:bodyPr wrap="square" lIns="0" tIns="0" rIns="0" bIns="0" rtlCol="0" anchor="t"/>
          <a:lstStyle/>
          <a:p>
            <a:pPr indent="0" marL="0">
              <a:lnSpc>
                <a:spcPct val="100000"/>
              </a:lnSpc>
              <a:buNone/>
            </a:pPr>
            <a:r>
              <a:rPr lang="en-US" sz="1100" dirty="0">
                <a:solidFill>
                  <a:srgbClr val="E4E9F7"/>
                </a:solidFill>
                <a:latin typeface="Calibri" pitchFamily="34" charset="0"/>
                <a:ea typeface="Calibri" pitchFamily="34" charset="-122"/>
                <a:cs typeface="Calibri" pitchFamily="34" charset="-120"/>
              </a:rPr>
              <a:t>Catalog publishing and order sync on the open network, built in.</a:t>
            </a:r>
            <a:endParaRPr lang="en-US" sz="1100" dirty="0"/>
          </a:p>
        </p:txBody>
      </p:sp>
      <p:sp>
        <p:nvSpPr>
          <p:cNvPr id="9" name="Shape 6"/>
          <p:cNvSpPr/>
          <p:nvPr/>
        </p:nvSpPr>
        <p:spPr>
          <a:xfrm>
            <a:off x="6236208" y="1691640"/>
            <a:ext cx="5413248" cy="1207008"/>
          </a:xfrm>
          <a:prstGeom prst="roundRect">
            <a:avLst>
              <a:gd name="adj" fmla="val 7576"/>
            </a:avLst>
          </a:prstGeom>
          <a:solidFill>
            <a:srgbClr val="FFFFFF">
              <a:alpha val="16000"/>
            </a:srgbClr>
          </a:solidFill>
          <a:ln w="12700">
            <a:solidFill>
              <a:srgbClr val="8579D8"/>
            </a:solidFill>
            <a:prstDash val="solid"/>
          </a:ln>
        </p:spPr>
      </p:sp>
      <p:sp>
        <p:nvSpPr>
          <p:cNvPr id="10" name="Shape 7"/>
          <p:cNvSpPr/>
          <p:nvPr/>
        </p:nvSpPr>
        <p:spPr>
          <a:xfrm>
            <a:off x="6455664" y="1993392"/>
            <a:ext cx="603504" cy="603504"/>
          </a:xfrm>
          <a:prstGeom prst="roundRect">
            <a:avLst>
              <a:gd name="adj" fmla="val 26000"/>
            </a:avLst>
          </a:prstGeom>
          <a:solidFill>
            <a:srgbClr val="2563EB"/>
          </a:solidFill>
          <a:ln/>
        </p:spPr>
      </p:sp>
      <p:pic>
        <p:nvPicPr>
          <p:cNvPr id="11" name="Image 1" descr="C:\Users\Lenovo\AppData\Local\Temp\qwipo-deck\assets\ic_FaIndustry_w.png">    </p:cNvPr>
          <p:cNvPicPr>
            <a:picLocks noChangeAspect="1"/>
          </p:cNvPicPr>
          <p:nvPr/>
        </p:nvPicPr>
        <p:blipFill>
          <a:blip r:embed="rId3"/>
          <a:stretch>
            <a:fillRect/>
          </a:stretch>
        </p:blipFill>
        <p:spPr>
          <a:xfrm>
            <a:off x="6594470" y="2132198"/>
            <a:ext cx="325892" cy="325892"/>
          </a:xfrm>
          <a:prstGeom prst="rect">
            <a:avLst/>
          </a:prstGeom>
        </p:spPr>
      </p:pic>
      <p:sp>
        <p:nvSpPr>
          <p:cNvPr id="12" name="Text 8"/>
          <p:cNvSpPr/>
          <p:nvPr/>
        </p:nvSpPr>
        <p:spPr>
          <a:xfrm>
            <a:off x="7205472" y="1856232"/>
            <a:ext cx="4224528" cy="310896"/>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FMCG-focused workflows</a:t>
            </a:r>
            <a:endParaRPr lang="en-US" sz="1400" dirty="0"/>
          </a:p>
        </p:txBody>
      </p:sp>
      <p:sp>
        <p:nvSpPr>
          <p:cNvPr id="13" name="Text 9"/>
          <p:cNvSpPr/>
          <p:nvPr/>
        </p:nvSpPr>
        <p:spPr>
          <a:xfrm>
            <a:off x="7205472" y="2203704"/>
            <a:ext cx="4224528" cy="548640"/>
          </a:xfrm>
          <a:prstGeom prst="rect">
            <a:avLst/>
          </a:prstGeom>
          <a:noFill/>
          <a:ln/>
        </p:spPr>
        <p:txBody>
          <a:bodyPr wrap="square" lIns="0" tIns="0" rIns="0" bIns="0" rtlCol="0" anchor="t"/>
          <a:lstStyle/>
          <a:p>
            <a:pPr indent="0" marL="0">
              <a:lnSpc>
                <a:spcPct val="100000"/>
              </a:lnSpc>
              <a:buNone/>
            </a:pPr>
            <a:r>
              <a:rPr lang="en-US" sz="1100" dirty="0">
                <a:solidFill>
                  <a:srgbClr val="E4E9F7"/>
                </a:solidFill>
                <a:latin typeface="Calibri" pitchFamily="34" charset="0"/>
                <a:ea typeface="Calibri" pitchFamily="34" charset="-122"/>
                <a:cs typeface="Calibri" pitchFamily="34" charset="-120"/>
              </a:rPr>
              <a:t>Beats, schemes, distributor networks — modelled for how FMCG runs.</a:t>
            </a:r>
            <a:endParaRPr lang="en-US" sz="1100" dirty="0"/>
          </a:p>
        </p:txBody>
      </p:sp>
      <p:sp>
        <p:nvSpPr>
          <p:cNvPr id="14" name="Shape 10"/>
          <p:cNvSpPr/>
          <p:nvPr/>
        </p:nvSpPr>
        <p:spPr>
          <a:xfrm>
            <a:off x="548640" y="3136392"/>
            <a:ext cx="5413248" cy="1207008"/>
          </a:xfrm>
          <a:prstGeom prst="roundRect">
            <a:avLst>
              <a:gd name="adj" fmla="val 7576"/>
            </a:avLst>
          </a:prstGeom>
          <a:solidFill>
            <a:srgbClr val="FFFFFF">
              <a:alpha val="16000"/>
            </a:srgbClr>
          </a:solidFill>
          <a:ln w="12700">
            <a:solidFill>
              <a:srgbClr val="8579D8"/>
            </a:solidFill>
            <a:prstDash val="solid"/>
          </a:ln>
        </p:spPr>
      </p:sp>
      <p:sp>
        <p:nvSpPr>
          <p:cNvPr id="15" name="Shape 11"/>
          <p:cNvSpPr/>
          <p:nvPr/>
        </p:nvSpPr>
        <p:spPr>
          <a:xfrm>
            <a:off x="768096" y="3438144"/>
            <a:ext cx="603504" cy="603504"/>
          </a:xfrm>
          <a:prstGeom prst="roundRect">
            <a:avLst>
              <a:gd name="adj" fmla="val 26000"/>
            </a:avLst>
          </a:prstGeom>
          <a:solidFill>
            <a:srgbClr val="7C3AED"/>
          </a:solidFill>
          <a:ln/>
        </p:spPr>
      </p:sp>
      <p:pic>
        <p:nvPicPr>
          <p:cNvPr id="16" name="Image 2" descr="C:\Users\Lenovo\AppData\Local\Temp\qwipo-deck\assets\ic_FaRocket_w.png">    </p:cNvPr>
          <p:cNvPicPr>
            <a:picLocks noChangeAspect="1"/>
          </p:cNvPicPr>
          <p:nvPr/>
        </p:nvPicPr>
        <p:blipFill>
          <a:blip r:embed="rId4"/>
          <a:stretch>
            <a:fillRect/>
          </a:stretch>
        </p:blipFill>
        <p:spPr>
          <a:xfrm>
            <a:off x="906902" y="3576950"/>
            <a:ext cx="325892" cy="325892"/>
          </a:xfrm>
          <a:prstGeom prst="rect">
            <a:avLst/>
          </a:prstGeom>
        </p:spPr>
      </p:pic>
      <p:sp>
        <p:nvSpPr>
          <p:cNvPr id="17" name="Text 12"/>
          <p:cNvSpPr/>
          <p:nvPr/>
        </p:nvSpPr>
        <p:spPr>
          <a:xfrm>
            <a:off x="1517904" y="3300984"/>
            <a:ext cx="4224528" cy="310896"/>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Rapid deployment</a:t>
            </a:r>
            <a:endParaRPr lang="en-US" sz="1400" dirty="0"/>
          </a:p>
        </p:txBody>
      </p:sp>
      <p:sp>
        <p:nvSpPr>
          <p:cNvPr id="18" name="Text 13"/>
          <p:cNvSpPr/>
          <p:nvPr/>
        </p:nvSpPr>
        <p:spPr>
          <a:xfrm>
            <a:off x="1517904" y="3648456"/>
            <a:ext cx="4224528" cy="548640"/>
          </a:xfrm>
          <a:prstGeom prst="rect">
            <a:avLst/>
          </a:prstGeom>
          <a:noFill/>
          <a:ln/>
        </p:spPr>
        <p:txBody>
          <a:bodyPr wrap="square" lIns="0" tIns="0" rIns="0" bIns="0" rtlCol="0" anchor="t"/>
          <a:lstStyle/>
          <a:p>
            <a:pPr indent="0" marL="0">
              <a:lnSpc>
                <a:spcPct val="100000"/>
              </a:lnSpc>
              <a:buNone/>
            </a:pPr>
            <a:r>
              <a:rPr lang="en-US" sz="1100" dirty="0">
                <a:solidFill>
                  <a:srgbClr val="E4E9F7"/>
                </a:solidFill>
                <a:latin typeface="Calibri" pitchFamily="34" charset="0"/>
                <a:ea typeface="Calibri" pitchFamily="34" charset="-122"/>
                <a:cs typeface="Calibri" pitchFamily="34" charset="-120"/>
              </a:rPr>
              <a:t>Onboard distributors and digitise catalogs in days, not quarters.</a:t>
            </a:r>
            <a:endParaRPr lang="en-US" sz="1100" dirty="0"/>
          </a:p>
        </p:txBody>
      </p:sp>
      <p:sp>
        <p:nvSpPr>
          <p:cNvPr id="19" name="Shape 14"/>
          <p:cNvSpPr/>
          <p:nvPr/>
        </p:nvSpPr>
        <p:spPr>
          <a:xfrm>
            <a:off x="6236208" y="3136392"/>
            <a:ext cx="5413248" cy="1207008"/>
          </a:xfrm>
          <a:prstGeom prst="roundRect">
            <a:avLst>
              <a:gd name="adj" fmla="val 7576"/>
            </a:avLst>
          </a:prstGeom>
          <a:solidFill>
            <a:srgbClr val="FFFFFF">
              <a:alpha val="16000"/>
            </a:srgbClr>
          </a:solidFill>
          <a:ln w="12700">
            <a:solidFill>
              <a:srgbClr val="8579D8"/>
            </a:solidFill>
            <a:prstDash val="solid"/>
          </a:ln>
        </p:spPr>
      </p:sp>
      <p:sp>
        <p:nvSpPr>
          <p:cNvPr id="20" name="Shape 15"/>
          <p:cNvSpPr/>
          <p:nvPr/>
        </p:nvSpPr>
        <p:spPr>
          <a:xfrm>
            <a:off x="6455664" y="3438144"/>
            <a:ext cx="603504" cy="603504"/>
          </a:xfrm>
          <a:prstGeom prst="roundRect">
            <a:avLst>
              <a:gd name="adj" fmla="val 26000"/>
            </a:avLst>
          </a:prstGeom>
          <a:solidFill>
            <a:srgbClr val="2563EB"/>
          </a:solidFill>
          <a:ln/>
        </p:spPr>
      </p:sp>
      <p:pic>
        <p:nvPicPr>
          <p:cNvPr id="21" name="Image 3" descr="C:\Users\Lenovo\AppData\Local\Temp\qwipo-deck\assets\ic_FaMapMarkedAlt_w.png">    </p:cNvPr>
          <p:cNvPicPr>
            <a:picLocks noChangeAspect="1"/>
          </p:cNvPicPr>
          <p:nvPr/>
        </p:nvPicPr>
        <p:blipFill>
          <a:blip r:embed="rId5"/>
          <a:stretch>
            <a:fillRect/>
          </a:stretch>
        </p:blipFill>
        <p:spPr>
          <a:xfrm>
            <a:off x="6594470" y="3576950"/>
            <a:ext cx="325892" cy="325892"/>
          </a:xfrm>
          <a:prstGeom prst="rect">
            <a:avLst/>
          </a:prstGeom>
        </p:spPr>
      </p:pic>
      <p:sp>
        <p:nvSpPr>
          <p:cNvPr id="22" name="Text 16"/>
          <p:cNvSpPr/>
          <p:nvPr/>
        </p:nvSpPr>
        <p:spPr>
          <a:xfrm>
            <a:off x="7205472" y="3300984"/>
            <a:ext cx="4224528" cy="310896"/>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Territory intelligence</a:t>
            </a:r>
            <a:endParaRPr lang="en-US" sz="1400" dirty="0"/>
          </a:p>
        </p:txBody>
      </p:sp>
      <p:sp>
        <p:nvSpPr>
          <p:cNvPr id="23" name="Text 17"/>
          <p:cNvSpPr/>
          <p:nvPr/>
        </p:nvSpPr>
        <p:spPr>
          <a:xfrm>
            <a:off x="7205472" y="3648456"/>
            <a:ext cx="4224528" cy="548640"/>
          </a:xfrm>
          <a:prstGeom prst="rect">
            <a:avLst/>
          </a:prstGeom>
          <a:noFill/>
          <a:ln/>
        </p:spPr>
        <p:txBody>
          <a:bodyPr wrap="square" lIns="0" tIns="0" rIns="0" bIns="0" rtlCol="0" anchor="t"/>
          <a:lstStyle/>
          <a:p>
            <a:pPr indent="0" marL="0">
              <a:lnSpc>
                <a:spcPct val="100000"/>
              </a:lnSpc>
              <a:buNone/>
            </a:pPr>
            <a:r>
              <a:rPr lang="en-US" sz="1100" dirty="0">
                <a:solidFill>
                  <a:srgbClr val="E4E9F7"/>
                </a:solidFill>
                <a:latin typeface="Calibri" pitchFamily="34" charset="0"/>
                <a:ea typeface="Calibri" pitchFamily="34" charset="-122"/>
                <a:cs typeface="Calibri" pitchFamily="34" charset="-120"/>
              </a:rPr>
              <a:t>Polygon-based geo-fencing and conflict-free retailer allocation.</a:t>
            </a:r>
            <a:endParaRPr lang="en-US" sz="1100" dirty="0"/>
          </a:p>
        </p:txBody>
      </p:sp>
      <p:sp>
        <p:nvSpPr>
          <p:cNvPr id="24" name="Shape 18"/>
          <p:cNvSpPr/>
          <p:nvPr/>
        </p:nvSpPr>
        <p:spPr>
          <a:xfrm>
            <a:off x="548640" y="4581144"/>
            <a:ext cx="5413248" cy="1207008"/>
          </a:xfrm>
          <a:prstGeom prst="roundRect">
            <a:avLst>
              <a:gd name="adj" fmla="val 7576"/>
            </a:avLst>
          </a:prstGeom>
          <a:solidFill>
            <a:srgbClr val="FFFFFF">
              <a:alpha val="16000"/>
            </a:srgbClr>
          </a:solidFill>
          <a:ln w="12700">
            <a:solidFill>
              <a:srgbClr val="8579D8"/>
            </a:solidFill>
            <a:prstDash val="solid"/>
          </a:ln>
        </p:spPr>
      </p:sp>
      <p:sp>
        <p:nvSpPr>
          <p:cNvPr id="25" name="Shape 19"/>
          <p:cNvSpPr/>
          <p:nvPr/>
        </p:nvSpPr>
        <p:spPr>
          <a:xfrm>
            <a:off x="768096" y="4882896"/>
            <a:ext cx="603504" cy="603504"/>
          </a:xfrm>
          <a:prstGeom prst="roundRect">
            <a:avLst>
              <a:gd name="adj" fmla="val 26000"/>
            </a:avLst>
          </a:prstGeom>
          <a:solidFill>
            <a:srgbClr val="7C3AED"/>
          </a:solidFill>
          <a:ln/>
        </p:spPr>
      </p:sp>
      <p:pic>
        <p:nvPicPr>
          <p:cNvPr id="26" name="Image 4" descr="C:\Users\Lenovo\AppData\Local\Temp\qwipo-deck\assets\ic_FaTruck_w.png">    </p:cNvPr>
          <p:cNvPicPr>
            <a:picLocks noChangeAspect="1"/>
          </p:cNvPicPr>
          <p:nvPr/>
        </p:nvPicPr>
        <p:blipFill>
          <a:blip r:embed="rId6"/>
          <a:stretch>
            <a:fillRect/>
          </a:stretch>
        </p:blipFill>
        <p:spPr>
          <a:xfrm>
            <a:off x="906902" y="5021702"/>
            <a:ext cx="325892" cy="325892"/>
          </a:xfrm>
          <a:prstGeom prst="rect">
            <a:avLst/>
          </a:prstGeom>
        </p:spPr>
      </p:pic>
      <p:sp>
        <p:nvSpPr>
          <p:cNvPr id="27" name="Text 20"/>
          <p:cNvSpPr/>
          <p:nvPr/>
        </p:nvSpPr>
        <p:spPr>
          <a:xfrm>
            <a:off x="1517904" y="4745736"/>
            <a:ext cx="4224528" cy="310896"/>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Logistics integrations</a:t>
            </a:r>
            <a:endParaRPr lang="en-US" sz="1400" dirty="0"/>
          </a:p>
        </p:txBody>
      </p:sp>
      <p:sp>
        <p:nvSpPr>
          <p:cNvPr id="28" name="Text 21"/>
          <p:cNvSpPr/>
          <p:nvPr/>
        </p:nvSpPr>
        <p:spPr>
          <a:xfrm>
            <a:off x="1517904" y="5093208"/>
            <a:ext cx="4224528" cy="548640"/>
          </a:xfrm>
          <a:prstGeom prst="rect">
            <a:avLst/>
          </a:prstGeom>
          <a:noFill/>
          <a:ln/>
        </p:spPr>
        <p:txBody>
          <a:bodyPr wrap="square" lIns="0" tIns="0" rIns="0" bIns="0" rtlCol="0" anchor="t"/>
          <a:lstStyle/>
          <a:p>
            <a:pPr indent="0" marL="0">
              <a:lnSpc>
                <a:spcPct val="100000"/>
              </a:lnSpc>
              <a:buNone/>
            </a:pPr>
            <a:r>
              <a:rPr lang="en-US" sz="1100" dirty="0">
                <a:solidFill>
                  <a:srgbClr val="E4E9F7"/>
                </a:solidFill>
                <a:latin typeface="Calibri" pitchFamily="34" charset="0"/>
                <a:ea typeface="Calibri" pitchFamily="34" charset="-122"/>
                <a:cs typeface="Calibri" pitchFamily="34" charset="-120"/>
              </a:rPr>
              <a:t>Manual, beat and 3PL fulfilment with end-to-end tracking.</a:t>
            </a:r>
            <a:endParaRPr lang="en-US" sz="1100" dirty="0"/>
          </a:p>
        </p:txBody>
      </p:sp>
      <p:sp>
        <p:nvSpPr>
          <p:cNvPr id="29" name="Shape 22"/>
          <p:cNvSpPr/>
          <p:nvPr/>
        </p:nvSpPr>
        <p:spPr>
          <a:xfrm>
            <a:off x="6236208" y="4581144"/>
            <a:ext cx="5413248" cy="1207008"/>
          </a:xfrm>
          <a:prstGeom prst="roundRect">
            <a:avLst>
              <a:gd name="adj" fmla="val 7576"/>
            </a:avLst>
          </a:prstGeom>
          <a:solidFill>
            <a:srgbClr val="FFFFFF">
              <a:alpha val="16000"/>
            </a:srgbClr>
          </a:solidFill>
          <a:ln w="12700">
            <a:solidFill>
              <a:srgbClr val="8579D8"/>
            </a:solidFill>
            <a:prstDash val="solid"/>
          </a:ln>
        </p:spPr>
      </p:sp>
      <p:sp>
        <p:nvSpPr>
          <p:cNvPr id="30" name="Shape 23"/>
          <p:cNvSpPr/>
          <p:nvPr/>
        </p:nvSpPr>
        <p:spPr>
          <a:xfrm>
            <a:off x="6455664" y="4882896"/>
            <a:ext cx="603504" cy="603504"/>
          </a:xfrm>
          <a:prstGeom prst="roundRect">
            <a:avLst>
              <a:gd name="adj" fmla="val 26000"/>
            </a:avLst>
          </a:prstGeom>
          <a:solidFill>
            <a:srgbClr val="2563EB"/>
          </a:solidFill>
          <a:ln/>
        </p:spPr>
      </p:sp>
      <p:pic>
        <p:nvPicPr>
          <p:cNvPr id="31" name="Image 5" descr="C:\Users\Lenovo\AppData\Local\Temp\qwipo-deck\assets\ic_FaExpandArrowsAlt_w.png">    </p:cNvPr>
          <p:cNvPicPr>
            <a:picLocks noChangeAspect="1"/>
          </p:cNvPicPr>
          <p:nvPr/>
        </p:nvPicPr>
        <p:blipFill>
          <a:blip r:embed="rId7"/>
          <a:stretch>
            <a:fillRect/>
          </a:stretch>
        </p:blipFill>
        <p:spPr>
          <a:xfrm>
            <a:off x="6594470" y="5021702"/>
            <a:ext cx="325892" cy="325892"/>
          </a:xfrm>
          <a:prstGeom prst="rect">
            <a:avLst/>
          </a:prstGeom>
        </p:spPr>
      </p:pic>
      <p:sp>
        <p:nvSpPr>
          <p:cNvPr id="32" name="Text 24"/>
          <p:cNvSpPr/>
          <p:nvPr/>
        </p:nvSpPr>
        <p:spPr>
          <a:xfrm>
            <a:off x="7205472" y="4745736"/>
            <a:ext cx="4224528" cy="310896"/>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Enterprise scalability</a:t>
            </a:r>
            <a:endParaRPr lang="en-US" sz="1400" dirty="0"/>
          </a:p>
        </p:txBody>
      </p:sp>
      <p:sp>
        <p:nvSpPr>
          <p:cNvPr id="33" name="Text 25"/>
          <p:cNvSpPr/>
          <p:nvPr/>
        </p:nvSpPr>
        <p:spPr>
          <a:xfrm>
            <a:off x="7205472" y="5093208"/>
            <a:ext cx="4224528" cy="548640"/>
          </a:xfrm>
          <a:prstGeom prst="rect">
            <a:avLst/>
          </a:prstGeom>
          <a:noFill/>
          <a:ln/>
        </p:spPr>
        <p:txBody>
          <a:bodyPr wrap="square" lIns="0" tIns="0" rIns="0" bIns="0" rtlCol="0" anchor="t"/>
          <a:lstStyle/>
          <a:p>
            <a:pPr indent="0" marL="0">
              <a:lnSpc>
                <a:spcPct val="100000"/>
              </a:lnSpc>
              <a:buNone/>
            </a:pPr>
            <a:r>
              <a:rPr lang="en-US" sz="1100" dirty="0">
                <a:solidFill>
                  <a:srgbClr val="E4E9F7"/>
                </a:solidFill>
                <a:latin typeface="Calibri" pitchFamily="34" charset="0"/>
                <a:ea typeface="Calibri" pitchFamily="34" charset="-122"/>
                <a:cs typeface="Calibri" pitchFamily="34" charset="-120"/>
              </a:rPr>
              <a:t>Multi-brand, multi-distributor, multi-channel from day one.</a:t>
            </a:r>
            <a:endParaRPr lang="en-US" sz="1100" dirty="0"/>
          </a:p>
        </p:txBody>
      </p:sp>
      <p:sp>
        <p:nvSpPr>
          <p:cNvPr id="34" name="Shape 26"/>
          <p:cNvSpPr/>
          <p:nvPr/>
        </p:nvSpPr>
        <p:spPr>
          <a:xfrm>
            <a:off x="548640" y="6025896"/>
            <a:ext cx="11100816" cy="1207008"/>
          </a:xfrm>
          <a:prstGeom prst="roundRect">
            <a:avLst>
              <a:gd name="adj" fmla="val 7576"/>
            </a:avLst>
          </a:prstGeom>
          <a:solidFill>
            <a:srgbClr val="FFFFFF">
              <a:alpha val="16000"/>
            </a:srgbClr>
          </a:solidFill>
          <a:ln w="12700">
            <a:solidFill>
              <a:srgbClr val="8579D8"/>
            </a:solidFill>
            <a:prstDash val="solid"/>
          </a:ln>
        </p:spPr>
      </p:sp>
      <p:sp>
        <p:nvSpPr>
          <p:cNvPr id="35" name="Shape 27"/>
          <p:cNvSpPr/>
          <p:nvPr/>
        </p:nvSpPr>
        <p:spPr>
          <a:xfrm>
            <a:off x="768096" y="6327648"/>
            <a:ext cx="603504" cy="603504"/>
          </a:xfrm>
          <a:prstGeom prst="roundRect">
            <a:avLst>
              <a:gd name="adj" fmla="val 26000"/>
            </a:avLst>
          </a:prstGeom>
          <a:solidFill>
            <a:srgbClr val="7C3AED"/>
          </a:solidFill>
          <a:ln/>
        </p:spPr>
      </p:sp>
      <p:pic>
        <p:nvPicPr>
          <p:cNvPr id="36" name="Image 6" descr="C:\Users\Lenovo\AppData\Local\Temp\qwipo-deck\assets\ic_FaWhatsapp_w.png">    </p:cNvPr>
          <p:cNvPicPr>
            <a:picLocks noChangeAspect="1"/>
          </p:cNvPicPr>
          <p:nvPr/>
        </p:nvPicPr>
        <p:blipFill>
          <a:blip r:embed="rId8"/>
          <a:stretch>
            <a:fillRect/>
          </a:stretch>
        </p:blipFill>
        <p:spPr>
          <a:xfrm>
            <a:off x="906902" y="6466454"/>
            <a:ext cx="325892" cy="325892"/>
          </a:xfrm>
          <a:prstGeom prst="rect">
            <a:avLst/>
          </a:prstGeom>
        </p:spPr>
      </p:pic>
      <p:sp>
        <p:nvSpPr>
          <p:cNvPr id="37" name="Text 28"/>
          <p:cNvSpPr/>
          <p:nvPr/>
        </p:nvSpPr>
        <p:spPr>
          <a:xfrm>
            <a:off x="1517904" y="6190488"/>
            <a:ext cx="9912096" cy="310896"/>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WhatsApp commerce</a:t>
            </a:r>
            <a:endParaRPr lang="en-US" sz="1400" dirty="0"/>
          </a:p>
        </p:txBody>
      </p:sp>
      <p:sp>
        <p:nvSpPr>
          <p:cNvPr id="38" name="Text 29"/>
          <p:cNvSpPr/>
          <p:nvPr/>
        </p:nvSpPr>
        <p:spPr>
          <a:xfrm>
            <a:off x="1517904" y="6537960"/>
            <a:ext cx="9912096" cy="548640"/>
          </a:xfrm>
          <a:prstGeom prst="rect">
            <a:avLst/>
          </a:prstGeom>
          <a:noFill/>
          <a:ln/>
        </p:spPr>
        <p:txBody>
          <a:bodyPr wrap="square" lIns="0" tIns="0" rIns="0" bIns="0" rtlCol="0" anchor="t"/>
          <a:lstStyle/>
          <a:p>
            <a:pPr indent="0" marL="0">
              <a:lnSpc>
                <a:spcPct val="100000"/>
              </a:lnSpc>
              <a:buNone/>
            </a:pPr>
            <a:r>
              <a:rPr lang="en-US" sz="1100" dirty="0">
                <a:solidFill>
                  <a:srgbClr val="E4E9F7"/>
                </a:solidFill>
                <a:latin typeface="Calibri" pitchFamily="34" charset="0"/>
                <a:ea typeface="Calibri" pitchFamily="34" charset="-122"/>
                <a:cs typeface="Calibri" pitchFamily="34" charset="-120"/>
              </a:rPr>
              <a:t>Zero-install retailer engagement and automated notifications.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Trebuchet MS" pitchFamily="34" charset="0"/>
                <a:ea typeface="Trebuchet MS" pitchFamily="34" charset="-122"/>
                <a:cs typeface="Trebuchet MS" pitchFamily="34" charset="-120"/>
              </a:rPr>
              <a:t>VALUE PROPOSITION</a:t>
            </a:r>
            <a:endParaRPr lang="en-US" sz="12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Trebuchet MS" pitchFamily="34" charset="0"/>
                <a:ea typeface="Trebuchet MS" pitchFamily="34" charset="-122"/>
                <a:cs typeface="Trebuchet MS" pitchFamily="34" charset="-120"/>
              </a:rPr>
              <a:t>The impact, in numbers</a:t>
            </a:r>
            <a:endParaRPr lang="en-US" sz="2900" dirty="0"/>
          </a:p>
        </p:txBody>
      </p:sp>
      <p:sp>
        <p:nvSpPr>
          <p:cNvPr id="4" name="Shape 2"/>
          <p:cNvSpPr/>
          <p:nvPr/>
        </p:nvSpPr>
        <p:spPr>
          <a:xfrm>
            <a:off x="548640" y="1783080"/>
            <a:ext cx="2670048" cy="1481328"/>
          </a:xfrm>
          <a:prstGeom prst="roundRect">
            <a:avLst>
              <a:gd name="adj" fmla="val 6173"/>
            </a:avLst>
          </a:prstGeom>
          <a:solidFill>
            <a:srgbClr val="F8FAFC"/>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5" name="Text 3"/>
          <p:cNvSpPr/>
          <p:nvPr/>
        </p:nvSpPr>
        <p:spPr>
          <a:xfrm>
            <a:off x="658368" y="1984248"/>
            <a:ext cx="2450592" cy="640080"/>
          </a:xfrm>
          <a:prstGeom prst="rect">
            <a:avLst/>
          </a:prstGeom>
          <a:noFill/>
          <a:ln/>
        </p:spPr>
        <p:txBody>
          <a:bodyPr wrap="square" lIns="0" tIns="0" rIns="0" bIns="0" rtlCol="0" anchor="ctr"/>
          <a:lstStyle/>
          <a:p>
            <a:pPr algn="ctr" indent="0" marL="0">
              <a:buNone/>
            </a:pPr>
            <a:r>
              <a:rPr lang="en-US" sz="3300" b="1" dirty="0">
                <a:solidFill>
                  <a:srgbClr val="7C3AED"/>
                </a:solidFill>
                <a:latin typeface="Trebuchet MS" pitchFamily="34" charset="0"/>
                <a:ea typeface="Trebuchet MS" pitchFamily="34" charset="-122"/>
                <a:cs typeface="Trebuchet MS" pitchFamily="34" charset="-120"/>
              </a:rPr>
              <a:t>&lt; 10 min</a:t>
            </a:r>
            <a:endParaRPr lang="en-US" sz="3300" dirty="0"/>
          </a:p>
        </p:txBody>
      </p:sp>
      <p:sp>
        <p:nvSpPr>
          <p:cNvPr id="6" name="Text 4"/>
          <p:cNvSpPr/>
          <p:nvPr/>
        </p:nvSpPr>
        <p:spPr>
          <a:xfrm>
            <a:off x="713232" y="2679192"/>
            <a:ext cx="2340864" cy="457200"/>
          </a:xfrm>
          <a:prstGeom prst="rect">
            <a:avLst/>
          </a:prstGeom>
          <a:noFill/>
          <a:ln/>
        </p:spPr>
        <p:txBody>
          <a:bodyPr wrap="square" lIns="0" tIns="0" rIns="0" bIns="0" rtlCol="0" anchor="t"/>
          <a:lstStyle/>
          <a:p>
            <a:pPr algn="ctr" indent="0" marL="0">
              <a:lnSpc>
                <a:spcPct val="100000"/>
              </a:lnSpc>
              <a:buNone/>
            </a:pPr>
            <a:r>
              <a:rPr lang="en-US" sz="1100" dirty="0">
                <a:solidFill>
                  <a:srgbClr val="334155"/>
                </a:solidFill>
                <a:latin typeface="Calibri" pitchFamily="34" charset="0"/>
                <a:ea typeface="Calibri" pitchFamily="34" charset="-122"/>
                <a:cs typeface="Calibri" pitchFamily="34" charset="-120"/>
              </a:rPr>
              <a:t>to onboard a distributor</a:t>
            </a:r>
            <a:endParaRPr lang="en-US" sz="1100" dirty="0"/>
          </a:p>
        </p:txBody>
      </p:sp>
      <p:sp>
        <p:nvSpPr>
          <p:cNvPr id="7" name="Shape 5"/>
          <p:cNvSpPr/>
          <p:nvPr/>
        </p:nvSpPr>
        <p:spPr>
          <a:xfrm>
            <a:off x="3511296" y="1783080"/>
            <a:ext cx="2670048" cy="1481328"/>
          </a:xfrm>
          <a:prstGeom prst="roundRect">
            <a:avLst>
              <a:gd name="adj" fmla="val 6173"/>
            </a:avLst>
          </a:prstGeom>
          <a:solidFill>
            <a:srgbClr val="F8FAFC"/>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8" name="Text 6"/>
          <p:cNvSpPr/>
          <p:nvPr/>
        </p:nvSpPr>
        <p:spPr>
          <a:xfrm>
            <a:off x="3621024" y="1984248"/>
            <a:ext cx="2450592" cy="640080"/>
          </a:xfrm>
          <a:prstGeom prst="rect">
            <a:avLst/>
          </a:prstGeom>
          <a:noFill/>
          <a:ln/>
        </p:spPr>
        <p:txBody>
          <a:bodyPr wrap="square" lIns="0" tIns="0" rIns="0" bIns="0" rtlCol="0" anchor="ctr"/>
          <a:lstStyle/>
          <a:p>
            <a:pPr algn="ctr" indent="0" marL="0">
              <a:buNone/>
            </a:pPr>
            <a:r>
              <a:rPr lang="en-US" sz="3300" b="1" dirty="0">
                <a:solidFill>
                  <a:srgbClr val="16A34A"/>
                </a:solidFill>
                <a:latin typeface="Trebuchet MS" pitchFamily="34" charset="0"/>
                <a:ea typeface="Trebuchet MS" pitchFamily="34" charset="-122"/>
                <a:cs typeface="Trebuchet MS" pitchFamily="34" charset="-120"/>
              </a:rPr>
              <a:t>50K+</a:t>
            </a:r>
            <a:endParaRPr lang="en-US" sz="3300" dirty="0"/>
          </a:p>
        </p:txBody>
      </p:sp>
      <p:sp>
        <p:nvSpPr>
          <p:cNvPr id="9" name="Text 7"/>
          <p:cNvSpPr/>
          <p:nvPr/>
        </p:nvSpPr>
        <p:spPr>
          <a:xfrm>
            <a:off x="3675888" y="2679192"/>
            <a:ext cx="2340864" cy="457200"/>
          </a:xfrm>
          <a:prstGeom prst="rect">
            <a:avLst/>
          </a:prstGeom>
          <a:noFill/>
          <a:ln/>
        </p:spPr>
        <p:txBody>
          <a:bodyPr wrap="square" lIns="0" tIns="0" rIns="0" bIns="0" rtlCol="0" anchor="t"/>
          <a:lstStyle/>
          <a:p>
            <a:pPr algn="ctr" indent="0" marL="0">
              <a:lnSpc>
                <a:spcPct val="100000"/>
              </a:lnSpc>
              <a:buNone/>
            </a:pPr>
            <a:r>
              <a:rPr lang="en-US" sz="1100" dirty="0">
                <a:solidFill>
                  <a:srgbClr val="334155"/>
                </a:solidFill>
                <a:latin typeface="Calibri" pitchFamily="34" charset="0"/>
                <a:ea typeface="Calibri" pitchFamily="34" charset="-122"/>
                <a:cs typeface="Calibri" pitchFamily="34" charset="-120"/>
              </a:rPr>
              <a:t>pre-validated SKUs to draw from</a:t>
            </a:r>
            <a:endParaRPr lang="en-US" sz="1100" dirty="0"/>
          </a:p>
        </p:txBody>
      </p:sp>
      <p:sp>
        <p:nvSpPr>
          <p:cNvPr id="10" name="Shape 8"/>
          <p:cNvSpPr/>
          <p:nvPr/>
        </p:nvSpPr>
        <p:spPr>
          <a:xfrm>
            <a:off x="6473952" y="1783080"/>
            <a:ext cx="2670048" cy="1481328"/>
          </a:xfrm>
          <a:prstGeom prst="roundRect">
            <a:avLst>
              <a:gd name="adj" fmla="val 6173"/>
            </a:avLst>
          </a:prstGeom>
          <a:solidFill>
            <a:srgbClr val="F8FAFC"/>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11" name="Text 9"/>
          <p:cNvSpPr/>
          <p:nvPr/>
        </p:nvSpPr>
        <p:spPr>
          <a:xfrm>
            <a:off x="6583680" y="1984248"/>
            <a:ext cx="2450592" cy="640080"/>
          </a:xfrm>
          <a:prstGeom prst="rect">
            <a:avLst/>
          </a:prstGeom>
          <a:noFill/>
          <a:ln/>
        </p:spPr>
        <p:txBody>
          <a:bodyPr wrap="square" lIns="0" tIns="0" rIns="0" bIns="0" rtlCol="0" anchor="ctr"/>
          <a:lstStyle/>
          <a:p>
            <a:pPr algn="ctr" indent="0" marL="0">
              <a:buNone/>
            </a:pPr>
            <a:r>
              <a:rPr lang="en-US" sz="3300" b="1" dirty="0">
                <a:solidFill>
                  <a:srgbClr val="2563EB"/>
                </a:solidFill>
                <a:latin typeface="Trebuchet MS" pitchFamily="34" charset="0"/>
                <a:ea typeface="Trebuchet MS" pitchFamily="34" charset="-122"/>
                <a:cs typeface="Trebuchet MS" pitchFamily="34" charset="-120"/>
              </a:rPr>
              <a:t>~80%</a:t>
            </a:r>
            <a:endParaRPr lang="en-US" sz="3300" dirty="0"/>
          </a:p>
        </p:txBody>
      </p:sp>
      <p:sp>
        <p:nvSpPr>
          <p:cNvPr id="12" name="Text 10"/>
          <p:cNvSpPr/>
          <p:nvPr/>
        </p:nvSpPr>
        <p:spPr>
          <a:xfrm>
            <a:off x="6638544" y="2679192"/>
            <a:ext cx="2340864" cy="457200"/>
          </a:xfrm>
          <a:prstGeom prst="rect">
            <a:avLst/>
          </a:prstGeom>
          <a:noFill/>
          <a:ln/>
        </p:spPr>
        <p:txBody>
          <a:bodyPr wrap="square" lIns="0" tIns="0" rIns="0" bIns="0" rtlCol="0" anchor="t"/>
          <a:lstStyle/>
          <a:p>
            <a:pPr algn="ctr" indent="0" marL="0">
              <a:lnSpc>
                <a:spcPct val="100000"/>
              </a:lnSpc>
              <a:buNone/>
            </a:pPr>
            <a:r>
              <a:rPr lang="en-US" sz="1100" dirty="0">
                <a:solidFill>
                  <a:srgbClr val="334155"/>
                </a:solidFill>
                <a:latin typeface="Calibri" pitchFamily="34" charset="0"/>
                <a:ea typeface="Calibri" pitchFamily="34" charset="-122"/>
                <a:cs typeface="Calibri" pitchFamily="34" charset="-120"/>
              </a:rPr>
              <a:t>less manual catalog effort</a:t>
            </a:r>
            <a:endParaRPr lang="en-US" sz="1100" dirty="0"/>
          </a:p>
        </p:txBody>
      </p:sp>
      <p:sp>
        <p:nvSpPr>
          <p:cNvPr id="13" name="Shape 11"/>
          <p:cNvSpPr/>
          <p:nvPr/>
        </p:nvSpPr>
        <p:spPr>
          <a:xfrm>
            <a:off x="9436608" y="1783080"/>
            <a:ext cx="2670048" cy="1481328"/>
          </a:xfrm>
          <a:prstGeom prst="roundRect">
            <a:avLst>
              <a:gd name="adj" fmla="val 6173"/>
            </a:avLst>
          </a:prstGeom>
          <a:solidFill>
            <a:srgbClr val="F8FAFC"/>
          </a:solidFill>
          <a:ln w="12700">
            <a:solidFill>
              <a:srgbClr val="E2E8F0"/>
            </a:solidFill>
            <a:prstDash val="solid"/>
          </a:ln>
          <a:effectLst>
            <a:outerShdw sx="100000" sy="100000" kx="0" ky="0" algn="bl" rotWithShape="0" blurRad="88900" dist="25400" dir="5400000">
              <a:srgbClr val="334155">
                <a:alpha val="12000"/>
              </a:srgbClr>
            </a:outerShdw>
          </a:effectLst>
        </p:spPr>
      </p:sp>
      <p:sp>
        <p:nvSpPr>
          <p:cNvPr id="14" name="Text 12"/>
          <p:cNvSpPr/>
          <p:nvPr/>
        </p:nvSpPr>
        <p:spPr>
          <a:xfrm>
            <a:off x="9546336" y="1984248"/>
            <a:ext cx="2450592" cy="640080"/>
          </a:xfrm>
          <a:prstGeom prst="rect">
            <a:avLst/>
          </a:prstGeom>
          <a:noFill/>
          <a:ln/>
        </p:spPr>
        <p:txBody>
          <a:bodyPr wrap="square" lIns="0" tIns="0" rIns="0" bIns="0" rtlCol="0" anchor="ctr"/>
          <a:lstStyle/>
          <a:p>
            <a:pPr algn="ctr" indent="0" marL="0">
              <a:buNone/>
            </a:pPr>
            <a:r>
              <a:rPr lang="en-US" sz="3300" b="1" dirty="0">
                <a:solidFill>
                  <a:srgbClr val="4338CA"/>
                </a:solidFill>
                <a:latin typeface="Trebuchet MS" pitchFamily="34" charset="0"/>
                <a:ea typeface="Trebuchet MS" pitchFamily="34" charset="-122"/>
                <a:cs typeface="Trebuchet MS" pitchFamily="34" charset="-120"/>
              </a:rPr>
              <a:t>100%</a:t>
            </a:r>
            <a:endParaRPr lang="en-US" sz="3300" dirty="0"/>
          </a:p>
        </p:txBody>
      </p:sp>
      <p:sp>
        <p:nvSpPr>
          <p:cNvPr id="15" name="Text 13"/>
          <p:cNvSpPr/>
          <p:nvPr/>
        </p:nvSpPr>
        <p:spPr>
          <a:xfrm>
            <a:off x="9601200" y="2679192"/>
            <a:ext cx="2340864" cy="457200"/>
          </a:xfrm>
          <a:prstGeom prst="rect">
            <a:avLst/>
          </a:prstGeom>
          <a:noFill/>
          <a:ln/>
        </p:spPr>
        <p:txBody>
          <a:bodyPr wrap="square" lIns="0" tIns="0" rIns="0" bIns="0" rtlCol="0" anchor="t"/>
          <a:lstStyle/>
          <a:p>
            <a:pPr algn="ctr" indent="0" marL="0">
              <a:lnSpc>
                <a:spcPct val="100000"/>
              </a:lnSpc>
              <a:buNone/>
            </a:pPr>
            <a:r>
              <a:rPr lang="en-US" sz="1100" dirty="0">
                <a:solidFill>
                  <a:srgbClr val="334155"/>
                </a:solidFill>
                <a:latin typeface="Calibri" pitchFamily="34" charset="0"/>
                <a:ea typeface="Calibri" pitchFamily="34" charset="-122"/>
                <a:cs typeface="Calibri" pitchFamily="34" charset="-120"/>
              </a:rPr>
              <a:t>ONDC-ready out of the box</a:t>
            </a:r>
            <a:endParaRPr lang="en-US" sz="1100" dirty="0"/>
          </a:p>
        </p:txBody>
      </p:sp>
      <p:sp>
        <p:nvSpPr>
          <p:cNvPr id="16" name="Text 14"/>
          <p:cNvSpPr/>
          <p:nvPr/>
        </p:nvSpPr>
        <p:spPr>
          <a:xfrm>
            <a:off x="548640" y="3611880"/>
            <a:ext cx="6400800" cy="274320"/>
          </a:xfrm>
          <a:prstGeom prst="rect">
            <a:avLst/>
          </a:prstGeom>
          <a:noFill/>
          <a:ln/>
        </p:spPr>
        <p:txBody>
          <a:bodyPr wrap="square" lIns="0" tIns="0" rIns="0" bIns="0" rtlCol="0" anchor="ctr"/>
          <a:lstStyle/>
          <a:p>
            <a:pPr indent="0" marL="0">
              <a:buNone/>
            </a:pPr>
            <a:r>
              <a:rPr lang="en-US" sz="1100" b="1" spc="100" kern="0" dirty="0">
                <a:solidFill>
                  <a:srgbClr val="7C3AED"/>
                </a:solidFill>
                <a:latin typeface="Trebuchet MS" pitchFamily="34" charset="0"/>
                <a:ea typeface="Trebuchet MS" pitchFamily="34" charset="-122"/>
                <a:cs typeface="Trebuchet MS" pitchFamily="34" charset="-120"/>
              </a:rPr>
              <a:t>ILLUSTRATIVE: DIGITAL ORDER ADOPTION AFTER GO-LIVE</a:t>
            </a:r>
            <a:endParaRPr lang="en-US" sz="1100" dirty="0"/>
          </a:p>
        </p:txBody>
      </p:sp>
      <p:graphicFrame>
        <p:nvGraphicFramePr>
          <p:cNvPr id="17" name="Chart 0" descr=""/>
          <p:cNvGraphicFramePr/>
          <p:nvPr/>
        </p:nvGraphicFramePr>
        <p:xfrm>
          <a:off x="502920" y="3931920"/>
          <a:ext cx="6080760" cy="2240280"/>
        </p:xfrm>
        <a:graphic xmlns:a="http://schemas.openxmlformats.org/drawingml/2006/main">
          <a:graphicData uri="http://schemas.openxmlformats.org/drawingml/2006/chart">
            <c:chart xmlns:c="http://schemas.openxmlformats.org/drawingml/2006/chart" r:id="rId1"/>
          </a:graphicData>
        </a:graphic>
      </p:graphicFrame>
      <p:sp>
        <p:nvSpPr>
          <p:cNvPr id="18" name="Shape 15"/>
          <p:cNvSpPr/>
          <p:nvPr/>
        </p:nvSpPr>
        <p:spPr>
          <a:xfrm>
            <a:off x="6903720" y="3931920"/>
            <a:ext cx="4736592" cy="2240280"/>
          </a:xfrm>
          <a:prstGeom prst="roundRect">
            <a:avLst>
              <a:gd name="adj" fmla="val 4082"/>
            </a:avLst>
          </a:prstGeom>
          <a:solidFill>
            <a:srgbClr val="F3EEFE"/>
          </a:solidFill>
          <a:ln w="12700">
            <a:solidFill>
              <a:srgbClr val="DDD0FB"/>
            </a:solidFill>
            <a:prstDash val="solid"/>
          </a:ln>
        </p:spPr>
      </p:sp>
      <p:sp>
        <p:nvSpPr>
          <p:cNvPr id="19" name="Text 16"/>
          <p:cNvSpPr/>
          <p:nvPr/>
        </p:nvSpPr>
        <p:spPr>
          <a:xfrm>
            <a:off x="7178040" y="4114800"/>
            <a:ext cx="4187952" cy="274320"/>
          </a:xfrm>
          <a:prstGeom prst="rect">
            <a:avLst/>
          </a:prstGeom>
          <a:noFill/>
          <a:ln/>
        </p:spPr>
        <p:txBody>
          <a:bodyPr wrap="square" lIns="0" tIns="0" rIns="0" bIns="0" rtlCol="0" anchor="ctr"/>
          <a:lstStyle/>
          <a:p>
            <a:pPr indent="0" marL="0">
              <a:buNone/>
            </a:pPr>
            <a:r>
              <a:rPr lang="en-US" sz="1100" b="1" spc="150" kern="0" dirty="0">
                <a:solidFill>
                  <a:srgbClr val="7C3AED"/>
                </a:solidFill>
                <a:latin typeface="Trebuchet MS" pitchFamily="34" charset="0"/>
                <a:ea typeface="Trebuchet MS" pitchFamily="34" charset="-122"/>
                <a:cs typeface="Trebuchet MS" pitchFamily="34" charset="-120"/>
              </a:rPr>
              <a:t>ALSO IMPROVED</a:t>
            </a:r>
            <a:endParaRPr lang="en-US" sz="1100" dirty="0"/>
          </a:p>
        </p:txBody>
      </p:sp>
      <p:pic>
        <p:nvPicPr>
          <p:cNvPr id="20" name="Image 0" descr="C:\Users\Lenovo\AppData\Local\Temp\qwipo-deck\assets\ic_FaCheckCircle_c.png">    </p:cNvPr>
          <p:cNvPicPr>
            <a:picLocks noChangeAspect="1"/>
          </p:cNvPicPr>
          <p:nvPr/>
        </p:nvPicPr>
        <p:blipFill>
          <a:blip r:embed="rId2"/>
          <a:stretch>
            <a:fillRect/>
          </a:stretch>
        </p:blipFill>
        <p:spPr>
          <a:xfrm>
            <a:off x="7196328" y="4498848"/>
            <a:ext cx="237744" cy="237744"/>
          </a:xfrm>
          <a:prstGeom prst="rect">
            <a:avLst/>
          </a:prstGeom>
        </p:spPr>
      </p:pic>
      <p:sp>
        <p:nvSpPr>
          <p:cNvPr id="21" name="Text 17"/>
          <p:cNvSpPr/>
          <p:nvPr/>
        </p:nvSpPr>
        <p:spPr>
          <a:xfrm>
            <a:off x="7543800" y="4443984"/>
            <a:ext cx="3822192" cy="384048"/>
          </a:xfrm>
          <a:prstGeom prst="rect">
            <a:avLst/>
          </a:prstGeom>
          <a:noFill/>
          <a:ln/>
        </p:spPr>
        <p:txBody>
          <a:bodyPr wrap="square" lIns="0" tIns="0" rIns="0" bIns="0" rtlCol="0" anchor="ctr"/>
          <a:lstStyle/>
          <a:p>
            <a:pPr indent="0" marL="0">
              <a:lnSpc>
                <a:spcPct val="98000"/>
              </a:lnSpc>
              <a:buNone/>
            </a:pPr>
            <a:r>
              <a:rPr lang="en-US" sz="1100" dirty="0">
                <a:solidFill>
                  <a:srgbClr val="1E293B"/>
                </a:solidFill>
                <a:latin typeface="Calibri" pitchFamily="34" charset="0"/>
                <a:ea typeface="Calibri" pitchFamily="34" charset="-122"/>
                <a:cs typeface="Calibri" pitchFamily="34" charset="-120"/>
              </a:rPr>
              <a:t>Order processing speed — calls &amp; spreadsheets replaced by one queue</a:t>
            </a:r>
            <a:endParaRPr lang="en-US" sz="1100" dirty="0"/>
          </a:p>
        </p:txBody>
      </p:sp>
      <p:pic>
        <p:nvPicPr>
          <p:cNvPr id="22" name="Image 1" descr="C:\Users\Lenovo\AppData\Local\Temp\qwipo-deck\assets\ic_FaCheckCircle_c.png">    </p:cNvPr>
          <p:cNvPicPr>
            <a:picLocks noChangeAspect="1"/>
          </p:cNvPicPr>
          <p:nvPr/>
        </p:nvPicPr>
        <p:blipFill>
          <a:blip r:embed="rId3"/>
          <a:stretch>
            <a:fillRect/>
          </a:stretch>
        </p:blipFill>
        <p:spPr>
          <a:xfrm>
            <a:off x="7196328" y="4919472"/>
            <a:ext cx="237744" cy="237744"/>
          </a:xfrm>
          <a:prstGeom prst="rect">
            <a:avLst/>
          </a:prstGeom>
        </p:spPr>
      </p:pic>
      <p:sp>
        <p:nvSpPr>
          <p:cNvPr id="23" name="Text 18"/>
          <p:cNvSpPr/>
          <p:nvPr/>
        </p:nvSpPr>
        <p:spPr>
          <a:xfrm>
            <a:off x="7543800" y="4864608"/>
            <a:ext cx="3822192" cy="384048"/>
          </a:xfrm>
          <a:prstGeom prst="rect">
            <a:avLst/>
          </a:prstGeom>
          <a:noFill/>
          <a:ln/>
        </p:spPr>
        <p:txBody>
          <a:bodyPr wrap="square" lIns="0" tIns="0" rIns="0" bIns="0" rtlCol="0" anchor="ctr"/>
          <a:lstStyle/>
          <a:p>
            <a:pPr indent="0" marL="0">
              <a:lnSpc>
                <a:spcPct val="98000"/>
              </a:lnSpc>
              <a:buNone/>
            </a:pPr>
            <a:r>
              <a:rPr lang="en-US" sz="1100" dirty="0">
                <a:solidFill>
                  <a:srgbClr val="1E293B"/>
                </a:solidFill>
                <a:latin typeface="Calibri" pitchFamily="34" charset="0"/>
                <a:ea typeface="Calibri" pitchFamily="34" charset="-122"/>
                <a:cs typeface="Calibri" pitchFamily="34" charset="-120"/>
              </a:rPr>
              <a:t>Territory governance — conflict-free, polygon-based allocation</a:t>
            </a:r>
            <a:endParaRPr lang="en-US" sz="1100" dirty="0"/>
          </a:p>
        </p:txBody>
      </p:sp>
      <p:pic>
        <p:nvPicPr>
          <p:cNvPr id="24" name="Image 2" descr="C:\Users\Lenovo\AppData\Local\Temp\qwipo-deck\assets\ic_FaCheckCircle_c.png">    </p:cNvPr>
          <p:cNvPicPr>
            <a:picLocks noChangeAspect="1"/>
          </p:cNvPicPr>
          <p:nvPr/>
        </p:nvPicPr>
        <p:blipFill>
          <a:blip r:embed="rId4"/>
          <a:stretch>
            <a:fillRect/>
          </a:stretch>
        </p:blipFill>
        <p:spPr>
          <a:xfrm>
            <a:off x="7196328" y="5340096"/>
            <a:ext cx="237744" cy="237744"/>
          </a:xfrm>
          <a:prstGeom prst="rect">
            <a:avLst/>
          </a:prstGeom>
        </p:spPr>
      </p:pic>
      <p:sp>
        <p:nvSpPr>
          <p:cNvPr id="25" name="Text 19"/>
          <p:cNvSpPr/>
          <p:nvPr/>
        </p:nvSpPr>
        <p:spPr>
          <a:xfrm>
            <a:off x="7543800" y="5285232"/>
            <a:ext cx="3822192" cy="384048"/>
          </a:xfrm>
          <a:prstGeom prst="rect">
            <a:avLst/>
          </a:prstGeom>
          <a:noFill/>
          <a:ln/>
        </p:spPr>
        <p:txBody>
          <a:bodyPr wrap="square" lIns="0" tIns="0" rIns="0" bIns="0" rtlCol="0" anchor="ctr"/>
          <a:lstStyle/>
          <a:p>
            <a:pPr indent="0" marL="0">
              <a:lnSpc>
                <a:spcPct val="98000"/>
              </a:lnSpc>
              <a:buNone/>
            </a:pPr>
            <a:r>
              <a:rPr lang="en-US" sz="1100" dirty="0">
                <a:solidFill>
                  <a:srgbClr val="1E293B"/>
                </a:solidFill>
                <a:latin typeface="Calibri" pitchFamily="34" charset="0"/>
                <a:ea typeface="Calibri" pitchFamily="34" charset="-122"/>
                <a:cs typeface="Calibri" pitchFamily="34" charset="-120"/>
              </a:rPr>
              <a:t>Delivery visibility — every shipment tracked to proof of delivery</a:t>
            </a:r>
            <a:endParaRPr lang="en-US" sz="1100" dirty="0"/>
          </a:p>
        </p:txBody>
      </p:sp>
      <p:pic>
        <p:nvPicPr>
          <p:cNvPr id="26" name="Image 3" descr="C:\Users\Lenovo\AppData\Local\Temp\qwipo-deck\assets\ic_FaCheckCircle_c.png">    </p:cNvPr>
          <p:cNvPicPr>
            <a:picLocks noChangeAspect="1"/>
          </p:cNvPicPr>
          <p:nvPr/>
        </p:nvPicPr>
        <p:blipFill>
          <a:blip r:embed="rId5"/>
          <a:stretch>
            <a:fillRect/>
          </a:stretch>
        </p:blipFill>
        <p:spPr>
          <a:xfrm>
            <a:off x="7196328" y="5760720"/>
            <a:ext cx="237744" cy="237744"/>
          </a:xfrm>
          <a:prstGeom prst="rect">
            <a:avLst/>
          </a:prstGeom>
        </p:spPr>
      </p:pic>
      <p:sp>
        <p:nvSpPr>
          <p:cNvPr id="27" name="Text 20"/>
          <p:cNvSpPr/>
          <p:nvPr/>
        </p:nvSpPr>
        <p:spPr>
          <a:xfrm>
            <a:off x="7543800" y="5705856"/>
            <a:ext cx="3822192" cy="384048"/>
          </a:xfrm>
          <a:prstGeom prst="rect">
            <a:avLst/>
          </a:prstGeom>
          <a:noFill/>
          <a:ln/>
        </p:spPr>
        <p:txBody>
          <a:bodyPr wrap="square" lIns="0" tIns="0" rIns="0" bIns="0" rtlCol="0" anchor="ctr"/>
          <a:lstStyle/>
          <a:p>
            <a:pPr indent="0" marL="0">
              <a:lnSpc>
                <a:spcPct val="98000"/>
              </a:lnSpc>
              <a:buNone/>
            </a:pPr>
            <a:r>
              <a:rPr lang="en-US" sz="1100" dirty="0">
                <a:solidFill>
                  <a:srgbClr val="1E293B"/>
                </a:solidFill>
                <a:latin typeface="Calibri" pitchFamily="34" charset="0"/>
                <a:ea typeface="Calibri" pitchFamily="34" charset="-122"/>
                <a:cs typeface="Calibri" pitchFamily="34" charset="-120"/>
              </a:rPr>
              <a:t>Retailer engagement — automated WhatsApp at every step</a:t>
            </a:r>
            <a:endParaRPr lang="en-US" sz="1100" dirty="0"/>
          </a:p>
        </p:txBody>
      </p:sp>
      <p:sp>
        <p:nvSpPr>
          <p:cNvPr id="28" name="Text 21"/>
          <p:cNvSpPr/>
          <p:nvPr/>
        </p:nvSpPr>
        <p:spPr>
          <a:xfrm>
            <a:off x="548640" y="6327648"/>
            <a:ext cx="10972800" cy="228600"/>
          </a:xfrm>
          <a:prstGeom prst="rect">
            <a:avLst/>
          </a:prstGeom>
          <a:noFill/>
          <a:ln/>
        </p:spPr>
        <p:txBody>
          <a:bodyPr wrap="square" lIns="0" tIns="0" rIns="0" bIns="0" rtlCol="0" anchor="ctr"/>
          <a:lstStyle/>
          <a:p>
            <a:pPr indent="0" marL="0">
              <a:buNone/>
            </a:pPr>
            <a:r>
              <a:rPr lang="en-US" sz="850" i="1" dirty="0">
                <a:solidFill>
                  <a:srgbClr val="94A3B8"/>
                </a:solidFill>
                <a:latin typeface="Calibri" pitchFamily="34" charset="0"/>
                <a:ea typeface="Calibri" pitchFamily="34" charset="-122"/>
                <a:cs typeface="Calibri" pitchFamily="34" charset="-120"/>
              </a:rPr>
              <a:t>Figures are illustrative targets based on platform capabilities, not guaranteed results.</a:t>
            </a:r>
            <a:endParaRPr lang="en-US" sz="850" dirty="0"/>
          </a:p>
        </p:txBody>
      </p:sp>
      <p:sp>
        <p:nvSpPr>
          <p:cNvPr id="29" name="Text 22"/>
          <p:cNvSpPr/>
          <p:nvPr/>
        </p:nvSpPr>
        <p:spPr>
          <a:xfrm>
            <a:off x="548640" y="6437376"/>
            <a:ext cx="5486400" cy="274320"/>
          </a:xfrm>
          <a:prstGeom prst="rect">
            <a:avLst/>
          </a:prstGeom>
          <a:noFill/>
          <a:ln/>
        </p:spPr>
        <p:txBody>
          <a:bodyPr wrap="square" lIns="0" tIns="0" rIns="0" bIns="0" rtlCol="0" anchor="ctr"/>
          <a:lstStyle/>
          <a:p>
            <a:pPr indent="0" marL="0">
              <a:buNone/>
            </a:pPr>
            <a:r>
              <a:rPr lang="en-US" sz="900" b="1" dirty="0">
                <a:solidFill>
                  <a:srgbClr val="7C3AED"/>
                </a:solidFill>
                <a:latin typeface="Calibri" pitchFamily="34" charset="0"/>
                <a:ea typeface="Calibri" pitchFamily="34" charset="-122"/>
                <a:cs typeface="Calibri" pitchFamily="34" charset="-120"/>
              </a:rPr>
              <a:t>Qwipo</a:t>
            </a:r>
            <a:pPr indent="0" marL="0">
              <a:buNone/>
            </a:pPr>
            <a:r>
              <a:rPr lang="en-US" sz="900" dirty="0">
                <a:solidFill>
                  <a:srgbClr val="94A3B8"/>
                </a:solidFill>
                <a:latin typeface="Calibri" pitchFamily="34" charset="0"/>
                <a:ea typeface="Calibri" pitchFamily="34" charset="-122"/>
                <a:cs typeface="Calibri" pitchFamily="34" charset="-120"/>
              </a:rPr>
              <a:t>   Seller Store Platform</a:t>
            </a:r>
            <a:endParaRPr lang="en-US" sz="900" dirty="0"/>
          </a:p>
        </p:txBody>
      </p:sp>
      <p:sp>
        <p:nvSpPr>
          <p:cNvPr id="30" name="Text 23"/>
          <p:cNvSpPr/>
          <p:nvPr/>
        </p:nvSpPr>
        <p:spPr>
          <a:xfrm>
            <a:off x="9966960" y="6437376"/>
            <a:ext cx="1673352"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19 / 20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548640"/>
            <a:ext cx="462686" cy="462686"/>
          </a:xfrm>
          <a:prstGeom prst="roundRect">
            <a:avLst>
              <a:gd name="adj" fmla="val 28000"/>
            </a:avLst>
          </a:prstGeom>
          <a:solidFill>
            <a:srgbClr val="7C3AED"/>
          </a:solidFill>
          <a:ln/>
        </p:spPr>
      </p:sp>
      <p:sp>
        <p:nvSpPr>
          <p:cNvPr id="3" name="Text 1"/>
          <p:cNvSpPr/>
          <p:nvPr/>
        </p:nvSpPr>
        <p:spPr>
          <a:xfrm>
            <a:off x="640080" y="538582"/>
            <a:ext cx="462686" cy="462686"/>
          </a:xfrm>
          <a:prstGeom prst="rect">
            <a:avLst/>
          </a:prstGeom>
          <a:noFill/>
          <a:ln/>
        </p:spPr>
        <p:txBody>
          <a:bodyPr wrap="square" lIns="0" tIns="0" rIns="0" bIns="0" rtlCol="0" anchor="ctr"/>
          <a:lstStyle/>
          <a:p>
            <a:pPr algn="ctr" indent="0" marL="0">
              <a:buNone/>
            </a:pPr>
            <a:r>
              <a:rPr lang="en-US" sz="2420" b="1" dirty="0">
                <a:solidFill>
                  <a:srgbClr val="FFFFFF"/>
                </a:solidFill>
                <a:latin typeface="Trebuchet MS" pitchFamily="34" charset="0"/>
                <a:ea typeface="Trebuchet MS" pitchFamily="34" charset="-122"/>
                <a:cs typeface="Trebuchet MS" pitchFamily="34" charset="-120"/>
              </a:rPr>
              <a:t>Q</a:t>
            </a:r>
            <a:endParaRPr lang="en-US" sz="2420" dirty="0"/>
          </a:p>
        </p:txBody>
      </p:sp>
      <p:sp>
        <p:nvSpPr>
          <p:cNvPr id="4" name="Text 2"/>
          <p:cNvSpPr/>
          <p:nvPr/>
        </p:nvSpPr>
        <p:spPr>
          <a:xfrm>
            <a:off x="1212494" y="502920"/>
            <a:ext cx="2414016" cy="554126"/>
          </a:xfrm>
          <a:prstGeom prst="rect">
            <a:avLst/>
          </a:prstGeom>
          <a:noFill/>
          <a:ln/>
        </p:spPr>
        <p:txBody>
          <a:bodyPr wrap="square" lIns="0" tIns="0" rIns="0" bIns="0" rtlCol="0" anchor="ctr"/>
          <a:lstStyle/>
          <a:p>
            <a:pPr indent="0" marL="0">
              <a:buNone/>
            </a:pPr>
            <a:r>
              <a:rPr lang="en-US" sz="2420" b="1" dirty="0">
                <a:solidFill>
                  <a:srgbClr val="FFFFFF"/>
                </a:solidFill>
                <a:latin typeface="Trebuchet MS" pitchFamily="34" charset="0"/>
                <a:ea typeface="Trebuchet MS" pitchFamily="34" charset="-122"/>
                <a:cs typeface="Trebuchet MS" pitchFamily="34" charset="-120"/>
              </a:rPr>
              <a:t>Qwipo</a:t>
            </a:r>
            <a:endParaRPr lang="en-US" sz="2420" dirty="0"/>
          </a:p>
        </p:txBody>
      </p:sp>
      <p:sp>
        <p:nvSpPr>
          <p:cNvPr id="5" name="Text 3"/>
          <p:cNvSpPr/>
          <p:nvPr/>
        </p:nvSpPr>
        <p:spPr>
          <a:xfrm>
            <a:off x="658368" y="2286000"/>
            <a:ext cx="10058400" cy="365760"/>
          </a:xfrm>
          <a:prstGeom prst="rect">
            <a:avLst/>
          </a:prstGeom>
          <a:noFill/>
          <a:ln/>
        </p:spPr>
        <p:txBody>
          <a:bodyPr wrap="square" lIns="0" tIns="0" rIns="0" bIns="0" rtlCol="0" anchor="ctr"/>
          <a:lstStyle/>
          <a:p>
            <a:pPr indent="0" marL="0">
              <a:buNone/>
            </a:pPr>
            <a:r>
              <a:rPr lang="en-US" sz="1400" b="1" spc="400" kern="0" dirty="0">
                <a:solidFill>
                  <a:srgbClr val="C4B5FD"/>
                </a:solidFill>
                <a:latin typeface="Trebuchet MS" pitchFamily="34" charset="0"/>
                <a:ea typeface="Trebuchet MS" pitchFamily="34" charset="-122"/>
                <a:cs typeface="Trebuchet MS" pitchFamily="34" charset="-120"/>
              </a:rPr>
              <a:t>THANK YOU</a:t>
            </a:r>
            <a:endParaRPr lang="en-US" sz="1400" dirty="0"/>
          </a:p>
        </p:txBody>
      </p:sp>
      <p:sp>
        <p:nvSpPr>
          <p:cNvPr id="6" name="Text 4"/>
          <p:cNvSpPr/>
          <p:nvPr/>
        </p:nvSpPr>
        <p:spPr>
          <a:xfrm>
            <a:off x="621792" y="269748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Let's digitise your distribution network</a:t>
            </a:r>
            <a:endParaRPr lang="en-US" sz="4000" dirty="0"/>
          </a:p>
        </p:txBody>
      </p:sp>
      <p:sp>
        <p:nvSpPr>
          <p:cNvPr id="7" name="Text 5"/>
          <p:cNvSpPr/>
          <p:nvPr/>
        </p:nvSpPr>
        <p:spPr>
          <a:xfrm>
            <a:off x="658368" y="3794760"/>
            <a:ext cx="10058400" cy="411480"/>
          </a:xfrm>
          <a:prstGeom prst="rect">
            <a:avLst/>
          </a:prstGeom>
          <a:noFill/>
          <a:ln/>
        </p:spPr>
        <p:txBody>
          <a:bodyPr wrap="square" lIns="0" tIns="0" rIns="0" bIns="0" rtlCol="0" anchor="ctr"/>
          <a:lstStyle/>
          <a:p>
            <a:pPr indent="0" marL="0">
              <a:buNone/>
            </a:pPr>
            <a:r>
              <a:rPr lang="en-US" sz="1700" dirty="0">
                <a:solidFill>
                  <a:srgbClr val="DBE2F0"/>
                </a:solidFill>
                <a:latin typeface="Calibri" pitchFamily="34" charset="0"/>
                <a:ea typeface="Calibri" pitchFamily="34" charset="-122"/>
                <a:cs typeface="Calibri" pitchFamily="34" charset="-120"/>
              </a:rPr>
              <a:t>Qwipo — Digital Commerce &amp; Distribution Platform</a:t>
            </a:r>
            <a:endParaRPr lang="en-US" sz="1700" dirty="0"/>
          </a:p>
        </p:txBody>
      </p:sp>
      <p:sp>
        <p:nvSpPr>
          <p:cNvPr id="8" name="Shape 6"/>
          <p:cNvSpPr/>
          <p:nvPr/>
        </p:nvSpPr>
        <p:spPr>
          <a:xfrm>
            <a:off x="658368" y="4800600"/>
            <a:ext cx="2926080" cy="640080"/>
          </a:xfrm>
          <a:prstGeom prst="roundRect">
            <a:avLst>
              <a:gd name="adj" fmla="val 14286"/>
            </a:avLst>
          </a:prstGeom>
          <a:solidFill>
            <a:srgbClr val="FFFFFF">
              <a:alpha val="12000"/>
            </a:srgbClr>
          </a:solidFill>
          <a:ln w="12700">
            <a:solidFill>
              <a:srgbClr val="6D5BD0"/>
            </a:solidFill>
            <a:prstDash val="solid"/>
          </a:ln>
        </p:spPr>
      </p:sp>
      <p:sp>
        <p:nvSpPr>
          <p:cNvPr id="9" name="Shape 7"/>
          <p:cNvSpPr/>
          <p:nvPr/>
        </p:nvSpPr>
        <p:spPr>
          <a:xfrm>
            <a:off x="804672" y="4901184"/>
            <a:ext cx="438912" cy="438912"/>
          </a:xfrm>
          <a:prstGeom prst="roundRect">
            <a:avLst>
              <a:gd name="adj" fmla="val 26000"/>
            </a:avLst>
          </a:prstGeom>
          <a:solidFill>
            <a:srgbClr val="7C3AED"/>
          </a:solidFill>
          <a:ln/>
        </p:spPr>
      </p:sp>
      <p:pic>
        <p:nvPicPr>
          <p:cNvPr id="10" name="Image 0" descr="C:\Users\Lenovo\AppData\Local\Temp\qwipo-deck\assets\ic_FaGlobe_w.png">    </p:cNvPr>
          <p:cNvPicPr>
            <a:picLocks noChangeAspect="1"/>
          </p:cNvPicPr>
          <p:nvPr/>
        </p:nvPicPr>
        <p:blipFill>
          <a:blip r:embed="rId2"/>
          <a:stretch>
            <a:fillRect/>
          </a:stretch>
        </p:blipFill>
        <p:spPr>
          <a:xfrm>
            <a:off x="905622" y="5002134"/>
            <a:ext cx="237012" cy="237012"/>
          </a:xfrm>
          <a:prstGeom prst="rect">
            <a:avLst/>
          </a:prstGeom>
        </p:spPr>
      </p:pic>
      <p:sp>
        <p:nvSpPr>
          <p:cNvPr id="11" name="Text 8"/>
          <p:cNvSpPr/>
          <p:nvPr/>
        </p:nvSpPr>
        <p:spPr>
          <a:xfrm>
            <a:off x="1335024" y="4800600"/>
            <a:ext cx="2157984" cy="64008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www.qwipo.com</a:t>
            </a:r>
            <a:endParaRPr lang="en-US" sz="1250" dirty="0"/>
          </a:p>
        </p:txBody>
      </p:sp>
      <p:sp>
        <p:nvSpPr>
          <p:cNvPr id="12" name="Shape 9"/>
          <p:cNvSpPr/>
          <p:nvPr/>
        </p:nvSpPr>
        <p:spPr>
          <a:xfrm>
            <a:off x="3840480" y="4800600"/>
            <a:ext cx="2926080" cy="640080"/>
          </a:xfrm>
          <a:prstGeom prst="roundRect">
            <a:avLst>
              <a:gd name="adj" fmla="val 14286"/>
            </a:avLst>
          </a:prstGeom>
          <a:solidFill>
            <a:srgbClr val="FFFFFF">
              <a:alpha val="12000"/>
            </a:srgbClr>
          </a:solidFill>
          <a:ln w="12700">
            <a:solidFill>
              <a:srgbClr val="6D5BD0"/>
            </a:solidFill>
            <a:prstDash val="solid"/>
          </a:ln>
        </p:spPr>
      </p:sp>
      <p:sp>
        <p:nvSpPr>
          <p:cNvPr id="13" name="Shape 10"/>
          <p:cNvSpPr/>
          <p:nvPr/>
        </p:nvSpPr>
        <p:spPr>
          <a:xfrm>
            <a:off x="3986784" y="4901184"/>
            <a:ext cx="438912" cy="438912"/>
          </a:xfrm>
          <a:prstGeom prst="roundRect">
            <a:avLst>
              <a:gd name="adj" fmla="val 26000"/>
            </a:avLst>
          </a:prstGeom>
          <a:solidFill>
            <a:srgbClr val="7C3AED"/>
          </a:solidFill>
          <a:ln/>
        </p:spPr>
      </p:sp>
      <p:pic>
        <p:nvPicPr>
          <p:cNvPr id="14" name="Image 1" descr="C:\Users\Lenovo\AppData\Local\Temp\qwipo-deck\assets\ic_FaEnvelope_w.png">    </p:cNvPr>
          <p:cNvPicPr>
            <a:picLocks noChangeAspect="1"/>
          </p:cNvPicPr>
          <p:nvPr/>
        </p:nvPicPr>
        <p:blipFill>
          <a:blip r:embed="rId3"/>
          <a:stretch>
            <a:fillRect/>
          </a:stretch>
        </p:blipFill>
        <p:spPr>
          <a:xfrm>
            <a:off x="4087734" y="5002134"/>
            <a:ext cx="237012" cy="237012"/>
          </a:xfrm>
          <a:prstGeom prst="rect">
            <a:avLst/>
          </a:prstGeom>
        </p:spPr>
      </p:pic>
      <p:sp>
        <p:nvSpPr>
          <p:cNvPr id="15" name="Text 11"/>
          <p:cNvSpPr/>
          <p:nvPr/>
        </p:nvSpPr>
        <p:spPr>
          <a:xfrm>
            <a:off x="4517136" y="4800600"/>
            <a:ext cx="2157984" cy="64008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sales@qwipo.com</a:t>
            </a:r>
            <a:endParaRPr lang="en-US" sz="1250" dirty="0"/>
          </a:p>
        </p:txBody>
      </p:sp>
      <p:sp>
        <p:nvSpPr>
          <p:cNvPr id="16" name="Shape 12"/>
          <p:cNvSpPr/>
          <p:nvPr/>
        </p:nvSpPr>
        <p:spPr>
          <a:xfrm>
            <a:off x="7022592" y="4800600"/>
            <a:ext cx="3749040" cy="640080"/>
          </a:xfrm>
          <a:prstGeom prst="roundRect">
            <a:avLst>
              <a:gd name="adj" fmla="val 14286"/>
            </a:avLst>
          </a:prstGeom>
          <a:solidFill>
            <a:srgbClr val="FFFFFF">
              <a:alpha val="12000"/>
            </a:srgbClr>
          </a:solidFill>
          <a:ln w="12700">
            <a:solidFill>
              <a:srgbClr val="6D5BD0"/>
            </a:solidFill>
            <a:prstDash val="solid"/>
          </a:ln>
        </p:spPr>
      </p:sp>
      <p:sp>
        <p:nvSpPr>
          <p:cNvPr id="17" name="Shape 13"/>
          <p:cNvSpPr/>
          <p:nvPr/>
        </p:nvSpPr>
        <p:spPr>
          <a:xfrm>
            <a:off x="7168896" y="4901184"/>
            <a:ext cx="438912" cy="438912"/>
          </a:xfrm>
          <a:prstGeom prst="roundRect">
            <a:avLst>
              <a:gd name="adj" fmla="val 26000"/>
            </a:avLst>
          </a:prstGeom>
          <a:solidFill>
            <a:srgbClr val="25D366"/>
          </a:solidFill>
          <a:ln/>
        </p:spPr>
      </p:sp>
      <p:pic>
        <p:nvPicPr>
          <p:cNvPr id="18" name="Image 2" descr="C:\Users\Lenovo\AppData\Local\Temp\qwipo-deck\assets\ic_FaWhatsapp_w.png">    </p:cNvPr>
          <p:cNvPicPr>
            <a:picLocks noChangeAspect="1"/>
          </p:cNvPicPr>
          <p:nvPr/>
        </p:nvPicPr>
        <p:blipFill>
          <a:blip r:embed="rId4"/>
          <a:stretch>
            <a:fillRect/>
          </a:stretch>
        </p:blipFill>
        <p:spPr>
          <a:xfrm>
            <a:off x="7269846" y="5002134"/>
            <a:ext cx="237012" cy="237012"/>
          </a:xfrm>
          <a:prstGeom prst="rect">
            <a:avLst/>
          </a:prstGeom>
        </p:spPr>
      </p:pic>
      <p:sp>
        <p:nvSpPr>
          <p:cNvPr id="19" name="Text 14"/>
          <p:cNvSpPr/>
          <p:nvPr/>
        </p:nvSpPr>
        <p:spPr>
          <a:xfrm>
            <a:off x="7699248" y="4800600"/>
            <a:ext cx="2980944" cy="64008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WhatsApp Commerce enabled</a:t>
            </a:r>
            <a:endParaRPr lang="en-US" sz="1250" dirty="0"/>
          </a:p>
        </p:txBody>
      </p:sp>
      <p:sp>
        <p:nvSpPr>
          <p:cNvPr id="20" name="Text 15"/>
          <p:cNvSpPr/>
          <p:nvPr/>
        </p:nvSpPr>
        <p:spPr>
          <a:xfrm>
            <a:off x="658368" y="5943600"/>
            <a:ext cx="10515600" cy="365760"/>
          </a:xfrm>
          <a:prstGeom prst="rect">
            <a:avLst/>
          </a:prstGeom>
          <a:noFill/>
          <a:ln/>
        </p:spPr>
        <p:txBody>
          <a:bodyPr wrap="square" lIns="0" tIns="0" rIns="0" bIns="0" rtlCol="0" anchor="ctr"/>
          <a:lstStyle/>
          <a:p>
            <a:pPr indent="0" marL="0">
              <a:buNone/>
            </a:pPr>
            <a:r>
              <a:rPr lang="en-US" sz="1300" i="1" dirty="0">
                <a:solidFill>
                  <a:srgbClr val="C7CFE8"/>
                </a:solidFill>
                <a:latin typeface="Calibri" pitchFamily="34" charset="0"/>
                <a:ea typeface="Calibri" pitchFamily="34" charset="-122"/>
                <a:cs typeface="Calibri" pitchFamily="34" charset="-120"/>
              </a:rPr>
              <a:t>Empowering Brands, Distributors &amp; Retailers through Digital Commerce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Qwipo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Qwipo Seller Store Platform</dc:title>
  <dc:subject>PptxGenJS Presentation</dc:subject>
  <dc:creator>Qwipo</dc:creator>
  <cp:lastModifiedBy>Qwipo</cp:lastModifiedBy>
  <cp:revision>1</cp:revision>
  <dcterms:created xsi:type="dcterms:W3CDTF">2026-05-29T08:18:27Z</dcterms:created>
  <dcterms:modified xsi:type="dcterms:W3CDTF">2026-05-29T08:18:27Z</dcterms:modified>
</cp:coreProperties>
</file>