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36F70-5A00-4E65-B674-03E2B9186B32}" v="3" dt="2026-05-31T17:52:32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kar Charankar" userId="384be885-a1c5-4955-9888-4ecc02e7dc83" providerId="ADAL" clId="{AD0086FF-669C-4817-8E82-BEC5FCDD9DB1}"/>
    <pc:docChg chg="undo custSel modSld">
      <pc:chgData name="Omkar Charankar" userId="384be885-a1c5-4955-9888-4ecc02e7dc83" providerId="ADAL" clId="{AD0086FF-669C-4817-8E82-BEC5FCDD9DB1}" dt="2026-05-31T17:53:14.139" v="18" actId="1076"/>
      <pc:docMkLst>
        <pc:docMk/>
      </pc:docMkLst>
      <pc:sldChg chg="delSp modSp mod">
        <pc:chgData name="Omkar Charankar" userId="384be885-a1c5-4955-9888-4ecc02e7dc83" providerId="ADAL" clId="{AD0086FF-669C-4817-8E82-BEC5FCDD9DB1}" dt="2026-05-31T17:53:14.139" v="18" actId="1076"/>
        <pc:sldMkLst>
          <pc:docMk/>
          <pc:sldMk cId="0" sldId="256"/>
        </pc:sldMkLst>
        <pc:spChg chg="mod">
          <ac:chgData name="Omkar Charankar" userId="384be885-a1c5-4955-9888-4ecc02e7dc83" providerId="ADAL" clId="{AD0086FF-669C-4817-8E82-BEC5FCDD9DB1}" dt="2026-05-31T17:53:02.226" v="17" actId="1076"/>
          <ac:spMkLst>
            <pc:docMk/>
            <pc:sldMk cId="0" sldId="256"/>
            <ac:spMk id="9" creationId="{00000000-0000-0000-0000-000000000000}"/>
          </ac:spMkLst>
        </pc:spChg>
        <pc:spChg chg="del">
          <ac:chgData name="Omkar Charankar" userId="384be885-a1c5-4955-9888-4ecc02e7dc83" providerId="ADAL" clId="{AD0086FF-669C-4817-8E82-BEC5FCDD9DB1}" dt="2026-05-31T17:52:44.379" v="11" actId="47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Omkar Charankar" userId="384be885-a1c5-4955-9888-4ecc02e7dc83" providerId="ADAL" clId="{AD0086FF-669C-4817-8E82-BEC5FCDD9DB1}" dt="2026-05-31T17:53:14.139" v="18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Omkar Charankar" userId="384be885-a1c5-4955-9888-4ecc02e7dc83" providerId="ADAL" clId="{AD0086FF-669C-4817-8E82-BEC5FCDD9DB1}" dt="2026-05-31T17:53:14.139" v="18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Omkar Charankar" userId="384be885-a1c5-4955-9888-4ecc02e7dc83" providerId="ADAL" clId="{AD0086FF-669C-4817-8E82-BEC5FCDD9DB1}" dt="2026-05-31T17:53:14.139" v="18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Omkar Charankar" userId="384be885-a1c5-4955-9888-4ecc02e7dc83" providerId="ADAL" clId="{AD0086FF-669C-4817-8E82-BEC5FCDD9DB1}" dt="2026-05-31T17:53:14.139" v="18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Omkar Charankar" userId="384be885-a1c5-4955-9888-4ecc02e7dc83" providerId="ADAL" clId="{AD0086FF-669C-4817-8E82-BEC5FCDD9DB1}" dt="2026-05-31T17:53:14.139" v="18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Omkar Charankar" userId="384be885-a1c5-4955-9888-4ecc02e7dc83" providerId="ADAL" clId="{AD0086FF-669C-4817-8E82-BEC5FCDD9DB1}" dt="2026-05-31T17:53:14.139" v="18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Omkar Charankar" userId="384be885-a1c5-4955-9888-4ecc02e7dc83" providerId="ADAL" clId="{AD0086FF-669C-4817-8E82-BEC5FCDD9DB1}" dt="2026-05-31T17:53:14.139" v="18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Omkar Charankar" userId="384be885-a1c5-4955-9888-4ecc02e7dc83" providerId="ADAL" clId="{AD0086FF-669C-4817-8E82-BEC5FCDD9DB1}" dt="2026-05-31T17:53:14.139" v="18" actId="1076"/>
          <ac:spMkLst>
            <pc:docMk/>
            <pc:sldMk cId="0" sldId="256"/>
            <ac:spMk id="21" creationId="{00000000-0000-0000-0000-000000000000}"/>
          </ac:spMkLst>
        </pc:spChg>
      </pc:sldChg>
      <pc:sldChg chg="modSp mod">
        <pc:chgData name="Omkar Charankar" userId="384be885-a1c5-4955-9888-4ecc02e7dc83" providerId="ADAL" clId="{AD0086FF-669C-4817-8E82-BEC5FCDD9DB1}" dt="2026-05-31T17:52:35.610" v="10" actId="20577"/>
        <pc:sldMkLst>
          <pc:docMk/>
          <pc:sldMk cId="0" sldId="258"/>
        </pc:sldMkLst>
        <pc:spChg chg="mod">
          <ac:chgData name="Omkar Charankar" userId="384be885-a1c5-4955-9888-4ecc02e7dc83" providerId="ADAL" clId="{AD0086FF-669C-4817-8E82-BEC5FCDD9DB1}" dt="2026-05-31T17:52:35.610" v="10" actId="2057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Omkar Charankar" userId="384be885-a1c5-4955-9888-4ecc02e7dc83" providerId="ADAL" clId="{AD0086FF-669C-4817-8E82-BEC5FCDD9DB1}" dt="2026-05-31T17:52:32.227" v="9"/>
          <ac:spMkLst>
            <pc:docMk/>
            <pc:sldMk cId="0" sldId="258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42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2286000"/>
            <a:ext cx="8229600" cy="8229600"/>
          </a:xfrm>
          <a:prstGeom prst="ellipse">
            <a:avLst/>
          </a:prstGeom>
          <a:solidFill>
            <a:srgbClr val="2C3A75">
              <a:alpha val="65000"/>
            </a:srgbClr>
          </a:solidFill>
          <a:ln w="12700">
            <a:solidFill>
              <a:srgbClr val="2C3A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4B6CB7">
              <a:alpha val="30000"/>
            </a:srgbClr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Training Guide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dependencies, validations, common mistakes and troubleshooting — explained end to end.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475488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74620" y="4745736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674620" y="474573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9412" y="4745736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439412" y="474573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04204" y="4745736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04204" y="474573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68996" y="4745736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68996" y="474573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5852160"/>
            <a:ext cx="10698480" cy="36576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5989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PRODUCT TEAM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73775" y="5989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Store Architecture Overview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dependency flow — every step must be completed in sequence.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1874520"/>
            <a:ext cx="36576" cy="4032504"/>
          </a:xfrm>
          <a:prstGeom prst="rect">
            <a:avLst/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1673352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53312" y="167335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Company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13969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2121408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353312" y="212140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Creation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258775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2569464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353312" y="25694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Creation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03580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8720" y="3017520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353312" y="30175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Brand Mapping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48386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88720" y="3465576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353312" y="346557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Connector Setup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188720" y="3913632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353312" y="391363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Setup (Polygon)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37997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008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188720" y="4361688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353312" y="436168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Creation / Catalog Upload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482803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008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188720" y="4809744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353312" y="480974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" y="527608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0080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88720" y="5257800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353312" y="525780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 Visibility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0080" y="572414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0080" y="5724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188720" y="5705856"/>
            <a:ext cx="62179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353312" y="57058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680960" y="1691640"/>
            <a:ext cx="4023360" cy="4663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680960" y="1691640"/>
            <a:ext cx="4023360" cy="9144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04672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5528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B6C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53" name="Text 51"/>
          <p:cNvSpPr/>
          <p:nvPr/>
        </p:nvSpPr>
        <p:spPr>
          <a:xfrm>
            <a:off x="8046720" y="30632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step is missed, products may not become visible in the Buyer App.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8046720" y="5074920"/>
            <a:ext cx="914400" cy="36576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046720" y="5212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dependency chain as gospel during onboarding and audits.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PEOPLE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Responsibilities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personas drive the Seller Store. Each owns a distinct slice of the workflow.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700" y="169164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9700" y="1691640"/>
            <a:ext cx="3703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779880" y="1856232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79880" y="1856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4020" y="2788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4020" y="31729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5460" y="3566160"/>
            <a:ext cx="2971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4020" y="3685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5460" y="40233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Companies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Sellers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Serviceability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ONDC Connectors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Catalog Sync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44188" y="169164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44188" y="1691640"/>
            <a:ext cx="3703320" cy="45720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684368" y="1856232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84368" y="1856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18508" y="2788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User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18508" y="31729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 owner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9948" y="3566160"/>
            <a:ext cx="2971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18508" y="3685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09948" y="40233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Products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SKUs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48676" y="169164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148676" y="1691640"/>
            <a:ext cx="3703320" cy="45720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588856" y="1856232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588856" y="1856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A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422996" y="2788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User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22996" y="31729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/ store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14436" y="3566160"/>
            <a:ext cx="2971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422996" y="3685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1FA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14436" y="40233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OTP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Orders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Pricing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Schemes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Deliveries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· 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Company Setup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seller must belong to a company. Companies sit at the top of the dependency tree.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51415" y="56692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951415" y="566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58521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73152" cy="4663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19659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585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seller must belong to a company.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are the parent entity in the catalog tree. Brands and SKUs hang off the company; no company means nothing downstream can be mapped or synced.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389120"/>
            <a:ext cx="2423160" cy="621792"/>
          </a:xfrm>
          <a:prstGeom prst="roundRect">
            <a:avLst>
              <a:gd name="adj" fmla="val 14706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32688" y="45079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38912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29000" y="4389120"/>
            <a:ext cx="2423160" cy="621792"/>
          </a:xfrm>
          <a:prstGeom prst="roundRect">
            <a:avLst>
              <a:gd name="adj" fmla="val 14706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538728" y="45079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38728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438912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5166360"/>
            <a:ext cx="2423160" cy="621792"/>
          </a:xfrm>
          <a:prstGeom prst="roundRect">
            <a:avLst>
              <a:gd name="adj" fmla="val 14706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32688" y="528523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2688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1663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Marico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29000" y="5166360"/>
            <a:ext cx="2423160" cy="621792"/>
          </a:xfrm>
          <a:prstGeom prst="roundRect">
            <a:avLst>
              <a:gd name="adj" fmla="val 14706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538728" y="528523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38728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023360" y="51663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37960" y="1691640"/>
            <a:ext cx="51663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537960" y="1691640"/>
            <a:ext cx="73152" cy="219456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03720" y="18745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FA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2240280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037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06640" y="21945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whether the company already exists before creating a new one.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03720" y="31089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company name and check for spelling variants (ITC vs I.T.C) before clicking “Create”.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37960" y="4160520"/>
            <a:ext cx="51663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537960" y="4160520"/>
            <a:ext cx="73152" cy="2194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903720" y="43434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4709160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90372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406640" y="46634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companies lead to incorrect mappings and catalog visibility issues.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903720" y="557784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brand or SKU is mapped to the wrong company, the only fix is cleanup at the catalog layer.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BRAND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Creation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organized and controlled through brands. Each brand belongs to exactly one company.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846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66344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176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brands matter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carry pricing, schemes and visibility settings. Mapping a seller to a brand is what makes its products eligible for catalog sync.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41148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526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must exist before creating brands.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440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parent company isn’t created first, the brand dropdown will be empty and the form cannot be submitted.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1691640"/>
            <a:ext cx="61264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0" y="18745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2331720"/>
            <a:ext cx="128016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0" y="23317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78624" y="2532888"/>
            <a:ext cx="274320" cy="164592"/>
          </a:xfrm>
          <a:prstGeom prst="rightArrow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680960" y="23957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68096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Aashirvaad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0" y="23957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96112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Sunfeast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41280" y="23957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24128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840480"/>
            <a:ext cx="1280160" cy="566928"/>
          </a:xfrm>
          <a:prstGeom prst="roundRect">
            <a:avLst>
              <a:gd name="adj" fmla="val 16129"/>
            </a:avLst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43600" y="3840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278624" y="4041648"/>
            <a:ext cx="274320" cy="164592"/>
          </a:xfrm>
          <a:prstGeom prst="rightArrow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680960" y="390448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E9D2"/>
          </a:solidFill>
          <a:ln w="12700">
            <a:solidFill>
              <a:srgbClr val="FFE9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680960" y="3904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61120" y="390448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E9D2"/>
          </a:solidFill>
          <a:ln w="12700">
            <a:solidFill>
              <a:srgbClr val="FFE9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961120" y="3904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41280" y="390448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E9D2"/>
          </a:solidFill>
          <a:ln w="12700">
            <a:solidFill>
              <a:srgbClr val="FFE9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241280" y="3904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 Excel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5212080"/>
            <a:ext cx="53949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943600" y="5440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one company → many brands. Brands inherit the company’s mapping.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SELLER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Creation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seller’s legal, contact and location details. Several fields are load-bearing downstream.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4389120" cy="365760"/>
          </a:xfrm>
          <a:prstGeom prst="roundRect">
            <a:avLst>
              <a:gd name="adj" fmla="val 250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627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 ›  Seller Management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63550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73152" cy="4251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788920"/>
            <a:ext cx="329184" cy="329184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2807208"/>
            <a:ext cx="2263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09981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34740" y="2788920"/>
            <a:ext cx="329184" cy="329184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3474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91940" y="2807208"/>
            <a:ext cx="2263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Number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91940" y="309981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3657600"/>
            <a:ext cx="329184" cy="329184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3675888"/>
            <a:ext cx="2263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6849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34740" y="3657600"/>
            <a:ext cx="329184" cy="329184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3474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91940" y="3675888"/>
            <a:ext cx="2263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Person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91940" y="396849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4526280"/>
            <a:ext cx="329184" cy="329184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296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4544568"/>
            <a:ext cx="2263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483717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34740" y="4526280"/>
            <a:ext cx="329184" cy="329184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3474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91940" y="4544568"/>
            <a:ext cx="2263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91940" y="483717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" y="5394960"/>
            <a:ext cx="329184" cy="329184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296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80160" y="5413248"/>
            <a:ext cx="2263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0" y="5705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34740" y="5394960"/>
            <a:ext cx="329184" cy="329184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63474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91940" y="5413248"/>
            <a:ext cx="2263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091940" y="5705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95160" y="2103120"/>
            <a:ext cx="47091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995160" y="2103120"/>
            <a:ext cx="73152" cy="425196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60920" y="2331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60920" y="2788920"/>
            <a:ext cx="9144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543800" y="278892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Number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543800" y="313639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unique seller identifier across the platform.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60920" y="3977640"/>
            <a:ext cx="91440" cy="9601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543800" y="39776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543800" y="432511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OTP login by the seller user.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60920" y="5166360"/>
            <a:ext cx="91440" cy="96012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543800" y="516636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543800" y="551383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warehouse creation and location mapping.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·  MAPPING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Brand Mapping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Seller Creation, link the seller to the companies and brands they are allowed to sell.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Created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88920" y="1527048"/>
            <a:ext cx="274320" cy="164592"/>
          </a:xfrm>
          <a:prstGeom prst="rightArrow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Companies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532120" y="1527048"/>
            <a:ext cx="274320" cy="164592"/>
          </a:xfrm>
          <a:prstGeom prst="rightArrow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Brands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417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2240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2788920"/>
            <a:ext cx="30175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29535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Distributor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34655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seller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77640" y="3355848"/>
            <a:ext cx="320040" cy="164592"/>
          </a:xfrm>
          <a:prstGeom prst="rightArrow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26280" y="2606040"/>
            <a:ext cx="3520440" cy="411480"/>
          </a:xfrm>
          <a:prstGeom prst="rect">
            <a:avLst/>
          </a:prstGeom>
          <a:solidFill>
            <a:srgbClr val="F0F3FA"/>
          </a:solidFill>
          <a:ln w="12700">
            <a:solidFill>
              <a:srgbClr val="F0F3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0916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COMPANIES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315468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26280" y="31546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26280" y="315468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26280" y="374904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26280" y="37490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26280" y="374904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321040" y="2606040"/>
            <a:ext cx="3520440" cy="411480"/>
          </a:xfrm>
          <a:prstGeom prst="rect">
            <a:avLst/>
          </a:prstGeom>
          <a:solidFill>
            <a:srgbClr val="FFE9D2"/>
          </a:solidFill>
          <a:ln w="12700">
            <a:solidFill>
              <a:srgbClr val="FFE9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50392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BRANDS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21040" y="315468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321040" y="31546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Aashirvaad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21040" y="374904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321040" y="37490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Sunfeast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321040" y="434340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321040" y="43434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31520" y="5486400"/>
            <a:ext cx="1072591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914400" y="5596128"/>
            <a:ext cx="365760" cy="365760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14400" y="5596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417320" y="5486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417320" y="57790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mapped products become available for the seller. Mapping = visibility.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 ·  CONNECTOR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Connector Setup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ONDC Connector, the seller is invisible to ONDC buyers — no exceptions.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317175" y="5669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317175" y="5669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4389120" cy="365760"/>
          </a:xfrm>
          <a:prstGeom prst="roundRect">
            <a:avLst>
              <a:gd name="adj" fmla="val 250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1627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 ›  Manage  ›  Connectors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5577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73152" cy="365760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23317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FA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27889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ONDC Connector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1729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available connector list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0690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Connect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4531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configuration required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120640"/>
            <a:ext cx="4846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52578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5486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seller catalog with the ONDC protocol.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210312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217920" y="2103120"/>
            <a:ext cx="73152" cy="3657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83680" y="2331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ONDC CONNECTOR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283464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278892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NOT visible in the Buyer App.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178040" y="3429000"/>
            <a:ext cx="4160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178040" y="34930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discovery doesn’t pick up the seller catalog.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402336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583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78040" y="397764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cannot receive ONDC orders.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178040" y="4617720"/>
            <a:ext cx="4160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178040" y="46817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in the Buyer App never reach the Seller Store.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85800" y="5852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ONBOARDING MISTAKE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5852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Connector not configured.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 ·  SERVICEABILITY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Setup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where retailers can purchase from this seller. Upload one polygon per company.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3840480" cy="365760"/>
          </a:xfrm>
          <a:prstGeom prst="roundRect">
            <a:avLst>
              <a:gd name="adj" fmla="val 250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6276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 ›  Serviceability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45429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454298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6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Company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" y="3995928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the seller’s mapped companies.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02938" y="3195828"/>
            <a:ext cx="274320" cy="329184"/>
          </a:xfrm>
          <a:prstGeom prst="rightArrow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68698" y="2240280"/>
            <a:ext cx="345429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368698" y="2240280"/>
            <a:ext cx="3454298" cy="18288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68698" y="260604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600" dirty="0"/>
          </a:p>
        </p:txBody>
      </p:sp>
      <p:sp>
        <p:nvSpPr>
          <p:cNvPr id="20" name="Text 18"/>
          <p:cNvSpPr/>
          <p:nvPr/>
        </p:nvSpPr>
        <p:spPr>
          <a:xfrm>
            <a:off x="4597298" y="3611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GeoJSON Polygon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97298" y="3995928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valid polygon for the territory.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14437" y="3195828"/>
            <a:ext cx="274320" cy="329184"/>
          </a:xfrm>
          <a:prstGeom prst="rightArrow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80197" y="2240280"/>
            <a:ext cx="345429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280197" y="2240280"/>
            <a:ext cx="3454298" cy="18288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80197" y="260604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1FA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600" dirty="0"/>
          </a:p>
        </p:txBody>
      </p:sp>
      <p:sp>
        <p:nvSpPr>
          <p:cNvPr id="26" name="Text 24"/>
          <p:cNvSpPr/>
          <p:nvPr/>
        </p:nvSpPr>
        <p:spPr>
          <a:xfrm>
            <a:off x="8508797" y="3611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508797" y="3995928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is stored and applied immediately.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11277295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91440" cy="160020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51206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where retailers can purchase from this seller.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outside the configured polygon will not see this seller’s products in the Buyer App, even if the SKU is active and synced.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 ·  RULES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Serviceability Rules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and cannot do with polygons in the current release.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66751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RULES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3774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 = One Polygon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7249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mapped company gets a single dedicated territory.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227832"/>
            <a:ext cx="384048" cy="384048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18211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can be edited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52958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or adjust the GeoJSON whenever the territory changes.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032504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9867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cannot be deleted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342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edits are permitted in Phase 1 — deletion is blocked.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837176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296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79145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 not supported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1389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Beat-level polygons are planned for a later phase.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1691640"/>
            <a:ext cx="42976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68096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2377440"/>
            <a:ext cx="3749040" cy="1417320"/>
          </a:xfrm>
          <a:prstGeom prst="rect">
            <a:avLst/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680960" y="2377440"/>
            <a:ext cx="914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90956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909560" y="2971800"/>
            <a:ext cx="274320" cy="164592"/>
          </a:xfrm>
          <a:prstGeom prst="rightArrow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75320" y="2880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Polygon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909560" y="3337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in Mumbai can purchase from this seller.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4069080"/>
            <a:ext cx="3749040" cy="1417320"/>
          </a:xfrm>
          <a:prstGeom prst="rect">
            <a:avLst/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680960" y="4069080"/>
            <a:ext cx="91440" cy="141732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90956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909560" y="4663440"/>
            <a:ext cx="274320" cy="164592"/>
          </a:xfrm>
          <a:prstGeom prst="rightArrow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75320" y="4572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Polygon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909560" y="5029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in Pune can purchase from this seller.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943600"/>
            <a:ext cx="11277295" cy="41148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0080" y="5943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94560" y="5943600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become visible only within configured polygons.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 ·  TERRITORY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&amp; Territory Management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getting polygons right matters — they decide who sees the seller and prevent territory conflicts.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014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41368" y="1783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Distributor Conflicts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423160"/>
            <a:ext cx="4572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56032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distributors won’t fight over the same retailer.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691640"/>
            <a:ext cx="55014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33008" y="1691640"/>
            <a:ext cx="73152" cy="178308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317175" y="1783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553048" y="192024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Ownership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53048" y="2423160"/>
            <a:ext cx="457200" cy="36576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53048" y="256032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Crystal-clear ownership of each retailer cluster.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55014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73152" cy="178308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41368" y="38404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777240" y="397764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Allocation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4480560"/>
            <a:ext cx="457200" cy="36576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461772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are routed to the right seller automatically.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33008" y="3749040"/>
            <a:ext cx="55014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33008" y="3749040"/>
            <a:ext cx="73152" cy="1783080"/>
          </a:xfrm>
          <a:prstGeom prst="rect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317175" y="38404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6553048" y="397764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Market Coverage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53048" y="4480560"/>
            <a:ext cx="457200" cy="36576"/>
          </a:xfrm>
          <a:prstGeom prst="rect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53048" y="461772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roll out coverage region by region.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669280"/>
            <a:ext cx="11277295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85800" y="5852160"/>
            <a:ext cx="329184" cy="329184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5800" y="5852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3000" y="5669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" y="59893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uploaded GeoJSON before saving. Incorrect polygons lead to retailer visibility issues.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 ·  CATALOG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Creation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catalog teams add products to the platform — manual entry, bulk uploads or DMS feeds.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627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Team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357621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2715768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SKU Creation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one product at a time through the Catalog UI.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07738" y="242316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307738" y="2423160"/>
            <a:ext cx="357621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82058" y="2697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8205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22138" y="2715768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Bulk Upload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82058" y="338328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populated template to add many SKUs at once.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58277" y="242316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58277" y="2423160"/>
            <a:ext cx="357621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432597" y="2697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432597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072677" y="2715768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Integration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32597" y="338328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SKUs automatically from the source DMS feed.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CONFIGURATION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SKU must be configured with these six attributes: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800600"/>
            <a:ext cx="174238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7200" y="4800600"/>
            <a:ext cx="1742389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48640" y="5166360"/>
            <a:ext cx="1559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364181" y="4800600"/>
            <a:ext cx="174238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364181" y="4800600"/>
            <a:ext cx="1742389" cy="7315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455621" y="5166360"/>
            <a:ext cx="1559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271162" y="4800600"/>
            <a:ext cx="174238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271162" y="4800600"/>
            <a:ext cx="1742389" cy="73152"/>
          </a:xfrm>
          <a:prstGeom prst="rect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62602" y="5166360"/>
            <a:ext cx="1559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UOM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78144" y="4800600"/>
            <a:ext cx="174238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178144" y="4800600"/>
            <a:ext cx="1742389" cy="7315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69584" y="5166360"/>
            <a:ext cx="1559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085125" y="4800600"/>
            <a:ext cx="174238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085125" y="4800600"/>
            <a:ext cx="1742389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176565" y="5166360"/>
            <a:ext cx="1559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992106" y="4800600"/>
            <a:ext cx="174238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9992106" y="4800600"/>
            <a:ext cx="1742389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0083546" y="5166360"/>
            <a:ext cx="15595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Status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 ·  SYNC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products move from the Catalog Module into the Seller Store.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5760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7315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6733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88366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catalog products from Catalog Module to Seller Store.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627632"/>
            <a:ext cx="5257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46520" y="1627632"/>
            <a:ext cx="73152" cy="59436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29400" y="16733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18836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 ›  Companies &amp; Brands  →  Sync Catalog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95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vs  AFTER  SYNC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70048"/>
            <a:ext cx="536432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2670048"/>
            <a:ext cx="5364328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2670048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SYNC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73604" y="3675888"/>
            <a:ext cx="731520" cy="7315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73604" y="3675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731520" y="468172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has no products.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5230368"/>
            <a:ext cx="444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and Buyer App show no catalog — even if Companies &amp; Brands are mapped.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12968" y="4315968"/>
            <a:ext cx="365760" cy="365760"/>
          </a:xfrm>
          <a:prstGeom prst="rightArrow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70168" y="2670048"/>
            <a:ext cx="536432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70168" y="2670048"/>
            <a:ext cx="5364328" cy="59436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53048" y="2670048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SYNC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44488" y="349300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receives: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47408" y="3995928"/>
            <a:ext cx="380984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284568" y="4096512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284568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87488" y="3995928"/>
            <a:ext cx="321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147408" y="4709160"/>
            <a:ext cx="380984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284568" y="4809744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284568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87488" y="4709160"/>
            <a:ext cx="321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147408" y="5422392"/>
            <a:ext cx="380984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284568" y="5522976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284568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87488" y="5422392"/>
            <a:ext cx="321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 ·  SYNC LOGIC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 Logic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system behaviour. Knowing this prevents “why isn’t my update showing up” tickets.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1277295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91440" cy="86868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ONLY IDENTIFIES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47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Products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120640" y="1764792"/>
            <a:ext cx="6613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and adds the missing products. Existing entries are left untouched.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55014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73152" cy="178308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2880360"/>
            <a:ext cx="51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FA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548640" cy="54864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24612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SKU Creation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SKUs flow from the Catalog Module into the Seller Store on every sync.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2697480"/>
            <a:ext cx="55014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33008" y="2697480"/>
            <a:ext cx="73152" cy="1783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61608" y="2880360"/>
            <a:ext cx="51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61608" y="329184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61608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93128" y="324612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Product Updates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61608" y="4023360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to existing SKUs (price, scheme, info) are NOT pushed to sellers automatically.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11277295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73152" cy="169164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58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CATALOG UPDATES OCCUR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10235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must manually update inside Seller Portal: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" y="5623560"/>
            <a:ext cx="3484778" cy="594360"/>
          </a:xfrm>
          <a:prstGeom prst="roundRect">
            <a:avLst>
              <a:gd name="adj" fmla="val 15385"/>
            </a:avLst>
          </a:prstGeom>
          <a:solidFill>
            <a:srgbClr val="F0F3FA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22960" y="5760720"/>
            <a:ext cx="329184" cy="329184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2960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5623560"/>
            <a:ext cx="2753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53458" y="5623560"/>
            <a:ext cx="3484778" cy="594360"/>
          </a:xfrm>
          <a:prstGeom prst="roundRect">
            <a:avLst>
              <a:gd name="adj" fmla="val 15385"/>
            </a:avLst>
          </a:prstGeom>
          <a:solidFill>
            <a:srgbClr val="F0F3FA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490618" y="5760720"/>
            <a:ext cx="329184" cy="329184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490618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47818" y="5623560"/>
            <a:ext cx="2753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021117" y="5623560"/>
            <a:ext cx="3484778" cy="594360"/>
          </a:xfrm>
          <a:prstGeom prst="roundRect">
            <a:avLst>
              <a:gd name="adj" fmla="val 15385"/>
            </a:avLst>
          </a:prstGeom>
          <a:solidFill>
            <a:srgbClr val="F0F3FA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158277" y="5760720"/>
            <a:ext cx="329184" cy="329184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158277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15477" y="5623560"/>
            <a:ext cx="2753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Information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 ·  VISIBILITY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Visibility Journey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a single SKU travels from creation to its first appearance in the Buyer App.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148840"/>
            <a:ext cx="36576" cy="3566160"/>
          </a:xfrm>
          <a:prstGeom prst="rect">
            <a:avLst/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187452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63040" y="1874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Creation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34440" y="2587752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63040" y="25877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Upload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346704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34440" y="3300984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463040" y="33009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34440" y="4014216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463040" y="40142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Store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773168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4773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34440" y="4727448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463040" y="47274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Connector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5486400"/>
            <a:ext cx="411480" cy="411480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234440" y="544068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E9D2"/>
          </a:solidFill>
          <a:ln w="9525">
            <a:solidFill>
              <a:srgbClr val="F39237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463040" y="5440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406640" y="1691640"/>
            <a:ext cx="42976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406640" y="1691640"/>
            <a:ext cx="73152" cy="466344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77240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FA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CHECKLIST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claiming a SKU is live, verify: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0" y="2679192"/>
            <a:ext cx="384048" cy="384048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77240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2104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Active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0" y="3392424"/>
            <a:ext cx="384048" cy="384048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7724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21040" y="33192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Available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772400" y="4105656"/>
            <a:ext cx="384048" cy="384048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77240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321040" y="40325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Mapped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4818888"/>
            <a:ext cx="384048" cy="384048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77240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321040" y="47457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Connected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772400" y="5532120"/>
            <a:ext cx="384048" cy="384048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77240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321040" y="5458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Configured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  ·  GATING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 Visibility Checklist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gates. A product appears in the Buyer App only when every single gate is green.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3717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11887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88538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1984248"/>
            <a:ext cx="1762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Exists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77258" y="1691640"/>
            <a:ext cx="363717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277258" y="1691640"/>
            <a:ext cx="73152" cy="11887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08597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51578" y="1965960"/>
            <a:ext cx="457200" cy="45720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5157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45938" y="1984248"/>
            <a:ext cx="1762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Exists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97317" y="1691640"/>
            <a:ext cx="363717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097317" y="1691640"/>
            <a:ext cx="73152" cy="11887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728655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371637" y="1965960"/>
            <a:ext cx="457200" cy="45720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371637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5997" y="1984248"/>
            <a:ext cx="1762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Created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363717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7200" y="3063240"/>
            <a:ext cx="73152" cy="11887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08853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3355848"/>
            <a:ext cx="1762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Mapping Completed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77258" y="3063240"/>
            <a:ext cx="363717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277258" y="3063240"/>
            <a:ext cx="73152" cy="11887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08597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4551578" y="3337560"/>
            <a:ext cx="457200" cy="45720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51578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45938" y="3355848"/>
            <a:ext cx="1762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Connector Connected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97317" y="3063240"/>
            <a:ext cx="363717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097317" y="3063240"/>
            <a:ext cx="73152" cy="11887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0728655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8371637" y="3337560"/>
            <a:ext cx="457200" cy="45720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371637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965997" y="3355848"/>
            <a:ext cx="1762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Uploaded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4434840"/>
            <a:ext cx="363717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7200" y="4434840"/>
            <a:ext cx="73152" cy="11887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088538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325880" y="4727448"/>
            <a:ext cx="1762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Created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277258" y="4434840"/>
            <a:ext cx="363717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277258" y="4434840"/>
            <a:ext cx="73152" cy="11887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908597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53" name="Shape 51"/>
          <p:cNvSpPr/>
          <p:nvPr/>
        </p:nvSpPr>
        <p:spPr>
          <a:xfrm>
            <a:off x="4551578" y="4709160"/>
            <a:ext cx="457200" cy="45720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55157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145938" y="4727448"/>
            <a:ext cx="1762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Uploaded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097317" y="4434840"/>
            <a:ext cx="363717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8097317" y="4434840"/>
            <a:ext cx="73152" cy="118872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0728655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59" name="Shape 57"/>
          <p:cNvSpPr/>
          <p:nvPr/>
        </p:nvSpPr>
        <p:spPr>
          <a:xfrm>
            <a:off x="8371637" y="4709160"/>
            <a:ext cx="457200" cy="45720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371637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8965997" y="4727448"/>
            <a:ext cx="1762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 Completed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457200" y="5760720"/>
            <a:ext cx="11277295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85800" y="58978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85800" y="5897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85800" y="5897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188720" y="57607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any one item may block visibility.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 ·  ORDERS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buyer’s tap on “Place Order” all the way to a Completed state in the Seller Store.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011680"/>
            <a:ext cx="36576" cy="4032504"/>
          </a:xfrm>
          <a:prstGeom prst="rect">
            <a:avLst/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34440" y="16916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63040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313432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34440" y="2267712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63040" y="22677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889504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34440" y="2843784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463040" y="28437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Store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465576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234440" y="3419856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463040" y="341985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041648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234440" y="3995928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463040" y="39959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Order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234440" y="45720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463040" y="4572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5193792"/>
            <a:ext cx="411480" cy="411480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0080" y="5193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234440" y="5148072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463040" y="51480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" y="5769864"/>
            <a:ext cx="411480" cy="41148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0080" y="5769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234440" y="5724144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D7F0E6"/>
          </a:solidFill>
          <a:ln w="9525">
            <a:solidFill>
              <a:srgbClr val="1FA875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463040" y="57241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06640" y="1691640"/>
            <a:ext cx="42976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406640" y="1691640"/>
            <a:ext cx="73152" cy="466344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77240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ACTIONS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sellers can do throughout the order lifecycle: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72400" y="2651760"/>
            <a:ext cx="73152" cy="73152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955280" y="26517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Order Confirmation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955280" y="298094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orders one at a time.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72400" y="3520440"/>
            <a:ext cx="73152" cy="73152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955280" y="3520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Order Confirmation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955280" y="38496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many orders in a single action.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2400" y="4389120"/>
            <a:ext cx="73152" cy="73152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955280" y="43891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Cancellation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955280" y="47183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unfulfillable orders before dispatch.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772400" y="5257800"/>
            <a:ext cx="73152" cy="73152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955280" y="52578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Download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955280" y="5586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orders for offline reconciliation.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 ·  LOGISTICS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Workflow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delivery paths for sellers — own fleet, or hand off to the logistics platform.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663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2219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Delivery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handles the entire last-mile using their own staff or vehicles.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4663440" cy="2194560"/>
          </a:xfrm>
          <a:prstGeom prst="rect">
            <a:avLst/>
          </a:prstGeom>
          <a:solidFill>
            <a:srgbClr val="F0F3FA"/>
          </a:solidFill>
          <a:ln w="12700">
            <a:solidFill>
              <a:srgbClr val="F0F3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280160" y="406908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5212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staff / vehicles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4526280"/>
            <a:ext cx="1645920" cy="182880"/>
          </a:xfrm>
          <a:prstGeom prst="rightArrow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60604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delivery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4069080"/>
            <a:ext cx="1097280" cy="109728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931920" y="4069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0" y="5212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691640"/>
            <a:ext cx="56692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80760" y="1691640"/>
            <a:ext cx="73152" cy="466344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46520" y="19202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2219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Logistics Platform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46520" y="2788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the order to an integrated transport partner with end-to-end tracking.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47688" y="3630168"/>
            <a:ext cx="36576" cy="2011680"/>
          </a:xfrm>
          <a:prstGeom prst="rect">
            <a:avLst/>
          </a:prstGeom>
          <a:solidFill>
            <a:srgbClr val="FFE9D2"/>
          </a:solidFill>
          <a:ln w="12700">
            <a:solidFill>
              <a:srgbClr val="FFE9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92240" y="3401568"/>
            <a:ext cx="365760" cy="365760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9224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95160" y="3383280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78040" y="3383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Store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3904488"/>
            <a:ext cx="365760" cy="365760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9224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95160" y="3886200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178040" y="3886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Connector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92240" y="4407408"/>
            <a:ext cx="365760" cy="365760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9224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95160" y="4389120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178040" y="4389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Partner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92240" y="4910328"/>
            <a:ext cx="365760" cy="365760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9224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95160" y="4892040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178040" y="4892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Tracking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92240" y="5413248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9224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95160" y="5394960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D7F0E6"/>
          </a:solidFill>
          <a:ln w="9525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178040" y="5394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A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  ·  SUPPORT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Guide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most common production tickets — and the first thing to check for each.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576218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76218" cy="118872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not visible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02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CHECK: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3027578" cy="566928"/>
          </a:xfrm>
          <a:prstGeom prst="roundRect">
            <a:avLst>
              <a:gd name="adj" fmla="val 16129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3493008"/>
            <a:ext cx="347472" cy="347472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3027578" cy="566928"/>
          </a:xfrm>
          <a:prstGeom prst="roundRect">
            <a:avLst>
              <a:gd name="adj" fmla="val 16129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8680" y="4224528"/>
            <a:ext cx="347472" cy="347472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114800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846320"/>
            <a:ext cx="3027578" cy="566928"/>
          </a:xfrm>
          <a:prstGeom prst="roundRect">
            <a:avLst>
              <a:gd name="adj" fmla="val 16129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68680" y="4956048"/>
            <a:ext cx="347472" cy="347472"/>
          </a:xfrm>
          <a:prstGeom prst="ellipse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4846320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Mapping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5550408"/>
            <a:ext cx="302757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5623560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39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STILL UNRESOLVED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586130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end-to-end in Buyer App and re-run Sync.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07738" y="1600200"/>
            <a:ext cx="3576218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307738" y="1600200"/>
            <a:ext cx="3576218" cy="1188720"/>
          </a:xfrm>
          <a:prstGeom prst="rect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82058" y="178308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82058" y="2103120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not visible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582058" y="3017520"/>
            <a:ext cx="302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CHECK: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82058" y="3383280"/>
            <a:ext cx="3027578" cy="566928"/>
          </a:xfrm>
          <a:prstGeom prst="roundRect">
            <a:avLst>
              <a:gd name="adj" fmla="val 16129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19218" y="3493008"/>
            <a:ext cx="347472" cy="347472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19218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22138" y="3383280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Upload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82058" y="4114800"/>
            <a:ext cx="3027578" cy="566928"/>
          </a:xfrm>
          <a:prstGeom prst="roundRect">
            <a:avLst>
              <a:gd name="adj" fmla="val 16129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19218" y="4224528"/>
            <a:ext cx="347472" cy="347472"/>
          </a:xfrm>
          <a:prstGeom prst="ellipse">
            <a:avLst/>
          </a:prstGeom>
          <a:solidFill>
            <a:srgbClr val="4B6CB7"/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19218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22138" y="4114800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Setup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82058" y="5550408"/>
            <a:ext cx="302757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82058" y="5623560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STILL UNRESOLVED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82058" y="586130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 polygon coordinates and re-upload.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58277" y="1600200"/>
            <a:ext cx="3576218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158277" y="1600200"/>
            <a:ext cx="3576218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432597" y="178308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32597" y="2103120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cannot login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432597" y="3017520"/>
            <a:ext cx="302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CHECK: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432597" y="3383280"/>
            <a:ext cx="3027578" cy="566928"/>
          </a:xfrm>
          <a:prstGeom prst="roundRect">
            <a:avLst>
              <a:gd name="adj" fmla="val 16129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569757" y="3493008"/>
            <a:ext cx="347472" cy="3474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569757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072677" y="3383280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432597" y="4114800"/>
            <a:ext cx="3027578" cy="566928"/>
          </a:xfrm>
          <a:prstGeom prst="roundRect">
            <a:avLst>
              <a:gd name="adj" fmla="val 16129"/>
            </a:avLst>
          </a:prstGeom>
          <a:solidFill>
            <a:srgbClr val="F0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8569757" y="4224528"/>
            <a:ext cx="347472" cy="3474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569757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072677" y="4114800"/>
            <a:ext cx="2478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Service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432597" y="5550408"/>
            <a:ext cx="302757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432597" y="5623560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STILL UNRESOLVED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432597" y="586130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Auth service logs and resend OTP.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28655" y="6492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  ·  GO 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Checklist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every box before declaring a seller live. This is the final gate.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1792" y="2185416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Created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78065" y="18196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5577" y="1783080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5577" y="1783080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910169" y="2185416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10169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5657" y="1874520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Created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66443" y="18196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33955" y="1783080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33955" y="1783080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98547" y="2185416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98547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74035" y="1874520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Created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54820" y="18196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22332" y="1783080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22332" y="1783080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86924" y="2185416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86924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62412" y="1874520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Mapping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43198" y="18196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10710" y="1783080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610710" y="1783080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775302" y="2185416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775302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50790" y="1874520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Mapping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231575" y="18196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118104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57200" y="3118104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21792" y="3520440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1792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" y="3209544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Connector Added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078065" y="31546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5577" y="3118104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745577" y="3118104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910169" y="3520440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910169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385657" y="3209544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Uploaded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366443" y="31546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33955" y="3118104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033955" y="3118104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198547" y="3520440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198547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74035" y="3209544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Uploaded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654820" y="31546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22332" y="3118104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7322332" y="3118104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486924" y="3520440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486924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962412" y="3209544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Uploaded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943198" y="31546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610710" y="3118104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9610710" y="3118104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9775302" y="3520440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9775302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10250790" y="3209544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Uploaded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1231575" y="31546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5577" y="4453128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2745577" y="4453128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910169" y="4855464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910169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3385657" y="4544568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Updated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366443" y="4489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033955" y="4453128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5033955" y="4453128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5198547" y="4855464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5198547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5674035" y="4544568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 Completed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6654820" y="4489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322332" y="4453128"/>
            <a:ext cx="212378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7322332" y="4453128"/>
            <a:ext cx="54864" cy="1170432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7486924" y="4855464"/>
            <a:ext cx="365760" cy="365760"/>
          </a:xfrm>
          <a:prstGeom prst="ellipse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7486924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7962412" y="4544568"/>
            <a:ext cx="134654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 Validation Completed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8943198" y="4489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5760720"/>
            <a:ext cx="11277295" cy="594360"/>
          </a:xfrm>
          <a:prstGeom prst="rect">
            <a:avLst/>
          </a:prstGeom>
          <a:solidFill>
            <a:srgbClr val="1FA875"/>
          </a:solidFill>
          <a:ln w="12700">
            <a:solidFill>
              <a:srgbClr val="1FA875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85800" y="576072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 → READY TO GO LIVE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2C3A75">
              <a:alpha val="70000"/>
            </a:srgbClr>
          </a:solidFill>
          <a:ln w="12700">
            <a:solidFill>
              <a:srgbClr val="2C3A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34095" y="3200400"/>
            <a:ext cx="8229600" cy="8229600"/>
          </a:xfrm>
          <a:prstGeom prst="ellipse">
            <a:avLst/>
          </a:prstGeom>
          <a:solidFill>
            <a:srgbClr val="4B6CB7">
              <a:alpha val="40000"/>
            </a:srgbClr>
          </a:solidFill>
          <a:ln w="1270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20  · 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28655" y="365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Golden Rule — follow this dependency chain and the rest falls into place.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24093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73152" cy="71323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81018" y="2176272"/>
            <a:ext cx="411480" cy="201168"/>
          </a:xfrm>
          <a:prstGeom prst="rightArrow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75378" y="1920240"/>
            <a:ext cx="324093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5378" y="1920240"/>
            <a:ext cx="73152" cy="71323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58258" y="1920240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99197" y="2176272"/>
            <a:ext cx="411480" cy="201168"/>
          </a:xfrm>
          <a:prstGeom prst="rightArrow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493557" y="1920240"/>
            <a:ext cx="324093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93557" y="1920240"/>
            <a:ext cx="73152" cy="71323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76437" y="1920240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324093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73152" cy="71323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881018" y="3044952"/>
            <a:ext cx="411480" cy="201168"/>
          </a:xfrm>
          <a:prstGeom prst="rightArrow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475378" y="2788920"/>
            <a:ext cx="324093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475378" y="2788920"/>
            <a:ext cx="73152" cy="71323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58258" y="2788920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Connector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99197" y="3044952"/>
            <a:ext cx="411480" cy="201168"/>
          </a:xfrm>
          <a:prstGeom prst="rightArrow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493557" y="2788920"/>
            <a:ext cx="324093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493557" y="2788920"/>
            <a:ext cx="73152" cy="71323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676437" y="2788920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324093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73152" cy="71323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" y="3657600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Upload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881018" y="3913632"/>
            <a:ext cx="411480" cy="201168"/>
          </a:xfrm>
          <a:prstGeom prst="rightArrow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475378" y="3657600"/>
            <a:ext cx="324093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75378" y="3657600"/>
            <a:ext cx="73152" cy="71323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58258" y="3657600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899197" y="3913632"/>
            <a:ext cx="411480" cy="201168"/>
          </a:xfrm>
          <a:prstGeom prst="rightArrow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493557" y="3657600"/>
            <a:ext cx="324093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493557" y="3657600"/>
            <a:ext cx="73152" cy="713232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676437" y="3657600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 Visibility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57200" y="4709160"/>
            <a:ext cx="11277295" cy="1508760"/>
          </a:xfrm>
          <a:prstGeom prst="rect">
            <a:avLst/>
          </a:prstGeom>
          <a:solidFill>
            <a:srgbClr val="2C3A75"/>
          </a:solidFill>
          <a:ln w="12700">
            <a:solidFill>
              <a:srgbClr val="2C3A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57200" y="4709160"/>
            <a:ext cx="91440" cy="150876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5074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dependency chain drives the entire Seller Store ecosystem.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31520" y="55778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this sequence eliminates most onboarding and product visibility issues.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6355080"/>
            <a:ext cx="11277295" cy="36576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4809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 ·  Internal Training Guide  ·  v1.0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39237"/>
          </a:solidFill>
          <a:ln w="12700">
            <a:solidFill>
              <a:srgbClr val="F392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2090</Words>
  <Application>Microsoft Office PowerPoint</Application>
  <PresentationFormat>Widescreen</PresentationFormat>
  <Paragraphs>584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Qwipo Seller Store — Internal Training Guide</dc:title>
  <dc:subject>Configuration, dependencies, validations and troubleshooting</dc:subject>
  <dc:creator>Qwipo Product Team</dc:creator>
  <cp:lastModifiedBy>Omkar Charankar</cp:lastModifiedBy>
  <cp:revision>1</cp:revision>
  <dcterms:created xsi:type="dcterms:W3CDTF">2026-05-31T17:19:53Z</dcterms:created>
  <dcterms:modified xsi:type="dcterms:W3CDTF">2026-05-31T17:53:16Z</dcterms:modified>
</cp:coreProperties>
</file>