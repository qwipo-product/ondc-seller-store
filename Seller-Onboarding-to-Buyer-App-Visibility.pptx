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2A2463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5120640"/>
            <a:ext cx="3108960" cy="3108960"/>
          </a:xfrm>
          <a:prstGeom prst="ellipse">
            <a:avLst/>
          </a:prstGeom>
          <a:solidFill>
            <a:srgbClr val="2A2463"/>
          </a:solidFill>
          <a:ln/>
        </p:spPr>
      </p:sp>
      <p:sp>
        <p:nvSpPr>
          <p:cNvPr id="4" name="Shape 2"/>
          <p:cNvSpPr/>
          <p:nvPr/>
        </p:nvSpPr>
        <p:spPr>
          <a:xfrm>
            <a:off x="-1097280" y="5394960"/>
            <a:ext cx="2926080" cy="2926080"/>
          </a:xfrm>
          <a:prstGeom prst="ellipse">
            <a:avLst/>
          </a:prstGeom>
          <a:solidFill>
            <a:srgbClr val="251F5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QWIPO SELLER PLATFORM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55448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Onboarding to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App Visibility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workflow — from creating a distributor to their products going live on the customer app.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4709160"/>
            <a:ext cx="2148840" cy="475488"/>
          </a:xfrm>
          <a:prstGeom prst="roundRect">
            <a:avLst>
              <a:gd name="adj" fmla="val 50000"/>
            </a:avLst>
          </a:prstGeom>
          <a:solidFill>
            <a:srgbClr val="3B2E7E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70916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1–5 · Admin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00400" y="4709160"/>
            <a:ext cx="2148840" cy="475488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0" y="470916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6–10 · Seller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577840" y="4709160"/>
            <a:ext cx="2148840" cy="475488"/>
          </a:xfrm>
          <a:prstGeom prst="roundRect">
            <a:avLst>
              <a:gd name="adj" fmla="val 50000"/>
            </a:avLst>
          </a:prstGeom>
          <a:solidFill>
            <a:srgbClr val="14532D"/>
          </a:solidFill>
          <a:ln/>
        </p:spPr>
      </p:sp>
      <p:sp>
        <p:nvSpPr>
          <p:cNvPr id="13" name="Text 11"/>
          <p:cNvSpPr/>
          <p:nvPr/>
        </p:nvSpPr>
        <p:spPr>
          <a:xfrm>
            <a:off x="5577840" y="470916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BF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· Automatic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Business Team  ·  Based on the Tech Team's onboarding checklist  ·  Version 1.0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Onboarding Checklist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steps take a new seller from creation to products visible on the customer app. Admin sets the seller up; the seller readies their catalog; going live is automatic.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11183112" cy="347472"/>
          </a:xfrm>
          <a:prstGeom prst="roundRect">
            <a:avLst>
              <a:gd name="adj" fmla="val 18421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62763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234440" y="162763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Companies &amp; Brands (if not already in the system)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0149840" y="1677924"/>
            <a:ext cx="1371600" cy="246888"/>
          </a:xfrm>
          <a:prstGeom prst="roundRect">
            <a:avLst>
              <a:gd name="adj" fmla="val 48148"/>
            </a:avLst>
          </a:prstGeom>
          <a:solidFill>
            <a:srgbClr val="EDE9FE"/>
          </a:solidFill>
          <a:ln/>
        </p:spPr>
      </p:sp>
      <p:sp>
        <p:nvSpPr>
          <p:cNvPr id="8" name="Text 6"/>
          <p:cNvSpPr/>
          <p:nvPr/>
        </p:nvSpPr>
        <p:spPr>
          <a:xfrm>
            <a:off x="10149840" y="167792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2029968"/>
            <a:ext cx="11183112" cy="347472"/>
          </a:xfrm>
          <a:prstGeom prst="roundRect">
            <a:avLst>
              <a:gd name="adj" fmla="val 18421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02996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234440" y="202996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Seller — Active status, GPS, Companies &amp; Brands tagged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149840" y="2080260"/>
            <a:ext cx="1371600" cy="246888"/>
          </a:xfrm>
          <a:prstGeom prst="roundRect">
            <a:avLst>
              <a:gd name="adj" fmla="val 48148"/>
            </a:avLst>
          </a:prstGeom>
          <a:solidFill>
            <a:srgbClr val="EDE9FE"/>
          </a:solidFill>
          <a:ln/>
        </p:spPr>
      </p:sp>
      <p:sp>
        <p:nvSpPr>
          <p:cNvPr id="13" name="Text 11"/>
          <p:cNvSpPr/>
          <p:nvPr/>
        </p:nvSpPr>
        <p:spPr>
          <a:xfrm>
            <a:off x="10149840" y="208026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432304"/>
            <a:ext cx="11183112" cy="347472"/>
          </a:xfrm>
          <a:prstGeom prst="roundRect">
            <a:avLst>
              <a:gd name="adj" fmla="val 18421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43230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234440" y="2432304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Serviceability / GeoJSON per company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149840" y="2482596"/>
            <a:ext cx="1371600" cy="246888"/>
          </a:xfrm>
          <a:prstGeom prst="roundRect">
            <a:avLst>
              <a:gd name="adj" fmla="val 48148"/>
            </a:avLst>
          </a:prstGeom>
          <a:solidFill>
            <a:srgbClr val="EDE9FE"/>
          </a:solidFill>
          <a:ln/>
        </p:spPr>
      </p:sp>
      <p:sp>
        <p:nvSpPr>
          <p:cNvPr id="18" name="Text 16"/>
          <p:cNvSpPr/>
          <p:nvPr/>
        </p:nvSpPr>
        <p:spPr>
          <a:xfrm>
            <a:off x="10149840" y="2482596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834640"/>
            <a:ext cx="11183112" cy="347472"/>
          </a:xfrm>
          <a:prstGeom prst="roundRect">
            <a:avLst>
              <a:gd name="adj" fmla="val 18421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28346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234440" y="283464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Connector (ONDC — Active)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10149840" y="2884932"/>
            <a:ext cx="1371600" cy="246888"/>
          </a:xfrm>
          <a:prstGeom prst="roundRect">
            <a:avLst>
              <a:gd name="adj" fmla="val 48148"/>
            </a:avLst>
          </a:prstGeom>
          <a:solidFill>
            <a:srgbClr val="EDE9FE"/>
          </a:solidFill>
          <a:ln/>
        </p:spPr>
      </p:sp>
      <p:sp>
        <p:nvSpPr>
          <p:cNvPr id="23" name="Text 21"/>
          <p:cNvSpPr/>
          <p:nvPr/>
        </p:nvSpPr>
        <p:spPr>
          <a:xfrm>
            <a:off x="10149840" y="288493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" y="3236976"/>
            <a:ext cx="11183112" cy="347472"/>
          </a:xfrm>
          <a:prstGeom prst="roundRect">
            <a:avLst>
              <a:gd name="adj" fmla="val 18421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236976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234440" y="323697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Catalog — pull matching products from the master catalog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149840" y="3287268"/>
            <a:ext cx="1371600" cy="246888"/>
          </a:xfrm>
          <a:prstGeom prst="roundRect">
            <a:avLst>
              <a:gd name="adj" fmla="val 48148"/>
            </a:avLst>
          </a:prstGeom>
          <a:solidFill>
            <a:srgbClr val="EDE9FE"/>
          </a:solidFill>
          <a:ln/>
        </p:spPr>
      </p:sp>
      <p:sp>
        <p:nvSpPr>
          <p:cNvPr id="28" name="Text 26"/>
          <p:cNvSpPr/>
          <p:nvPr/>
        </p:nvSpPr>
        <p:spPr>
          <a:xfrm>
            <a:off x="10149840" y="3287268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3639312"/>
            <a:ext cx="11183112" cy="347472"/>
          </a:xfrm>
          <a:prstGeom prst="roundRect">
            <a:avLst>
              <a:gd name="adj" fmla="val 18421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36393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234440" y="363931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logs in with their mobile number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10149840" y="3689604"/>
            <a:ext cx="1371600" cy="246888"/>
          </a:xfrm>
          <a:prstGeom prst="roundRect">
            <a:avLst>
              <a:gd name="adj" fmla="val 48148"/>
            </a:avLst>
          </a:prstGeom>
          <a:solidFill>
            <a:srgbClr val="CCFBF1"/>
          </a:solidFill>
          <a:ln/>
        </p:spPr>
      </p:sp>
      <p:sp>
        <p:nvSpPr>
          <p:cNvPr id="33" name="Text 31"/>
          <p:cNvSpPr/>
          <p:nvPr/>
        </p:nvSpPr>
        <p:spPr>
          <a:xfrm>
            <a:off x="10149840" y="368960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2920" y="4041648"/>
            <a:ext cx="11183112" cy="347472"/>
          </a:xfrm>
          <a:prstGeom prst="roundRect">
            <a:avLst>
              <a:gd name="adj" fmla="val 18421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8368" y="404164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1234440" y="404164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/ review SKUs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149840" y="4091940"/>
            <a:ext cx="1371600" cy="246888"/>
          </a:xfrm>
          <a:prstGeom prst="roundRect">
            <a:avLst>
              <a:gd name="adj" fmla="val 48148"/>
            </a:avLst>
          </a:prstGeom>
          <a:solidFill>
            <a:srgbClr val="CCFBF1"/>
          </a:solidFill>
          <a:ln/>
        </p:spPr>
      </p:sp>
      <p:sp>
        <p:nvSpPr>
          <p:cNvPr id="38" name="Text 36"/>
          <p:cNvSpPr/>
          <p:nvPr/>
        </p:nvSpPr>
        <p:spPr>
          <a:xfrm>
            <a:off x="10149840" y="409194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02920" y="4443984"/>
            <a:ext cx="11183112" cy="347472"/>
          </a:xfrm>
          <a:prstGeom prst="roundRect">
            <a:avLst>
              <a:gd name="adj" fmla="val 18421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" y="444398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1234440" y="4443984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SKUs ONDC compliant (product image + required fields)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10149840" y="4494276"/>
            <a:ext cx="1371600" cy="246888"/>
          </a:xfrm>
          <a:prstGeom prst="roundRect">
            <a:avLst>
              <a:gd name="adj" fmla="val 48148"/>
            </a:avLst>
          </a:prstGeom>
          <a:solidFill>
            <a:srgbClr val="CCFBF1"/>
          </a:solidFill>
          <a:ln/>
        </p:spPr>
      </p:sp>
      <p:sp>
        <p:nvSpPr>
          <p:cNvPr id="43" name="Text 41"/>
          <p:cNvSpPr/>
          <p:nvPr/>
        </p:nvSpPr>
        <p:spPr>
          <a:xfrm>
            <a:off x="10149840" y="4494276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02920" y="4846320"/>
            <a:ext cx="11183112" cy="347472"/>
          </a:xfrm>
          <a:prstGeom prst="roundRect">
            <a:avLst>
              <a:gd name="adj" fmla="val 18421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484632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1234440" y="484632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price &amp; inventory (MRP &gt; 0, Selling Price &gt; 0, Stock ON)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10149840" y="4896612"/>
            <a:ext cx="1371600" cy="246888"/>
          </a:xfrm>
          <a:prstGeom prst="roundRect">
            <a:avLst>
              <a:gd name="adj" fmla="val 48148"/>
            </a:avLst>
          </a:prstGeom>
          <a:solidFill>
            <a:srgbClr val="CCFBF1"/>
          </a:solidFill>
          <a:ln/>
        </p:spPr>
      </p:sp>
      <p:sp>
        <p:nvSpPr>
          <p:cNvPr id="48" name="Text 46"/>
          <p:cNvSpPr/>
          <p:nvPr/>
        </p:nvSpPr>
        <p:spPr>
          <a:xfrm>
            <a:off x="10149840" y="489661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02920" y="5248656"/>
            <a:ext cx="11183112" cy="347472"/>
          </a:xfrm>
          <a:prstGeom prst="roundRect">
            <a:avLst>
              <a:gd name="adj" fmla="val 18421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" y="5248656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1234440" y="524865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WhatsApp notifications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10149840" y="5298948"/>
            <a:ext cx="1371600" cy="246888"/>
          </a:xfrm>
          <a:prstGeom prst="roundRect">
            <a:avLst>
              <a:gd name="adj" fmla="val 48148"/>
            </a:avLst>
          </a:prstGeom>
          <a:solidFill>
            <a:srgbClr val="CCFBF1"/>
          </a:solidFill>
          <a:ln/>
        </p:spPr>
      </p:sp>
      <p:sp>
        <p:nvSpPr>
          <p:cNvPr id="53" name="Text 51"/>
          <p:cNvSpPr/>
          <p:nvPr/>
        </p:nvSpPr>
        <p:spPr>
          <a:xfrm>
            <a:off x="10149840" y="5298948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02920" y="5650992"/>
            <a:ext cx="11183112" cy="347472"/>
          </a:xfrm>
          <a:prstGeom prst="roundRect">
            <a:avLst>
              <a:gd name="adj" fmla="val 18421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8368" y="565099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1234440" y="565099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go live — visible on the customer app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10149840" y="5701284"/>
            <a:ext cx="1371600" cy="246888"/>
          </a:xfrm>
          <a:prstGeom prst="roundRect">
            <a:avLst>
              <a:gd name="adj" fmla="val 48148"/>
            </a:avLst>
          </a:prstGeom>
          <a:solidFill>
            <a:srgbClr val="DCFCE7"/>
          </a:solidFill>
          <a:ln/>
        </p:spPr>
      </p:sp>
      <p:sp>
        <p:nvSpPr>
          <p:cNvPr id="58" name="Text 56"/>
          <p:cNvSpPr/>
          <p:nvPr/>
        </p:nvSpPr>
        <p:spPr>
          <a:xfrm>
            <a:off x="10149840" y="570128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 step is missed, the seller's products will not appear on the buyer app — the troubleshooting guide at the end shows what to check.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Companies &amp; Brands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0042855" y="50292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6" name="Text 4"/>
          <p:cNvSpPr/>
          <p:nvPr/>
        </p:nvSpPr>
        <p:spPr>
          <a:xfrm>
            <a:off x="10042855" y="5029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ADMIN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creating a seller, every company and brand the seller wants to sell must already exist in the system.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94767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and brands already exist? Skip this step.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company or brand needed? Admin creates it first.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7523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create a new company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3099816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Admin Portal → Companies &amp; Brands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company name (unique across the platform)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at least one brand under the company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then available for any seller to use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434340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" y="4343400"/>
            <a:ext cx="3858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Companies &amp; Brands as a master list maintained by the admin. Sellers pick from this list — they don't create their own.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5029200"/>
            <a:ext cx="4114800" cy="1389888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51389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04088" y="5431536"/>
            <a:ext cx="37124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name added (unique across platform)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brand added under the company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and brands visible in the master list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31359" y="1289304"/>
            <a:ext cx="6793992" cy="427367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5000"/>
              </a:srgbClr>
            </a:outerShdw>
          </a:effectLst>
        </p:spPr>
      </p:sp>
      <p:pic>
        <p:nvPicPr>
          <p:cNvPr id="17" name="Image 0" descr="C:/Users/User/OneDrive - Xavica Primary/Desktop/Seller Store/scripts/presentation/onboarding-shots/step1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325880"/>
            <a:ext cx="6720840" cy="4200525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4967935" y="5599557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→ Companies &amp; Brands — the master list sellers pick from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Seller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0042855" y="50292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6" name="Text 4"/>
          <p:cNvSpPr/>
          <p:nvPr/>
        </p:nvSpPr>
        <p:spPr>
          <a:xfrm>
            <a:off x="10042855" y="5029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ADMIN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seller's details in the Admin Portal. Three fields decide whether products ever reach the customer app: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94767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coordinates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22951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Copied to the seller's warehouse. Wrong coordinates = wrong delivery area.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7523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309981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must be selected. The seller can only sell products from their tagged companies.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35570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 (under each company)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90448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specific brands to limit the range — or leave empty and all brands are auto-assigned.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361688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FEF3C7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" y="4361688"/>
            <a:ext cx="3858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These fields are the #1 cause of “products not showing” issues later. Double-check them at creation.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31359" y="1289304"/>
            <a:ext cx="6793992" cy="427367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5000"/>
              </a:srgbClr>
            </a:outerShdw>
          </a:effectLst>
        </p:spPr>
      </p:sp>
      <p:pic>
        <p:nvPicPr>
          <p:cNvPr id="17" name="Image 0" descr="C:/Users/User/OneDrive - Xavica Primary/Desktop/Seller Store/scripts/presentation/onboarding-shots/step2-add-seller-m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325880"/>
            <a:ext cx="6720840" cy="4200525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4967935" y="5599557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Seller — GPS coordinates and “Companies &amp; Brands the Seller Works With”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After the Seller Is Created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0042855" y="50292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6" name="Text 4"/>
          <p:cNvSpPr/>
          <p:nvPr/>
        </p:nvSpPr>
        <p:spPr>
          <a:xfrm>
            <a:off x="10042855" y="5029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ADMIN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on successful creation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719072"/>
            <a:ext cx="41148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account is created in Active status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login is auto-created using the seller's mobile number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default warehouse is set up from the seller's address and GPS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order settings are applied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182112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" y="318211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The seller must remain Active. If an admin deactivates the seller, all of their products vanish from the customer app.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4151376"/>
            <a:ext cx="4114800" cy="2267712"/>
          </a:xfrm>
          <a:prstGeom prst="roundRect">
            <a:avLst>
              <a:gd name="adj" fmla="val 403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426110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4088" y="4553712"/>
            <a:ext cx="371246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coordinates entered correctly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company selected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 tagged (or left empty for all brands)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status is Active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created (mobile number)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warehouse has the correct address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931359" y="1289304"/>
            <a:ext cx="6793992" cy="427367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5000"/>
              </a:srgbClr>
            </a:outerShdw>
          </a:effectLst>
        </p:spPr>
      </p:sp>
      <p:pic>
        <p:nvPicPr>
          <p:cNvPr id="15" name="Image 0" descr="C:/Users/User/OneDrive - Xavica Primary/Desktop/Seller Store/scripts/presentation/onboarding-shots/step2-sellers-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325880"/>
            <a:ext cx="6720840" cy="420052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4967935" y="5599557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 list — every new seller starts in Active status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Serviceability / GeoJSON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0042855" y="50292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6" name="Text 4"/>
          <p:cNvSpPr/>
          <p:nvPr/>
        </p:nvSpPr>
        <p:spPr>
          <a:xfrm>
            <a:off x="10042855" y="5029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ADMIN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from the seller's detail page → Serviceability tab. This defines where the seller can deliver — each company tagged to the seller needs its own delivery area.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— one seller, two companies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2432304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“ABC Distributors” (Hyderabad) sells HUL and ITC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HUL area uploaded: Madhapur · ITC area: Gachibowli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Madhapur customers see only HUL products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Gachibowli customers see only ITC products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Kukatpally customers see nothing from this seller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950208"/>
            <a:ext cx="4114800" cy="548640"/>
          </a:xfrm>
          <a:prstGeom prst="roundRect">
            <a:avLst>
              <a:gd name="adj" fmla="val 13333"/>
            </a:avLst>
          </a:prstGeom>
          <a:solidFill>
            <a:srgbClr val="FEF3C7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" y="3950208"/>
            <a:ext cx="3858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No serviceability rule = no visibility. This is one of the most commonly missed steps.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5029200"/>
            <a:ext cx="4114800" cy="1389888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1389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" y="5431536"/>
            <a:ext cx="37124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tagged company has a serviceability rule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covers the intended delivery zone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verified on the map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931359" y="1289304"/>
            <a:ext cx="6793992" cy="427367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5000"/>
              </a:srgbClr>
            </a:outerShdw>
          </a:effectLst>
        </p:spPr>
      </p:sp>
      <p:pic>
        <p:nvPicPr>
          <p:cNvPr id="16" name="Image 0" descr="C:/Users/User/OneDrive - Xavica Primary/Desktop/Seller Store/scripts/presentation/onboarding-shots/step3-service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325880"/>
            <a:ext cx="6720840" cy="420052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967935" y="5599557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Details → Serviceability — delivery beats grouped per company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Coverage on the Map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0042855" y="50292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6" name="Text 4"/>
          <p:cNvSpPr/>
          <p:nvPr/>
        </p:nvSpPr>
        <p:spPr>
          <a:xfrm>
            <a:off x="10042855" y="5029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ADMIN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Map View to confirm every polygon sits where deliveries actually happen.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947672"/>
            <a:ext cx="41148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colour per beat, grouped by company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company or delivery day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shading = area covered by more than one beat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inside a zone to see every company serving that spot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410712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EDE9FE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" y="341071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polygon in the wrong place quietly hides products from real customers — a 30-second map check catches it.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02759" y="1289304"/>
            <a:ext cx="7022592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5000"/>
              </a:srgbClr>
            </a:outerShdw>
          </a:effectLst>
        </p:spPr>
      </p:sp>
      <p:pic>
        <p:nvPicPr>
          <p:cNvPr id="12" name="Image 0" descr="C:/Users/User/OneDrive - Xavica Primary/Desktop/Seller Store/scripts/presentation/onboarding-shots/step3-serviceability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39335" y="1325880"/>
            <a:ext cx="6949440" cy="43434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739335" y="57424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 Map — 38 delivery beats across 7 companies, verified visually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Connectors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0042855" y="50292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6" name="Text 4"/>
          <p:cNvSpPr/>
          <p:nvPr/>
        </p:nvSpPr>
        <p:spPr>
          <a:xfrm>
            <a:off x="10042855" y="5029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ADMIN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from the seller's detail page → Connector tab. A connector links the seller to a marketplace such as ONDC.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94767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do 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2295144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Add Connector and select the marketplace (e.g. ONDC)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— the connector is created in Active status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099816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EF3C7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" y="3099816"/>
            <a:ext cx="3858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The seller must have at least one Active connector. Without it, nothing shows up in any customer app.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5321808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431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" y="5724144"/>
            <a:ext cx="3712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ONDC connector added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status is Active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931359" y="1289304"/>
            <a:ext cx="6793992" cy="427367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5000"/>
              </a:srgbClr>
            </a:outerShdw>
          </a:effectLst>
        </p:spPr>
      </p:sp>
      <p:pic>
        <p:nvPicPr>
          <p:cNvPr id="16" name="Image 0" descr="C:/Users/User/OneDrive - Xavica Primary/Desktop/Seller Store/scripts/presentation/onboarding-shots/step4-connect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325880"/>
            <a:ext cx="6720840" cy="420052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967935" y="5599557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tab — ONDC connected and Active for this seller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Catalog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0042855" y="50292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6" name="Text 4"/>
          <p:cNvSpPr/>
          <p:nvPr/>
        </p:nvSpPr>
        <p:spPr>
          <a:xfrm>
            <a:off x="10042855" y="5029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ADMIN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copies matching products from Qwipo's master catalog into the seller's account.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9019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on sync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2249424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reads the seller's tagged companies and brands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all matching products in the master catalog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Copies them into the seller's product list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and schemes are copied along with them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4930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3840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matching company + brand products get copied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is safe — already-synced products are skipped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more companies later? Re-run Sync Catalog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5029200"/>
            <a:ext cx="4114800" cy="1389888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1389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" y="5431536"/>
            <a:ext cx="37124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Catalog clicked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appeared in the seller's catalog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and schemes copied along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931359" y="1289304"/>
            <a:ext cx="6793992" cy="427367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5000"/>
              </a:srgbClr>
            </a:outerShdw>
          </a:effectLst>
        </p:spPr>
      </p:sp>
      <p:pic>
        <p:nvPicPr>
          <p:cNvPr id="16" name="Image 0" descr="C:/Users/User/OneDrive - Xavica Primary/Desktop/Seller Store/scripts/presentation/onboarding-shots/step5-central-catalog-produ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325880"/>
            <a:ext cx="6720840" cy="420052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967935" y="5599557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Qwipo Master Catalog — one-click Sync Catalog with per-product sync status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Logs In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0042855" y="50292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/>
        </p:spPr>
      </p:sp>
      <p:sp>
        <p:nvSpPr>
          <p:cNvPr id="6" name="Text 4"/>
          <p:cNvSpPr/>
          <p:nvPr/>
        </p:nvSpPr>
        <p:spPr>
          <a:xfrm>
            <a:off x="10042855" y="5029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SELLER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here the seller takes over. They open the Seller Portal and sign in with the same mobile number the admin registered during creation.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4114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registered mobile number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with the OTP sent to that number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Seller Portal dashboard loads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218688"/>
            <a:ext cx="4114800" cy="548640"/>
          </a:xfrm>
          <a:prstGeom prst="roundRect">
            <a:avLst>
              <a:gd name="adj" fmla="val 13333"/>
            </a:avLst>
          </a:prstGeom>
          <a:solidFill>
            <a:srgbClr val="EDE9FE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" y="3218688"/>
            <a:ext cx="3858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separate account setup is needed — the login was auto-created in Step 2.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5321808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431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4088" y="5724144"/>
            <a:ext cx="3712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can log in with the registered mobile number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Portal dashboard loads successfully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931359" y="1289304"/>
            <a:ext cx="6793992" cy="427367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5000"/>
              </a:srgbClr>
            </a:outerShdw>
          </a:effectLst>
        </p:spPr>
      </p:sp>
      <p:pic>
        <p:nvPicPr>
          <p:cNvPr id="15" name="Image 0" descr="C:/Users/User/OneDrive - Xavica Primary/Desktop/Seller Store/scripts/presentation/onboarding-shots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325880"/>
            <a:ext cx="6720840" cy="420052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4967935" y="5599557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Portal login — mobile number + OTP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/ Review SKUs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0042855" y="50292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/>
        </p:spPr>
      </p:sp>
      <p:sp>
        <p:nvSpPr>
          <p:cNvPr id="6" name="Text 4"/>
          <p:cNvSpPr/>
          <p:nvPr/>
        </p:nvSpPr>
        <p:spPr>
          <a:xfrm>
            <a:off x="10042855" y="5029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SELLER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My SKU page the seller reviews their product list.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81051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synced by the admin (Step 5) are already listed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products can be uploaded via Excel: Bulk Import → download template → fill in → upload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779776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" y="2779776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Uploaded products must belong to the companies and brands assigned to the seller — anything else is rejected.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5029200"/>
            <a:ext cx="4114800" cy="1389888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1389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4088" y="5431536"/>
            <a:ext cx="37124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Synced products visible in My SKU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upload (if any) completed without errors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belong to the seller's tagged companies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931359" y="1289304"/>
            <a:ext cx="6793992" cy="427367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5000"/>
              </a:srgbClr>
            </a:outerShdw>
          </a:effectLst>
        </p:spPr>
      </p:sp>
      <p:pic>
        <p:nvPicPr>
          <p:cNvPr id="15" name="Image 0" descr="C:/Users/User/OneDrive - Xavica Primary/Desktop/Seller Store/scripts/presentation/onboarding-shots/step7-my-sk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325880"/>
            <a:ext cx="6720840" cy="420052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4967935" y="5599557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SKU — synced products with price, status and ONDC compliance at a glance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SKUs ONDC Compliant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0042855" y="50292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/>
        </p:spPr>
      </p:sp>
      <p:sp>
        <p:nvSpPr>
          <p:cNvPr id="6" name="Text 4"/>
          <p:cNvSpPr/>
          <p:nvPr/>
        </p:nvSpPr>
        <p:spPr>
          <a:xfrm>
            <a:off x="10042855" y="5029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SELLER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411480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" y="1371600"/>
            <a:ext cx="3858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Products marked “Non-Compliant” will NOT appear in the customer app.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98424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reason is a missing product image. To fix a product: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468880"/>
            <a:ext cx="41148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product to open its details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product image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any other missing required fields (descriptions, manufacturer details, …)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— status flips to “Compliant” once everything required is filled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5029200"/>
            <a:ext cx="4114800" cy="1389888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1389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4088" y="5431536"/>
            <a:ext cx="37124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uploaded for each SKU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 details filled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status shows “Compliant”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931359" y="1289304"/>
            <a:ext cx="6793992" cy="427367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5000"/>
              </a:srgbClr>
            </a:outerShdw>
          </a:effectLst>
        </p:spPr>
      </p:sp>
      <p:pic>
        <p:nvPicPr>
          <p:cNvPr id="15" name="Image 0" descr="C:/Users/User/OneDrive - Xavica Primary/Desktop/Seller Store/scripts/presentation/onboarding-shots/step8-sku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325880"/>
            <a:ext cx="6720840" cy="420052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4967935" y="5599557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Details — required fields are flagged until the SKU is compliant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Price &amp; Inventory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0042855" y="50292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/>
        </p:spPr>
      </p:sp>
      <p:sp>
        <p:nvSpPr>
          <p:cNvPr id="6" name="Text 4"/>
          <p:cNvSpPr/>
          <p:nvPr/>
        </p:nvSpPr>
        <p:spPr>
          <a:xfrm>
            <a:off x="10042855" y="5029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SELLER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My SKU → Price &amp; Inventory. Three rules decide whether a product can be shown and sold: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947672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MRP must be greater than 0 — zero MRP hides the product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Price must be greater than 0 — zero hides it too. This is what the customer pays; set it below MRP for a discount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Available must be ON — the quick way to show / hide a product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557016"/>
            <a:ext cx="4114800" cy="548640"/>
          </a:xfrm>
          <a:prstGeom prst="roundRect">
            <a:avLst>
              <a:gd name="adj" fmla="val 13333"/>
            </a:avLst>
          </a:prstGeom>
          <a:solidFill>
            <a:srgbClr val="EDE9FE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" y="3557016"/>
            <a:ext cx="3858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option: use “Import Prices” to update many products at once via Excel.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5029200"/>
            <a:ext cx="4114800" cy="1389888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1389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4088" y="5431536"/>
            <a:ext cx="37124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MRP set and greater than 0 for each SKU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Price set and greater than 0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Available toggled 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931359" y="1289304"/>
            <a:ext cx="6793992" cy="427367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5000"/>
              </a:srgbClr>
            </a:outerShdw>
          </a:effectLst>
        </p:spPr>
      </p:sp>
      <p:pic>
        <p:nvPicPr>
          <p:cNvPr id="15" name="Image 0" descr="C:/Users/User/OneDrive - Xavica Primary/Desktop/Seller Store/scripts/presentation/onboarding-shots/step9-price-inventory-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325880"/>
            <a:ext cx="6720840" cy="420052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4967935" y="5599557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&amp; Inventory — MRP, Selling Price and the Stock Available toggle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WhatsApp Notifications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0042855" y="50292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/>
        </p:spPr>
      </p:sp>
      <p:sp>
        <p:nvSpPr>
          <p:cNvPr id="6" name="Text 4"/>
          <p:cNvSpPr/>
          <p:nvPr/>
        </p:nvSpPr>
        <p:spPr>
          <a:xfrm>
            <a:off x="10042855" y="5029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SELLER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Settings → Communication Settings — so the seller never misses an incoming order.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947672"/>
            <a:ext cx="4114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 WhatsApp-enabled mobile number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it with the OTP code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“Notify New Orders” 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081528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EDE9FE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" y="3081528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recommended: order notifications land directly on WhatsApp the moment a customer places an order.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5321808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431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4088" y="5724144"/>
            <a:ext cx="3712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number entered and verified with OTP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✓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“Notify New Orders” toggle is 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931359" y="1289304"/>
            <a:ext cx="6793992" cy="427367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5000"/>
              </a:srgbClr>
            </a:outerShdw>
          </a:effectLst>
        </p:spPr>
      </p:sp>
      <p:pic>
        <p:nvPicPr>
          <p:cNvPr id="15" name="Image 0" descr="C:/Users/User/OneDrive - Xavica Primary/Desktop/Seller Store/scripts/presentation/onboarding-shots/step10-communi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7935" y="1325880"/>
            <a:ext cx="6720840" cy="420052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4967935" y="5599557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Communication — WhatsApp number with OTP verification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658368" cy="658368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Go Live — Automatically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0042855" y="50292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6" name="Text 4"/>
          <p:cNvSpPr/>
          <p:nvPr/>
        </p:nvSpPr>
        <p:spPr>
          <a:xfrm>
            <a:off x="10042855" y="5029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AUTOMATIC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13258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every step is complete, products appear on the customer app on their own. </a:t>
            </a:r>
            <a:pPr indent="0" marL="0">
              <a:buNone/>
            </a:pPr>
            <a:r>
              <a:rPr lang="en-US" sz="125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manual “publish” button.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103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customers find the products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2606040"/>
            <a:ext cx="2121408" cy="2286000"/>
          </a:xfrm>
          <a:prstGeom prst="roundRect">
            <a:avLst>
              <a:gd name="adj" fmla="val 517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2788920"/>
            <a:ext cx="457200" cy="457200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7512" y="338328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" y="3749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opens a buyer app and searches for a product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79776" y="2606040"/>
            <a:ext cx="2121408" cy="2286000"/>
          </a:xfrm>
          <a:prstGeom prst="roundRect">
            <a:avLst>
              <a:gd name="adj" fmla="val 517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44368" y="2788920"/>
            <a:ext cx="457200" cy="457200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16" name="Text 14"/>
          <p:cNvSpPr/>
          <p:nvPr/>
        </p:nvSpPr>
        <p:spPr>
          <a:xfrm>
            <a:off x="2944368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944368" y="338328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match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44368" y="3749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ONDC matches the customer's city with the seller's ONDC City Code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56632" y="2606040"/>
            <a:ext cx="2121408" cy="2286000"/>
          </a:xfrm>
          <a:prstGeom prst="roundRect">
            <a:avLst>
              <a:gd name="adj" fmla="val 517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221224" y="2788920"/>
            <a:ext cx="457200" cy="457200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21" name="Text 19"/>
          <p:cNvSpPr/>
          <p:nvPr/>
        </p:nvSpPr>
        <p:spPr>
          <a:xfrm>
            <a:off x="5221224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21224" y="338328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check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21224" y="3749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checks the customer's location is inside the seller's delivery area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33488" y="2606040"/>
            <a:ext cx="2121408" cy="2286000"/>
          </a:xfrm>
          <a:prstGeom prst="roundRect">
            <a:avLst>
              <a:gd name="adj" fmla="val 517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0" y="2788920"/>
            <a:ext cx="457200" cy="457200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498080" y="338328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498080" y="3749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products that are Active + Compliant + Priced + In Stock are shown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610344" y="2606040"/>
            <a:ext cx="2121408" cy="2286000"/>
          </a:xfrm>
          <a:prstGeom prst="roundRect">
            <a:avLst>
              <a:gd name="adj" fmla="val 517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774936" y="2788920"/>
            <a:ext cx="457200" cy="457200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31" name="Text 29"/>
          <p:cNvSpPr/>
          <p:nvPr/>
        </p:nvSpPr>
        <p:spPr>
          <a:xfrm>
            <a:off x="9774936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774936" y="338328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774936" y="3749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browses the catalog and places the order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5349240"/>
            <a:ext cx="11183112" cy="777240"/>
          </a:xfrm>
          <a:prstGeom prst="roundRect">
            <a:avLst>
              <a:gd name="adj" fmla="val 11765"/>
            </a:avLst>
          </a:prstGeom>
          <a:solidFill>
            <a:srgbClr val="DCFCE7"/>
          </a:solidFill>
          <a:ln/>
        </p:spPr>
      </p:sp>
      <p:sp>
        <p:nvSpPr>
          <p:cNvPr id="35" name="Text 33"/>
          <p:cNvSpPr/>
          <p:nvPr/>
        </p:nvSpPr>
        <p:spPr>
          <a:xfrm>
            <a:off x="777240" y="534924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Final check:  </a:t>
            </a:r>
            <a:pPr indent="0" marL="0">
              <a:buNone/>
            </a:pPr>
            <a:r>
              <a:rPr lang="en-US" sz="12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are visible on the buyer app from inside the delivery area · the right company's products appear for the right location · pricing and stock status are accurate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Chain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is a chain — every link must hold.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6309360" cy="335585"/>
          </a:xfrm>
          <a:prstGeom prst="roundRect">
            <a:avLst>
              <a:gd name="adj" fmla="val 19074"/>
            </a:avLst>
          </a:prstGeom>
          <a:solidFill>
            <a:srgbClr val="2E2768"/>
          </a:solidFill>
          <a:ln w="9525">
            <a:solidFill>
              <a:srgbClr val="453C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572768"/>
            <a:ext cx="36576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143000" y="1572768"/>
            <a:ext cx="566928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&amp; Brands exist in the system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41248" y="1972361"/>
            <a:ext cx="6309360" cy="335585"/>
          </a:xfrm>
          <a:prstGeom prst="roundRect">
            <a:avLst>
              <a:gd name="adj" fmla="val 19074"/>
            </a:avLst>
          </a:prstGeom>
          <a:solidFill>
            <a:srgbClr val="2E2768"/>
          </a:solidFill>
          <a:ln w="9525">
            <a:solidFill>
              <a:srgbClr val="453C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1972361"/>
            <a:ext cx="36576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344168" y="1972361"/>
            <a:ext cx="566928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created (Active) with ONDC City Code + GPS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42416" y="2371954"/>
            <a:ext cx="6309360" cy="335585"/>
          </a:xfrm>
          <a:prstGeom prst="roundRect">
            <a:avLst>
              <a:gd name="adj" fmla="val 19074"/>
            </a:avLst>
          </a:prstGeom>
          <a:solidFill>
            <a:srgbClr val="2E2768"/>
          </a:solidFill>
          <a:ln w="9525">
            <a:solidFill>
              <a:srgbClr val="453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70432" y="2371954"/>
            <a:ext cx="36576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545336" y="2371954"/>
            <a:ext cx="566928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&amp; Brands tagged to the seller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243584" y="2771546"/>
            <a:ext cx="6309360" cy="335585"/>
          </a:xfrm>
          <a:prstGeom prst="roundRect">
            <a:avLst>
              <a:gd name="adj" fmla="val 19074"/>
            </a:avLst>
          </a:prstGeom>
          <a:solidFill>
            <a:srgbClr val="2E2768"/>
          </a:solidFill>
          <a:ln w="9525">
            <a:solidFill>
              <a:srgbClr val="453C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2771546"/>
            <a:ext cx="36576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746504" y="2771546"/>
            <a:ext cx="566928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 / GeoJSON uploaded per company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444752" y="3171139"/>
            <a:ext cx="6309360" cy="335585"/>
          </a:xfrm>
          <a:prstGeom prst="roundRect">
            <a:avLst>
              <a:gd name="adj" fmla="val 19074"/>
            </a:avLst>
          </a:prstGeom>
          <a:solidFill>
            <a:srgbClr val="2E2768"/>
          </a:solidFill>
          <a:ln w="9525">
            <a:solidFill>
              <a:srgbClr val="453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72768" y="3171139"/>
            <a:ext cx="36576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947672" y="3171139"/>
            <a:ext cx="566928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Connector is Active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645920" y="3570732"/>
            <a:ext cx="6309360" cy="335585"/>
          </a:xfrm>
          <a:prstGeom prst="roundRect">
            <a:avLst>
              <a:gd name="adj" fmla="val 19074"/>
            </a:avLst>
          </a:prstGeom>
          <a:solidFill>
            <a:srgbClr val="2E2768"/>
          </a:solidFill>
          <a:ln w="9525">
            <a:solidFill>
              <a:srgbClr val="453C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73936" y="3570732"/>
            <a:ext cx="36576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148840" y="3570732"/>
            <a:ext cx="566928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synced or SKUs uploaded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1847088" y="3970325"/>
            <a:ext cx="6309360" cy="335585"/>
          </a:xfrm>
          <a:prstGeom prst="roundRect">
            <a:avLst>
              <a:gd name="adj" fmla="val 19074"/>
            </a:avLst>
          </a:prstGeom>
          <a:solidFill>
            <a:srgbClr val="2E2768"/>
          </a:solidFill>
          <a:ln w="9525">
            <a:solidFill>
              <a:srgbClr val="453C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75104" y="3970325"/>
            <a:ext cx="36576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350008" y="3970325"/>
            <a:ext cx="566928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uploaded (ONDC Compliant)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048256" y="4369918"/>
            <a:ext cx="6309360" cy="335585"/>
          </a:xfrm>
          <a:prstGeom prst="roundRect">
            <a:avLst>
              <a:gd name="adj" fmla="val 19074"/>
            </a:avLst>
          </a:prstGeom>
          <a:solidFill>
            <a:srgbClr val="2E2768"/>
          </a:solidFill>
          <a:ln w="9525">
            <a:solidFill>
              <a:srgbClr val="453C8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176272" y="4369918"/>
            <a:ext cx="36576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551176" y="4369918"/>
            <a:ext cx="566928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MRP &gt; 0 and Selling Price &gt; 0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2249424" y="4769510"/>
            <a:ext cx="6309360" cy="335585"/>
          </a:xfrm>
          <a:prstGeom prst="roundRect">
            <a:avLst>
              <a:gd name="adj" fmla="val 19074"/>
            </a:avLst>
          </a:prstGeom>
          <a:solidFill>
            <a:srgbClr val="2E2768"/>
          </a:solidFill>
          <a:ln w="9525">
            <a:solidFill>
              <a:srgbClr val="453C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77440" y="4769510"/>
            <a:ext cx="36576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752344" y="4769510"/>
            <a:ext cx="5669280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Available = ON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2450592" y="5169103"/>
            <a:ext cx="6309360" cy="475488"/>
          </a:xfrm>
          <a:prstGeom prst="roundRect">
            <a:avLst>
              <a:gd name="adj" fmla="val 17308"/>
            </a:avLst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2633472" y="5169103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visible on the Customer App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8595360" y="2377440"/>
            <a:ext cx="3063240" cy="2103120"/>
          </a:xfrm>
          <a:prstGeom prst="roundRect">
            <a:avLst>
              <a:gd name="adj" fmla="val 5217"/>
            </a:avLst>
          </a:prstGeom>
          <a:solidFill>
            <a:srgbClr val="3B1E1E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7824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8823960" y="3063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 step is missing, the product will NOT appear.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8823960" y="3840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broken link hides the product for every customer.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Troubleshooting Guide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products don't show up, work through this list — it covers the failure behind almost every escalation.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15214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709160" y="1152144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CHECK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4023360" cy="557784"/>
          </a:xfrm>
          <a:prstGeom prst="roundRect">
            <a:avLst>
              <a:gd name="adj" fmla="val 13115"/>
            </a:avLst>
          </a:prstGeom>
          <a:solidFill>
            <a:srgbClr val="FEE2E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63040"/>
            <a:ext cx="3749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not showing anywhere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1463040"/>
            <a:ext cx="6967728" cy="557784"/>
          </a:xfrm>
          <a:prstGeom prst="roundRect">
            <a:avLst>
              <a:gd name="adj" fmla="val 1311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463040"/>
            <a:ext cx="66751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seller Active? Is the connector Active? Is the ONDC City Code set?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112264"/>
            <a:ext cx="4023360" cy="557784"/>
          </a:xfrm>
          <a:prstGeom prst="roundRect">
            <a:avLst>
              <a:gd name="adj" fmla="val 13115"/>
            </a:avLst>
          </a:prstGeom>
          <a:solidFill>
            <a:srgbClr val="FEE2E2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112264"/>
            <a:ext cx="3749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in the wrong city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112264"/>
            <a:ext cx="6967728" cy="557784"/>
          </a:xfrm>
          <a:prstGeom prst="roundRect">
            <a:avLst>
              <a:gd name="adj" fmla="val 1311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2112264"/>
            <a:ext cx="66751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ONDC City Code — it may be set incorrectly.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2761488"/>
            <a:ext cx="4023360" cy="557784"/>
          </a:xfrm>
          <a:prstGeom prst="roundRect">
            <a:avLst>
              <a:gd name="adj" fmla="val 13115"/>
            </a:avLst>
          </a:prstGeom>
          <a:solidFill>
            <a:srgbClr val="FEE2E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761488"/>
            <a:ext cx="3749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some customers, not others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2761488"/>
            <a:ext cx="6967728" cy="557784"/>
          </a:xfrm>
          <a:prstGeom prst="roundRect">
            <a:avLst>
              <a:gd name="adj" fmla="val 1311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2761488"/>
            <a:ext cx="66751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GeoJSON / serviceability — the customer may be outside the delivery area.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410712"/>
            <a:ext cx="4023360" cy="557784"/>
          </a:xfrm>
          <a:prstGeom prst="roundRect">
            <a:avLst>
              <a:gd name="adj" fmla="val 13115"/>
            </a:avLst>
          </a:prstGeom>
          <a:solidFill>
            <a:srgbClr val="FEE2E2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410712"/>
            <a:ext cx="3749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company's products not showing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3410712"/>
            <a:ext cx="6967728" cy="557784"/>
          </a:xfrm>
          <a:prstGeom prst="roundRect">
            <a:avLst>
              <a:gd name="adj" fmla="val 1311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3410712"/>
            <a:ext cx="66751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that company tagged to the seller? Does it have a serviceability rule?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4059936"/>
            <a:ext cx="4023360" cy="557784"/>
          </a:xfrm>
          <a:prstGeom prst="roundRect">
            <a:avLst>
              <a:gd name="adj" fmla="val 13115"/>
            </a:avLst>
          </a:prstGeom>
          <a:solidFill>
            <a:srgbClr val="FEE2E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059936"/>
            <a:ext cx="3749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product not showing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09160" y="4059936"/>
            <a:ext cx="6967728" cy="557784"/>
          </a:xfrm>
          <a:prstGeom prst="roundRect">
            <a:avLst>
              <a:gd name="adj" fmla="val 1311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4059936"/>
            <a:ext cx="66751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Active? Compliant? MRP &gt; 0? Selling Price &gt; 0? Stock ON?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2920" y="4709160"/>
            <a:ext cx="4023360" cy="557784"/>
          </a:xfrm>
          <a:prstGeom prst="roundRect">
            <a:avLst>
              <a:gd name="adj" fmla="val 13115"/>
            </a:avLst>
          </a:prstGeom>
          <a:solidFill>
            <a:srgbClr val="FEE2E2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709160"/>
            <a:ext cx="3749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disappeared after re-upload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09160" y="4709160"/>
            <a:ext cx="6967728" cy="557784"/>
          </a:xfrm>
          <a:prstGeom prst="roundRect">
            <a:avLst>
              <a:gd name="adj" fmla="val 1311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4709160"/>
            <a:ext cx="66751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“Full Snapshot” mode deactivates products missing from the uploaded file.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5358384"/>
            <a:ext cx="4023360" cy="557784"/>
          </a:xfrm>
          <a:prstGeom prst="roundRect">
            <a:avLst>
              <a:gd name="adj" fmla="val 13115"/>
            </a:avLst>
          </a:prstGeom>
          <a:solidFill>
            <a:srgbClr val="FEE2E2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5358384"/>
            <a:ext cx="3749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Synced products not showing yet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5358384"/>
            <a:ext cx="6967728" cy="557784"/>
          </a:xfrm>
          <a:prstGeom prst="roundRect">
            <a:avLst>
              <a:gd name="adj" fmla="val 1311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5358384"/>
            <a:ext cx="66751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a few minutes for the marketplace sync to complete.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2920" y="60807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Tech Team — “Seller Onboarding to Buyer App Visibility” checklist, v1.0, July 2026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155161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Seller Onboarding to Buyer App Visibility</dc:title>
  <dc:subject>Complete guide — seller onboard to buyer app visibility</dc:subject>
  <dc:creator>Qwipo Product Team</dc:creator>
  <cp:lastModifiedBy>Qwipo Product Team</cp:lastModifiedBy>
  <cp:revision>1</cp:revision>
  <dcterms:created xsi:type="dcterms:W3CDTF">2026-07-30T10:24:23Z</dcterms:created>
  <dcterms:modified xsi:type="dcterms:W3CDTF">2026-07-30T10:24:23Z</dcterms:modified>
</cp:coreProperties>
</file>