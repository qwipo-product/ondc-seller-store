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mkar Charankar" userId="384be885-a1c5-4955-9888-4ecc02e7dc83" providerId="ADAL" clId="{BA63853A-1E05-4CE4-9FA3-E2946C40E9CA}"/>
    <pc:docChg chg="modSld">
      <pc:chgData name="Omkar Charankar" userId="384be885-a1c5-4955-9888-4ecc02e7dc83" providerId="ADAL" clId="{BA63853A-1E05-4CE4-9FA3-E2946C40E9CA}" dt="2026-07-14T13:04:26.539" v="5" actId="14100"/>
      <pc:docMkLst>
        <pc:docMk/>
      </pc:docMkLst>
      <pc:sldChg chg="modSp mod">
        <pc:chgData name="Omkar Charankar" userId="384be885-a1c5-4955-9888-4ecc02e7dc83" providerId="ADAL" clId="{BA63853A-1E05-4CE4-9FA3-E2946C40E9CA}" dt="2026-07-14T13:04:26.539" v="5" actId="14100"/>
        <pc:sldMkLst>
          <pc:docMk/>
          <pc:sldMk cId="0" sldId="256"/>
        </pc:sldMkLst>
        <pc:spChg chg="mod">
          <ac:chgData name="Omkar Charankar" userId="384be885-a1c5-4955-9888-4ecc02e7dc83" providerId="ADAL" clId="{BA63853A-1E05-4CE4-9FA3-E2946C40E9CA}" dt="2026-07-14T13:04:21.400" v="4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Omkar Charankar" userId="384be885-a1c5-4955-9888-4ecc02e7dc83" providerId="ADAL" clId="{BA63853A-1E05-4CE4-9FA3-E2946C40E9CA}" dt="2026-07-14T13:04:26.539" v="5" actId="14100"/>
          <ac:spMkLst>
            <pc:docMk/>
            <pc:sldMk cId="0" sldId="256"/>
            <ac:spMk id="3" creationId="{00000000-0000-0000-0000-000000000000}"/>
          </ac:spMkLst>
        </pc:spChg>
      </pc:sldChg>
      <pc:sldChg chg="modSp mod">
        <pc:chgData name="Omkar Charankar" userId="384be885-a1c5-4955-9888-4ecc02e7dc83" providerId="ADAL" clId="{BA63853A-1E05-4CE4-9FA3-E2946C40E9CA}" dt="2026-07-14T13:04:10.228" v="2" actId="14100"/>
        <pc:sldMkLst>
          <pc:docMk/>
          <pc:sldMk cId="0" sldId="267"/>
        </pc:sldMkLst>
        <pc:spChg chg="mod">
          <ac:chgData name="Omkar Charankar" userId="384be885-a1c5-4955-9888-4ecc02e7dc83" providerId="ADAL" clId="{BA63853A-1E05-4CE4-9FA3-E2946C40E9CA}" dt="2026-07-14T13:04:05.393" v="1" actId="14100"/>
          <ac:spMkLst>
            <pc:docMk/>
            <pc:sldMk cId="0" sldId="267"/>
            <ac:spMk id="2" creationId="{00000000-0000-0000-0000-000000000000}"/>
          </ac:spMkLst>
        </pc:spChg>
        <pc:spChg chg="mod">
          <ac:chgData name="Omkar Charankar" userId="384be885-a1c5-4955-9888-4ecc02e7dc83" providerId="ADAL" clId="{BA63853A-1E05-4CE4-9FA3-E2946C40E9CA}" dt="2026-07-14T13:04:10.228" v="2" actId="14100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0919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0"/>
            <a:ext cx="3322320" cy="3657600"/>
          </a:xfrm>
          <a:prstGeom prst="roundRect">
            <a:avLst>
              <a:gd name="adj" fmla="val 9615"/>
            </a:avLst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1950720" cy="2468880"/>
          </a:xfrm>
          <a:prstGeom prst="roundRect">
            <a:avLst>
              <a:gd name="adj" fmla="val 11111"/>
            </a:avLst>
          </a:prstGeom>
          <a:solidFill>
            <a:srgbClr val="24216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515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ENHANCEMENT  ·  BUSINESS ENABLEMENT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686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</a:t>
            </a:r>
            <a:endParaRPr lang="en-US" sz="5400" dirty="0"/>
          </a:p>
          <a:p>
            <a:pPr marL="0" indent="0" algn="l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777240" y="3611880"/>
            <a:ext cx="8138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Aligning each seller's delivery areas with the distributor's real, day-by-day beat schedule — so buyers get delivery promises they can trust.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4709160"/>
            <a:ext cx="2649931" cy="457200"/>
          </a:xfrm>
          <a:prstGeom prst="roundRect">
            <a:avLst>
              <a:gd name="adj" fmla="val 20000"/>
            </a:avLst>
          </a:prstGeom>
          <a:solidFill>
            <a:srgbClr val="2E2A7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polygon  →  many beats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5771" y="4709160"/>
            <a:ext cx="2381098" cy="457200"/>
          </a:xfrm>
          <a:prstGeom prst="roundRect">
            <a:avLst>
              <a:gd name="adj" fmla="val 20000"/>
            </a:avLst>
          </a:prstGeom>
          <a:solidFill>
            <a:srgbClr val="2E2A7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Day-wise delivery zones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265469" y="4709160"/>
            <a:ext cx="2381098" cy="457200"/>
          </a:xfrm>
          <a:prstGeom prst="roundRect">
            <a:avLst>
              <a:gd name="adj" fmla="val 20000"/>
            </a:avLst>
          </a:prstGeom>
          <a:solidFill>
            <a:srgbClr val="2E2A7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buyer promises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53896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30552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2A27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07208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2A27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83864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2A27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5532120"/>
            <a:ext cx="566928" cy="457200"/>
          </a:xfrm>
          <a:prstGeom prst="roundRect">
            <a:avLst>
              <a:gd name="adj" fmla="val 12000"/>
            </a:avLst>
          </a:prstGeom>
          <a:solidFill>
            <a:srgbClr val="2A277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Qwipo  ·  Prepared for the Business Team  ·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TODAY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polygon can't tell the whole truth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serviceability works today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seller/company can upload only ONE serviceability polygon.</a:t>
            </a:r>
            <a:endParaRPr lang="en-US" sz="140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entire coverage area is treated as a single delivery zone.</a:t>
            </a:r>
            <a:endParaRPr lang="en-US" sz="140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 app assumes delivery is available every day.</a:t>
            </a:r>
            <a:endParaRPr lang="en-US" sz="140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beat-wise delivery days are tracked manually, outside the system.</a:t>
            </a:r>
            <a:endParaRPr lang="en-US" sz="1400" dirty="0"/>
          </a:p>
          <a:p>
            <a:pPr marL="177800" indent="-177800" algn="l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visibility of which area is served on which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5074920"/>
            <a:ext cx="5852160" cy="1051560"/>
          </a:xfrm>
          <a:prstGeom prst="roundRect">
            <a:avLst>
              <a:gd name="adj" fmla="val 10435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5285232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5285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463040" y="5193792"/>
            <a:ext cx="4800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place orders on days delivery isn't actually scheduled for their location — leading to failed or delayed orders.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858000" y="1783080"/>
            <a:ext cx="4754880" cy="4343400"/>
          </a:xfrm>
          <a:prstGeom prst="roundRect">
            <a:avLst>
              <a:gd name="adj" fmla="val 252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965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MODEL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818120" y="2514600"/>
            <a:ext cx="2834640" cy="2148840"/>
          </a:xfrm>
          <a:prstGeom prst="roundRect">
            <a:avLst>
              <a:gd name="adj" fmla="val 25532"/>
            </a:avLst>
          </a:prstGeom>
          <a:solidFill>
            <a:srgbClr val="E0E7FF"/>
          </a:solidFill>
          <a:ln w="19050">
            <a:solidFill>
              <a:srgbClr val="4F46E5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781812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KPHB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8120" y="365760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polygon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80960" y="4892040"/>
            <a:ext cx="3108960" cy="502920"/>
          </a:xfrm>
          <a:prstGeom prst="roundRect">
            <a:avLst>
              <a:gd name="adj" fmla="val 25455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assumes:  delivery every day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040880" y="5532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Reality: this area is only visited on 1–2 days a week.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ENHANCEMENT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one polygon per company, distributors create multiple delivery beats — each beat is one GeoJSON polygon mapped to the day(s) it's served.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743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beats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company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33472" y="2514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889504" y="2743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/>
        </p:spPr>
      </p:sp>
      <p:sp>
        <p:nvSpPr>
          <p:cNvPr id="12" name="Text 10"/>
          <p:cNvSpPr/>
          <p:nvPr/>
        </p:nvSpPr>
        <p:spPr>
          <a:xfrm>
            <a:off x="2889504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70632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polygon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70632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beat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8304" y="2514600"/>
            <a:ext cx="18745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74336" y="27432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74336" y="2743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55464" y="32461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day(s)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55464" y="353872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to each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60520"/>
            <a:ext cx="5952744" cy="1417320"/>
          </a:xfrm>
          <a:prstGeom prst="roundRect">
            <a:avLst>
              <a:gd name="adj" fmla="val 7742"/>
            </a:avLst>
          </a:prstGeom>
          <a:solidFill>
            <a:srgbClr val="1E1B4B"/>
          </a:solidFill>
          <a:ln/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22960" y="443484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4434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508760" y="4315968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GPS location  </a:t>
            </a:r>
            <a:r>
              <a:rPr lang="en-US" sz="1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beat polygon it falls inside  →  the applicable delivery day.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508760" y="5029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figures out delivery automatically — no manual lookup.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858000" y="1371600"/>
            <a:ext cx="4754880" cy="475488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858000" y="157276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 ·  ITC DISTRIBUTOR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05740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496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006840" y="205740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KPHB  polygon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86600" y="2679192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2679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9006840" y="2679192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Jubilee Hills  polygon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86600" y="3300984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3300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006840" y="3300984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Begumpet  polygon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86600" y="3922776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3922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006840" y="3922776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Madhapur  polygon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086600" y="4544568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4544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9006840" y="4544568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Kondapur  polygon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086600" y="5166360"/>
            <a:ext cx="1417320" cy="457200"/>
          </a:xfrm>
          <a:prstGeom prst="roundRect">
            <a:avLst>
              <a:gd name="adj" fmla="val 160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4964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9006840" y="5166360"/>
            <a:ext cx="2377440" cy="457200"/>
          </a:xfrm>
          <a:prstGeom prst="roundRect">
            <a:avLst>
              <a:gd name="adj" fmla="val 16000"/>
            </a:avLst>
          </a:prstGeom>
          <a:solidFill>
            <a:srgbClr val="E0E7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Miyapur  polygon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TO END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214884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09344" y="2468880"/>
            <a:ext cx="694944" cy="694944"/>
          </a:xfrm>
          <a:prstGeom prst="ellipse">
            <a:avLst/>
          </a:prstGeom>
          <a:solidFill>
            <a:srgbClr val="4F46E5"/>
          </a:solidFill>
          <a:ln/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609344" y="2468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86968" y="3383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Distributor defines beats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05256" y="4023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route: draw a polygon and assign the delivery day(s).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9544" y="33832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611880" y="214884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468880"/>
            <a:ext cx="694944" cy="694944"/>
          </a:xfrm>
          <a:prstGeom prst="ellipse">
            <a:avLst/>
          </a:prstGeom>
          <a:solidFill>
            <a:srgbClr val="2563EB"/>
          </a:solidFill>
          <a:ln/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35424" y="2468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13048" y="3383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opens the 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831336" y="4023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GPS location is captured at browse / cart time.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135624" y="33832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537960" y="214884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61504" y="2468880"/>
            <a:ext cx="694944" cy="694944"/>
          </a:xfrm>
          <a:prstGeom prst="ellipse">
            <a:avLst/>
          </a:prstGeom>
          <a:solidFill>
            <a:srgbClr val="059669"/>
          </a:solidFill>
          <a:ln/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61504" y="2468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739128" y="3383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matches the beat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757416" y="4023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is tested against each beat polygon to find the zone.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061704" y="3383280"/>
            <a:ext cx="4206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9464040" y="2148840"/>
            <a:ext cx="2542032" cy="3017520"/>
          </a:xfrm>
          <a:prstGeom prst="roundRect">
            <a:avLst>
              <a:gd name="adj" fmla="val 431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10387584" y="2468880"/>
            <a:ext cx="694944" cy="694944"/>
          </a:xfrm>
          <a:prstGeom prst="ellipse">
            <a:avLst/>
          </a:prstGeom>
          <a:solidFill>
            <a:srgbClr val="4338CA"/>
          </a:solidFill>
          <a:ln/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387584" y="246888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9665208" y="3383280"/>
            <a:ext cx="21396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is promised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683496" y="402336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sees the exact delivery day and the applicable MOV.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5800" y="5486400"/>
            <a:ext cx="10789920" cy="777240"/>
          </a:xfrm>
          <a:prstGeom prst="roundRect">
            <a:avLst>
              <a:gd name="adj" fmla="val 14118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548640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Point-in-polygon, not guesswork.  </a:t>
            </a: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buyer's coordinates decide the beat — the same physical area always resolves to the same delivery day.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changing — across four areas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21214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0E7FF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72768" y="21396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· Serviceability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572768" y="276148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polygons under one company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&amp; day-wise configuration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Company-wise, expandable UI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92240" y="182880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84848" y="212140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784848" y="2121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516368" y="213969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Beat Creation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516368" y="276148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company, then add a beat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delivery day(s), polygon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many polygons per company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" y="44988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72768" y="45171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Application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572768" y="513892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Delivery-day-based prioritisation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info on listings &amp; cart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+ checkout validation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92240" y="4206240"/>
            <a:ext cx="534924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84848" y="4498848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FEF3C7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44988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516368" y="4517136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Maintenance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516368" y="5138928"/>
            <a:ext cx="4069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beats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replace polygons</a:t>
            </a:r>
            <a:endParaRPr lang="en-US" sz="1250" dirty="0"/>
          </a:p>
          <a:p>
            <a:pPr marL="177800" indent="-177800" algn="l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corrections, less manual work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 ·  SUPER ADMIN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 delivery beat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70432" y="174650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the company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70432" y="20482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to find the right company — no scrolling long lists.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514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70432" y="247802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company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70432" y="277977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this beat once saved.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320954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beat name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351129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KPHB 1 — unique within the company.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394106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delivery day(s)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70432" y="424281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 more weekdays, Mon–Sat.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709160"/>
            <a:ext cx="457200" cy="45720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170432" y="467258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GeoJSON polygon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497433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beat's delivery zone. Required.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440680"/>
            <a:ext cx="457200" cy="45720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70432" y="5404104"/>
            <a:ext cx="46634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— then repeat per beat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5705856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many beats as the company needs.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537960" y="1371600"/>
            <a:ext cx="5166360" cy="493776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77800" dist="63500" dir="5400000" algn="bl" rotWithShape="0">
              <a:srgbClr val="1E293B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12280" y="16459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E0E7FF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◈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315200" y="162763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Delivery Beat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2240280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830568" y="2505456"/>
            <a:ext cx="458114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250545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Search company linked to this seller…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830568" y="3063240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30568" y="3328416"/>
            <a:ext cx="4581144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67728" y="3328416"/>
            <a:ext cx="43068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KPHB 1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6830568" y="3886200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days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30568" y="41513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Mon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03286" y="41513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EFF6FF"/>
          </a:solidFill>
          <a:ln w="12700">
            <a:solidFill>
              <a:srgbClr val="2563EB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Tue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9176004" y="41513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0348722" y="41513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830568" y="46085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003286" y="4608576"/>
            <a:ext cx="1062990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830568" y="5166360"/>
            <a:ext cx="4581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(GeoJSON)</a:t>
            </a: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*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830568" y="5431536"/>
            <a:ext cx="4581144" cy="384048"/>
          </a:xfrm>
          <a:prstGeom prst="roundRect">
            <a:avLst>
              <a:gd name="adj" fmla="val 14286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967728" y="5431536"/>
            <a:ext cx="3483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  itc-kphb-1.geojson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543032" y="5495544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9189720" y="5961888"/>
            <a:ext cx="960120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0241280" y="5961888"/>
            <a:ext cx="1170432" cy="402336"/>
          </a:xfrm>
          <a:prstGeom prst="roundRect">
            <a:avLst>
              <a:gd name="adj" fmla="val 13636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  Save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IT  ·  MANAGE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beats — everything in one place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1264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508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783080"/>
            <a:ext cx="5797296" cy="658368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" y="1911096"/>
            <a:ext cx="402336" cy="402336"/>
          </a:xfrm>
          <a:prstGeom prst="roundRect">
            <a:avLst>
              <a:gd name="adj" fmla="val 20455"/>
            </a:avLst>
          </a:prstGeom>
          <a:solidFill>
            <a:srgbClr val="E0E7FF"/>
          </a:solidFill>
          <a:ln/>
        </p:spPr>
      </p:sp>
      <p:sp>
        <p:nvSpPr>
          <p:cNvPr id="7" name="Text 5"/>
          <p:cNvSpPr/>
          <p:nvPr/>
        </p:nvSpPr>
        <p:spPr>
          <a:xfrm>
            <a:off x="859536" y="1911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97480" y="1984248"/>
            <a:ext cx="91440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beats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75888" y="1984248"/>
            <a:ext cx="822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days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984248"/>
            <a:ext cx="65836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13248" y="1984248"/>
            <a:ext cx="8686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 Add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62432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DAY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262432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59536" y="2971800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Monday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240280" y="2971800"/>
            <a:ext cx="114300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KPHB 1 ·2d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11296" y="2971800"/>
            <a:ext cx="839419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KPHB 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78731" y="2971800"/>
            <a:ext cx="915314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Miyapur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9536" y="3538728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240280" y="3538728"/>
            <a:ext cx="1370686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Jubilee Hills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738982" y="3538728"/>
            <a:ext cx="1370686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Banjara Hills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59536" y="4105656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Wednesday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240280" y="4105656"/>
            <a:ext cx="99121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SR Nagar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59506" y="4105656"/>
            <a:ext cx="99121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Ameerpet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59536" y="4672584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Thursday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240280" y="4672584"/>
            <a:ext cx="99121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Madhapur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359506" y="4672584"/>
            <a:ext cx="114300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Gachibowli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59536" y="5239512"/>
            <a:ext cx="1234440" cy="365760"/>
          </a:xfrm>
          <a:prstGeom prst="roundRect">
            <a:avLst>
              <a:gd name="adj" fmla="val 17500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240280" y="5239512"/>
            <a:ext cx="991210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Kondapur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59506" y="5239512"/>
            <a:ext cx="763524" cy="365760"/>
          </a:xfrm>
          <a:prstGeom prst="roundRect">
            <a:avLst>
              <a:gd name="adj" fmla="val 35000"/>
            </a:avLst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⟿ Abids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040880" y="1600200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is managed independently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040880" y="210312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E0E7FF"/>
          </a:solidFill>
          <a:ln/>
        </p:spPr>
      </p:sp>
      <p:sp>
        <p:nvSpPr>
          <p:cNvPr id="33" name="Text 31"/>
          <p:cNvSpPr/>
          <p:nvPr/>
        </p:nvSpPr>
        <p:spPr>
          <a:xfrm>
            <a:off x="70408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＋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662672" y="206654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beat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62672" y="234086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new route under any company.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040880" y="2779776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7040880" y="27797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662672" y="274320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beat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662672" y="301752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name, days or polygon — company stays locked.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040880" y="3456432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/>
        </p:spPr>
      </p:sp>
      <p:sp>
        <p:nvSpPr>
          <p:cNvPr id="41" name="Text 39"/>
          <p:cNvSpPr/>
          <p:nvPr/>
        </p:nvSpPr>
        <p:spPr>
          <a:xfrm>
            <a:off x="7040880" y="3456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⭳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7662672" y="341985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polygon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662672" y="36941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the GeoJSON, review or edit it externally.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40880" y="4133088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D1FAE5"/>
          </a:solidFill>
          <a:ln/>
        </p:spPr>
      </p:sp>
      <p:sp>
        <p:nvSpPr>
          <p:cNvPr id="45" name="Text 43"/>
          <p:cNvSpPr/>
          <p:nvPr/>
        </p:nvSpPr>
        <p:spPr>
          <a:xfrm>
            <a:off x="70408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662672" y="40965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polygon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662672" y="437083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 corrected file — no need to recreate.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40880" y="4809744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EE2E2"/>
          </a:solidFill>
          <a:ln/>
        </p:spPr>
      </p:sp>
      <p:sp>
        <p:nvSpPr>
          <p:cNvPr id="49" name="Text 47"/>
          <p:cNvSpPr/>
          <p:nvPr/>
        </p:nvSpPr>
        <p:spPr>
          <a:xfrm>
            <a:off x="704088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7662672" y="47731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beat / company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7662672" y="5047488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one beat, or clear a company (with confirm).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040880" y="5486400"/>
            <a:ext cx="457200" cy="457200"/>
          </a:xfrm>
          <a:prstGeom prst="roundRect">
            <a:avLst>
              <a:gd name="adj" fmla="val 18000"/>
            </a:avLst>
          </a:prstGeom>
          <a:solidFill>
            <a:srgbClr val="FEF3C7"/>
          </a:solidFill>
          <a:ln/>
        </p:spPr>
      </p:sp>
      <p:sp>
        <p:nvSpPr>
          <p:cNvPr id="53" name="Text 51"/>
          <p:cNvSpPr/>
          <p:nvPr/>
        </p:nvSpPr>
        <p:spPr>
          <a:xfrm>
            <a:off x="7040880" y="5486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⊟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662672" y="5449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/ Collapse all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7662672" y="57241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98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Tidy view for companies with many beats.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THINGS TO TAKE CARE 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&amp; validations to know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574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0E7F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▣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9842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Polygon is mandatory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350008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beat needs a valid GeoJSON (Feature / FeatureCollection / Polygon), max 5 MB.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92240" y="1783080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748272" y="2057400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6748272" y="20574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＃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452360" y="198424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name unique per company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452360" y="2350008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company can't have two beats with the same name.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19272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520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area → same days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88620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beat/area used by multiple companies must share one delivery-day set. A mismatch is blocked.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92240" y="3319272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359359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35935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▚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452360" y="352044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conflicting overlaps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52360" y="3886200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polygon can't overlap another company's zone that runs on different days.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855464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512978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2E8F0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056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locked on edit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5422392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change name, days or polygon — not the company. Create a new beat instead.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4855464"/>
            <a:ext cx="5349240" cy="128016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748272" y="512978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FEE2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48272" y="512978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52360" y="505663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asks to confirm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452360" y="5422392"/>
            <a:ext cx="4178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Company-level delete needs confirmation. Sundays are excluded (Mon–Sat only).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548640" y="5989320"/>
            <a:ext cx="11091672" cy="566928"/>
          </a:xfrm>
          <a:prstGeom prst="roundRect">
            <a:avLst>
              <a:gd name="adj" fmla="val 19355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59893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orders are safe. 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Serviceability is snapshotted at order-creation time, so editing or deleting beats never changes past orders.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buyers will see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29968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0E7FF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299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81328" y="1929384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distributor listing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81328" y="2240280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Sellers ranked by delivery availability: delivering tomorrow → earliest beat day → alphabetical.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898648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3145536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0E7FF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14553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481328" y="3044952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info everywhere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481328" y="3355848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“Delivery by” and the beat day shown on seller &amp; product listings (informational).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4014216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4261104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0E7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11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481328" y="4160520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delivery choice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481328" y="4471416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between Tomorrow Delivery and Beat Delivery — MOV and delivery date update to match.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5129784"/>
            <a:ext cx="594360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5376672"/>
            <a:ext cx="530352" cy="530352"/>
          </a:xfrm>
          <a:prstGeom prst="roundRect">
            <a:avLst>
              <a:gd name="adj" fmla="val 15517"/>
            </a:avLst>
          </a:prstGeom>
          <a:solidFill>
            <a:srgbClr val="E0E7FF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5376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481328" y="5276088"/>
            <a:ext cx="4892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validation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481328" y="5586984"/>
            <a:ext cx="4892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Re-checks delivery option, MOV and serviceability; blocks checkout if the seller became unserviceable.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903720" y="1783080"/>
            <a:ext cx="475488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2057400"/>
            <a:ext cx="594360" cy="594360"/>
          </a:xfrm>
          <a:prstGeom prst="roundRect">
            <a:avLst>
              <a:gd name="adj" fmla="val 13846"/>
            </a:avLst>
          </a:prstGeom>
          <a:solidFill>
            <a:srgbClr val="E0E7FF"/>
          </a:solidFill>
          <a:ln/>
        </p:spPr>
      </p:sp>
      <p:sp>
        <p:nvSpPr>
          <p:cNvPr id="26" name="Text 24"/>
          <p:cNvSpPr/>
          <p:nvPr/>
        </p:nvSpPr>
        <p:spPr>
          <a:xfrm>
            <a:off x="7178040" y="20574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909560" y="2048256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Adani Wilmar Ltd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09560" y="23591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Groceries · Staples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178040" y="2926080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ECFDF5"/>
          </a:solidFill>
          <a:ln w="12700">
            <a:solidFill>
              <a:srgbClr val="D1FAE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Delivers tomorrow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052560" y="2926080"/>
            <a:ext cx="1508760" cy="384048"/>
          </a:xfrm>
          <a:prstGeom prst="roundRect">
            <a:avLst>
              <a:gd name="adj" fmla="val 19048"/>
            </a:avLst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day: Thu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903720" y="397764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178040" y="41605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cart — choose delivery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178040" y="4572000"/>
            <a:ext cx="2034540" cy="868680"/>
          </a:xfrm>
          <a:prstGeom prst="roundRect">
            <a:avLst>
              <a:gd name="adj" fmla="val 9474"/>
            </a:avLst>
          </a:prstGeom>
          <a:solidFill>
            <a:srgbClr val="EFF6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178040" y="4681728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7178040" y="4956048"/>
            <a:ext cx="2034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₹5,000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5193792"/>
            <a:ext cx="2034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Wed, 15 Jul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349740" y="4572000"/>
            <a:ext cx="20345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349740" y="4681728"/>
            <a:ext cx="2034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 day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349740" y="4956048"/>
            <a:ext cx="20345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₹3,000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349740" y="5193792"/>
            <a:ext cx="20345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Thu, 16 Jul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178040" y="5559552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option → different MOV &amp; delivery date.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across the 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82880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4F46E5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2157984"/>
            <a:ext cx="2697480" cy="32918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828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6974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real distributor operations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city-wise expansion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intervention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64992" y="182880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182880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/>
        </p:spPr>
      </p:sp>
      <p:sp>
        <p:nvSpPr>
          <p:cNvPr id="11" name="Shape 9"/>
          <p:cNvSpPr/>
          <p:nvPr/>
        </p:nvSpPr>
        <p:spPr>
          <a:xfrm>
            <a:off x="3364992" y="2157984"/>
            <a:ext cx="2697480" cy="32918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1828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Operations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21024" y="26974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serviceability upkeep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beat management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corrections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81344" y="182880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81344" y="182880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1344" y="2157984"/>
            <a:ext cx="2697480" cy="32918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Text 15"/>
          <p:cNvSpPr/>
          <p:nvPr/>
        </p:nvSpPr>
        <p:spPr>
          <a:xfrm>
            <a:off x="6181344" y="1828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Buyers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37376" y="26974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delivery expectations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seller prioritisation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failed orders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997696" y="1828800"/>
            <a:ext cx="2697480" cy="3931920"/>
          </a:xfrm>
          <a:prstGeom prst="roundRect">
            <a:avLst>
              <a:gd name="adj" fmla="val 406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997696" y="1828800"/>
            <a:ext cx="2697480" cy="658368"/>
          </a:xfrm>
          <a:prstGeom prst="roundRect">
            <a:avLst>
              <a:gd name="adj" fmla="val 16667"/>
            </a:avLst>
          </a:prstGeom>
          <a:solidFill>
            <a:srgbClr val="4338CA"/>
          </a:solidFill>
          <a:ln/>
        </p:spPr>
      </p:sp>
      <p:sp>
        <p:nvSpPr>
          <p:cNvPr id="21" name="Shape 19"/>
          <p:cNvSpPr/>
          <p:nvPr/>
        </p:nvSpPr>
        <p:spPr>
          <a:xfrm>
            <a:off x="8997696" y="2157984"/>
            <a:ext cx="2697480" cy="329184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2" name="Text 20"/>
          <p:cNvSpPr/>
          <p:nvPr/>
        </p:nvSpPr>
        <p:spPr>
          <a:xfrm>
            <a:off x="8997696" y="182880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Platform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53728" y="2697480"/>
            <a:ext cx="2240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serviceability model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multi-city rollout</a:t>
            </a:r>
            <a:endParaRPr lang="en-US" sz="1250" dirty="0"/>
          </a:p>
          <a:p>
            <a:pPr marL="152400" indent="-152400" algn="l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logistics gains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ROLLOUT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plan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057400"/>
            <a:ext cx="1737360" cy="457200"/>
          </a:xfrm>
          <a:prstGeom prst="roundRect">
            <a:avLst>
              <a:gd name="adj" fmla="val 16000"/>
            </a:avLst>
          </a:prstGeom>
          <a:solidFill>
            <a:srgbClr val="059669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NOW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41248" y="27432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07008" y="27432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polygon creation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3108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31089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polygons per company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34747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34747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/ edit / delete beats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38404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38404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&amp; replace polygon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" y="42062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2062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search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457200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07008" y="457200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/ collapse UI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41248" y="49377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07008" y="493776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delivery-day enhancements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" y="530352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07008" y="530352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prioritisation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41248" y="566928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07008" y="566928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 by delivery option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9632" y="1783080"/>
            <a:ext cx="544068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14300" dist="38100" dir="5400000" algn="bl" rotWithShape="0">
              <a:srgbClr val="1E293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73952" y="2057400"/>
            <a:ext cx="1874520" cy="4572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NEXT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92240" y="2871216"/>
            <a:ext cx="219456" cy="219456"/>
          </a:xfrm>
          <a:prstGeom prst="ellipse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85432" y="27889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Map View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885432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every uploaded polygon on a live map.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492240" y="3803904"/>
            <a:ext cx="219456" cy="219456"/>
          </a:xfrm>
          <a:prstGeom prst="ellipse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85432" y="3721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polygon rendering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6885432" y="404164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Draw, review and correct zones visually.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92240" y="4736592"/>
            <a:ext cx="219456" cy="219456"/>
          </a:xfrm>
          <a:prstGeom prst="ellipse">
            <a:avLst/>
          </a:prstGeom>
          <a:solidFill>
            <a:srgbClr val="FFFBEB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85432" y="465429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geographic management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885432" y="497433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Richer tools for complex delivery geography.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473952" y="5257800"/>
            <a:ext cx="4892040" cy="640080"/>
          </a:xfrm>
          <a:prstGeom prst="roundRect">
            <a:avLst>
              <a:gd name="adj" fmla="val 17143"/>
            </a:avLst>
          </a:prstGeom>
          <a:solidFill>
            <a:srgbClr val="FFFBEB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5257800"/>
            <a:ext cx="4526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i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ships full functionality first; visualisation follows in Phase 2.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4864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Beat-wise Serviceability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18311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4206240" cy="2651760"/>
          </a:xfrm>
          <a:prstGeom prst="roundRect">
            <a:avLst>
              <a:gd name="adj" fmla="val 10000"/>
            </a:avLst>
          </a:prstGeom>
          <a:solidFill>
            <a:srgbClr val="312E81"/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-1280160"/>
            <a:ext cx="2865120" cy="4206240"/>
          </a:xfrm>
          <a:prstGeom prst="roundRect">
            <a:avLst>
              <a:gd name="adj" fmla="val 10870"/>
            </a:avLst>
          </a:prstGeom>
          <a:solidFill>
            <a:srgbClr val="24216A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41732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areas that match how distributors</a:t>
            </a:r>
            <a:endParaRPr lang="en-US" sz="30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operate — and promises buyers can trust.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77240" y="342900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3429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341071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Beat-based, not one-size-fits-all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508760" y="373989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polygons per company, each mapped to its delivery day.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77240" y="425196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08760" y="423367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day, right MOV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08760" y="456285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see accurate delivery days and minimum order values.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77240" y="5074920"/>
            <a:ext cx="548640" cy="548640"/>
          </a:xfrm>
          <a:prstGeom prst="roundRect">
            <a:avLst>
              <a:gd name="adj" fmla="val 15000"/>
            </a:avLst>
          </a:prstGeom>
          <a:solidFill>
            <a:srgbClr val="312E81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5074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↗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5056632"/>
            <a:ext cx="9601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scale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5385816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50" dirty="0">
                <a:solidFill>
                  <a:srgbClr val="C7D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for multi-city expansion and logistics optimisation.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35608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93976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52344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410712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069080" y="5989320"/>
            <a:ext cx="548640" cy="438912"/>
          </a:xfrm>
          <a:prstGeom prst="roundRect">
            <a:avLst>
              <a:gd name="adj" fmla="val 12500"/>
            </a:avLst>
          </a:prstGeom>
          <a:solidFill>
            <a:srgbClr val="4F46E5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0" y="6035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product.core@qwipo.com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1306</Words>
  <Application>Microsoft Office PowerPoint</Application>
  <PresentationFormat>Widescreen</PresentationFormat>
  <Paragraphs>332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Qwipo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Beat-wise Serviceability</dc:title>
  <dc:subject>PptxGenJS Presentation</dc:subject>
  <dc:creator>Qwipo Product</dc:creator>
  <cp:lastModifiedBy>Omkar Charankar</cp:lastModifiedBy>
  <cp:revision>1</cp:revision>
  <dcterms:created xsi:type="dcterms:W3CDTF">2026-07-14T12:58:39Z</dcterms:created>
  <dcterms:modified xsi:type="dcterms:W3CDTF">2026-07-14T13:06:40Z</dcterms:modified>
</cp:coreProperties>
</file>